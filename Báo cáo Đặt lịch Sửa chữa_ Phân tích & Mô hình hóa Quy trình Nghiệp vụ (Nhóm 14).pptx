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Inter SemiBold"/>
      <p:regular r:id="rId18"/>
      <p:bold r:id="rId19"/>
      <p:italic r:id="rId20"/>
      <p:boldItalic r:id="rId21"/>
    </p:embeddedFont>
    <p:embeddedFont>
      <p:font typeface="Roboto"/>
      <p:bold r:id="rId22"/>
      <p:boldItalic r:id="rId23"/>
    </p:embeddedFont>
    <p:embeddedFont>
      <p:font typeface="Roboto Medium"/>
      <p:regular r:id="rId24"/>
      <p:bold r:id="rId25"/>
      <p:italic r:id="rId26"/>
      <p:boldItalic r:id="rId27"/>
    </p:embeddedFont>
    <p:embeddedFont>
      <p:font typeface="Inter"/>
      <p:bold r:id="rId28"/>
      <p:boldItalic r:id="rId29"/>
    </p:embeddedFont>
    <p:embeddedFont>
      <p:font typeface="Inter ExtraBold"/>
      <p:bold r:id="rId30"/>
      <p:boldItalic r:id="rId31"/>
    </p:embeddedFont>
    <p:embeddedFont>
      <p:font typeface="Inter Medium"/>
      <p:regular r:id="rId32"/>
      <p:bold r:id="rId33"/>
      <p:italic r:id="rId34"/>
      <p:boldItalic r:id="rId35"/>
    </p:embeddedFont>
    <p:embeddedFont>
      <p:font typeface="JetBrains Mono"/>
      <p:bold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italic.fntdata"/><Relationship Id="rId22" Type="http://schemas.openxmlformats.org/officeDocument/2006/relationships/font" Target="fonts/Roboto-bold.fntdata"/><Relationship Id="rId21" Type="http://schemas.openxmlformats.org/officeDocument/2006/relationships/font" Target="fonts/InterSemiBold-boldItalic.fntdata"/><Relationship Id="rId24" Type="http://schemas.openxmlformats.org/officeDocument/2006/relationships/font" Target="fonts/RobotoMedium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edium-italic.fntdata"/><Relationship Id="rId25" Type="http://schemas.openxmlformats.org/officeDocument/2006/relationships/font" Target="fonts/RobotoMedium-bold.fntdata"/><Relationship Id="rId28" Type="http://schemas.openxmlformats.org/officeDocument/2006/relationships/font" Target="fonts/Inter-bold.fntdata"/><Relationship Id="rId27" Type="http://schemas.openxmlformats.org/officeDocument/2006/relationships/font" Target="fonts/Roboto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ExtraBold-boldItalic.fntdata"/><Relationship Id="rId30" Type="http://schemas.openxmlformats.org/officeDocument/2006/relationships/font" Target="fonts/InterExtraBold-bold.fntdata"/><Relationship Id="rId11" Type="http://schemas.openxmlformats.org/officeDocument/2006/relationships/slide" Target="slides/slide6.xml"/><Relationship Id="rId33" Type="http://schemas.openxmlformats.org/officeDocument/2006/relationships/font" Target="fonts/InterMedium-bold.fntdata"/><Relationship Id="rId10" Type="http://schemas.openxmlformats.org/officeDocument/2006/relationships/slide" Target="slides/slide5.xml"/><Relationship Id="rId32" Type="http://schemas.openxmlformats.org/officeDocument/2006/relationships/font" Target="fonts/InterMedium-regular.fntdata"/><Relationship Id="rId13" Type="http://schemas.openxmlformats.org/officeDocument/2006/relationships/slide" Target="slides/slide8.xml"/><Relationship Id="rId35" Type="http://schemas.openxmlformats.org/officeDocument/2006/relationships/font" Target="fonts/InterMedium-boldItalic.fntdata"/><Relationship Id="rId12" Type="http://schemas.openxmlformats.org/officeDocument/2006/relationships/slide" Target="slides/slide7.xml"/><Relationship Id="rId34" Type="http://schemas.openxmlformats.org/officeDocument/2006/relationships/font" Target="fonts/InterMedium-italic.fntdata"/><Relationship Id="rId15" Type="http://schemas.openxmlformats.org/officeDocument/2006/relationships/slide" Target="slides/slide10.xml"/><Relationship Id="rId37" Type="http://schemas.openxmlformats.org/officeDocument/2006/relationships/font" Target="fonts/JetBrainsMono-boldItalic.fntdata"/><Relationship Id="rId14" Type="http://schemas.openxmlformats.org/officeDocument/2006/relationships/slide" Target="slides/slide9.xml"/><Relationship Id="rId36" Type="http://schemas.openxmlformats.org/officeDocument/2006/relationships/font" Target="fonts/JetBrainsMono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InterSemiBold-bold.fntdata"/><Relationship Id="rId18" Type="http://schemas.openxmlformats.org/officeDocument/2006/relationships/font" Target="fonts/Inter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9d386ef0c_2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9d386ef0c_2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9d386ef0c_2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9d386ef0c_2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9d386ef0c_2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9d386ef0c_2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9d386ef0c_2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9d386ef0c_2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9d386ef0c_2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f9d386ef0c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9d386ef0c_2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f9d386ef0c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f9d386ef0c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f9d386ef0c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f9d386ef0c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f9d386ef0c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f9d386ef0c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f9d386ef0c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f9d386ef0c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f9d386ef0c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f9d386ef0c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f9d386ef0c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f9d386ef0c_1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f9d386ef0c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9d386ef0c_13_0)">
  <p:cSld name="Generated (g3f9d386ef0c_13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56" name="Google Shape;56;p1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0033A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8191500" y="0"/>
              <a:ext cx="952500" cy="952500"/>
            </a:xfrm>
            <a:prstGeom prst="rect">
              <a:avLst/>
            </a:prstGeom>
            <a:solidFill>
              <a:srgbClr val="FF3A2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>
              <a:off x="381000" y="4667250"/>
              <a:ext cx="8382000" cy="9600"/>
            </a:xfrm>
            <a:prstGeom prst="rect">
              <a:avLst/>
            </a:pr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4"/>
            <p:cNvSpPr txBox="1"/>
            <p:nvPr/>
          </p:nvSpPr>
          <p:spPr>
            <a:xfrm>
              <a:off x="381000" y="4762500"/>
              <a:ext cx="838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SYSTEM ANALYSIS &amp; BPMN MODELING</a:t>
              </a:r>
              <a:endParaRPr b="0" sz="10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61" name="Google Shape;61;p14"/>
          <p:cNvGrpSpPr/>
          <p:nvPr/>
        </p:nvGrpSpPr>
        <p:grpSpPr>
          <a:xfrm>
            <a:off x="381000" y="285750"/>
            <a:ext cx="7620000" cy="1524000"/>
            <a:chOff x="381000" y="285750"/>
            <a:chExt cx="7620000" cy="1524000"/>
          </a:xfrm>
        </p:grpSpPr>
        <p:sp>
          <p:nvSpPr>
            <p:cNvPr id="62" name="Google Shape;62;p14"/>
            <p:cNvSpPr/>
            <p:nvPr/>
          </p:nvSpPr>
          <p:spPr>
            <a:xfrm>
              <a:off x="381000" y="285750"/>
              <a:ext cx="381000" cy="38100"/>
            </a:xfrm>
            <a:prstGeom prst="rect">
              <a:avLst/>
            </a:prstGeom>
            <a:solidFill>
              <a:srgbClr val="FF3A2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4"/>
            <p:cNvSpPr txBox="1"/>
            <p:nvPr/>
          </p:nvSpPr>
          <p:spPr>
            <a:xfrm>
              <a:off x="381000" y="476250"/>
              <a:ext cx="7620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6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Phân Tích Và Mô Hình Hóa Quy Trình Hệ Thống Booking Sửa Chữa Thiết Bị</a:t>
              </a:r>
              <a:endParaRPr b="0" sz="26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FF3A2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Nhóm 14 - Môn IE203</a:t>
              </a:r>
              <a:endParaRPr b="0" sz="1600">
                <a:solidFill>
                  <a:srgbClr val="FF3A2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64" name="Google Shape;64;p14"/>
          <p:cNvGrpSpPr/>
          <p:nvPr/>
        </p:nvGrpSpPr>
        <p:grpSpPr>
          <a:xfrm>
            <a:off x="381000" y="2000250"/>
            <a:ext cx="8382075" cy="2228850"/>
            <a:chOff x="381000" y="2000250"/>
            <a:chExt cx="8382075" cy="2228850"/>
          </a:xfrm>
        </p:grpSpPr>
        <p:grpSp>
          <p:nvGrpSpPr>
            <p:cNvPr id="65" name="Google Shape;65;p14"/>
            <p:cNvGrpSpPr/>
            <p:nvPr/>
          </p:nvGrpSpPr>
          <p:grpSpPr>
            <a:xfrm>
              <a:off x="381000" y="2000250"/>
              <a:ext cx="4048200" cy="762000"/>
              <a:chOff x="381000" y="2000250"/>
              <a:chExt cx="4048200" cy="762000"/>
            </a:xfrm>
          </p:grpSpPr>
          <p:sp>
            <p:nvSpPr>
              <p:cNvPr id="66" name="Google Shape;66;p14"/>
              <p:cNvSpPr/>
              <p:nvPr/>
            </p:nvSpPr>
            <p:spPr>
              <a:xfrm>
                <a:off x="381000" y="2000250"/>
                <a:ext cx="4048200" cy="762000"/>
              </a:xfrm>
              <a:prstGeom prst="rect">
                <a:avLst/>
              </a:prstGeom>
              <a:solidFill>
                <a:srgbClr val="E8E8E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14"/>
              <p:cNvSpPr/>
              <p:nvPr/>
            </p:nvSpPr>
            <p:spPr>
              <a:xfrm>
                <a:off x="381000" y="2000250"/>
                <a:ext cx="38100" cy="762000"/>
              </a:xfrm>
              <a:prstGeom prst="rect">
                <a:avLst/>
              </a:prstGeom>
              <a:solidFill>
                <a:srgbClr val="FF3A2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14"/>
              <p:cNvSpPr txBox="1"/>
              <p:nvPr/>
            </p:nvSpPr>
            <p:spPr>
              <a:xfrm>
                <a:off x="571500" y="2000250"/>
                <a:ext cx="36672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11111"/>
                    </a:solidFill>
                    <a:latin typeface="Roboto"/>
                    <a:ea typeface="Roboto"/>
                    <a:cs typeface="Roboto"/>
                    <a:sym typeface="Roboto"/>
                  </a:rPr>
                  <a:t>Đỗ Kim Long</a:t>
                </a:r>
                <a:endParaRPr b="1" sz="1300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0033A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MSSV: 25210135</a:t>
                </a:r>
                <a:endParaRPr b="0" sz="900">
                  <a:solidFill>
                    <a:srgbClr val="0033A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69" name="Google Shape;69;p14"/>
            <p:cNvGrpSpPr/>
            <p:nvPr/>
          </p:nvGrpSpPr>
          <p:grpSpPr>
            <a:xfrm>
              <a:off x="4714875" y="2000250"/>
              <a:ext cx="4048200" cy="762000"/>
              <a:chOff x="4714875" y="2000250"/>
              <a:chExt cx="4048200" cy="762000"/>
            </a:xfrm>
          </p:grpSpPr>
          <p:sp>
            <p:nvSpPr>
              <p:cNvPr id="70" name="Google Shape;70;p14"/>
              <p:cNvSpPr/>
              <p:nvPr/>
            </p:nvSpPr>
            <p:spPr>
              <a:xfrm>
                <a:off x="4714875" y="2000250"/>
                <a:ext cx="4048200" cy="762000"/>
              </a:xfrm>
              <a:prstGeom prst="rect">
                <a:avLst/>
              </a:prstGeom>
              <a:solidFill>
                <a:srgbClr val="E8E8E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14"/>
              <p:cNvSpPr/>
              <p:nvPr/>
            </p:nvSpPr>
            <p:spPr>
              <a:xfrm>
                <a:off x="4714875" y="2000250"/>
                <a:ext cx="38100" cy="762000"/>
              </a:xfrm>
              <a:prstGeom prst="rect">
                <a:avLst/>
              </a:prstGeom>
              <a:solidFill>
                <a:srgbClr val="FF3A2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14"/>
              <p:cNvSpPr txBox="1"/>
              <p:nvPr/>
            </p:nvSpPr>
            <p:spPr>
              <a:xfrm>
                <a:off x="4905375" y="2000250"/>
                <a:ext cx="36672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11111"/>
                    </a:solidFill>
                    <a:latin typeface="Roboto"/>
                    <a:ea typeface="Roboto"/>
                    <a:cs typeface="Roboto"/>
                    <a:sym typeface="Roboto"/>
                  </a:rPr>
                  <a:t>Nguyễn Hoàng Tân</a:t>
                </a:r>
                <a:endParaRPr b="1" sz="1300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0033A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MSSV: 25210188</a:t>
                </a:r>
                <a:endParaRPr b="0" sz="900">
                  <a:solidFill>
                    <a:srgbClr val="0033A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73" name="Google Shape;73;p14"/>
            <p:cNvGrpSpPr/>
            <p:nvPr/>
          </p:nvGrpSpPr>
          <p:grpSpPr>
            <a:xfrm>
              <a:off x="381000" y="2952750"/>
              <a:ext cx="4048200" cy="762000"/>
              <a:chOff x="381000" y="2952750"/>
              <a:chExt cx="4048200" cy="762000"/>
            </a:xfrm>
          </p:grpSpPr>
          <p:sp>
            <p:nvSpPr>
              <p:cNvPr id="74" name="Google Shape;74;p14"/>
              <p:cNvSpPr/>
              <p:nvPr/>
            </p:nvSpPr>
            <p:spPr>
              <a:xfrm>
                <a:off x="381000" y="2952750"/>
                <a:ext cx="4048200" cy="762000"/>
              </a:xfrm>
              <a:prstGeom prst="rect">
                <a:avLst/>
              </a:prstGeom>
              <a:solidFill>
                <a:srgbClr val="E8E8E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14"/>
              <p:cNvSpPr/>
              <p:nvPr/>
            </p:nvSpPr>
            <p:spPr>
              <a:xfrm>
                <a:off x="381000" y="2952750"/>
                <a:ext cx="38100" cy="762000"/>
              </a:xfrm>
              <a:prstGeom prst="rect">
                <a:avLst/>
              </a:prstGeom>
              <a:solidFill>
                <a:srgbClr val="FF3A2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14"/>
              <p:cNvSpPr txBox="1"/>
              <p:nvPr/>
            </p:nvSpPr>
            <p:spPr>
              <a:xfrm>
                <a:off x="571500" y="2952750"/>
                <a:ext cx="36672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11111"/>
                    </a:solidFill>
                    <a:latin typeface="Roboto"/>
                    <a:ea typeface="Roboto"/>
                    <a:cs typeface="Roboto"/>
                    <a:sym typeface="Roboto"/>
                  </a:rPr>
                  <a:t>Nguyễn Ngọc Thanh Thùy</a:t>
                </a:r>
                <a:endParaRPr b="1" sz="1300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0033A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MSSV: 25210208</a:t>
                </a:r>
                <a:endParaRPr b="0" sz="900">
                  <a:solidFill>
                    <a:srgbClr val="0033A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77" name="Google Shape;77;p14"/>
            <p:cNvGrpSpPr/>
            <p:nvPr/>
          </p:nvGrpSpPr>
          <p:grpSpPr>
            <a:xfrm>
              <a:off x="4714875" y="2952750"/>
              <a:ext cx="4048200" cy="762000"/>
              <a:chOff x="4714875" y="2952750"/>
              <a:chExt cx="4048200" cy="762000"/>
            </a:xfrm>
          </p:grpSpPr>
          <p:sp>
            <p:nvSpPr>
              <p:cNvPr id="78" name="Google Shape;78;p14"/>
              <p:cNvSpPr/>
              <p:nvPr/>
            </p:nvSpPr>
            <p:spPr>
              <a:xfrm>
                <a:off x="4714875" y="2952750"/>
                <a:ext cx="4048200" cy="762000"/>
              </a:xfrm>
              <a:prstGeom prst="rect">
                <a:avLst/>
              </a:prstGeom>
              <a:solidFill>
                <a:srgbClr val="E8E8E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14"/>
              <p:cNvSpPr/>
              <p:nvPr/>
            </p:nvSpPr>
            <p:spPr>
              <a:xfrm>
                <a:off x="4714875" y="2952750"/>
                <a:ext cx="38100" cy="762000"/>
              </a:xfrm>
              <a:prstGeom prst="rect">
                <a:avLst/>
              </a:prstGeom>
              <a:solidFill>
                <a:srgbClr val="FF3A2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14"/>
              <p:cNvSpPr txBox="1"/>
              <p:nvPr/>
            </p:nvSpPr>
            <p:spPr>
              <a:xfrm>
                <a:off x="4905375" y="2952750"/>
                <a:ext cx="36672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111111"/>
                    </a:solidFill>
                    <a:latin typeface="Roboto"/>
                    <a:ea typeface="Roboto"/>
                    <a:cs typeface="Roboto"/>
                    <a:sym typeface="Roboto"/>
                  </a:rPr>
                  <a:t>Lê Thị Bích Tuyền</a:t>
                </a:r>
                <a:endParaRPr b="1" sz="1300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0033A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MSSV: 25210236</a:t>
                </a:r>
                <a:endParaRPr b="0" sz="900">
                  <a:solidFill>
                    <a:srgbClr val="0033A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81" name="Google Shape;81;p14"/>
            <p:cNvGrpSpPr/>
            <p:nvPr/>
          </p:nvGrpSpPr>
          <p:grpSpPr>
            <a:xfrm>
              <a:off x="381000" y="3886200"/>
              <a:ext cx="8382000" cy="342900"/>
              <a:chOff x="381000" y="3886200"/>
              <a:chExt cx="8382000" cy="342900"/>
            </a:xfrm>
          </p:grpSpPr>
          <p:sp>
            <p:nvSpPr>
              <p:cNvPr id="82" name="Google Shape;82;p14"/>
              <p:cNvSpPr/>
              <p:nvPr/>
            </p:nvSpPr>
            <p:spPr>
              <a:xfrm>
                <a:off x="381000" y="4000500"/>
                <a:ext cx="114300" cy="114300"/>
              </a:xfrm>
              <a:prstGeom prst="rect">
                <a:avLst/>
              </a:prstGeom>
              <a:solidFill>
                <a:srgbClr val="FF3A2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14"/>
              <p:cNvSpPr txBox="1"/>
              <p:nvPr/>
            </p:nvSpPr>
            <p:spPr>
              <a:xfrm>
                <a:off x="609600" y="3886200"/>
                <a:ext cx="81534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E8E8E4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Giảng viên hướng dẫn: </a:t>
                </a:r>
                <a:r>
                  <a:rPr b="1" lang="en" sz="13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ThS. Hà Lê Hoài Trung</a:t>
                </a:r>
                <a:endParaRPr b="0" sz="1300">
                  <a:solidFill>
                    <a:srgbClr val="E8E8E4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4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9525"/>
            <a:ext cx="8972700" cy="49722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5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1" name="Google Shape;91;p15"/>
          <p:cNvGrpSpPr/>
          <p:nvPr/>
        </p:nvGrpSpPr>
        <p:grpSpPr>
          <a:xfrm>
            <a:off x="381000" y="285750"/>
            <a:ext cx="8382000" cy="1238400"/>
            <a:chOff x="381000" y="285750"/>
            <a:chExt cx="8382000" cy="1238400"/>
          </a:xfrm>
        </p:grpSpPr>
        <p:sp>
          <p:nvSpPr>
            <p:cNvPr id="92" name="Google Shape;92;p15"/>
            <p:cNvSpPr/>
            <p:nvPr/>
          </p:nvSpPr>
          <p:spPr>
            <a:xfrm>
              <a:off x="381000" y="285750"/>
              <a:ext cx="381000" cy="38100"/>
            </a:xfrm>
            <a:prstGeom prst="rect">
              <a:avLst/>
            </a:prstGeom>
            <a:solidFill>
              <a:srgbClr val="FF3A2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5"/>
            <p:cNvSpPr txBox="1"/>
            <p:nvPr/>
          </p:nvSpPr>
          <p:spPr>
            <a:xfrm>
              <a:off x="381000" y="476250"/>
              <a:ext cx="8382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11111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Tối Ưu Hóa Tiếp Nhận Và Điều Phối Kỹ Thuật Viên Bằng BPMN</a:t>
              </a:r>
              <a:endParaRPr b="0" sz="2400">
                <a:solidFill>
                  <a:srgbClr val="11111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033A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Lý do chọn đề tài và các mục tiêu cốt lõi để nâng cao hiệu quả vận hành</a:t>
              </a:r>
              <a:endParaRPr b="0" sz="1300">
                <a:solidFill>
                  <a:srgbClr val="0033A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94" name="Google Shape;94;p15"/>
          <p:cNvGrpSpPr/>
          <p:nvPr/>
        </p:nvGrpSpPr>
        <p:grpSpPr>
          <a:xfrm>
            <a:off x="381000" y="1905000"/>
            <a:ext cx="8382075" cy="2476500"/>
            <a:chOff x="381000" y="1905000"/>
            <a:chExt cx="8382075" cy="2476500"/>
          </a:xfrm>
        </p:grpSpPr>
        <p:grpSp>
          <p:nvGrpSpPr>
            <p:cNvPr id="95" name="Google Shape;95;p15"/>
            <p:cNvGrpSpPr/>
            <p:nvPr/>
          </p:nvGrpSpPr>
          <p:grpSpPr>
            <a:xfrm>
              <a:off x="381000" y="1905000"/>
              <a:ext cx="1952700" cy="2476500"/>
              <a:chOff x="0" y="0"/>
              <a:chExt cx="1952700" cy="2476500"/>
            </a:xfrm>
          </p:grpSpPr>
          <p:sp>
            <p:nvSpPr>
              <p:cNvPr id="96" name="Google Shape;96;p15"/>
              <p:cNvSpPr/>
              <p:nvPr/>
            </p:nvSpPr>
            <p:spPr>
              <a:xfrm>
                <a:off x="0" y="0"/>
                <a:ext cx="1952700" cy="2476500"/>
              </a:xfrm>
              <a:prstGeom prst="rect">
                <a:avLst/>
              </a:prstGeom>
              <a:solidFill>
                <a:srgbClr val="E8E8E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97" name="Google Shape;97;p15"/>
              <p:cNvGrpSpPr/>
              <p:nvPr/>
            </p:nvGrpSpPr>
            <p:grpSpPr>
              <a:xfrm>
                <a:off x="0" y="0"/>
                <a:ext cx="228600" cy="228600"/>
                <a:chOff x="0" y="0"/>
                <a:chExt cx="228600" cy="228600"/>
              </a:xfrm>
            </p:grpSpPr>
            <p:sp>
              <p:nvSpPr>
                <p:cNvPr id="98" name="Google Shape;98;p15"/>
                <p:cNvSpPr/>
                <p:nvPr/>
              </p:nvSpPr>
              <p:spPr>
                <a:xfrm>
                  <a:off x="0" y="0"/>
                  <a:ext cx="228600" cy="38100"/>
                </a:xfrm>
                <a:prstGeom prst="rect">
                  <a:avLst/>
                </a:prstGeom>
                <a:solidFill>
                  <a:srgbClr val="FF3A20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" name="Google Shape;99;p15"/>
                <p:cNvSpPr/>
                <p:nvPr/>
              </p:nvSpPr>
              <p:spPr>
                <a:xfrm>
                  <a:off x="0" y="0"/>
                  <a:ext cx="38100" cy="228600"/>
                </a:xfrm>
                <a:prstGeom prst="rect">
                  <a:avLst/>
                </a:prstGeom>
                <a:solidFill>
                  <a:srgbClr val="FF3A20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00" name="Google Shape;100;p15"/>
              <p:cNvSpPr txBox="1"/>
              <p:nvPr/>
            </p:nvSpPr>
            <p:spPr>
              <a:xfrm>
                <a:off x="142875" y="228600"/>
                <a:ext cx="1666800" cy="209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0033A0"/>
                    </a:solidFill>
                    <a:latin typeface="Inter"/>
                    <a:ea typeface="Inter"/>
                    <a:cs typeface="Inter"/>
                    <a:sym typeface="Inter"/>
                  </a:rPr>
                  <a:t>LÝ DO CHỌN ĐỀ TÀI</a:t>
                </a:r>
                <a:endParaRPr b="1" sz="1000">
                  <a:solidFill>
                    <a:srgbClr val="0033A0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" sz="1800">
                    <a:solidFill>
                      <a:srgbClr val="FF3A20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01</a:t>
                </a:r>
                <a:endParaRPr b="1" sz="1100">
                  <a:solidFill>
                    <a:srgbClr val="0033A0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Roboto"/>
                    <a:ea typeface="Roboto"/>
                    <a:cs typeface="Roboto"/>
                    <a:sym typeface="Roboto"/>
                  </a:rPr>
                  <a:t>Tối ưu hóa tiếp nhận, giảm thời gian chờ và điều phối kỹ thuật viên hiệu quả.</a:t>
                </a:r>
                <a:endParaRPr b="0" sz="1100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01" name="Google Shape;101;p15"/>
            <p:cNvGrpSpPr/>
            <p:nvPr/>
          </p:nvGrpSpPr>
          <p:grpSpPr>
            <a:xfrm>
              <a:off x="2524125" y="1905000"/>
              <a:ext cx="1952700" cy="2476500"/>
              <a:chOff x="0" y="0"/>
              <a:chExt cx="1952700" cy="2476500"/>
            </a:xfrm>
          </p:grpSpPr>
          <p:sp>
            <p:nvSpPr>
              <p:cNvPr id="102" name="Google Shape;102;p15"/>
              <p:cNvSpPr/>
              <p:nvPr/>
            </p:nvSpPr>
            <p:spPr>
              <a:xfrm>
                <a:off x="0" y="0"/>
                <a:ext cx="1952700" cy="2476500"/>
              </a:xfrm>
              <a:prstGeom prst="rect">
                <a:avLst/>
              </a:prstGeom>
              <a:solidFill>
                <a:srgbClr val="E8E8E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3" name="Google Shape;103;p15"/>
              <p:cNvGrpSpPr/>
              <p:nvPr/>
            </p:nvGrpSpPr>
            <p:grpSpPr>
              <a:xfrm>
                <a:off x="0" y="0"/>
                <a:ext cx="228600" cy="228600"/>
                <a:chOff x="0" y="0"/>
                <a:chExt cx="228600" cy="228600"/>
              </a:xfrm>
            </p:grpSpPr>
            <p:sp>
              <p:nvSpPr>
                <p:cNvPr id="104" name="Google Shape;104;p15"/>
                <p:cNvSpPr/>
                <p:nvPr/>
              </p:nvSpPr>
              <p:spPr>
                <a:xfrm>
                  <a:off x="0" y="0"/>
                  <a:ext cx="228600" cy="38100"/>
                </a:xfrm>
                <a:prstGeom prst="rect">
                  <a:avLst/>
                </a:prstGeom>
                <a:solidFill>
                  <a:srgbClr val="FF3A20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" name="Google Shape;105;p15"/>
                <p:cNvSpPr/>
                <p:nvPr/>
              </p:nvSpPr>
              <p:spPr>
                <a:xfrm>
                  <a:off x="0" y="0"/>
                  <a:ext cx="38100" cy="228600"/>
                </a:xfrm>
                <a:prstGeom prst="rect">
                  <a:avLst/>
                </a:prstGeom>
                <a:solidFill>
                  <a:srgbClr val="FF3A20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06" name="Google Shape;106;p15"/>
              <p:cNvSpPr txBox="1"/>
              <p:nvPr/>
            </p:nvSpPr>
            <p:spPr>
              <a:xfrm>
                <a:off x="142875" y="228600"/>
                <a:ext cx="1666800" cy="209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0033A0"/>
                    </a:solidFill>
                    <a:latin typeface="Inter"/>
                    <a:ea typeface="Inter"/>
                    <a:cs typeface="Inter"/>
                    <a:sym typeface="Inter"/>
                  </a:rPr>
                  <a:t>MỤC TIÊU 1</a:t>
                </a:r>
                <a:endParaRPr b="1" sz="1000">
                  <a:solidFill>
                    <a:srgbClr val="0033A0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" sz="1800">
                    <a:solidFill>
                      <a:srgbClr val="FF3A20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02</a:t>
                </a:r>
                <a:endParaRPr b="1" sz="1100">
                  <a:solidFill>
                    <a:srgbClr val="0033A0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Roboto"/>
                    <a:ea typeface="Roboto"/>
                    <a:cs typeface="Roboto"/>
                    <a:sym typeface="Roboto"/>
                  </a:rPr>
                  <a:t>Khảo sát và xây dựng mô hình BPMN chuẩn hóa.</a:t>
                </a:r>
                <a:endParaRPr b="0" sz="1100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07" name="Google Shape;107;p15"/>
            <p:cNvGrpSpPr/>
            <p:nvPr/>
          </p:nvGrpSpPr>
          <p:grpSpPr>
            <a:xfrm>
              <a:off x="4667250" y="1905000"/>
              <a:ext cx="1952700" cy="2476500"/>
              <a:chOff x="0" y="0"/>
              <a:chExt cx="1952700" cy="2476500"/>
            </a:xfrm>
          </p:grpSpPr>
          <p:sp>
            <p:nvSpPr>
              <p:cNvPr id="108" name="Google Shape;108;p15"/>
              <p:cNvSpPr/>
              <p:nvPr/>
            </p:nvSpPr>
            <p:spPr>
              <a:xfrm>
                <a:off x="0" y="0"/>
                <a:ext cx="1952700" cy="2476500"/>
              </a:xfrm>
              <a:prstGeom prst="rect">
                <a:avLst/>
              </a:prstGeom>
              <a:solidFill>
                <a:srgbClr val="E8E8E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9" name="Google Shape;109;p15"/>
              <p:cNvGrpSpPr/>
              <p:nvPr/>
            </p:nvGrpSpPr>
            <p:grpSpPr>
              <a:xfrm>
                <a:off x="0" y="0"/>
                <a:ext cx="228600" cy="228600"/>
                <a:chOff x="0" y="0"/>
                <a:chExt cx="228600" cy="228600"/>
              </a:xfrm>
            </p:grpSpPr>
            <p:sp>
              <p:nvSpPr>
                <p:cNvPr id="110" name="Google Shape;110;p15"/>
                <p:cNvSpPr/>
                <p:nvPr/>
              </p:nvSpPr>
              <p:spPr>
                <a:xfrm>
                  <a:off x="0" y="0"/>
                  <a:ext cx="228600" cy="38100"/>
                </a:xfrm>
                <a:prstGeom prst="rect">
                  <a:avLst/>
                </a:prstGeom>
                <a:solidFill>
                  <a:srgbClr val="FF3A20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" name="Google Shape;111;p15"/>
                <p:cNvSpPr/>
                <p:nvPr/>
              </p:nvSpPr>
              <p:spPr>
                <a:xfrm>
                  <a:off x="0" y="0"/>
                  <a:ext cx="38100" cy="228600"/>
                </a:xfrm>
                <a:prstGeom prst="rect">
                  <a:avLst/>
                </a:prstGeom>
                <a:solidFill>
                  <a:srgbClr val="FF3A20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12" name="Google Shape;112;p15"/>
              <p:cNvSpPr txBox="1"/>
              <p:nvPr/>
            </p:nvSpPr>
            <p:spPr>
              <a:xfrm>
                <a:off x="142875" y="228600"/>
                <a:ext cx="1666800" cy="209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0033A0"/>
                    </a:solidFill>
                    <a:latin typeface="Inter"/>
                    <a:ea typeface="Inter"/>
                    <a:cs typeface="Inter"/>
                    <a:sym typeface="Inter"/>
                  </a:rPr>
                  <a:t>MỤC TIÊU 2</a:t>
                </a:r>
                <a:endParaRPr b="1" sz="1000">
                  <a:solidFill>
                    <a:srgbClr val="0033A0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" sz="1800">
                    <a:solidFill>
                      <a:srgbClr val="FF3A20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03</a:t>
                </a:r>
                <a:endParaRPr b="1" sz="1100">
                  <a:solidFill>
                    <a:srgbClr val="0033A0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Roboto"/>
                    <a:ea typeface="Roboto"/>
                    <a:cs typeface="Roboto"/>
                    <a:sym typeface="Roboto"/>
                  </a:rPr>
                  <a:t>Phân định rõ nhóm quy trình cốt lõi, quản lý và hỗ trợ.</a:t>
                </a:r>
                <a:endParaRPr b="0" sz="1100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13" name="Google Shape;113;p15"/>
            <p:cNvGrpSpPr/>
            <p:nvPr/>
          </p:nvGrpSpPr>
          <p:grpSpPr>
            <a:xfrm>
              <a:off x="6810375" y="1905000"/>
              <a:ext cx="1952700" cy="2476500"/>
              <a:chOff x="0" y="0"/>
              <a:chExt cx="1952700" cy="2476500"/>
            </a:xfrm>
          </p:grpSpPr>
          <p:sp>
            <p:nvSpPr>
              <p:cNvPr id="114" name="Google Shape;114;p15"/>
              <p:cNvSpPr/>
              <p:nvPr/>
            </p:nvSpPr>
            <p:spPr>
              <a:xfrm>
                <a:off x="0" y="0"/>
                <a:ext cx="1952700" cy="2476500"/>
              </a:xfrm>
              <a:prstGeom prst="rect">
                <a:avLst/>
              </a:prstGeom>
              <a:solidFill>
                <a:srgbClr val="E8E8E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5" name="Google Shape;115;p15"/>
              <p:cNvGrpSpPr/>
              <p:nvPr/>
            </p:nvGrpSpPr>
            <p:grpSpPr>
              <a:xfrm>
                <a:off x="0" y="0"/>
                <a:ext cx="228600" cy="228600"/>
                <a:chOff x="0" y="0"/>
                <a:chExt cx="228600" cy="228600"/>
              </a:xfrm>
            </p:grpSpPr>
            <p:sp>
              <p:nvSpPr>
                <p:cNvPr id="116" name="Google Shape;116;p15"/>
                <p:cNvSpPr/>
                <p:nvPr/>
              </p:nvSpPr>
              <p:spPr>
                <a:xfrm>
                  <a:off x="0" y="0"/>
                  <a:ext cx="228600" cy="38100"/>
                </a:xfrm>
                <a:prstGeom prst="rect">
                  <a:avLst/>
                </a:prstGeom>
                <a:solidFill>
                  <a:srgbClr val="FF3A20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7" name="Google Shape;117;p15"/>
                <p:cNvSpPr/>
                <p:nvPr/>
              </p:nvSpPr>
              <p:spPr>
                <a:xfrm>
                  <a:off x="0" y="0"/>
                  <a:ext cx="38100" cy="228600"/>
                </a:xfrm>
                <a:prstGeom prst="rect">
                  <a:avLst/>
                </a:prstGeom>
                <a:solidFill>
                  <a:srgbClr val="FF3A20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18" name="Google Shape;118;p15"/>
              <p:cNvSpPr txBox="1"/>
              <p:nvPr/>
            </p:nvSpPr>
            <p:spPr>
              <a:xfrm>
                <a:off x="142875" y="228600"/>
                <a:ext cx="1666800" cy="209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0033A0"/>
                    </a:solidFill>
                    <a:latin typeface="Inter"/>
                    <a:ea typeface="Inter"/>
                    <a:cs typeface="Inter"/>
                    <a:sym typeface="Inter"/>
                  </a:rPr>
                  <a:t>MỤC TIÊU 3</a:t>
                </a:r>
                <a:endParaRPr b="1" sz="1000">
                  <a:solidFill>
                    <a:srgbClr val="0033A0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" sz="1800">
                    <a:solidFill>
                      <a:srgbClr val="FF3A20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04</a:t>
                </a:r>
                <a:endParaRPr b="1" sz="1100">
                  <a:solidFill>
                    <a:srgbClr val="0033A0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Roboto"/>
                    <a:ea typeface="Roboto"/>
                    <a:cs typeface="Roboto"/>
                    <a:sym typeface="Roboto"/>
                  </a:rPr>
                  <a:t>Nâng cao trải nghiệm khách hàng.</a:t>
                </a:r>
                <a:endParaRPr b="0" sz="1100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19" name="Google Shape;119;p15"/>
          <p:cNvGrpSpPr/>
          <p:nvPr/>
        </p:nvGrpSpPr>
        <p:grpSpPr>
          <a:xfrm>
            <a:off x="381000" y="4714875"/>
            <a:ext cx="8382000" cy="333450"/>
            <a:chOff x="381000" y="4714875"/>
            <a:chExt cx="8382000" cy="333450"/>
          </a:xfrm>
        </p:grpSpPr>
        <p:sp>
          <p:nvSpPr>
            <p:cNvPr id="120" name="Google Shape;120;p15"/>
            <p:cNvSpPr/>
            <p:nvPr/>
          </p:nvSpPr>
          <p:spPr>
            <a:xfrm>
              <a:off x="381000" y="4714875"/>
              <a:ext cx="8382000" cy="9600"/>
            </a:xfrm>
            <a:prstGeom prst="rect">
              <a:avLst/>
            </a:prstGeom>
            <a:solidFill>
              <a:srgbClr val="D0D0C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5"/>
            <p:cNvSpPr txBox="1"/>
            <p:nvPr/>
          </p:nvSpPr>
          <p:spPr>
            <a:xfrm>
              <a:off x="381000" y="4810125"/>
              <a:ext cx="8382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88888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BPMN PROCESS ANALYSIS REPORT</a:t>
              </a:r>
              <a:endParaRPr b="0" sz="800">
                <a:solidFill>
                  <a:srgbClr val="88888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16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27" name="Google Shape;127;p16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4F4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8" name="Google Shape;128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525" y="9525"/>
              <a:ext cx="8972700" cy="4972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" name="Google Shape;129;p16"/>
            <p:cNvSpPr/>
            <p:nvPr/>
          </p:nvSpPr>
          <p:spPr>
            <a:xfrm>
              <a:off x="0" y="0"/>
              <a:ext cx="9144000" cy="76200"/>
            </a:xfrm>
            <a:prstGeom prst="rect">
              <a:avLst/>
            </a:prstGeom>
            <a:solidFill>
              <a:srgbClr val="0033A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6"/>
            <p:cNvSpPr/>
            <p:nvPr/>
          </p:nvSpPr>
          <p:spPr>
            <a:xfrm>
              <a:off x="381000" y="4762500"/>
              <a:ext cx="8382000" cy="9600"/>
            </a:xfrm>
            <a:prstGeom prst="rect">
              <a:avLst/>
            </a:prstGeom>
            <a:solidFill>
              <a:srgbClr val="D0D0C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6"/>
            <p:cNvSpPr txBox="1"/>
            <p:nvPr/>
          </p:nvSpPr>
          <p:spPr>
            <a:xfrm>
              <a:off x="381000" y="4857750"/>
              <a:ext cx="838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88888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BPMN PROCESS ANALYSIS REPORT</a:t>
              </a:r>
              <a:endParaRPr b="0" sz="800">
                <a:solidFill>
                  <a:srgbClr val="88888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32" name="Google Shape;132;p16"/>
          <p:cNvGrpSpPr/>
          <p:nvPr/>
        </p:nvGrpSpPr>
        <p:grpSpPr>
          <a:xfrm>
            <a:off x="381000" y="285750"/>
            <a:ext cx="8382000" cy="1428900"/>
            <a:chOff x="381000" y="285750"/>
            <a:chExt cx="8382000" cy="1428900"/>
          </a:xfrm>
        </p:grpSpPr>
        <p:sp>
          <p:nvSpPr>
            <p:cNvPr id="133" name="Google Shape;133;p16"/>
            <p:cNvSpPr/>
            <p:nvPr/>
          </p:nvSpPr>
          <p:spPr>
            <a:xfrm>
              <a:off x="381000" y="285750"/>
              <a:ext cx="381000" cy="38100"/>
            </a:xfrm>
            <a:prstGeom prst="rect">
              <a:avLst/>
            </a:prstGeom>
            <a:solidFill>
              <a:srgbClr val="FF3A2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6"/>
            <p:cNvSpPr txBox="1"/>
            <p:nvPr/>
          </p:nvSpPr>
          <p:spPr>
            <a:xfrm>
              <a:off x="381000" y="476250"/>
              <a:ext cx="8382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600">
                  <a:solidFill>
                    <a:srgbClr val="11111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Kiến Trúc 10 Quy Trình Nghiệp Vụ Của Hệ Thống Booking</a:t>
              </a:r>
              <a:endParaRPr b="0" sz="2600">
                <a:solidFill>
                  <a:srgbClr val="11111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33A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Mô hình phân loại quy trình theo chuẩn BPMN: Quản lý, Cốt lõi và Hỗ trợ</a:t>
              </a:r>
              <a:endParaRPr b="0" sz="1400">
                <a:solidFill>
                  <a:srgbClr val="0033A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35" name="Google Shape;135;p16"/>
          <p:cNvGrpSpPr/>
          <p:nvPr/>
        </p:nvGrpSpPr>
        <p:grpSpPr>
          <a:xfrm>
            <a:off x="381000" y="1905000"/>
            <a:ext cx="8372550" cy="2667000"/>
            <a:chOff x="381000" y="1905000"/>
            <a:chExt cx="8372550" cy="2667000"/>
          </a:xfrm>
        </p:grpSpPr>
        <p:grpSp>
          <p:nvGrpSpPr>
            <p:cNvPr id="136" name="Google Shape;136;p16"/>
            <p:cNvGrpSpPr/>
            <p:nvPr/>
          </p:nvGrpSpPr>
          <p:grpSpPr>
            <a:xfrm>
              <a:off x="381000" y="1905000"/>
              <a:ext cx="2600400" cy="2667000"/>
              <a:chOff x="0" y="0"/>
              <a:chExt cx="2600400" cy="2667000"/>
            </a:xfrm>
          </p:grpSpPr>
          <p:sp>
            <p:nvSpPr>
              <p:cNvPr id="137" name="Google Shape;137;p16"/>
              <p:cNvSpPr/>
              <p:nvPr/>
            </p:nvSpPr>
            <p:spPr>
              <a:xfrm>
                <a:off x="0" y="0"/>
                <a:ext cx="2600400" cy="2667000"/>
              </a:xfrm>
              <a:prstGeom prst="rect">
                <a:avLst/>
              </a:prstGeom>
              <a:solidFill>
                <a:srgbClr val="E8E8E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38" name="Google Shape;138;p16"/>
              <p:cNvGrpSpPr/>
              <p:nvPr/>
            </p:nvGrpSpPr>
            <p:grpSpPr>
              <a:xfrm>
                <a:off x="0" y="0"/>
                <a:ext cx="228600" cy="228600"/>
                <a:chOff x="0" y="0"/>
                <a:chExt cx="228600" cy="228600"/>
              </a:xfrm>
            </p:grpSpPr>
            <p:sp>
              <p:nvSpPr>
                <p:cNvPr id="139" name="Google Shape;139;p16"/>
                <p:cNvSpPr/>
                <p:nvPr/>
              </p:nvSpPr>
              <p:spPr>
                <a:xfrm>
                  <a:off x="0" y="0"/>
                  <a:ext cx="228600" cy="38100"/>
                </a:xfrm>
                <a:prstGeom prst="rect">
                  <a:avLst/>
                </a:prstGeom>
                <a:solidFill>
                  <a:srgbClr val="FF3A20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" name="Google Shape;140;p16"/>
                <p:cNvSpPr/>
                <p:nvPr/>
              </p:nvSpPr>
              <p:spPr>
                <a:xfrm>
                  <a:off x="0" y="0"/>
                  <a:ext cx="38100" cy="228600"/>
                </a:xfrm>
                <a:prstGeom prst="rect">
                  <a:avLst/>
                </a:prstGeom>
                <a:solidFill>
                  <a:srgbClr val="FF3A20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41" name="Google Shape;141;p16"/>
              <p:cNvSpPr txBox="1"/>
              <p:nvPr/>
            </p:nvSpPr>
            <p:spPr>
              <a:xfrm>
                <a:off x="190500" y="228600"/>
                <a:ext cx="2219400" cy="22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0033A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NHÓM QUẢN LÝ (3)</a:t>
                </a:r>
                <a:endParaRPr b="0" sz="1200">
                  <a:solidFill>
                    <a:srgbClr val="0033A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FF3A20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01</a:t>
                </a:r>
                <a:r>
                  <a:rPr b="0" lang="en" sz="1200">
                    <a:solidFill>
                      <a:srgbClr val="111111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 Quản lý bảo hành</a:t>
                </a:r>
                <a:endParaRPr b="0" sz="1200">
                  <a:solidFill>
                    <a:srgbClr val="111111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  <a:p>
                <a:pPr indent="0" lvl="0" marL="0" rtl="0" algn="l">
                  <a:spcBef>
                    <a:spcPts val="105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FF3A20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02</a:t>
                </a:r>
                <a:r>
                  <a:rPr b="0" lang="en" sz="1200">
                    <a:solidFill>
                      <a:srgbClr val="111111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 Quản lý kỹ thuật viên</a:t>
                </a:r>
                <a:endParaRPr b="0" sz="1200">
                  <a:solidFill>
                    <a:srgbClr val="111111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  <a:p>
                <a:pPr indent="0" lvl="0" marL="0" rtl="0" algn="l">
                  <a:spcBef>
                    <a:spcPts val="1050"/>
                  </a:spcBef>
                  <a:spcAft>
                    <a:spcPts val="1050"/>
                  </a:spcAft>
                  <a:buNone/>
                </a:pPr>
                <a:r>
                  <a:rPr b="1" lang="en" sz="1200">
                    <a:solidFill>
                      <a:srgbClr val="FF3A20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03</a:t>
                </a:r>
                <a:r>
                  <a:rPr b="0" lang="en" sz="1200">
                    <a:solidFill>
                      <a:srgbClr val="111111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 Quản lý chất lượng dịch vụ</a:t>
                </a:r>
                <a:endParaRPr b="0" sz="1200">
                  <a:solidFill>
                    <a:srgbClr val="111111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</p:grpSp>
        <p:grpSp>
          <p:nvGrpSpPr>
            <p:cNvPr id="142" name="Google Shape;142;p16"/>
            <p:cNvGrpSpPr/>
            <p:nvPr/>
          </p:nvGrpSpPr>
          <p:grpSpPr>
            <a:xfrm>
              <a:off x="3267075" y="1905000"/>
              <a:ext cx="2600400" cy="2667000"/>
              <a:chOff x="0" y="0"/>
              <a:chExt cx="2600400" cy="2667000"/>
            </a:xfrm>
          </p:grpSpPr>
          <p:sp>
            <p:nvSpPr>
              <p:cNvPr id="143" name="Google Shape;143;p16"/>
              <p:cNvSpPr/>
              <p:nvPr/>
            </p:nvSpPr>
            <p:spPr>
              <a:xfrm>
                <a:off x="0" y="0"/>
                <a:ext cx="2600400" cy="2667000"/>
              </a:xfrm>
              <a:prstGeom prst="rect">
                <a:avLst/>
              </a:prstGeom>
              <a:solidFill>
                <a:srgbClr val="E8E8E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44" name="Google Shape;144;p16"/>
              <p:cNvGrpSpPr/>
              <p:nvPr/>
            </p:nvGrpSpPr>
            <p:grpSpPr>
              <a:xfrm>
                <a:off x="0" y="0"/>
                <a:ext cx="228600" cy="228600"/>
                <a:chOff x="0" y="0"/>
                <a:chExt cx="228600" cy="228600"/>
              </a:xfrm>
            </p:grpSpPr>
            <p:sp>
              <p:nvSpPr>
                <p:cNvPr id="145" name="Google Shape;145;p16"/>
                <p:cNvSpPr/>
                <p:nvPr/>
              </p:nvSpPr>
              <p:spPr>
                <a:xfrm>
                  <a:off x="0" y="0"/>
                  <a:ext cx="228600" cy="38100"/>
                </a:xfrm>
                <a:prstGeom prst="rect">
                  <a:avLst/>
                </a:prstGeom>
                <a:solidFill>
                  <a:srgbClr val="FF3A20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" name="Google Shape;146;p16"/>
                <p:cNvSpPr/>
                <p:nvPr/>
              </p:nvSpPr>
              <p:spPr>
                <a:xfrm>
                  <a:off x="0" y="0"/>
                  <a:ext cx="38100" cy="228600"/>
                </a:xfrm>
                <a:prstGeom prst="rect">
                  <a:avLst/>
                </a:prstGeom>
                <a:solidFill>
                  <a:srgbClr val="FF3A20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47" name="Google Shape;147;p16"/>
              <p:cNvSpPr txBox="1"/>
              <p:nvPr/>
            </p:nvSpPr>
            <p:spPr>
              <a:xfrm>
                <a:off x="190500" y="228600"/>
                <a:ext cx="2219400" cy="22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0033A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NHÓM CỐT LÕI (4)</a:t>
                </a:r>
                <a:endParaRPr b="0" sz="1200">
                  <a:solidFill>
                    <a:srgbClr val="0033A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FF3A20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04</a:t>
                </a:r>
                <a:r>
                  <a:rPr b="0" lang="en" sz="1200">
                    <a:solidFill>
                      <a:srgbClr val="111111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 Khách hàng đặt booking</a:t>
                </a:r>
                <a:endParaRPr b="0" sz="1200">
                  <a:solidFill>
                    <a:srgbClr val="111111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  <a:p>
                <a:pPr indent="0" lvl="0" marL="0" rtl="0" algn="l">
                  <a:spcBef>
                    <a:spcPts val="105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FF3A20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05</a:t>
                </a:r>
                <a:r>
                  <a:rPr b="0" lang="en" sz="1200">
                    <a:solidFill>
                      <a:srgbClr val="111111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 Phân công kỹ thuật viên</a:t>
                </a:r>
                <a:endParaRPr b="0" sz="1200">
                  <a:solidFill>
                    <a:srgbClr val="111111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  <a:p>
                <a:pPr indent="0" lvl="0" marL="0" rtl="0" algn="l">
                  <a:spcBef>
                    <a:spcPts val="105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FF3A20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06</a:t>
                </a:r>
                <a:r>
                  <a:rPr b="0" lang="en" sz="1200">
                    <a:solidFill>
                      <a:srgbClr val="111111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 Xử lý sửa chữa</a:t>
                </a:r>
                <a:endParaRPr b="0" sz="1200">
                  <a:solidFill>
                    <a:srgbClr val="111111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  <a:p>
                <a:pPr indent="0" lvl="0" marL="0" rtl="0" algn="l">
                  <a:spcBef>
                    <a:spcPts val="1050"/>
                  </a:spcBef>
                  <a:spcAft>
                    <a:spcPts val="1050"/>
                  </a:spcAft>
                  <a:buNone/>
                </a:pPr>
                <a:r>
                  <a:rPr b="1" lang="en" sz="1200">
                    <a:solidFill>
                      <a:srgbClr val="FF3A20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07</a:t>
                </a:r>
                <a:r>
                  <a:rPr b="0" lang="en" sz="1200">
                    <a:solidFill>
                      <a:srgbClr val="111111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 Thanh toán</a:t>
                </a:r>
                <a:endParaRPr b="0" sz="1200">
                  <a:solidFill>
                    <a:srgbClr val="111111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</p:grpSp>
        <p:grpSp>
          <p:nvGrpSpPr>
            <p:cNvPr id="148" name="Google Shape;148;p16"/>
            <p:cNvGrpSpPr/>
            <p:nvPr/>
          </p:nvGrpSpPr>
          <p:grpSpPr>
            <a:xfrm>
              <a:off x="6153150" y="1905000"/>
              <a:ext cx="2600400" cy="2667000"/>
              <a:chOff x="0" y="0"/>
              <a:chExt cx="2600400" cy="2667000"/>
            </a:xfrm>
          </p:grpSpPr>
          <p:sp>
            <p:nvSpPr>
              <p:cNvPr id="149" name="Google Shape;149;p16"/>
              <p:cNvSpPr/>
              <p:nvPr/>
            </p:nvSpPr>
            <p:spPr>
              <a:xfrm>
                <a:off x="0" y="0"/>
                <a:ext cx="2600400" cy="2667000"/>
              </a:xfrm>
              <a:prstGeom prst="rect">
                <a:avLst/>
              </a:prstGeom>
              <a:solidFill>
                <a:srgbClr val="E8E8E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50" name="Google Shape;150;p16"/>
              <p:cNvGrpSpPr/>
              <p:nvPr/>
            </p:nvGrpSpPr>
            <p:grpSpPr>
              <a:xfrm>
                <a:off x="0" y="0"/>
                <a:ext cx="228600" cy="228600"/>
                <a:chOff x="0" y="0"/>
                <a:chExt cx="228600" cy="228600"/>
              </a:xfrm>
            </p:grpSpPr>
            <p:sp>
              <p:nvSpPr>
                <p:cNvPr id="151" name="Google Shape;151;p16"/>
                <p:cNvSpPr/>
                <p:nvPr/>
              </p:nvSpPr>
              <p:spPr>
                <a:xfrm>
                  <a:off x="0" y="0"/>
                  <a:ext cx="228600" cy="38100"/>
                </a:xfrm>
                <a:prstGeom prst="rect">
                  <a:avLst/>
                </a:prstGeom>
                <a:solidFill>
                  <a:srgbClr val="FF3A20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" name="Google Shape;152;p16"/>
                <p:cNvSpPr/>
                <p:nvPr/>
              </p:nvSpPr>
              <p:spPr>
                <a:xfrm>
                  <a:off x="0" y="0"/>
                  <a:ext cx="38100" cy="228600"/>
                </a:xfrm>
                <a:prstGeom prst="rect">
                  <a:avLst/>
                </a:prstGeom>
                <a:solidFill>
                  <a:srgbClr val="FF3A20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53" name="Google Shape;153;p16"/>
              <p:cNvSpPr txBox="1"/>
              <p:nvPr/>
            </p:nvSpPr>
            <p:spPr>
              <a:xfrm>
                <a:off x="190500" y="228600"/>
                <a:ext cx="2219400" cy="22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0033A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NHÓM HỖ TRỢ (3)</a:t>
                </a:r>
                <a:endParaRPr b="0" sz="1200">
                  <a:solidFill>
                    <a:srgbClr val="0033A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FF3A20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08</a:t>
                </a:r>
                <a:r>
                  <a:rPr b="0" lang="en" sz="1200">
                    <a:solidFill>
                      <a:srgbClr val="111111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 Chat support</a:t>
                </a:r>
                <a:endParaRPr b="0" sz="1200">
                  <a:solidFill>
                    <a:srgbClr val="111111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  <a:p>
                <a:pPr indent="0" lvl="0" marL="0" rtl="0" algn="l">
                  <a:spcBef>
                    <a:spcPts val="105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FF3A20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09</a:t>
                </a:r>
                <a:r>
                  <a:rPr b="0" lang="en" sz="1200">
                    <a:solidFill>
                      <a:srgbClr val="111111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 Báo cáo linh kiện</a:t>
                </a:r>
                <a:endParaRPr b="0" sz="1200">
                  <a:solidFill>
                    <a:srgbClr val="111111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  <a:p>
                <a:pPr indent="0" lvl="0" marL="0" rtl="0" algn="l">
                  <a:spcBef>
                    <a:spcPts val="1050"/>
                  </a:spcBef>
                  <a:spcAft>
                    <a:spcPts val="1050"/>
                  </a:spcAft>
                  <a:buNone/>
                </a:pPr>
                <a:r>
                  <a:rPr b="1" lang="en" sz="1200">
                    <a:solidFill>
                      <a:srgbClr val="FF3A20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</a:t>
                </a:r>
                <a:r>
                  <a:rPr b="0" lang="en" sz="1200">
                    <a:solidFill>
                      <a:srgbClr val="111111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 Quản lý kho</a:t>
                </a:r>
                <a:endParaRPr b="0" sz="1200">
                  <a:solidFill>
                    <a:srgbClr val="111111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4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9525"/>
            <a:ext cx="8972700" cy="497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381000" y="4762500"/>
            <a:ext cx="8382000" cy="9600"/>
          </a:xfrm>
          <a:prstGeom prst="rect">
            <a:avLst/>
          </a:prstGeom>
          <a:solidFill>
            <a:srgbClr val="D0D0C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381000" y="485775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88888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BPMN PROCESS ANALYSIS REPORT</a:t>
            </a:r>
            <a:endParaRPr b="0" sz="800">
              <a:solidFill>
                <a:srgbClr val="88888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163" name="Google Shape;163;p17"/>
          <p:cNvGrpSpPr/>
          <p:nvPr/>
        </p:nvGrpSpPr>
        <p:grpSpPr>
          <a:xfrm>
            <a:off x="381000" y="285750"/>
            <a:ext cx="8382000" cy="1381275"/>
            <a:chOff x="381000" y="285750"/>
            <a:chExt cx="8382000" cy="1381275"/>
          </a:xfrm>
        </p:grpSpPr>
        <p:sp>
          <p:nvSpPr>
            <p:cNvPr id="164" name="Google Shape;164;p17"/>
            <p:cNvSpPr/>
            <p:nvPr/>
          </p:nvSpPr>
          <p:spPr>
            <a:xfrm>
              <a:off x="381000" y="285750"/>
              <a:ext cx="381000" cy="38100"/>
            </a:xfrm>
            <a:prstGeom prst="rect">
              <a:avLst/>
            </a:prstGeom>
            <a:solidFill>
              <a:srgbClr val="FF3A2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7"/>
            <p:cNvSpPr txBox="1"/>
            <p:nvPr/>
          </p:nvSpPr>
          <p:spPr>
            <a:xfrm>
              <a:off x="381000" y="428625"/>
              <a:ext cx="8382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600">
                  <a:solidFill>
                    <a:srgbClr val="11111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Quy Trình Quản Lý Kỹ Thuật Viên</a:t>
              </a:r>
              <a:endParaRPr b="0" sz="3600">
                <a:solidFill>
                  <a:srgbClr val="11111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1800"/>
                </a:spcAft>
                <a:buNone/>
              </a:pPr>
              <a:r>
                <a:rPr b="0" lang="en" sz="2000">
                  <a:solidFill>
                    <a:srgbClr val="0033A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Tối ưu hóa nguồn lực vận hành và hiệu suất</a:t>
              </a:r>
              <a:endParaRPr b="0" sz="2000">
                <a:solidFill>
                  <a:srgbClr val="0033A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66" name="Google Shape;166;p17"/>
          <p:cNvGrpSpPr/>
          <p:nvPr/>
        </p:nvGrpSpPr>
        <p:grpSpPr>
          <a:xfrm>
            <a:off x="381000" y="1762125"/>
            <a:ext cx="8382150" cy="2857500"/>
            <a:chOff x="381000" y="1762125"/>
            <a:chExt cx="8382150" cy="2857500"/>
          </a:xfrm>
        </p:grpSpPr>
        <p:sp>
          <p:nvSpPr>
            <p:cNvPr id="167" name="Google Shape;167;p17"/>
            <p:cNvSpPr txBox="1"/>
            <p:nvPr/>
          </p:nvSpPr>
          <p:spPr>
            <a:xfrm>
              <a:off x="381000" y="1762125"/>
              <a:ext cx="40005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033A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TÁC NHÂN VẬN HÀNH</a:t>
              </a:r>
              <a:endParaRPr b="0" sz="900">
                <a:solidFill>
                  <a:srgbClr val="0033A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rPr>
                <a:t>Quản lý vận hành (Operations Manager)</a:t>
              </a:r>
              <a:endParaRPr b="1" sz="1300">
                <a:solidFill>
                  <a:srgbClr val="11111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033A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CẤU TRÚC QUY TRÌNH</a:t>
              </a:r>
              <a:endParaRPr b="0" sz="900">
                <a:solidFill>
                  <a:srgbClr val="0033A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rPr>
                <a:t>Thiết lập với độ phức tạp cao gồm </a:t>
              </a:r>
              <a:r>
                <a:rPr b="1" lang="en" sz="1150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rPr>
                <a:t>6 cổng điều kiện</a:t>
              </a:r>
              <a:r>
                <a:rPr b="0" lang="en" sz="1150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rPr>
                <a:t>. Sử dụng cổng song song (Split &amp; Join) để điều phối và đồng bộ công việc.</a:t>
              </a:r>
              <a:endParaRPr b="0" sz="1150">
                <a:solidFill>
                  <a:srgbClr val="11111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0033A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CHỨC NĂNG CỐT LÕI</a:t>
              </a:r>
              <a:endParaRPr b="0" sz="900">
                <a:solidFill>
                  <a:srgbClr val="0033A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3175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111111"/>
                </a:buClr>
                <a:buSzPts val="1400"/>
                <a:buChar char="●"/>
              </a:pPr>
              <a:r>
                <a:rPr b="0" lang="en" sz="1100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rPr>
                <a:t>Lập kế hoạch phân bổ nguồn lực tối ưu</a:t>
              </a:r>
              <a:endParaRPr b="0" sz="1100">
                <a:solidFill>
                  <a:srgbClr val="11111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75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111111"/>
                </a:buClr>
                <a:buSzPts val="1400"/>
                <a:buChar char="●"/>
              </a:pPr>
              <a:r>
                <a:rPr b="0" lang="en" sz="1100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rPr>
                <a:t>Theo dõi sát sao và đánh giá hiệu suất thực tế</a:t>
              </a:r>
              <a:endParaRPr b="0" sz="1100">
                <a:solidFill>
                  <a:srgbClr val="11111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75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111111"/>
                </a:buClr>
                <a:buSzPts val="1400"/>
                <a:buChar char="●"/>
              </a:pPr>
              <a:r>
                <a:rPr b="0" lang="en" sz="1100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rPr>
                <a:t>Phân tích nguyên nhân gốc rễ lỗi vận hành</a:t>
              </a:r>
              <a:endParaRPr b="0" sz="1100">
                <a:solidFill>
                  <a:srgbClr val="11111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75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111111"/>
                </a:buClr>
                <a:buSzPts val="1400"/>
                <a:buChar char="●"/>
              </a:pPr>
              <a:r>
                <a:rPr b="0" lang="en" sz="1100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rPr>
                <a:t>Điều phối linh hoạt lực lượng nhân sự dự phòng</a:t>
              </a:r>
              <a:endParaRPr b="0" sz="1100">
                <a:solidFill>
                  <a:srgbClr val="11111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8" name="Google Shape;168;p17"/>
            <p:cNvSpPr/>
            <p:nvPr/>
          </p:nvSpPr>
          <p:spPr>
            <a:xfrm>
              <a:off x="4667250" y="1762125"/>
              <a:ext cx="4095900" cy="2762400"/>
            </a:xfrm>
            <a:prstGeom prst="rect">
              <a:avLst/>
            </a:prstGeom>
            <a:solidFill>
              <a:srgbClr val="FFFFFF"/>
            </a:solidFill>
            <a:ln cap="flat" cmpd="sng" w="14300">
              <a:solidFill>
                <a:srgbClr val="D0D0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7"/>
            <p:cNvSpPr/>
            <p:nvPr/>
          </p:nvSpPr>
          <p:spPr>
            <a:xfrm>
              <a:off x="4667250" y="1762125"/>
              <a:ext cx="4095900" cy="285900"/>
            </a:xfrm>
            <a:prstGeom prst="rect">
              <a:avLst/>
            </a:prstGeom>
            <a:solidFill>
              <a:srgbClr val="0033A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7"/>
            <p:cNvSpPr txBox="1"/>
            <p:nvPr/>
          </p:nvSpPr>
          <p:spPr>
            <a:xfrm>
              <a:off x="4810125" y="18097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MÔ PHỎNG SƠ ĐỒ QUY TRÌNH BPMN</a:t>
              </a:r>
              <a:endParaRPr b="1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71" name="Google Shape;171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67250" y="3281363"/>
              <a:ext cx="4076700" cy="96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72" name="Google Shape;172;p17"/>
            <p:cNvCxnSpPr/>
            <p:nvPr/>
          </p:nvCxnSpPr>
          <p:spPr>
            <a:xfrm>
              <a:off x="4972050" y="2047875"/>
              <a:ext cx="0" cy="24765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0033A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3" name="Google Shape;173;p17"/>
            <p:cNvSpPr txBox="1"/>
            <p:nvPr/>
          </p:nvSpPr>
          <p:spPr>
            <a:xfrm>
              <a:off x="4714875" y="2238375"/>
              <a:ext cx="2097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413">
                  <a:solidFill>
                    <a:srgbClr val="0033A0"/>
                  </a:solidFill>
                  <a:latin typeface="Inter"/>
                  <a:ea typeface="Inter"/>
                  <a:cs typeface="Inter"/>
                  <a:sym typeface="Inter"/>
                </a:rPr>
                <a:t>HỆ THỐNG</a:t>
              </a:r>
              <a:endParaRPr b="1" sz="413">
                <a:solidFill>
                  <a:srgbClr val="0033A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4" name="Google Shape;174;p17"/>
            <p:cNvSpPr txBox="1"/>
            <p:nvPr/>
          </p:nvSpPr>
          <p:spPr>
            <a:xfrm>
              <a:off x="4714875" y="3476625"/>
              <a:ext cx="2097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25">
                  <a:solidFill>
                    <a:srgbClr val="0033A0"/>
                  </a:solidFill>
                  <a:latin typeface="Inter"/>
                  <a:ea typeface="Inter"/>
                  <a:cs typeface="Inter"/>
                  <a:sym typeface="Inter"/>
                </a:rPr>
                <a:t>VẬN HÀNH</a:t>
              </a:r>
              <a:endParaRPr b="1" sz="525">
                <a:solidFill>
                  <a:srgbClr val="0033A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5" name="Google Shape;175;p17"/>
            <p:cNvSpPr/>
            <p:nvPr/>
          </p:nvSpPr>
          <p:spPr>
            <a:xfrm>
              <a:off x="5076825" y="2581275"/>
              <a:ext cx="171600" cy="1716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33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6" name="Google Shape;176;p17"/>
            <p:cNvCxnSpPr/>
            <p:nvPr/>
          </p:nvCxnSpPr>
          <p:spPr>
            <a:xfrm>
              <a:off x="5248275" y="2667000"/>
              <a:ext cx="1620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0033A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7" name="Google Shape;177;p17"/>
            <p:cNvSpPr/>
            <p:nvPr/>
          </p:nvSpPr>
          <p:spPr>
            <a:xfrm>
              <a:off x="5362575" y="2638425"/>
              <a:ext cx="47700" cy="57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033A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7"/>
            <p:cNvSpPr/>
            <p:nvPr/>
          </p:nvSpPr>
          <p:spPr>
            <a:xfrm>
              <a:off x="5410200" y="2428875"/>
              <a:ext cx="666900" cy="4764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14300">
              <a:solidFill>
                <a:srgbClr val="0033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7"/>
            <p:cNvSpPr txBox="1"/>
            <p:nvPr/>
          </p:nvSpPr>
          <p:spPr>
            <a:xfrm>
              <a:off x="5438775" y="2476500"/>
              <a:ext cx="609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00">
                  <a:solidFill>
                    <a:srgbClr val="11111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Lập kế hoạch phân bổ</a:t>
              </a:r>
              <a:endParaRPr b="0" sz="700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180" name="Google Shape;180;p17"/>
            <p:cNvSpPr/>
            <p:nvPr/>
          </p:nvSpPr>
          <p:spPr>
            <a:xfrm>
              <a:off x="6200775" y="2552700"/>
              <a:ext cx="228600" cy="2286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60000"/>
                  </a:lnTo>
                  <a:lnTo>
                    <a:pt x="60000" y="120000"/>
                  </a:lnTo>
                  <a:lnTo>
                    <a:pt x="0" y="60000"/>
                  </a:lnTo>
                  <a:close/>
                </a:path>
              </a:pathLst>
            </a:custGeom>
            <a:solidFill>
              <a:srgbClr val="FFFFFF"/>
            </a:solidFill>
            <a:ln cap="flat" cmpd="sng" w="14300">
              <a:solidFill>
                <a:srgbClr val="FF3A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1" name="Google Shape;181;p17"/>
            <p:cNvCxnSpPr/>
            <p:nvPr/>
          </p:nvCxnSpPr>
          <p:spPr>
            <a:xfrm>
              <a:off x="6286500" y="2667000"/>
              <a:ext cx="573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FF3A2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2" name="Google Shape;182;p17"/>
            <p:cNvCxnSpPr/>
            <p:nvPr/>
          </p:nvCxnSpPr>
          <p:spPr>
            <a:xfrm>
              <a:off x="6315075" y="2638425"/>
              <a:ext cx="0" cy="573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FF3A2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3" name="Google Shape;183;p17"/>
            <p:cNvCxnSpPr/>
            <p:nvPr/>
          </p:nvCxnSpPr>
          <p:spPr>
            <a:xfrm>
              <a:off x="6429375" y="2667000"/>
              <a:ext cx="1905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0033A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4" name="Google Shape;184;p17"/>
            <p:cNvSpPr/>
            <p:nvPr/>
          </p:nvSpPr>
          <p:spPr>
            <a:xfrm>
              <a:off x="6572250" y="2638425"/>
              <a:ext cx="47700" cy="57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033A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7"/>
            <p:cNvSpPr/>
            <p:nvPr/>
          </p:nvSpPr>
          <p:spPr>
            <a:xfrm>
              <a:off x="6315075" y="2781300"/>
              <a:ext cx="304800" cy="8859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0033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7"/>
            <p:cNvSpPr/>
            <p:nvPr/>
          </p:nvSpPr>
          <p:spPr>
            <a:xfrm>
              <a:off x="6572250" y="3638550"/>
              <a:ext cx="47700" cy="57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033A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7"/>
            <p:cNvSpPr/>
            <p:nvPr/>
          </p:nvSpPr>
          <p:spPr>
            <a:xfrm>
              <a:off x="6619875" y="2428875"/>
              <a:ext cx="666900" cy="4764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14300">
              <a:solidFill>
                <a:srgbClr val="0033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7"/>
            <p:cNvSpPr txBox="1"/>
            <p:nvPr/>
          </p:nvSpPr>
          <p:spPr>
            <a:xfrm>
              <a:off x="6648450" y="2476500"/>
              <a:ext cx="609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00">
                  <a:solidFill>
                    <a:srgbClr val="11111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Theo dõi hiệu suất</a:t>
              </a:r>
              <a:endParaRPr b="0" sz="700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189" name="Google Shape;189;p17"/>
            <p:cNvSpPr/>
            <p:nvPr/>
          </p:nvSpPr>
          <p:spPr>
            <a:xfrm>
              <a:off x="6619875" y="3429000"/>
              <a:ext cx="666900" cy="4764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14300">
              <a:solidFill>
                <a:srgbClr val="0033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7"/>
            <p:cNvSpPr txBox="1"/>
            <p:nvPr/>
          </p:nvSpPr>
          <p:spPr>
            <a:xfrm>
              <a:off x="6648450" y="3476625"/>
              <a:ext cx="609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00">
                  <a:solidFill>
                    <a:srgbClr val="11111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Điều phối nhân sự</a:t>
              </a:r>
              <a:endParaRPr b="0" sz="700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cxnSp>
          <p:nvCxnSpPr>
            <p:cNvPr id="191" name="Google Shape;191;p17"/>
            <p:cNvCxnSpPr/>
            <p:nvPr/>
          </p:nvCxnSpPr>
          <p:spPr>
            <a:xfrm>
              <a:off x="7286625" y="2667000"/>
              <a:ext cx="1716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0033A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2" name="Google Shape;192;p17"/>
            <p:cNvSpPr/>
            <p:nvPr/>
          </p:nvSpPr>
          <p:spPr>
            <a:xfrm>
              <a:off x="7410450" y="2638425"/>
              <a:ext cx="47700" cy="57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033A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7"/>
            <p:cNvSpPr/>
            <p:nvPr/>
          </p:nvSpPr>
          <p:spPr>
            <a:xfrm>
              <a:off x="7286625" y="2781300"/>
              <a:ext cx="285900" cy="8859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120000" y="120000"/>
                  </a:ln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0033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7"/>
            <p:cNvSpPr/>
            <p:nvPr/>
          </p:nvSpPr>
          <p:spPr>
            <a:xfrm>
              <a:off x="7543800" y="2781300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0033A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7458075" y="2552700"/>
              <a:ext cx="228600" cy="2286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60000"/>
                  </a:lnTo>
                  <a:lnTo>
                    <a:pt x="60000" y="120000"/>
                  </a:lnTo>
                  <a:lnTo>
                    <a:pt x="0" y="60000"/>
                  </a:lnTo>
                  <a:close/>
                </a:path>
              </a:pathLst>
            </a:custGeom>
            <a:solidFill>
              <a:srgbClr val="FFFFFF"/>
            </a:solidFill>
            <a:ln cap="flat" cmpd="sng" w="14300">
              <a:solidFill>
                <a:srgbClr val="FF3A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6" name="Google Shape;196;p17"/>
            <p:cNvCxnSpPr/>
            <p:nvPr/>
          </p:nvCxnSpPr>
          <p:spPr>
            <a:xfrm>
              <a:off x="7543800" y="2667000"/>
              <a:ext cx="573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FF3A2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7" name="Google Shape;197;p17"/>
            <p:cNvCxnSpPr/>
            <p:nvPr/>
          </p:nvCxnSpPr>
          <p:spPr>
            <a:xfrm>
              <a:off x="7572375" y="2638425"/>
              <a:ext cx="0" cy="573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FF3A2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8" name="Google Shape;198;p17"/>
            <p:cNvCxnSpPr/>
            <p:nvPr/>
          </p:nvCxnSpPr>
          <p:spPr>
            <a:xfrm>
              <a:off x="7686675" y="2667000"/>
              <a:ext cx="1716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0033A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9" name="Google Shape;199;p17"/>
            <p:cNvSpPr/>
            <p:nvPr/>
          </p:nvSpPr>
          <p:spPr>
            <a:xfrm>
              <a:off x="7810500" y="2638425"/>
              <a:ext cx="47700" cy="57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033A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7"/>
            <p:cNvSpPr/>
            <p:nvPr/>
          </p:nvSpPr>
          <p:spPr>
            <a:xfrm>
              <a:off x="7858125" y="2428875"/>
              <a:ext cx="666900" cy="4764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14300">
              <a:solidFill>
                <a:srgbClr val="0033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7"/>
            <p:cNvSpPr txBox="1"/>
            <p:nvPr/>
          </p:nvSpPr>
          <p:spPr>
            <a:xfrm>
              <a:off x="7886700" y="2476500"/>
              <a:ext cx="609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00">
                  <a:solidFill>
                    <a:srgbClr val="11111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Phân tích nguyên nhân</a:t>
              </a:r>
              <a:endParaRPr b="0" sz="700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cxnSp>
          <p:nvCxnSpPr>
            <p:cNvPr id="202" name="Google Shape;202;p17"/>
            <p:cNvCxnSpPr/>
            <p:nvPr/>
          </p:nvCxnSpPr>
          <p:spPr>
            <a:xfrm>
              <a:off x="8524875" y="2667000"/>
              <a:ext cx="954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0033A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3" name="Google Shape;203;p17"/>
            <p:cNvSpPr/>
            <p:nvPr/>
          </p:nvSpPr>
          <p:spPr>
            <a:xfrm>
              <a:off x="8572500" y="2638425"/>
              <a:ext cx="47700" cy="57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033A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8620125" y="2609850"/>
              <a:ext cx="114300" cy="1143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rgbClr val="FF3A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4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0" name="Google Shape;21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9525"/>
            <a:ext cx="8972700" cy="497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8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8"/>
          <p:cNvSpPr/>
          <p:nvPr/>
        </p:nvSpPr>
        <p:spPr>
          <a:xfrm>
            <a:off x="381000" y="4762500"/>
            <a:ext cx="8382000" cy="9600"/>
          </a:xfrm>
          <a:prstGeom prst="rect">
            <a:avLst/>
          </a:prstGeom>
          <a:solidFill>
            <a:srgbClr val="D0D0C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381000" y="485775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88888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BPMN PROCESS ANALYSIS REPORT</a:t>
            </a:r>
            <a:endParaRPr b="0" sz="800">
              <a:solidFill>
                <a:srgbClr val="88888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214" name="Google Shape;214;p18"/>
          <p:cNvGrpSpPr/>
          <p:nvPr/>
        </p:nvGrpSpPr>
        <p:grpSpPr>
          <a:xfrm>
            <a:off x="381000" y="285750"/>
            <a:ext cx="8382000" cy="1238400"/>
            <a:chOff x="381000" y="285750"/>
            <a:chExt cx="8382000" cy="1238400"/>
          </a:xfrm>
        </p:grpSpPr>
        <p:sp>
          <p:nvSpPr>
            <p:cNvPr id="215" name="Google Shape;215;p18"/>
            <p:cNvSpPr/>
            <p:nvPr/>
          </p:nvSpPr>
          <p:spPr>
            <a:xfrm>
              <a:off x="381000" y="285750"/>
              <a:ext cx="381000" cy="38100"/>
            </a:xfrm>
            <a:prstGeom prst="rect">
              <a:avLst/>
            </a:prstGeom>
            <a:solidFill>
              <a:srgbClr val="FF3A2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8"/>
            <p:cNvSpPr txBox="1"/>
            <p:nvPr/>
          </p:nvSpPr>
          <p:spPr>
            <a:xfrm>
              <a:off x="381000" y="476250"/>
              <a:ext cx="8382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600">
                  <a:solidFill>
                    <a:srgbClr val="11111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Quy Trình Quản Lý Chất Lượng Dịch Vụ Đảm Bảo KPI</a:t>
              </a:r>
              <a:endParaRPr b="0" sz="2600">
                <a:solidFill>
                  <a:srgbClr val="11111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033A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Kiểm soát tiến trình tự động qua các cổng quyết định của QA Manager</a:t>
              </a:r>
              <a:endParaRPr b="0" sz="1300">
                <a:solidFill>
                  <a:srgbClr val="0033A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217" name="Google Shape;217;p18"/>
          <p:cNvGrpSpPr/>
          <p:nvPr/>
        </p:nvGrpSpPr>
        <p:grpSpPr>
          <a:xfrm>
            <a:off x="381000" y="1714500"/>
            <a:ext cx="3905400" cy="2857500"/>
            <a:chOff x="381000" y="1714500"/>
            <a:chExt cx="3905400" cy="2857500"/>
          </a:xfrm>
        </p:grpSpPr>
        <p:sp>
          <p:nvSpPr>
            <p:cNvPr id="218" name="Google Shape;218;p18"/>
            <p:cNvSpPr/>
            <p:nvPr/>
          </p:nvSpPr>
          <p:spPr>
            <a:xfrm>
              <a:off x="381000" y="1714500"/>
              <a:ext cx="3905400" cy="28575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D0D0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9" name="Google Shape;219;p18"/>
            <p:cNvGrpSpPr/>
            <p:nvPr/>
          </p:nvGrpSpPr>
          <p:grpSpPr>
            <a:xfrm>
              <a:off x="381000" y="1714500"/>
              <a:ext cx="228600" cy="228600"/>
              <a:chOff x="0" y="0"/>
              <a:chExt cx="228600" cy="228600"/>
            </a:xfrm>
          </p:grpSpPr>
          <p:sp>
            <p:nvSpPr>
              <p:cNvPr id="220" name="Google Shape;220;p18"/>
              <p:cNvSpPr/>
              <p:nvPr/>
            </p:nvSpPr>
            <p:spPr>
              <a:xfrm>
                <a:off x="0" y="0"/>
                <a:ext cx="228600" cy="38100"/>
              </a:xfrm>
              <a:prstGeom prst="rect">
                <a:avLst/>
              </a:prstGeom>
              <a:solidFill>
                <a:srgbClr val="FF3A2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8"/>
              <p:cNvSpPr/>
              <p:nvPr/>
            </p:nvSpPr>
            <p:spPr>
              <a:xfrm>
                <a:off x="0" y="0"/>
                <a:ext cx="38100" cy="228600"/>
              </a:xfrm>
              <a:prstGeom prst="rect">
                <a:avLst/>
              </a:prstGeom>
              <a:solidFill>
                <a:srgbClr val="FF3A2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2" name="Google Shape;222;p18"/>
            <p:cNvSpPr txBox="1"/>
            <p:nvPr/>
          </p:nvSpPr>
          <p:spPr>
            <a:xfrm>
              <a:off x="619125" y="1905000"/>
              <a:ext cx="34290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0033A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VAI TRÒ QA MANAGER</a:t>
              </a:r>
              <a:endParaRPr b="0" sz="950">
                <a:solidFill>
                  <a:srgbClr val="0033A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rPr>
                <a:t>Đảm bảo hiệu năng hệ thống đạt cam kết KPI và cải tiến liên tục quy trình vận hành dịch vụ.</a:t>
              </a:r>
              <a:endParaRPr b="1" sz="1100">
                <a:solidFill>
                  <a:srgbClr val="11111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FF3A2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CÁC CHỨC NĂNG CỐT LÕI</a:t>
              </a:r>
              <a:endParaRPr b="0" sz="950">
                <a:solidFill>
                  <a:srgbClr val="FF3A2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29527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111111"/>
                </a:buClr>
                <a:buSzPts val="1050"/>
                <a:buFont typeface="Roboto"/>
                <a:buChar char="●"/>
              </a:pPr>
              <a:r>
                <a:rPr b="1" lang="en" sz="1050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rPr>
                <a:t>Trích xuất KPI:</a:t>
              </a:r>
              <a:r>
                <a:rPr lang="en" sz="1050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rPr>
                <a:t> Giám sát tự động, phát hiện và cảnh báo các chỉ số sai lệch tức thời.</a:t>
              </a:r>
              <a:endParaRPr sz="1050">
                <a:solidFill>
                  <a:srgbClr val="11111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11111"/>
                </a:buClr>
                <a:buSzPts val="1050"/>
                <a:buFont typeface="Roboto"/>
                <a:buChar char="●"/>
              </a:pPr>
              <a:r>
                <a:rPr b="1" lang="en" sz="1050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rPr>
                <a:t>Phân tích khiếu nại:</a:t>
              </a:r>
              <a:r>
                <a:rPr lang="en" sz="1050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rPr>
                <a:t> Đánh giá mức độ nghiêm trọng, xác định nguyên nhân gốc rễ lỗi.</a:t>
              </a:r>
              <a:endParaRPr sz="1050">
                <a:solidFill>
                  <a:srgbClr val="11111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11111"/>
                </a:buClr>
                <a:buSzPts val="1050"/>
                <a:buFont typeface="Roboto"/>
                <a:buChar char="●"/>
              </a:pPr>
              <a:r>
                <a:rPr b="1" lang="en" sz="1050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rPr>
                <a:t>Triển khai khắc phục:</a:t>
              </a:r>
              <a:r>
                <a:rPr lang="en" sz="1050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rPr>
                <a:t> Khởi động quy trình khẩn cấp giải quyết sự cố dịch vụ.</a:t>
              </a:r>
              <a:endParaRPr sz="1050">
                <a:solidFill>
                  <a:srgbClr val="11111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111111"/>
                </a:buClr>
                <a:buSzPts val="1050"/>
                <a:buFont typeface="Roboto"/>
                <a:buChar char="●"/>
              </a:pPr>
              <a:r>
                <a:rPr b="1" lang="en" sz="1050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rPr>
                <a:t>Đề xuất cải tiến SLA:</a:t>
              </a:r>
              <a:r>
                <a:rPr lang="en" sz="1050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rPr>
                <a:t> Xem xét phản hồi, đề xuất điều chỉnh chính sách chất lượng.</a:t>
              </a:r>
              <a:endParaRPr sz="1050">
                <a:solidFill>
                  <a:srgbClr val="11111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3" name="Google Shape;223;p18"/>
          <p:cNvGrpSpPr/>
          <p:nvPr/>
        </p:nvGrpSpPr>
        <p:grpSpPr>
          <a:xfrm>
            <a:off x="4476750" y="1714500"/>
            <a:ext cx="4286400" cy="2857500"/>
            <a:chOff x="4476750" y="1714500"/>
            <a:chExt cx="4286400" cy="2857500"/>
          </a:xfrm>
        </p:grpSpPr>
        <p:sp>
          <p:nvSpPr>
            <p:cNvPr id="224" name="Google Shape;224;p18"/>
            <p:cNvSpPr/>
            <p:nvPr/>
          </p:nvSpPr>
          <p:spPr>
            <a:xfrm>
              <a:off x="4476750" y="1714500"/>
              <a:ext cx="4286400" cy="2857500"/>
            </a:xfrm>
            <a:prstGeom prst="roundRect">
              <a:avLst>
                <a:gd fmla="val 1333" name="adj"/>
              </a:avLst>
            </a:prstGeom>
            <a:solidFill>
              <a:srgbClr val="FFFFFF"/>
            </a:solidFill>
            <a:ln cap="flat" cmpd="sng" w="14300">
              <a:solidFill>
                <a:srgbClr val="0033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8"/>
            <p:cNvSpPr/>
            <p:nvPr/>
          </p:nvSpPr>
          <p:spPr>
            <a:xfrm>
              <a:off x="4476750" y="1714500"/>
              <a:ext cx="4286400" cy="285900"/>
            </a:xfrm>
            <a:prstGeom prst="roundRect">
              <a:avLst>
                <a:gd fmla="val 10000" name="adj"/>
              </a:avLst>
            </a:prstGeom>
            <a:solidFill>
              <a:srgbClr val="0033A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8"/>
            <p:cNvSpPr txBox="1"/>
            <p:nvPr/>
          </p:nvSpPr>
          <p:spPr>
            <a:xfrm>
              <a:off x="4619625" y="1714500"/>
              <a:ext cx="4000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TIẾN TRÌNH QUẢN LÝ CHẤT LƯỢNG (BPMN MODEL)</a:t>
              </a:r>
              <a:endParaRPr b="0" sz="8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4657725" y="3105150"/>
              <a:ext cx="171600" cy="1716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33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4829175" y="3190875"/>
              <a:ext cx="76200" cy="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0033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8"/>
            <p:cNvSpPr/>
            <p:nvPr/>
          </p:nvSpPr>
          <p:spPr>
            <a:xfrm>
              <a:off x="4905375" y="3162300"/>
              <a:ext cx="47700" cy="57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033A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8"/>
            <p:cNvSpPr/>
            <p:nvPr/>
          </p:nvSpPr>
          <p:spPr>
            <a:xfrm>
              <a:off x="4953000" y="3000375"/>
              <a:ext cx="666900" cy="381000"/>
            </a:xfrm>
            <a:prstGeom prst="roundRect">
              <a:avLst>
                <a:gd fmla="val 10000" name="adj"/>
              </a:avLst>
            </a:prstGeom>
            <a:solidFill>
              <a:srgbClr val="E8E8E4"/>
            </a:solidFill>
            <a:ln cap="flat" cmpd="sng" w="14300">
              <a:solidFill>
                <a:srgbClr val="0033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8"/>
            <p:cNvSpPr txBox="1"/>
            <p:nvPr/>
          </p:nvSpPr>
          <p:spPr>
            <a:xfrm>
              <a:off x="4972050" y="3000375"/>
              <a:ext cx="628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rPr>
                <a:t>Trích xuất KPI</a:t>
              </a:r>
              <a:endParaRPr b="1" sz="800">
                <a:solidFill>
                  <a:srgbClr val="11111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2" name="Google Shape;232;p18"/>
            <p:cNvSpPr/>
            <p:nvPr/>
          </p:nvSpPr>
          <p:spPr>
            <a:xfrm>
              <a:off x="5619750" y="3190875"/>
              <a:ext cx="76200" cy="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0033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8"/>
            <p:cNvSpPr/>
            <p:nvPr/>
          </p:nvSpPr>
          <p:spPr>
            <a:xfrm>
              <a:off x="5695950" y="3162300"/>
              <a:ext cx="47700" cy="57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033A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8"/>
            <p:cNvSpPr/>
            <p:nvPr/>
          </p:nvSpPr>
          <p:spPr>
            <a:xfrm>
              <a:off x="5715000" y="3048000"/>
              <a:ext cx="285900" cy="2859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60000"/>
                  </a:lnTo>
                  <a:lnTo>
                    <a:pt x="60000" y="120000"/>
                  </a:lnTo>
                  <a:lnTo>
                    <a:pt x="0" y="60000"/>
                  </a:lnTo>
                  <a:close/>
                </a:path>
              </a:pathLst>
            </a:custGeom>
            <a:solidFill>
              <a:srgbClr val="FFFFFF"/>
            </a:solidFill>
            <a:ln cap="flat" cmpd="sng" w="19050">
              <a:solidFill>
                <a:srgbClr val="FF3A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35" name="Google Shape;235;p18"/>
            <p:cNvCxnSpPr/>
            <p:nvPr/>
          </p:nvCxnSpPr>
          <p:spPr>
            <a:xfrm>
              <a:off x="5819775" y="3190875"/>
              <a:ext cx="762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FF3A2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6" name="Google Shape;236;p18"/>
            <p:cNvCxnSpPr/>
            <p:nvPr/>
          </p:nvCxnSpPr>
          <p:spPr>
            <a:xfrm>
              <a:off x="5857875" y="3152775"/>
              <a:ext cx="0" cy="762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FF3A2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7" name="Google Shape;237;p18"/>
            <p:cNvSpPr/>
            <p:nvPr/>
          </p:nvSpPr>
          <p:spPr>
            <a:xfrm>
              <a:off x="6067425" y="2333625"/>
              <a:ext cx="762000" cy="381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14300">
              <a:solidFill>
                <a:srgbClr val="0033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8"/>
            <p:cNvSpPr txBox="1"/>
            <p:nvPr/>
          </p:nvSpPr>
          <p:spPr>
            <a:xfrm>
              <a:off x="6086475" y="2333625"/>
              <a:ext cx="723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rPr>
                <a:t>Phân tích khiếu nại</a:t>
              </a:r>
              <a:endParaRPr b="1" sz="800">
                <a:solidFill>
                  <a:srgbClr val="11111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9" name="Google Shape;239;p18"/>
            <p:cNvSpPr/>
            <p:nvPr/>
          </p:nvSpPr>
          <p:spPr>
            <a:xfrm>
              <a:off x="6829425" y="2524125"/>
              <a:ext cx="76200" cy="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0033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8"/>
            <p:cNvSpPr/>
            <p:nvPr/>
          </p:nvSpPr>
          <p:spPr>
            <a:xfrm>
              <a:off x="6905625" y="2495550"/>
              <a:ext cx="47700" cy="57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033A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8"/>
            <p:cNvSpPr/>
            <p:nvPr/>
          </p:nvSpPr>
          <p:spPr>
            <a:xfrm>
              <a:off x="6924675" y="2381250"/>
              <a:ext cx="285900" cy="2859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60000"/>
                  </a:lnTo>
                  <a:lnTo>
                    <a:pt x="60000" y="120000"/>
                  </a:lnTo>
                  <a:lnTo>
                    <a:pt x="0" y="60000"/>
                  </a:lnTo>
                  <a:close/>
                </a:path>
              </a:pathLst>
            </a:custGeom>
            <a:solidFill>
              <a:srgbClr val="FFFFFF"/>
            </a:solidFill>
            <a:ln cap="flat" cmpd="sng" w="14300">
              <a:solidFill>
                <a:srgbClr val="0033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42" name="Google Shape;242;p18"/>
            <p:cNvCxnSpPr/>
            <p:nvPr/>
          </p:nvCxnSpPr>
          <p:spPr>
            <a:xfrm>
              <a:off x="7038975" y="2495550"/>
              <a:ext cx="57300" cy="573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0033A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3" name="Google Shape;243;p18"/>
            <p:cNvCxnSpPr/>
            <p:nvPr/>
          </p:nvCxnSpPr>
          <p:spPr>
            <a:xfrm flipH="1">
              <a:off x="7038825" y="2495550"/>
              <a:ext cx="57300" cy="573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0033A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44" name="Google Shape;244;p18"/>
            <p:cNvSpPr/>
            <p:nvPr/>
          </p:nvSpPr>
          <p:spPr>
            <a:xfrm>
              <a:off x="7353300" y="2333625"/>
              <a:ext cx="714300" cy="381000"/>
            </a:xfrm>
            <a:prstGeom prst="roundRect">
              <a:avLst>
                <a:gd fmla="val 10000" name="adj"/>
              </a:avLst>
            </a:prstGeom>
            <a:solidFill>
              <a:srgbClr val="E8E8E4"/>
            </a:solidFill>
            <a:ln cap="flat" cmpd="sng" w="14300">
              <a:solidFill>
                <a:srgbClr val="0033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8"/>
            <p:cNvSpPr/>
            <p:nvPr/>
          </p:nvSpPr>
          <p:spPr>
            <a:xfrm>
              <a:off x="7353300" y="2333625"/>
              <a:ext cx="38100" cy="381000"/>
            </a:xfrm>
            <a:prstGeom prst="rect">
              <a:avLst/>
            </a:prstGeom>
            <a:solidFill>
              <a:srgbClr val="FF3A2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8"/>
            <p:cNvSpPr txBox="1"/>
            <p:nvPr/>
          </p:nvSpPr>
          <p:spPr>
            <a:xfrm>
              <a:off x="7410450" y="2333625"/>
              <a:ext cx="638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rPr>
                <a:t>Triển khai khắc phục</a:t>
              </a:r>
              <a:endParaRPr b="1" sz="800">
                <a:solidFill>
                  <a:srgbClr val="11111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7" name="Google Shape;247;p18"/>
            <p:cNvSpPr/>
            <p:nvPr/>
          </p:nvSpPr>
          <p:spPr>
            <a:xfrm>
              <a:off x="6067425" y="3667125"/>
              <a:ext cx="762000" cy="381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14300">
              <a:solidFill>
                <a:srgbClr val="0033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8"/>
            <p:cNvSpPr txBox="1"/>
            <p:nvPr/>
          </p:nvSpPr>
          <p:spPr>
            <a:xfrm>
              <a:off x="6086475" y="3667125"/>
              <a:ext cx="723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rPr>
                <a:t>Đánh giá SLA</a:t>
              </a:r>
              <a:endParaRPr b="1" sz="800">
                <a:solidFill>
                  <a:srgbClr val="11111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9" name="Google Shape;249;p18"/>
            <p:cNvSpPr/>
            <p:nvPr/>
          </p:nvSpPr>
          <p:spPr>
            <a:xfrm>
              <a:off x="6829425" y="3857625"/>
              <a:ext cx="76200" cy="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0033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8"/>
            <p:cNvSpPr/>
            <p:nvPr/>
          </p:nvSpPr>
          <p:spPr>
            <a:xfrm>
              <a:off x="6905625" y="3829050"/>
              <a:ext cx="47700" cy="57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033A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8"/>
            <p:cNvSpPr/>
            <p:nvPr/>
          </p:nvSpPr>
          <p:spPr>
            <a:xfrm>
              <a:off x="6924675" y="3714750"/>
              <a:ext cx="285900" cy="2859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60000"/>
                  </a:lnTo>
                  <a:lnTo>
                    <a:pt x="60000" y="120000"/>
                  </a:lnTo>
                  <a:lnTo>
                    <a:pt x="0" y="60000"/>
                  </a:lnTo>
                  <a:close/>
                </a:path>
              </a:pathLst>
            </a:custGeom>
            <a:solidFill>
              <a:srgbClr val="FFFFFF"/>
            </a:solidFill>
            <a:ln cap="flat" cmpd="sng" w="14300">
              <a:solidFill>
                <a:srgbClr val="0033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52" name="Google Shape;252;p18"/>
            <p:cNvCxnSpPr/>
            <p:nvPr/>
          </p:nvCxnSpPr>
          <p:spPr>
            <a:xfrm>
              <a:off x="7038975" y="3829050"/>
              <a:ext cx="57300" cy="573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0033A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3" name="Google Shape;253;p18"/>
            <p:cNvCxnSpPr/>
            <p:nvPr/>
          </p:nvCxnSpPr>
          <p:spPr>
            <a:xfrm flipH="1">
              <a:off x="7038825" y="3829050"/>
              <a:ext cx="57300" cy="573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0033A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54" name="Google Shape;254;p18"/>
            <p:cNvSpPr/>
            <p:nvPr/>
          </p:nvSpPr>
          <p:spPr>
            <a:xfrm>
              <a:off x="7353300" y="3667125"/>
              <a:ext cx="714300" cy="381000"/>
            </a:xfrm>
            <a:prstGeom prst="roundRect">
              <a:avLst>
                <a:gd fmla="val 10000" name="adj"/>
              </a:avLst>
            </a:prstGeom>
            <a:solidFill>
              <a:srgbClr val="E8E8E4"/>
            </a:solidFill>
            <a:ln cap="flat" cmpd="sng" w="14300">
              <a:solidFill>
                <a:srgbClr val="0033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8"/>
            <p:cNvSpPr/>
            <p:nvPr/>
          </p:nvSpPr>
          <p:spPr>
            <a:xfrm>
              <a:off x="7353300" y="3667125"/>
              <a:ext cx="38100" cy="381000"/>
            </a:xfrm>
            <a:prstGeom prst="rect">
              <a:avLst/>
            </a:prstGeom>
            <a:solidFill>
              <a:srgbClr val="FF3A2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8"/>
            <p:cNvSpPr txBox="1"/>
            <p:nvPr/>
          </p:nvSpPr>
          <p:spPr>
            <a:xfrm>
              <a:off x="7410450" y="3667125"/>
              <a:ext cx="638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rPr>
                <a:t>Đề xuất thay đổi SLA</a:t>
              </a:r>
              <a:endParaRPr b="1" sz="800">
                <a:solidFill>
                  <a:srgbClr val="11111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7" name="Google Shape;257;p18"/>
            <p:cNvSpPr/>
            <p:nvPr/>
          </p:nvSpPr>
          <p:spPr>
            <a:xfrm>
              <a:off x="8115300" y="3048000"/>
              <a:ext cx="285900" cy="2859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120000" y="60000"/>
                  </a:lnTo>
                  <a:lnTo>
                    <a:pt x="60000" y="120000"/>
                  </a:lnTo>
                  <a:lnTo>
                    <a:pt x="0" y="60000"/>
                  </a:lnTo>
                  <a:close/>
                </a:path>
              </a:pathLst>
            </a:custGeom>
            <a:solidFill>
              <a:srgbClr val="FFFFFF"/>
            </a:solidFill>
            <a:ln cap="flat" cmpd="sng" w="19050">
              <a:solidFill>
                <a:srgbClr val="FF3A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58" name="Google Shape;258;p18"/>
            <p:cNvCxnSpPr/>
            <p:nvPr/>
          </p:nvCxnSpPr>
          <p:spPr>
            <a:xfrm>
              <a:off x="8220075" y="3190875"/>
              <a:ext cx="762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FF3A2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9" name="Google Shape;259;p18"/>
            <p:cNvCxnSpPr/>
            <p:nvPr/>
          </p:nvCxnSpPr>
          <p:spPr>
            <a:xfrm>
              <a:off x="8258175" y="3152775"/>
              <a:ext cx="0" cy="762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FF3A2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0" name="Google Shape;260;p18"/>
            <p:cNvSpPr/>
            <p:nvPr/>
          </p:nvSpPr>
          <p:spPr>
            <a:xfrm>
              <a:off x="8401050" y="3190875"/>
              <a:ext cx="133500" cy="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0033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8"/>
            <p:cNvSpPr/>
            <p:nvPr/>
          </p:nvSpPr>
          <p:spPr>
            <a:xfrm>
              <a:off x="8534400" y="3162300"/>
              <a:ext cx="47700" cy="57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033A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8"/>
            <p:cNvSpPr/>
            <p:nvPr/>
          </p:nvSpPr>
          <p:spPr>
            <a:xfrm>
              <a:off x="8562975" y="3124200"/>
              <a:ext cx="133500" cy="1335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rgbClr val="FF3A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8"/>
            <p:cNvSpPr/>
            <p:nvPr/>
          </p:nvSpPr>
          <p:spPr>
            <a:xfrm>
              <a:off x="4572000" y="4238625"/>
              <a:ext cx="4095900" cy="209700"/>
            </a:xfrm>
            <a:prstGeom prst="roundRect">
              <a:avLst>
                <a:gd fmla="val 9090" name="adj"/>
              </a:avLst>
            </a:prstGeom>
            <a:solidFill>
              <a:srgbClr val="E8E8E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8"/>
            <p:cNvSpPr txBox="1"/>
            <p:nvPr/>
          </p:nvSpPr>
          <p:spPr>
            <a:xfrm>
              <a:off x="4619625" y="4238625"/>
              <a:ext cx="40005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50">
                  <a:solidFill>
                    <a:srgbClr val="111111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◯ BẮT ĐẦU ⬦ CỔNG EXCLUSIVE ⬦+ CỔNG SONG SONG ⛒ KẾT THÚC</a:t>
              </a:r>
              <a:endParaRPr b="1" sz="650">
                <a:solidFill>
                  <a:srgbClr val="111111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oogle Shape;269;p19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70" name="Google Shape;270;p19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4F4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71" name="Google Shape;27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525" y="9525"/>
              <a:ext cx="8972700" cy="4972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2" name="Google Shape;272;p19"/>
            <p:cNvSpPr/>
            <p:nvPr/>
          </p:nvSpPr>
          <p:spPr>
            <a:xfrm>
              <a:off x="0" y="0"/>
              <a:ext cx="9144000" cy="76200"/>
            </a:xfrm>
            <a:prstGeom prst="rect">
              <a:avLst/>
            </a:prstGeom>
            <a:solidFill>
              <a:srgbClr val="0033A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9"/>
            <p:cNvSpPr/>
            <p:nvPr/>
          </p:nvSpPr>
          <p:spPr>
            <a:xfrm>
              <a:off x="381000" y="4762500"/>
              <a:ext cx="8382000" cy="9600"/>
            </a:xfrm>
            <a:prstGeom prst="rect">
              <a:avLst/>
            </a:prstGeom>
            <a:solidFill>
              <a:srgbClr val="D0D0C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9"/>
            <p:cNvSpPr txBox="1"/>
            <p:nvPr/>
          </p:nvSpPr>
          <p:spPr>
            <a:xfrm>
              <a:off x="381000" y="4857750"/>
              <a:ext cx="838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88888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BPMN PROCESS ANALYSIS REPORT</a:t>
              </a:r>
              <a:endParaRPr b="0" sz="800">
                <a:solidFill>
                  <a:srgbClr val="88888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75" name="Google Shape;275;p19"/>
          <p:cNvGrpSpPr/>
          <p:nvPr/>
        </p:nvGrpSpPr>
        <p:grpSpPr>
          <a:xfrm>
            <a:off x="381000" y="1714500"/>
            <a:ext cx="8382000" cy="2952900"/>
            <a:chOff x="381000" y="1714500"/>
            <a:chExt cx="8382000" cy="2952900"/>
          </a:xfrm>
        </p:grpSpPr>
        <p:cxnSp>
          <p:nvCxnSpPr>
            <p:cNvPr id="276" name="Google Shape;276;p19"/>
            <p:cNvCxnSpPr/>
            <p:nvPr/>
          </p:nvCxnSpPr>
          <p:spPr>
            <a:xfrm>
              <a:off x="381000" y="17145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0033A0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277" name="Google Shape;277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329113" y="1714500"/>
              <a:ext cx="9600" cy="2952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8" name="Google Shape;278;p19"/>
          <p:cNvGrpSpPr/>
          <p:nvPr/>
        </p:nvGrpSpPr>
        <p:grpSpPr>
          <a:xfrm>
            <a:off x="381000" y="333375"/>
            <a:ext cx="8382000" cy="1285875"/>
            <a:chOff x="381000" y="285750"/>
            <a:chExt cx="8382000" cy="1285875"/>
          </a:xfrm>
        </p:grpSpPr>
        <p:sp>
          <p:nvSpPr>
            <p:cNvPr id="279" name="Google Shape;279;p19"/>
            <p:cNvSpPr/>
            <p:nvPr/>
          </p:nvSpPr>
          <p:spPr>
            <a:xfrm>
              <a:off x="381000" y="285750"/>
              <a:ext cx="381000" cy="38100"/>
            </a:xfrm>
            <a:prstGeom prst="rect">
              <a:avLst/>
            </a:prstGeom>
            <a:solidFill>
              <a:srgbClr val="FF3A2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9"/>
            <p:cNvSpPr txBox="1"/>
            <p:nvPr/>
          </p:nvSpPr>
          <p:spPr>
            <a:xfrm>
              <a:off x="381000" y="428625"/>
              <a:ext cx="8382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200">
                  <a:solidFill>
                    <a:srgbClr val="11111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Quy Trình Cốt Lõi</a:t>
              </a:r>
              <a:endParaRPr b="0" sz="3200">
                <a:solidFill>
                  <a:srgbClr val="11111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033A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Phân Công Kỹ Thuật Viên Xử Lý Đặt Lịch</a:t>
              </a:r>
              <a:endParaRPr b="0" sz="1800">
                <a:solidFill>
                  <a:srgbClr val="0033A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281" name="Google Shape;281;p19"/>
          <p:cNvGrpSpPr/>
          <p:nvPr/>
        </p:nvGrpSpPr>
        <p:grpSpPr>
          <a:xfrm>
            <a:off x="381000" y="1857375"/>
            <a:ext cx="3714900" cy="2714550"/>
            <a:chOff x="381000" y="1857375"/>
            <a:chExt cx="3714900" cy="2714550"/>
          </a:xfrm>
        </p:grpSpPr>
        <p:grpSp>
          <p:nvGrpSpPr>
            <p:cNvPr id="282" name="Google Shape;282;p19"/>
            <p:cNvGrpSpPr/>
            <p:nvPr/>
          </p:nvGrpSpPr>
          <p:grpSpPr>
            <a:xfrm>
              <a:off x="381000" y="1857375"/>
              <a:ext cx="3714900" cy="1285800"/>
              <a:chOff x="0" y="0"/>
              <a:chExt cx="3714900" cy="1285800"/>
            </a:xfrm>
          </p:grpSpPr>
          <p:sp>
            <p:nvSpPr>
              <p:cNvPr id="283" name="Google Shape;283;p19"/>
              <p:cNvSpPr/>
              <p:nvPr/>
            </p:nvSpPr>
            <p:spPr>
              <a:xfrm>
                <a:off x="0" y="0"/>
                <a:ext cx="3714900" cy="12858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84" name="Google Shape;284;p19"/>
              <p:cNvGrpSpPr/>
              <p:nvPr/>
            </p:nvGrpSpPr>
            <p:grpSpPr>
              <a:xfrm>
                <a:off x="0" y="0"/>
                <a:ext cx="228600" cy="228600"/>
                <a:chOff x="0" y="0"/>
                <a:chExt cx="228600" cy="228600"/>
              </a:xfrm>
            </p:grpSpPr>
            <p:sp>
              <p:nvSpPr>
                <p:cNvPr id="285" name="Google Shape;285;p19"/>
                <p:cNvSpPr/>
                <p:nvPr/>
              </p:nvSpPr>
              <p:spPr>
                <a:xfrm>
                  <a:off x="0" y="0"/>
                  <a:ext cx="228600" cy="38100"/>
                </a:xfrm>
                <a:prstGeom prst="rect">
                  <a:avLst/>
                </a:prstGeom>
                <a:solidFill>
                  <a:srgbClr val="FF3A20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6" name="Google Shape;286;p19"/>
                <p:cNvSpPr/>
                <p:nvPr/>
              </p:nvSpPr>
              <p:spPr>
                <a:xfrm>
                  <a:off x="0" y="0"/>
                  <a:ext cx="38100" cy="228600"/>
                </a:xfrm>
                <a:prstGeom prst="rect">
                  <a:avLst/>
                </a:prstGeom>
                <a:solidFill>
                  <a:srgbClr val="FF3A20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87" name="Google Shape;287;p19"/>
              <p:cNvSpPr txBox="1"/>
              <p:nvPr/>
            </p:nvSpPr>
            <p:spPr>
              <a:xfrm>
                <a:off x="190500" y="142875"/>
                <a:ext cx="3333900" cy="10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3800">
                    <a:solidFill>
                      <a:srgbClr val="FF3A20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26 PHÚT</a:t>
                </a:r>
                <a:endParaRPr b="1" sz="3800">
                  <a:solidFill>
                    <a:srgbClr val="FF3A20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0033A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Hiệu Suất Thời Gian Xử Lý Trung Bình</a:t>
                </a:r>
                <a:endParaRPr b="0" sz="950">
                  <a:solidFill>
                    <a:srgbClr val="0033A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555555"/>
                    </a:solidFill>
                    <a:latin typeface="Roboto"/>
                    <a:ea typeface="Roboto"/>
                    <a:cs typeface="Roboto"/>
                    <a:sym typeface="Roboto"/>
                  </a:rPr>
                  <a:t>Đạt chỉ tiêu SLA đặt ra (Mục tiêu tối ưu ≤ 30 phút)</a:t>
                </a:r>
                <a:endParaRPr b="0" sz="1100">
                  <a:solidFill>
                    <a:srgbClr val="55555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288" name="Google Shape;288;p19"/>
            <p:cNvGrpSpPr/>
            <p:nvPr/>
          </p:nvGrpSpPr>
          <p:grpSpPr>
            <a:xfrm>
              <a:off x="381000" y="3286125"/>
              <a:ext cx="3714900" cy="1285800"/>
              <a:chOff x="0" y="0"/>
              <a:chExt cx="3714900" cy="1285800"/>
            </a:xfrm>
          </p:grpSpPr>
          <p:sp>
            <p:nvSpPr>
              <p:cNvPr id="289" name="Google Shape;289;p19"/>
              <p:cNvSpPr/>
              <p:nvPr/>
            </p:nvSpPr>
            <p:spPr>
              <a:xfrm>
                <a:off x="0" y="0"/>
                <a:ext cx="3714900" cy="12858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19"/>
              <p:cNvSpPr/>
              <p:nvPr/>
            </p:nvSpPr>
            <p:spPr>
              <a:xfrm>
                <a:off x="0" y="0"/>
                <a:ext cx="38100" cy="1285800"/>
              </a:xfrm>
              <a:prstGeom prst="rect">
                <a:avLst/>
              </a:prstGeom>
              <a:solidFill>
                <a:srgbClr val="0033A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19"/>
              <p:cNvSpPr txBox="1"/>
              <p:nvPr/>
            </p:nvSpPr>
            <p:spPr>
              <a:xfrm>
                <a:off x="190500" y="142875"/>
                <a:ext cx="3333900" cy="10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FF3A2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Thông Tin Tiến Trình Xử Lý</a:t>
                </a:r>
                <a:endParaRPr b="0" sz="950">
                  <a:solidFill>
                    <a:srgbClr val="FF3A2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" sz="1150">
                    <a:solidFill>
                      <a:srgbClr val="111111"/>
                    </a:solidFill>
                    <a:latin typeface="Roboto"/>
                    <a:ea typeface="Roboto"/>
                    <a:cs typeface="Roboto"/>
                    <a:sym typeface="Roboto"/>
                  </a:rPr>
                  <a:t>Tác nhân chính:</a:t>
                </a:r>
                <a:r>
                  <a:rPr b="0" lang="en" sz="1150">
                    <a:solidFill>
                      <a:srgbClr val="111111"/>
                    </a:solidFill>
                    <a:latin typeface="Roboto"/>
                    <a:ea typeface="Roboto"/>
                    <a:cs typeface="Roboto"/>
                    <a:sym typeface="Roboto"/>
                  </a:rPr>
                  <a:t> Customer Service (CS) / Call Center</a:t>
                </a:r>
                <a:endParaRPr b="0" sz="1150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" sz="1150">
                    <a:solidFill>
                      <a:srgbClr val="111111"/>
                    </a:solidFill>
                    <a:latin typeface="Roboto"/>
                    <a:ea typeface="Roboto"/>
                    <a:cs typeface="Roboto"/>
                    <a:sym typeface="Roboto"/>
                  </a:rPr>
                  <a:t>Độ phức tạp:</a:t>
                </a:r>
                <a:r>
                  <a:rPr b="0" lang="en" sz="1150">
                    <a:solidFill>
                      <a:srgbClr val="111111"/>
                    </a:solidFill>
                    <a:latin typeface="Roboto"/>
                    <a:ea typeface="Roboto"/>
                    <a:cs typeface="Roboto"/>
                    <a:sym typeface="Roboto"/>
                  </a:rPr>
                  <a:t> Đang vận hành với 4 cổng điều kiện, sử dụng cổng song song để tăng tốc độ phản hồi.</a:t>
                </a:r>
                <a:endParaRPr b="0" sz="1150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292" name="Google Shape;292;p19"/>
          <p:cNvGrpSpPr/>
          <p:nvPr/>
        </p:nvGrpSpPr>
        <p:grpSpPr>
          <a:xfrm>
            <a:off x="4476750" y="1857375"/>
            <a:ext cx="4286400" cy="2714700"/>
            <a:chOff x="0" y="0"/>
            <a:chExt cx="4286400" cy="2714700"/>
          </a:xfrm>
        </p:grpSpPr>
        <p:sp>
          <p:nvSpPr>
            <p:cNvPr id="293" name="Google Shape;293;p19"/>
            <p:cNvSpPr/>
            <p:nvPr/>
          </p:nvSpPr>
          <p:spPr>
            <a:xfrm>
              <a:off x="0" y="0"/>
              <a:ext cx="4286400" cy="2714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D0D0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94" name="Google Shape;294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525" y="247650"/>
              <a:ext cx="4267200" cy="2457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5" name="Google Shape;295;p19"/>
            <p:cNvSpPr/>
            <p:nvPr/>
          </p:nvSpPr>
          <p:spPr>
            <a:xfrm>
              <a:off x="0" y="0"/>
              <a:ext cx="4286400" cy="238200"/>
            </a:xfrm>
            <a:prstGeom prst="rect">
              <a:avLst/>
            </a:prstGeom>
            <a:solidFill>
              <a:srgbClr val="0033A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9"/>
            <p:cNvSpPr txBox="1"/>
            <p:nvPr/>
          </p:nvSpPr>
          <p:spPr>
            <a:xfrm>
              <a:off x="142875" y="38100"/>
              <a:ext cx="40005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Mô hình hóa BPMN (Lược đồ luồng phân công)</a:t>
              </a:r>
              <a:endParaRPr b="0" sz="7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297" name="Google Shape;297;p19"/>
            <p:cNvGrpSpPr/>
            <p:nvPr/>
          </p:nvGrpSpPr>
          <p:grpSpPr>
            <a:xfrm>
              <a:off x="142875" y="333375"/>
              <a:ext cx="3810000" cy="1714650"/>
              <a:chOff x="47625" y="238125"/>
              <a:chExt cx="3810000" cy="1714650"/>
            </a:xfrm>
          </p:grpSpPr>
          <p:sp>
            <p:nvSpPr>
              <p:cNvPr id="298" name="Google Shape;298;p19"/>
              <p:cNvSpPr/>
              <p:nvPr/>
            </p:nvSpPr>
            <p:spPr>
              <a:xfrm>
                <a:off x="228600" y="990600"/>
                <a:ext cx="209700" cy="209700"/>
              </a:xfrm>
              <a:prstGeom prst="ellipse">
                <a:avLst/>
              </a:prstGeom>
              <a:solidFill>
                <a:srgbClr val="FFFFFF"/>
              </a:solidFill>
              <a:ln cap="flat" cmpd="sng" w="19050">
                <a:solidFill>
                  <a:srgbClr val="0033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19"/>
              <p:cNvSpPr txBox="1"/>
              <p:nvPr/>
            </p:nvSpPr>
            <p:spPr>
              <a:xfrm>
                <a:off x="47625" y="1238250"/>
                <a:ext cx="571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50">
                    <a:solidFill>
                      <a:srgbClr val="111111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Khởi tạo Booking</a:t>
                </a:r>
                <a:endParaRPr b="0" sz="7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  <p:sp>
            <p:nvSpPr>
              <p:cNvPr id="300" name="Google Shape;300;p19"/>
              <p:cNvSpPr/>
              <p:nvPr/>
            </p:nvSpPr>
            <p:spPr>
              <a:xfrm>
                <a:off x="438150" y="1095375"/>
                <a:ext cx="276300" cy="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0033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19"/>
              <p:cNvSpPr/>
              <p:nvPr/>
            </p:nvSpPr>
            <p:spPr>
              <a:xfrm>
                <a:off x="657225" y="1057275"/>
                <a:ext cx="57300" cy="76200"/>
              </a:xfrm>
              <a:custGeom>
                <a:rect b="b" l="l" r="r" t="t"/>
                <a:pathLst>
                  <a:path extrusionOk="0" h="120000" w="120000">
                    <a:moveTo>
                      <a:pt x="120000" y="60000"/>
                    </a:moveTo>
                    <a:lnTo>
                      <a:pt x="0" y="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033A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19"/>
              <p:cNvSpPr/>
              <p:nvPr/>
            </p:nvSpPr>
            <p:spPr>
              <a:xfrm>
                <a:off x="714375" y="857250"/>
                <a:ext cx="809700" cy="476400"/>
              </a:xfrm>
              <a:prstGeom prst="roundRect">
                <a:avLst>
                  <a:gd fmla="val 8000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0033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19"/>
              <p:cNvSpPr txBox="1"/>
              <p:nvPr/>
            </p:nvSpPr>
            <p:spPr>
              <a:xfrm>
                <a:off x="762000" y="904875"/>
                <a:ext cx="7143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5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Tiếp nhận &amp;</a:t>
                </a:r>
                <a:br>
                  <a:rPr b="1" lang="en" sz="75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</a:br>
                <a:r>
                  <a:rPr b="1" lang="en" sz="75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Xác minh</a:t>
                </a:r>
                <a:endParaRPr b="1" sz="7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04" name="Google Shape;304;p19"/>
              <p:cNvSpPr/>
              <p:nvPr/>
            </p:nvSpPr>
            <p:spPr>
              <a:xfrm>
                <a:off x="1524000" y="1095375"/>
                <a:ext cx="238200" cy="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0033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19"/>
              <p:cNvSpPr/>
              <p:nvPr/>
            </p:nvSpPr>
            <p:spPr>
              <a:xfrm>
                <a:off x="1704975" y="1057275"/>
                <a:ext cx="57300" cy="76200"/>
              </a:xfrm>
              <a:custGeom>
                <a:rect b="b" l="l" r="r" t="t"/>
                <a:pathLst>
                  <a:path extrusionOk="0" h="120000" w="120000">
                    <a:moveTo>
                      <a:pt x="120000" y="60000"/>
                    </a:moveTo>
                    <a:lnTo>
                      <a:pt x="0" y="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033A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19"/>
              <p:cNvSpPr/>
              <p:nvPr/>
            </p:nvSpPr>
            <p:spPr>
              <a:xfrm>
                <a:off x="1762125" y="904875"/>
                <a:ext cx="381000" cy="3810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lnTo>
                      <a:pt x="120000" y="60000"/>
                    </a:lnTo>
                    <a:lnTo>
                      <a:pt x="60000" y="120000"/>
                    </a:lnTo>
                    <a:lnTo>
                      <a:pt x="0" y="60000"/>
                    </a:lnTo>
                    <a:close/>
                  </a:path>
                </a:pathLst>
              </a:custGeom>
              <a:solidFill>
                <a:srgbClr val="FFFFFF"/>
              </a:solidFill>
              <a:ln cap="flat" cmpd="sng" w="14300">
                <a:solidFill>
                  <a:srgbClr val="0033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19"/>
              <p:cNvSpPr/>
              <p:nvPr/>
            </p:nvSpPr>
            <p:spPr>
              <a:xfrm>
                <a:off x="1914525" y="1057275"/>
                <a:ext cx="76200" cy="76200"/>
              </a:xfrm>
              <a:custGeom>
                <a:rect b="b" l="l" r="r" t="t"/>
                <a:pathLst>
                  <a:path extrusionOk="0" fill="none" h="120000" w="120000">
                    <a:moveTo>
                      <a:pt x="0" y="0"/>
                    </a:moveTo>
                    <a:lnTo>
                      <a:pt x="120000" y="120000"/>
                    </a:lnTo>
                    <a:moveTo>
                      <a:pt x="120000" y="0"/>
                    </a:moveTo>
                    <a:lnTo>
                      <a:pt x="0" y="120000"/>
                    </a:lnTo>
                  </a:path>
                </a:pathLst>
              </a:custGeom>
              <a:solidFill>
                <a:srgbClr val="FFFFFF"/>
              </a:solidFill>
              <a:ln cap="flat" cmpd="sng" w="14300">
                <a:solidFill>
                  <a:srgbClr val="0033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19"/>
              <p:cNvSpPr/>
              <p:nvPr/>
            </p:nvSpPr>
            <p:spPr>
              <a:xfrm>
                <a:off x="1952625" y="476250"/>
                <a:ext cx="381000" cy="4287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0" y="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0033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" name="Google Shape;309;p19"/>
              <p:cNvSpPr/>
              <p:nvPr/>
            </p:nvSpPr>
            <p:spPr>
              <a:xfrm>
                <a:off x="2276475" y="438150"/>
                <a:ext cx="57300" cy="76200"/>
              </a:xfrm>
              <a:custGeom>
                <a:rect b="b" l="l" r="r" t="t"/>
                <a:pathLst>
                  <a:path extrusionOk="0" h="120000" w="120000">
                    <a:moveTo>
                      <a:pt x="120000" y="60000"/>
                    </a:moveTo>
                    <a:lnTo>
                      <a:pt x="0" y="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033A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" name="Google Shape;310;p19"/>
              <p:cNvSpPr txBox="1"/>
              <p:nvPr/>
            </p:nvSpPr>
            <p:spPr>
              <a:xfrm>
                <a:off x="1981200" y="523875"/>
                <a:ext cx="381000" cy="14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00">
                    <a:solidFill>
                      <a:srgbClr val="555555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Tự động</a:t>
                </a:r>
                <a:endParaRPr b="0" sz="700">
                  <a:solidFill>
                    <a:srgbClr val="555555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  <p:sp>
            <p:nvSpPr>
              <p:cNvPr id="311" name="Google Shape;311;p19"/>
              <p:cNvSpPr/>
              <p:nvPr/>
            </p:nvSpPr>
            <p:spPr>
              <a:xfrm>
                <a:off x="2333625" y="238125"/>
                <a:ext cx="904800" cy="476400"/>
              </a:xfrm>
              <a:prstGeom prst="roundRect">
                <a:avLst>
                  <a:gd fmla="val 8000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0033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" name="Google Shape;312;p19"/>
              <p:cNvSpPr txBox="1"/>
              <p:nvPr/>
            </p:nvSpPr>
            <p:spPr>
              <a:xfrm>
                <a:off x="2381250" y="285750"/>
                <a:ext cx="8097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5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Tự động</a:t>
                </a:r>
                <a:br>
                  <a:rPr b="1" lang="en" sz="75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</a:br>
                <a:r>
                  <a:rPr b="1" lang="en" sz="75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Phân công</a:t>
                </a:r>
                <a:endParaRPr b="1" sz="7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3" name="Google Shape;313;p19"/>
              <p:cNvSpPr/>
              <p:nvPr/>
            </p:nvSpPr>
            <p:spPr>
              <a:xfrm>
                <a:off x="2143125" y="1095375"/>
                <a:ext cx="190500" cy="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0033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" name="Google Shape;314;p19"/>
              <p:cNvSpPr/>
              <p:nvPr/>
            </p:nvSpPr>
            <p:spPr>
              <a:xfrm>
                <a:off x="2276475" y="1057275"/>
                <a:ext cx="57300" cy="76200"/>
              </a:xfrm>
              <a:custGeom>
                <a:rect b="b" l="l" r="r" t="t"/>
                <a:pathLst>
                  <a:path extrusionOk="0" h="120000" w="120000">
                    <a:moveTo>
                      <a:pt x="120000" y="60000"/>
                    </a:moveTo>
                    <a:lnTo>
                      <a:pt x="0" y="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033A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" name="Google Shape;315;p19"/>
              <p:cNvSpPr txBox="1"/>
              <p:nvPr/>
            </p:nvSpPr>
            <p:spPr>
              <a:xfrm>
                <a:off x="2143125" y="952500"/>
                <a:ext cx="381000" cy="14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00">
                    <a:solidFill>
                      <a:srgbClr val="555555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Khẩn</a:t>
                </a:r>
                <a:endParaRPr b="0" sz="700">
                  <a:solidFill>
                    <a:srgbClr val="555555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  <p:sp>
            <p:nvSpPr>
              <p:cNvPr id="316" name="Google Shape;316;p19"/>
              <p:cNvSpPr/>
              <p:nvPr/>
            </p:nvSpPr>
            <p:spPr>
              <a:xfrm>
                <a:off x="2381250" y="952500"/>
                <a:ext cx="285900" cy="2859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lnTo>
                      <a:pt x="120000" y="60000"/>
                    </a:lnTo>
                    <a:lnTo>
                      <a:pt x="60000" y="120000"/>
                    </a:lnTo>
                    <a:lnTo>
                      <a:pt x="0" y="60000"/>
                    </a:lnTo>
                    <a:close/>
                  </a:path>
                </a:pathLst>
              </a:custGeom>
              <a:solidFill>
                <a:srgbClr val="FFFFFF"/>
              </a:solidFill>
              <a:ln cap="flat" cmpd="sng" w="14300">
                <a:solidFill>
                  <a:srgbClr val="0033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" name="Google Shape;317;p19"/>
              <p:cNvSpPr/>
              <p:nvPr/>
            </p:nvSpPr>
            <p:spPr>
              <a:xfrm>
                <a:off x="2438400" y="1009650"/>
                <a:ext cx="171600" cy="171600"/>
              </a:xfrm>
              <a:custGeom>
                <a:rect b="b" l="l" r="r" t="t"/>
                <a:pathLst>
                  <a:path extrusionOk="0" fill="none" h="120000" w="120000">
                    <a:moveTo>
                      <a:pt x="60000" y="0"/>
                    </a:moveTo>
                    <a:lnTo>
                      <a:pt x="60000" y="120000"/>
                    </a:lnTo>
                    <a:moveTo>
                      <a:pt x="0" y="60000"/>
                    </a:moveTo>
                    <a:lnTo>
                      <a:pt x="120000" y="60000"/>
                    </a:lnTo>
                  </a:path>
                </a:pathLst>
              </a:custGeom>
              <a:solidFill>
                <a:srgbClr val="FFFFFF"/>
              </a:solidFill>
              <a:ln cap="flat" cmpd="sng" w="14300">
                <a:solidFill>
                  <a:srgbClr val="0033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" name="Google Shape;318;p19"/>
              <p:cNvSpPr/>
              <p:nvPr/>
            </p:nvSpPr>
            <p:spPr>
              <a:xfrm>
                <a:off x="2524125" y="809625"/>
                <a:ext cx="2382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0" y="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0033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19"/>
              <p:cNvSpPr/>
              <p:nvPr/>
            </p:nvSpPr>
            <p:spPr>
              <a:xfrm>
                <a:off x="2705100" y="771525"/>
                <a:ext cx="57300" cy="76200"/>
              </a:xfrm>
              <a:custGeom>
                <a:rect b="b" l="l" r="r" t="t"/>
                <a:pathLst>
                  <a:path extrusionOk="0" h="120000" w="120000">
                    <a:moveTo>
                      <a:pt x="120000" y="60000"/>
                    </a:moveTo>
                    <a:lnTo>
                      <a:pt x="0" y="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033A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" name="Google Shape;320;p19"/>
              <p:cNvSpPr/>
              <p:nvPr/>
            </p:nvSpPr>
            <p:spPr>
              <a:xfrm>
                <a:off x="2762250" y="666750"/>
                <a:ext cx="619200" cy="285900"/>
              </a:xfrm>
              <a:prstGeom prst="roundRect">
                <a:avLst>
                  <a:gd fmla="val 10000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0033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" name="Google Shape;321;p19"/>
              <p:cNvSpPr txBox="1"/>
              <p:nvPr/>
            </p:nvSpPr>
            <p:spPr>
              <a:xfrm>
                <a:off x="2781300" y="685800"/>
                <a:ext cx="5811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00">
                    <a:solidFill>
                      <a:srgbClr val="111111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Gửi SMS</a:t>
                </a:r>
                <a:endParaRPr b="0" sz="70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  <p:sp>
            <p:nvSpPr>
              <p:cNvPr id="322" name="Google Shape;322;p19"/>
              <p:cNvSpPr/>
              <p:nvPr/>
            </p:nvSpPr>
            <p:spPr>
              <a:xfrm>
                <a:off x="2524125" y="1238250"/>
                <a:ext cx="2382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120000"/>
                    </a:ln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0033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19"/>
              <p:cNvSpPr/>
              <p:nvPr/>
            </p:nvSpPr>
            <p:spPr>
              <a:xfrm>
                <a:off x="2705100" y="1343025"/>
                <a:ext cx="57300" cy="76200"/>
              </a:xfrm>
              <a:custGeom>
                <a:rect b="b" l="l" r="r" t="t"/>
                <a:pathLst>
                  <a:path extrusionOk="0" h="120000" w="120000">
                    <a:moveTo>
                      <a:pt x="120000" y="60000"/>
                    </a:moveTo>
                    <a:lnTo>
                      <a:pt x="0" y="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033A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" name="Google Shape;324;p19"/>
              <p:cNvSpPr/>
              <p:nvPr/>
            </p:nvSpPr>
            <p:spPr>
              <a:xfrm>
                <a:off x="2762250" y="1238250"/>
                <a:ext cx="619200" cy="285900"/>
              </a:xfrm>
              <a:prstGeom prst="roundRect">
                <a:avLst>
                  <a:gd fmla="val 10000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0033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" name="Google Shape;325;p19"/>
              <p:cNvSpPr txBox="1"/>
              <p:nvPr/>
            </p:nvSpPr>
            <p:spPr>
              <a:xfrm>
                <a:off x="2781300" y="1257300"/>
                <a:ext cx="5811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00">
                    <a:solidFill>
                      <a:srgbClr val="111111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Gửi App</a:t>
                </a:r>
                <a:endParaRPr b="0" sz="70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  <p:sp>
            <p:nvSpPr>
              <p:cNvPr id="326" name="Google Shape;326;p19"/>
              <p:cNvSpPr/>
              <p:nvPr/>
            </p:nvSpPr>
            <p:spPr>
              <a:xfrm>
                <a:off x="1952625" y="1285875"/>
                <a:ext cx="381000" cy="4287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120000"/>
                    </a:ln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0033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19"/>
              <p:cNvSpPr/>
              <p:nvPr/>
            </p:nvSpPr>
            <p:spPr>
              <a:xfrm>
                <a:off x="2276475" y="1676400"/>
                <a:ext cx="57300" cy="76200"/>
              </a:xfrm>
              <a:custGeom>
                <a:rect b="b" l="l" r="r" t="t"/>
                <a:pathLst>
                  <a:path extrusionOk="0" h="120000" w="120000">
                    <a:moveTo>
                      <a:pt x="120000" y="60000"/>
                    </a:moveTo>
                    <a:lnTo>
                      <a:pt x="0" y="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033A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19"/>
              <p:cNvSpPr txBox="1"/>
              <p:nvPr/>
            </p:nvSpPr>
            <p:spPr>
              <a:xfrm>
                <a:off x="1981200" y="1381125"/>
                <a:ext cx="381000" cy="14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648">
                    <a:solidFill>
                      <a:srgbClr val="555555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Thủ công</a:t>
                </a:r>
                <a:endParaRPr b="0" sz="648">
                  <a:solidFill>
                    <a:srgbClr val="555555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  <p:sp>
            <p:nvSpPr>
              <p:cNvPr id="329" name="Google Shape;329;p19"/>
              <p:cNvSpPr/>
              <p:nvPr/>
            </p:nvSpPr>
            <p:spPr>
              <a:xfrm>
                <a:off x="2333625" y="1476375"/>
                <a:ext cx="904800" cy="476400"/>
              </a:xfrm>
              <a:prstGeom prst="roundRect">
                <a:avLst>
                  <a:gd fmla="val 8000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FF3A2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19"/>
              <p:cNvSpPr txBox="1"/>
              <p:nvPr/>
            </p:nvSpPr>
            <p:spPr>
              <a:xfrm>
                <a:off x="2381250" y="1524000"/>
                <a:ext cx="8097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5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Điều Phối</a:t>
                </a:r>
                <a:br>
                  <a:rPr b="1" lang="en" sz="75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</a:br>
                <a:r>
                  <a:rPr b="1" lang="en" sz="75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Thủ Công</a:t>
                </a:r>
                <a:endParaRPr b="1" sz="7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1" name="Google Shape;331;p19"/>
              <p:cNvSpPr/>
              <p:nvPr/>
            </p:nvSpPr>
            <p:spPr>
              <a:xfrm>
                <a:off x="3238500" y="476250"/>
                <a:ext cx="333300" cy="5238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0033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19"/>
              <p:cNvSpPr/>
              <p:nvPr/>
            </p:nvSpPr>
            <p:spPr>
              <a:xfrm>
                <a:off x="3533775" y="942975"/>
                <a:ext cx="76200" cy="57300"/>
              </a:xfrm>
              <a:custGeom>
                <a:rect b="b" l="l" r="r" t="t"/>
                <a:pathLst>
                  <a:path extrusionOk="0" h="120000" w="120000">
                    <a:moveTo>
                      <a:pt x="60000" y="120000"/>
                    </a:moveTo>
                    <a:lnTo>
                      <a:pt x="0" y="0"/>
                    </a:lnTo>
                    <a:lnTo>
                      <a:pt x="120000" y="0"/>
                    </a:lnTo>
                    <a:close/>
                  </a:path>
                </a:pathLst>
              </a:custGeom>
              <a:solidFill>
                <a:srgbClr val="0033A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19"/>
              <p:cNvSpPr/>
              <p:nvPr/>
            </p:nvSpPr>
            <p:spPr>
              <a:xfrm>
                <a:off x="3381375" y="809625"/>
                <a:ext cx="190500" cy="2859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60000" y="0"/>
                    </a:lnTo>
                    <a:lnTo>
                      <a:pt x="60000" y="120000"/>
                    </a:ln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0033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19"/>
              <p:cNvSpPr/>
              <p:nvPr/>
            </p:nvSpPr>
            <p:spPr>
              <a:xfrm>
                <a:off x="3381375" y="1095375"/>
                <a:ext cx="95400" cy="2859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120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0033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19"/>
              <p:cNvSpPr/>
              <p:nvPr/>
            </p:nvSpPr>
            <p:spPr>
              <a:xfrm>
                <a:off x="3238500" y="1190625"/>
                <a:ext cx="333300" cy="5238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120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0033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19"/>
              <p:cNvSpPr/>
              <p:nvPr/>
            </p:nvSpPr>
            <p:spPr>
              <a:xfrm>
                <a:off x="3533775" y="1190625"/>
                <a:ext cx="76200" cy="573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lnTo>
                      <a:pt x="0" y="12000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33A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" name="Google Shape;337;p19"/>
              <p:cNvSpPr/>
              <p:nvPr/>
            </p:nvSpPr>
            <p:spPr>
              <a:xfrm>
                <a:off x="3467100" y="990600"/>
                <a:ext cx="209700" cy="209700"/>
              </a:xfrm>
              <a:prstGeom prst="ellipse">
                <a:avLst/>
              </a:prstGeom>
              <a:solidFill>
                <a:srgbClr val="FFFFFF"/>
              </a:solidFill>
              <a:ln cap="flat" cmpd="sng" w="28575">
                <a:solidFill>
                  <a:srgbClr val="0033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19"/>
              <p:cNvSpPr/>
              <p:nvPr/>
            </p:nvSpPr>
            <p:spPr>
              <a:xfrm>
                <a:off x="3524250" y="1047750"/>
                <a:ext cx="95400" cy="95400"/>
              </a:xfrm>
              <a:prstGeom prst="ellipse">
                <a:avLst/>
              </a:prstGeom>
              <a:solidFill>
                <a:srgbClr val="0033A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19"/>
              <p:cNvSpPr txBox="1"/>
              <p:nvPr/>
            </p:nvSpPr>
            <p:spPr>
              <a:xfrm>
                <a:off x="3286125" y="1238250"/>
                <a:ext cx="571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50">
                    <a:solidFill>
                      <a:srgbClr val="111111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Hoàn tất</a:t>
                </a:r>
                <a:endParaRPr b="0" sz="750">
                  <a:solidFill>
                    <a:srgbClr val="111111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4" name="Google Shape;344;p20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45" name="Google Shape;345;p20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4F4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46" name="Google Shape;346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525" y="9525"/>
              <a:ext cx="8972700" cy="4972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7" name="Google Shape;347;p20"/>
            <p:cNvSpPr/>
            <p:nvPr/>
          </p:nvSpPr>
          <p:spPr>
            <a:xfrm>
              <a:off x="0" y="0"/>
              <a:ext cx="9144000" cy="76200"/>
            </a:xfrm>
            <a:prstGeom prst="rect">
              <a:avLst/>
            </a:prstGeom>
            <a:solidFill>
              <a:srgbClr val="0033A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0"/>
            <p:cNvSpPr/>
            <p:nvPr/>
          </p:nvSpPr>
          <p:spPr>
            <a:xfrm>
              <a:off x="381000" y="4762500"/>
              <a:ext cx="8382000" cy="9600"/>
            </a:xfrm>
            <a:prstGeom prst="rect">
              <a:avLst/>
            </a:prstGeom>
            <a:solidFill>
              <a:srgbClr val="D0D0C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0"/>
            <p:cNvSpPr txBox="1"/>
            <p:nvPr/>
          </p:nvSpPr>
          <p:spPr>
            <a:xfrm>
              <a:off x="381000" y="4838700"/>
              <a:ext cx="838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88888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BPMN PROCESS ANALYSIS REPORT</a:t>
              </a:r>
              <a:endParaRPr b="0" sz="800">
                <a:solidFill>
                  <a:srgbClr val="88888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350" name="Google Shape;350;p20"/>
          <p:cNvGrpSpPr/>
          <p:nvPr/>
        </p:nvGrpSpPr>
        <p:grpSpPr>
          <a:xfrm>
            <a:off x="381000" y="285750"/>
            <a:ext cx="8382000" cy="1123950"/>
            <a:chOff x="381000" y="285750"/>
            <a:chExt cx="8382000" cy="1123950"/>
          </a:xfrm>
        </p:grpSpPr>
        <p:sp>
          <p:nvSpPr>
            <p:cNvPr id="351" name="Google Shape;351;p20"/>
            <p:cNvSpPr/>
            <p:nvPr/>
          </p:nvSpPr>
          <p:spPr>
            <a:xfrm>
              <a:off x="381000" y="285750"/>
              <a:ext cx="381000" cy="38100"/>
            </a:xfrm>
            <a:prstGeom prst="rect">
              <a:avLst/>
            </a:prstGeom>
            <a:solidFill>
              <a:srgbClr val="FF3A2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0"/>
            <p:cNvSpPr txBox="1"/>
            <p:nvPr/>
          </p:nvSpPr>
          <p:spPr>
            <a:xfrm>
              <a:off x="381000" y="457200"/>
              <a:ext cx="8382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200">
                  <a:solidFill>
                    <a:srgbClr val="11111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Quy Trình Cốt Lõi</a:t>
              </a:r>
              <a:endParaRPr b="0" sz="3200">
                <a:solidFill>
                  <a:srgbClr val="11111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033A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Kỹ thuật viên tiếp nhận và sửa chữa</a:t>
              </a:r>
              <a:endParaRPr b="0" sz="1800">
                <a:solidFill>
                  <a:srgbClr val="0033A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353" name="Google Shape;353;p20"/>
          <p:cNvGrpSpPr/>
          <p:nvPr/>
        </p:nvGrpSpPr>
        <p:grpSpPr>
          <a:xfrm>
            <a:off x="381000" y="1524000"/>
            <a:ext cx="3905400" cy="3143250"/>
            <a:chOff x="381000" y="1524000"/>
            <a:chExt cx="3905400" cy="3143250"/>
          </a:xfrm>
        </p:grpSpPr>
        <p:sp>
          <p:nvSpPr>
            <p:cNvPr id="354" name="Google Shape;354;p20"/>
            <p:cNvSpPr/>
            <p:nvPr/>
          </p:nvSpPr>
          <p:spPr>
            <a:xfrm>
              <a:off x="381000" y="1524000"/>
              <a:ext cx="1857300" cy="1047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5" name="Google Shape;355;p20"/>
            <p:cNvGrpSpPr/>
            <p:nvPr/>
          </p:nvGrpSpPr>
          <p:grpSpPr>
            <a:xfrm>
              <a:off x="381000" y="1524000"/>
              <a:ext cx="228600" cy="228600"/>
              <a:chOff x="0" y="0"/>
              <a:chExt cx="228600" cy="228600"/>
            </a:xfrm>
          </p:grpSpPr>
          <p:sp>
            <p:nvSpPr>
              <p:cNvPr id="356" name="Google Shape;356;p20"/>
              <p:cNvSpPr/>
              <p:nvPr/>
            </p:nvSpPr>
            <p:spPr>
              <a:xfrm>
                <a:off x="0" y="0"/>
                <a:ext cx="228600" cy="38100"/>
              </a:xfrm>
              <a:prstGeom prst="rect">
                <a:avLst/>
              </a:prstGeom>
              <a:solidFill>
                <a:srgbClr val="FF3A2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20"/>
              <p:cNvSpPr/>
              <p:nvPr/>
            </p:nvSpPr>
            <p:spPr>
              <a:xfrm>
                <a:off x="0" y="0"/>
                <a:ext cx="38100" cy="228600"/>
              </a:xfrm>
              <a:prstGeom prst="rect">
                <a:avLst/>
              </a:prstGeom>
              <a:solidFill>
                <a:srgbClr val="FF3A2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58" name="Google Shape;358;p20"/>
            <p:cNvSpPr txBox="1"/>
            <p:nvPr/>
          </p:nvSpPr>
          <p:spPr>
            <a:xfrm>
              <a:off x="523875" y="1666875"/>
              <a:ext cx="15717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FF3A2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95m</a:t>
              </a:r>
              <a:endParaRPr b="1" sz="2800">
                <a:solidFill>
                  <a:srgbClr val="FF3A20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033A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HIỆU SUẤT THỜI GIAN</a:t>
              </a:r>
              <a:endParaRPr b="0" sz="850">
                <a:solidFill>
                  <a:srgbClr val="0033A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59" name="Google Shape;359;p20"/>
            <p:cNvSpPr/>
            <p:nvPr/>
          </p:nvSpPr>
          <p:spPr>
            <a:xfrm>
              <a:off x="2428875" y="1524000"/>
              <a:ext cx="1857300" cy="1047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0" name="Google Shape;360;p20"/>
            <p:cNvGrpSpPr/>
            <p:nvPr/>
          </p:nvGrpSpPr>
          <p:grpSpPr>
            <a:xfrm>
              <a:off x="2428875" y="1524000"/>
              <a:ext cx="228600" cy="228600"/>
              <a:chOff x="0" y="0"/>
              <a:chExt cx="228600" cy="228600"/>
            </a:xfrm>
          </p:grpSpPr>
          <p:sp>
            <p:nvSpPr>
              <p:cNvPr id="361" name="Google Shape;361;p20"/>
              <p:cNvSpPr/>
              <p:nvPr/>
            </p:nvSpPr>
            <p:spPr>
              <a:xfrm>
                <a:off x="0" y="0"/>
                <a:ext cx="228600" cy="38100"/>
              </a:xfrm>
              <a:prstGeom prst="rect">
                <a:avLst/>
              </a:prstGeom>
              <a:solidFill>
                <a:srgbClr val="FF3A2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20"/>
              <p:cNvSpPr/>
              <p:nvPr/>
            </p:nvSpPr>
            <p:spPr>
              <a:xfrm>
                <a:off x="0" y="0"/>
                <a:ext cx="38100" cy="228600"/>
              </a:xfrm>
              <a:prstGeom prst="rect">
                <a:avLst/>
              </a:prstGeom>
              <a:solidFill>
                <a:srgbClr val="FF3A2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3" name="Google Shape;363;p20"/>
            <p:cNvSpPr txBox="1"/>
            <p:nvPr/>
          </p:nvSpPr>
          <p:spPr>
            <a:xfrm>
              <a:off x="2571750" y="1666875"/>
              <a:ext cx="15717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0033A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06</a:t>
              </a:r>
              <a:endParaRPr b="1" sz="2800">
                <a:solidFill>
                  <a:srgbClr val="0033A0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033A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CỔNG ĐIỀU KIỆN</a:t>
              </a:r>
              <a:endParaRPr b="0" sz="850">
                <a:solidFill>
                  <a:srgbClr val="0033A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64" name="Google Shape;364;p20"/>
            <p:cNvSpPr txBox="1"/>
            <p:nvPr/>
          </p:nvSpPr>
          <p:spPr>
            <a:xfrm>
              <a:off x="381000" y="2762250"/>
              <a:ext cx="39054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175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FF3A20"/>
                </a:buClr>
                <a:buSzPts val="1400"/>
                <a:buChar char="●"/>
              </a:pPr>
              <a:r>
                <a:rPr b="1" lang="en" sz="1100">
                  <a:solidFill>
                    <a:srgbClr val="0033A0"/>
                  </a:solidFill>
                  <a:latin typeface="Inter"/>
                  <a:ea typeface="Inter"/>
                  <a:cs typeface="Inter"/>
                  <a:sym typeface="Inter"/>
                </a:rPr>
                <a:t>Tác nhân:</a:t>
              </a:r>
              <a:r>
                <a:rPr b="0" lang="en" sz="1100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rPr>
                <a:t> Kỹ thuật viên (KTV).</a:t>
              </a:r>
              <a:endParaRPr b="0" sz="1100">
                <a:solidFill>
                  <a:srgbClr val="11111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7500" lvl="0" marL="457200" rtl="0" algn="l">
                <a:spcBef>
                  <a:spcPts val="1050"/>
                </a:spcBef>
                <a:spcAft>
                  <a:spcPts val="0"/>
                </a:spcAft>
                <a:buClr>
                  <a:srgbClr val="FF3A20"/>
                </a:buClr>
                <a:buSzPts val="1400"/>
                <a:buChar char="●"/>
              </a:pPr>
              <a:r>
                <a:rPr b="1" lang="en" sz="1100">
                  <a:solidFill>
                    <a:srgbClr val="0033A0"/>
                  </a:solidFill>
                  <a:latin typeface="Inter"/>
                  <a:ea typeface="Inter"/>
                  <a:cs typeface="Inter"/>
                  <a:sym typeface="Inter"/>
                </a:rPr>
                <a:t>Độ phức tạp:</a:t>
              </a:r>
              <a:r>
                <a:rPr b="0" lang="en" sz="1100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rPr>
                <a:t> 6 cổng điều kiện, có sử dụng cổng song song. Đây là quy trình phức tạp nhất.</a:t>
              </a:r>
              <a:endParaRPr b="0" sz="1100">
                <a:solidFill>
                  <a:srgbClr val="11111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7500" lvl="0" marL="457200" rtl="0" algn="l">
                <a:spcBef>
                  <a:spcPts val="1050"/>
                </a:spcBef>
                <a:spcAft>
                  <a:spcPts val="1050"/>
                </a:spcAft>
                <a:buClr>
                  <a:srgbClr val="FF3A20"/>
                </a:buClr>
                <a:buSzPts val="1400"/>
                <a:buChar char="●"/>
              </a:pPr>
              <a:r>
                <a:rPr b="1" lang="en" sz="1100">
                  <a:solidFill>
                    <a:srgbClr val="0033A0"/>
                  </a:solidFill>
                  <a:latin typeface="Inter"/>
                  <a:ea typeface="Inter"/>
                  <a:cs typeface="Inter"/>
                  <a:sym typeface="Inter"/>
                </a:rPr>
                <a:t>Hiệu suất thời gian:</a:t>
              </a:r>
              <a:r>
                <a:rPr b="0" lang="en" sz="1100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rPr>
                <a:t> Xử lý trung bình một booking trong 95 phút (Đạt SLA mục tiêu ≤ 105 phút).</a:t>
              </a:r>
              <a:endParaRPr b="0" sz="1100">
                <a:solidFill>
                  <a:srgbClr val="11111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65" name="Google Shape;365;p20"/>
          <p:cNvGrpSpPr/>
          <p:nvPr/>
        </p:nvGrpSpPr>
        <p:grpSpPr>
          <a:xfrm>
            <a:off x="4572000" y="1524000"/>
            <a:ext cx="4191000" cy="3048000"/>
            <a:chOff x="4572000" y="1524000"/>
            <a:chExt cx="4191000" cy="3048000"/>
          </a:xfrm>
        </p:grpSpPr>
        <p:sp>
          <p:nvSpPr>
            <p:cNvPr id="366" name="Google Shape;366;p20"/>
            <p:cNvSpPr/>
            <p:nvPr/>
          </p:nvSpPr>
          <p:spPr>
            <a:xfrm>
              <a:off x="4572000" y="1524000"/>
              <a:ext cx="4191000" cy="3048000"/>
            </a:xfrm>
            <a:prstGeom prst="roundRect">
              <a:avLst>
                <a:gd fmla="val 1875" name="adj"/>
              </a:avLst>
            </a:prstGeom>
            <a:solidFill>
              <a:srgbClr val="FFFFFF"/>
            </a:solidFill>
            <a:ln cap="flat" cmpd="sng" w="14300">
              <a:solidFill>
                <a:srgbClr val="D0D0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0"/>
            <p:cNvSpPr/>
            <p:nvPr/>
          </p:nvSpPr>
          <p:spPr>
            <a:xfrm>
              <a:off x="4572000" y="1524000"/>
              <a:ext cx="4191000" cy="57300"/>
            </a:xfrm>
            <a:prstGeom prst="roundRect">
              <a:avLst>
                <a:gd fmla="val 50000" name="adj"/>
              </a:avLst>
            </a:prstGeom>
            <a:solidFill>
              <a:srgbClr val="0033A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0"/>
            <p:cNvSpPr txBox="1"/>
            <p:nvPr/>
          </p:nvSpPr>
          <p:spPr>
            <a:xfrm>
              <a:off x="4762500" y="167640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11111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SƠ ĐỒ PHÂN NHÁNH QUY TRÌNH THỰC TẾ (BPMN)</a:t>
              </a:r>
              <a:endParaRPr/>
            </a:p>
          </p:txBody>
        </p:sp>
        <p:grpSp>
          <p:nvGrpSpPr>
            <p:cNvPr id="369" name="Google Shape;369;p20"/>
            <p:cNvGrpSpPr/>
            <p:nvPr/>
          </p:nvGrpSpPr>
          <p:grpSpPr>
            <a:xfrm>
              <a:off x="4762500" y="2047875"/>
              <a:ext cx="3810150" cy="2190900"/>
              <a:chOff x="4762500" y="2000250"/>
              <a:chExt cx="3810150" cy="2190900"/>
            </a:xfrm>
          </p:grpSpPr>
          <p:sp>
            <p:nvSpPr>
              <p:cNvPr id="370" name="Google Shape;370;p20"/>
              <p:cNvSpPr/>
              <p:nvPr/>
            </p:nvSpPr>
            <p:spPr>
              <a:xfrm>
                <a:off x="4762500" y="2000250"/>
                <a:ext cx="285900" cy="2190900"/>
              </a:xfrm>
              <a:prstGeom prst="roundRect">
                <a:avLst>
                  <a:gd fmla="val 10000" name="adj"/>
                </a:avLst>
              </a:prstGeom>
              <a:solidFill>
                <a:srgbClr val="0033A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20"/>
              <p:cNvSpPr txBox="1"/>
              <p:nvPr/>
            </p:nvSpPr>
            <p:spPr>
              <a:xfrm>
                <a:off x="4762500" y="2000250"/>
                <a:ext cx="285900" cy="219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FFFFFF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KTV</a:t>
                </a:r>
                <a:endParaRPr b="0" sz="10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  <p:sp>
            <p:nvSpPr>
              <p:cNvPr id="372" name="Google Shape;372;p20"/>
              <p:cNvSpPr/>
              <p:nvPr/>
            </p:nvSpPr>
            <p:spPr>
              <a:xfrm>
                <a:off x="5048250" y="2000250"/>
                <a:ext cx="3524400" cy="2190900"/>
              </a:xfrm>
              <a:prstGeom prst="roundRect">
                <a:avLst>
                  <a:gd fmla="val 1304" name="adj"/>
                </a:avLst>
              </a:prstGeom>
              <a:solidFill>
                <a:srgbClr val="F4F4F0"/>
              </a:solidFill>
              <a:ln cap="flat" cmpd="sng" w="14300">
                <a:solidFill>
                  <a:srgbClr val="0033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20"/>
              <p:cNvSpPr/>
              <p:nvPr/>
            </p:nvSpPr>
            <p:spPr>
              <a:xfrm>
                <a:off x="5238750" y="3000375"/>
                <a:ext cx="190500" cy="190500"/>
              </a:xfrm>
              <a:prstGeom prst="ellipse">
                <a:avLst/>
              </a:prstGeom>
              <a:solidFill>
                <a:srgbClr val="FFFFFF"/>
              </a:solidFill>
              <a:ln cap="flat" cmpd="sng" w="19050">
                <a:solidFill>
                  <a:srgbClr val="0033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20"/>
              <p:cNvSpPr/>
              <p:nvPr/>
            </p:nvSpPr>
            <p:spPr>
              <a:xfrm>
                <a:off x="5429250" y="3095625"/>
                <a:ext cx="190500" cy="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0033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20"/>
              <p:cNvSpPr/>
              <p:nvPr/>
            </p:nvSpPr>
            <p:spPr>
              <a:xfrm>
                <a:off x="5562600" y="3057525"/>
                <a:ext cx="57300" cy="76200"/>
              </a:xfrm>
              <a:custGeom>
                <a:rect b="b" l="l" r="r" t="t"/>
                <a:pathLst>
                  <a:path extrusionOk="0" h="120000" w="120000">
                    <a:moveTo>
                      <a:pt x="120000" y="60000"/>
                    </a:moveTo>
                    <a:lnTo>
                      <a:pt x="0" y="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033A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20"/>
              <p:cNvSpPr/>
              <p:nvPr/>
            </p:nvSpPr>
            <p:spPr>
              <a:xfrm>
                <a:off x="5619750" y="2809875"/>
                <a:ext cx="666900" cy="571500"/>
              </a:xfrm>
              <a:prstGeom prst="roundRect">
                <a:avLst>
                  <a:gd fmla="val 6666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0033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20"/>
              <p:cNvSpPr txBox="1"/>
              <p:nvPr/>
            </p:nvSpPr>
            <p:spPr>
              <a:xfrm>
                <a:off x="5619750" y="2809875"/>
                <a:ext cx="6669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8100" lIns="38100" spcFirstLastPara="1" rIns="38100" wrap="square" tIns="38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5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Tiếp nhận</a:t>
                </a:r>
                <a:endParaRPr b="1" sz="8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700">
                    <a:solidFill>
                      <a:srgbClr val="666666"/>
                    </a:solidFill>
                    <a:latin typeface="Inter"/>
                    <a:ea typeface="Inter"/>
                    <a:cs typeface="Inter"/>
                    <a:sym typeface="Inter"/>
                  </a:rPr>
                  <a:t>&amp; Khảo sát</a:t>
                </a:r>
                <a:endParaRPr b="0" sz="700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8" name="Google Shape;378;p20"/>
              <p:cNvSpPr/>
              <p:nvPr/>
            </p:nvSpPr>
            <p:spPr>
              <a:xfrm>
                <a:off x="6286500" y="3095625"/>
                <a:ext cx="238200" cy="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0033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20"/>
              <p:cNvSpPr/>
              <p:nvPr/>
            </p:nvSpPr>
            <p:spPr>
              <a:xfrm>
                <a:off x="6467475" y="3057525"/>
                <a:ext cx="57300" cy="76200"/>
              </a:xfrm>
              <a:custGeom>
                <a:rect b="b" l="l" r="r" t="t"/>
                <a:pathLst>
                  <a:path extrusionOk="0" h="120000" w="120000">
                    <a:moveTo>
                      <a:pt x="120000" y="60000"/>
                    </a:moveTo>
                    <a:lnTo>
                      <a:pt x="0" y="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033A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20"/>
              <p:cNvSpPr/>
              <p:nvPr/>
            </p:nvSpPr>
            <p:spPr>
              <a:xfrm>
                <a:off x="6553200" y="2981325"/>
                <a:ext cx="228600" cy="2286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lnTo>
                      <a:pt x="120000" y="60000"/>
                    </a:lnTo>
                    <a:lnTo>
                      <a:pt x="60000" y="120000"/>
                    </a:lnTo>
                    <a:lnTo>
                      <a:pt x="0" y="60000"/>
                    </a:lnTo>
                    <a:close/>
                  </a:path>
                </a:pathLst>
              </a:custGeom>
              <a:solidFill>
                <a:srgbClr val="FFFFFF"/>
              </a:solidFill>
              <a:ln cap="flat" cmpd="sng" w="14300">
                <a:solidFill>
                  <a:srgbClr val="0033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20"/>
              <p:cNvSpPr/>
              <p:nvPr/>
            </p:nvSpPr>
            <p:spPr>
              <a:xfrm>
                <a:off x="6629400" y="3057525"/>
                <a:ext cx="76200" cy="76200"/>
              </a:xfrm>
              <a:custGeom>
                <a:rect b="b" l="l" r="r" t="t"/>
                <a:pathLst>
                  <a:path extrusionOk="0" fill="none" h="120000" w="120000">
                    <a:moveTo>
                      <a:pt x="0" y="60000"/>
                    </a:moveTo>
                    <a:lnTo>
                      <a:pt x="120000" y="60000"/>
                    </a:lnTo>
                    <a:moveTo>
                      <a:pt x="60000" y="0"/>
                    </a:moveTo>
                    <a:lnTo>
                      <a:pt x="60000" y="120000"/>
                    </a:lnTo>
                  </a:path>
                </a:pathLst>
              </a:custGeom>
              <a:solidFill>
                <a:srgbClr val="FFFFFF"/>
              </a:solidFill>
              <a:ln cap="flat" cmpd="sng" w="19050">
                <a:solidFill>
                  <a:srgbClr val="0033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20"/>
              <p:cNvSpPr txBox="1"/>
              <p:nvPr/>
            </p:nvSpPr>
            <p:spPr>
              <a:xfrm>
                <a:off x="6334125" y="2619375"/>
                <a:ext cx="666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650">
                    <a:solidFill>
                      <a:srgbClr val="FF3A20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SONG SONG</a:t>
                </a:r>
                <a:endParaRPr b="0" sz="650">
                  <a:solidFill>
                    <a:srgbClr val="FF3A20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  <p:sp>
            <p:nvSpPr>
              <p:cNvPr id="383" name="Google Shape;383;p20"/>
              <p:cNvSpPr/>
              <p:nvPr/>
            </p:nvSpPr>
            <p:spPr>
              <a:xfrm>
                <a:off x="6667500" y="2524125"/>
                <a:ext cx="285900" cy="4572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0" y="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0033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20"/>
              <p:cNvSpPr/>
              <p:nvPr/>
            </p:nvSpPr>
            <p:spPr>
              <a:xfrm>
                <a:off x="6896100" y="2486025"/>
                <a:ext cx="57300" cy="76200"/>
              </a:xfrm>
              <a:custGeom>
                <a:rect b="b" l="l" r="r" t="t"/>
                <a:pathLst>
                  <a:path extrusionOk="0" h="120000" w="120000">
                    <a:moveTo>
                      <a:pt x="120000" y="60000"/>
                    </a:moveTo>
                    <a:lnTo>
                      <a:pt x="0" y="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033A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20"/>
              <p:cNvSpPr/>
              <p:nvPr/>
            </p:nvSpPr>
            <p:spPr>
              <a:xfrm>
                <a:off x="6953250" y="2238375"/>
                <a:ext cx="714300" cy="571500"/>
              </a:xfrm>
              <a:prstGeom prst="roundRect">
                <a:avLst>
                  <a:gd fmla="val 6666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0033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20"/>
              <p:cNvSpPr txBox="1"/>
              <p:nvPr/>
            </p:nvSpPr>
            <p:spPr>
              <a:xfrm>
                <a:off x="6953250" y="2238375"/>
                <a:ext cx="7143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8100" lIns="38100" spcFirstLastPara="1" rIns="38100" wrap="square" tIns="38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Sửa chữa</a:t>
                </a:r>
                <a:endParaRPr b="1" sz="8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700">
                    <a:solidFill>
                      <a:srgbClr val="666666"/>
                    </a:solidFill>
                    <a:latin typeface="Inter"/>
                    <a:ea typeface="Inter"/>
                    <a:cs typeface="Inter"/>
                    <a:sym typeface="Inter"/>
                  </a:rPr>
                  <a:t>Phần cứng</a:t>
                </a:r>
                <a:endParaRPr b="0" sz="700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7" name="Google Shape;387;p20"/>
              <p:cNvSpPr/>
              <p:nvPr/>
            </p:nvSpPr>
            <p:spPr>
              <a:xfrm>
                <a:off x="6667500" y="3209925"/>
                <a:ext cx="285900" cy="4572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120000"/>
                    </a:ln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0033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" name="Google Shape;388;p20"/>
              <p:cNvSpPr/>
              <p:nvPr/>
            </p:nvSpPr>
            <p:spPr>
              <a:xfrm>
                <a:off x="6896100" y="3629025"/>
                <a:ext cx="57300" cy="76200"/>
              </a:xfrm>
              <a:custGeom>
                <a:rect b="b" l="l" r="r" t="t"/>
                <a:pathLst>
                  <a:path extrusionOk="0" h="120000" w="120000">
                    <a:moveTo>
                      <a:pt x="120000" y="60000"/>
                    </a:moveTo>
                    <a:lnTo>
                      <a:pt x="0" y="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033A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20"/>
              <p:cNvSpPr/>
              <p:nvPr/>
            </p:nvSpPr>
            <p:spPr>
              <a:xfrm>
                <a:off x="6953250" y="3381375"/>
                <a:ext cx="714300" cy="571500"/>
              </a:xfrm>
              <a:prstGeom prst="roundRect">
                <a:avLst>
                  <a:gd fmla="val 6666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0033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20"/>
              <p:cNvSpPr txBox="1"/>
              <p:nvPr/>
            </p:nvSpPr>
            <p:spPr>
              <a:xfrm>
                <a:off x="6953250" y="3381375"/>
                <a:ext cx="7143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8100" lIns="38100" spcFirstLastPara="1" rIns="38100" wrap="square" tIns="38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Cấu hình</a:t>
                </a:r>
                <a:endParaRPr b="1" sz="8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700">
                    <a:solidFill>
                      <a:srgbClr val="666666"/>
                    </a:solidFill>
                    <a:latin typeface="Inter"/>
                    <a:ea typeface="Inter"/>
                    <a:cs typeface="Inter"/>
                    <a:sym typeface="Inter"/>
                  </a:rPr>
                  <a:t>Phần mềm</a:t>
                </a:r>
                <a:endParaRPr b="0" sz="700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1" name="Google Shape;391;p20"/>
              <p:cNvSpPr/>
              <p:nvPr/>
            </p:nvSpPr>
            <p:spPr>
              <a:xfrm>
                <a:off x="7743825" y="2981325"/>
                <a:ext cx="228600" cy="2286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lnTo>
                      <a:pt x="120000" y="60000"/>
                    </a:lnTo>
                    <a:lnTo>
                      <a:pt x="60000" y="120000"/>
                    </a:lnTo>
                    <a:lnTo>
                      <a:pt x="0" y="60000"/>
                    </a:lnTo>
                    <a:close/>
                  </a:path>
                </a:pathLst>
              </a:custGeom>
              <a:solidFill>
                <a:srgbClr val="FFFFFF"/>
              </a:solidFill>
              <a:ln cap="flat" cmpd="sng" w="14300">
                <a:solidFill>
                  <a:srgbClr val="0033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20"/>
              <p:cNvSpPr/>
              <p:nvPr/>
            </p:nvSpPr>
            <p:spPr>
              <a:xfrm>
                <a:off x="7820025" y="3057525"/>
                <a:ext cx="76200" cy="76200"/>
              </a:xfrm>
              <a:custGeom>
                <a:rect b="b" l="l" r="r" t="t"/>
                <a:pathLst>
                  <a:path extrusionOk="0" fill="none" h="120000" w="120000">
                    <a:moveTo>
                      <a:pt x="0" y="60000"/>
                    </a:moveTo>
                    <a:lnTo>
                      <a:pt x="120000" y="60000"/>
                    </a:lnTo>
                    <a:moveTo>
                      <a:pt x="60000" y="0"/>
                    </a:moveTo>
                    <a:lnTo>
                      <a:pt x="60000" y="120000"/>
                    </a:lnTo>
                  </a:path>
                </a:pathLst>
              </a:custGeom>
              <a:solidFill>
                <a:srgbClr val="FFFFFF"/>
              </a:solidFill>
              <a:ln cap="flat" cmpd="sng" w="19050">
                <a:solidFill>
                  <a:srgbClr val="0033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" name="Google Shape;393;p20"/>
              <p:cNvSpPr/>
              <p:nvPr/>
            </p:nvSpPr>
            <p:spPr>
              <a:xfrm>
                <a:off x="7667625" y="2524125"/>
                <a:ext cx="190500" cy="4572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0033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20"/>
              <p:cNvSpPr/>
              <p:nvPr/>
            </p:nvSpPr>
            <p:spPr>
              <a:xfrm>
                <a:off x="7820025" y="2924175"/>
                <a:ext cx="76200" cy="57300"/>
              </a:xfrm>
              <a:custGeom>
                <a:rect b="b" l="l" r="r" t="t"/>
                <a:pathLst>
                  <a:path extrusionOk="0" h="120000" w="120000">
                    <a:moveTo>
                      <a:pt x="60000" y="120000"/>
                    </a:moveTo>
                    <a:lnTo>
                      <a:pt x="0" y="0"/>
                    </a:lnTo>
                    <a:lnTo>
                      <a:pt x="120000" y="0"/>
                    </a:lnTo>
                    <a:close/>
                  </a:path>
                </a:pathLst>
              </a:custGeom>
              <a:solidFill>
                <a:srgbClr val="0033A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20"/>
              <p:cNvSpPr/>
              <p:nvPr/>
            </p:nvSpPr>
            <p:spPr>
              <a:xfrm>
                <a:off x="7667625" y="3209925"/>
                <a:ext cx="190500" cy="4572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120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0033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20"/>
              <p:cNvSpPr/>
              <p:nvPr/>
            </p:nvSpPr>
            <p:spPr>
              <a:xfrm>
                <a:off x="7820025" y="3209925"/>
                <a:ext cx="76200" cy="573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lnTo>
                      <a:pt x="0" y="12000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33A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20"/>
              <p:cNvSpPr/>
              <p:nvPr/>
            </p:nvSpPr>
            <p:spPr>
              <a:xfrm>
                <a:off x="7972425" y="3095625"/>
                <a:ext cx="219000" cy="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0033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20"/>
              <p:cNvSpPr/>
              <p:nvPr/>
            </p:nvSpPr>
            <p:spPr>
              <a:xfrm>
                <a:off x="8134350" y="3057525"/>
                <a:ext cx="57300" cy="76200"/>
              </a:xfrm>
              <a:custGeom>
                <a:rect b="b" l="l" r="r" t="t"/>
                <a:pathLst>
                  <a:path extrusionOk="0" h="120000" w="120000">
                    <a:moveTo>
                      <a:pt x="120000" y="60000"/>
                    </a:moveTo>
                    <a:lnTo>
                      <a:pt x="0" y="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033A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20"/>
              <p:cNvSpPr/>
              <p:nvPr/>
            </p:nvSpPr>
            <p:spPr>
              <a:xfrm>
                <a:off x="8210550" y="3000375"/>
                <a:ext cx="190500" cy="190500"/>
              </a:xfrm>
              <a:prstGeom prst="ellipse">
                <a:avLst/>
              </a:prstGeom>
              <a:solidFill>
                <a:srgbClr val="FFFFFF"/>
              </a:solidFill>
              <a:ln cap="flat" cmpd="sng" w="28575">
                <a:solidFill>
                  <a:srgbClr val="FF3A2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4" name="Google Shape;404;p21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05" name="Google Shape;405;p21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4F4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06" name="Google Shape;406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525" y="9525"/>
              <a:ext cx="8972700" cy="4972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21"/>
            <p:cNvSpPr/>
            <p:nvPr/>
          </p:nvSpPr>
          <p:spPr>
            <a:xfrm>
              <a:off x="0" y="0"/>
              <a:ext cx="9144000" cy="76200"/>
            </a:xfrm>
            <a:prstGeom prst="rect">
              <a:avLst/>
            </a:prstGeom>
            <a:solidFill>
              <a:srgbClr val="0033A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1"/>
            <p:cNvSpPr/>
            <p:nvPr/>
          </p:nvSpPr>
          <p:spPr>
            <a:xfrm>
              <a:off x="381000" y="4762500"/>
              <a:ext cx="8382000" cy="9600"/>
            </a:xfrm>
            <a:prstGeom prst="rect">
              <a:avLst/>
            </a:prstGeom>
            <a:solidFill>
              <a:srgbClr val="D0D0C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1"/>
            <p:cNvSpPr txBox="1"/>
            <p:nvPr/>
          </p:nvSpPr>
          <p:spPr>
            <a:xfrm>
              <a:off x="381000" y="4857750"/>
              <a:ext cx="838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88888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BPMN PROCESS ANALYSIS REPORT</a:t>
              </a:r>
              <a:endParaRPr b="0" sz="800">
                <a:solidFill>
                  <a:srgbClr val="88888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410" name="Google Shape;410;p21"/>
          <p:cNvGrpSpPr/>
          <p:nvPr/>
        </p:nvGrpSpPr>
        <p:grpSpPr>
          <a:xfrm>
            <a:off x="381000" y="285750"/>
            <a:ext cx="8382000" cy="1428900"/>
            <a:chOff x="381000" y="285750"/>
            <a:chExt cx="8382000" cy="1428900"/>
          </a:xfrm>
        </p:grpSpPr>
        <p:sp>
          <p:nvSpPr>
            <p:cNvPr id="411" name="Google Shape;411;p21"/>
            <p:cNvSpPr/>
            <p:nvPr/>
          </p:nvSpPr>
          <p:spPr>
            <a:xfrm>
              <a:off x="381000" y="285750"/>
              <a:ext cx="381000" cy="38100"/>
            </a:xfrm>
            <a:prstGeom prst="rect">
              <a:avLst/>
            </a:prstGeom>
            <a:solidFill>
              <a:srgbClr val="FF3A2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1"/>
            <p:cNvSpPr txBox="1"/>
            <p:nvPr/>
          </p:nvSpPr>
          <p:spPr>
            <a:xfrm>
              <a:off x="381000" y="476250"/>
              <a:ext cx="8382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11111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Quy Trình Hỗ Trợ: Chat Support &amp; Quản Lý Linh Kiện</a:t>
              </a:r>
              <a:endParaRPr b="0" sz="2400">
                <a:solidFill>
                  <a:srgbClr val="11111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033A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Hệ thống hóa quy trình kỹ thuật vận hành và đối soát vật tư thực tế</a:t>
              </a:r>
              <a:endParaRPr b="0" sz="1300">
                <a:solidFill>
                  <a:srgbClr val="0033A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413" name="Google Shape;413;p21"/>
          <p:cNvGrpSpPr/>
          <p:nvPr/>
        </p:nvGrpSpPr>
        <p:grpSpPr>
          <a:xfrm>
            <a:off x="381000" y="1905000"/>
            <a:ext cx="8382075" cy="2762250"/>
            <a:chOff x="381000" y="1905000"/>
            <a:chExt cx="8382075" cy="2762250"/>
          </a:xfrm>
        </p:grpSpPr>
        <p:grpSp>
          <p:nvGrpSpPr>
            <p:cNvPr id="414" name="Google Shape;414;p21"/>
            <p:cNvGrpSpPr/>
            <p:nvPr/>
          </p:nvGrpSpPr>
          <p:grpSpPr>
            <a:xfrm>
              <a:off x="381000" y="1905000"/>
              <a:ext cx="4048200" cy="1333500"/>
              <a:chOff x="381000" y="1905000"/>
              <a:chExt cx="4048200" cy="1333500"/>
            </a:xfrm>
          </p:grpSpPr>
          <p:sp>
            <p:nvSpPr>
              <p:cNvPr id="415" name="Google Shape;415;p21"/>
              <p:cNvSpPr/>
              <p:nvPr/>
            </p:nvSpPr>
            <p:spPr>
              <a:xfrm>
                <a:off x="381000" y="1905000"/>
                <a:ext cx="4048200" cy="13335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21"/>
              <p:cNvSpPr/>
              <p:nvPr/>
            </p:nvSpPr>
            <p:spPr>
              <a:xfrm>
                <a:off x="381000" y="1905000"/>
                <a:ext cx="4048200" cy="38100"/>
              </a:xfrm>
              <a:prstGeom prst="rect">
                <a:avLst/>
              </a:prstGeom>
              <a:solidFill>
                <a:srgbClr val="0033A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17" name="Google Shape;417;p21"/>
              <p:cNvGrpSpPr/>
              <p:nvPr/>
            </p:nvGrpSpPr>
            <p:grpSpPr>
              <a:xfrm>
                <a:off x="533624" y="2019524"/>
                <a:ext cx="258631" cy="258631"/>
                <a:chOff x="-63126" y="-63126"/>
                <a:chExt cx="431052" cy="431052"/>
              </a:xfrm>
            </p:grpSpPr>
            <p:sp>
              <p:nvSpPr>
                <p:cNvPr id="418" name="Google Shape;418;p21"/>
                <p:cNvSpPr/>
                <p:nvPr/>
              </p:nvSpPr>
              <p:spPr>
                <a:xfrm rot="2700000">
                  <a:off x="0" y="0"/>
                  <a:ext cx="304800" cy="304800"/>
                </a:xfrm>
                <a:prstGeom prst="rect">
                  <a:avLst/>
                </a:prstGeom>
                <a:solidFill>
                  <a:srgbClr val="FF3A20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9" name="Google Shape;419;p21"/>
                <p:cNvSpPr/>
                <p:nvPr/>
              </p:nvSpPr>
              <p:spPr>
                <a:xfrm>
                  <a:off x="95250" y="95250"/>
                  <a:ext cx="114300" cy="11430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20" name="Google Shape;420;p21"/>
              <p:cNvSpPr txBox="1"/>
              <p:nvPr/>
            </p:nvSpPr>
            <p:spPr>
              <a:xfrm>
                <a:off x="857250" y="2047875"/>
                <a:ext cx="33813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033A0"/>
                    </a:solidFill>
                    <a:latin typeface="Inter"/>
                    <a:ea typeface="Inter"/>
                    <a:cs typeface="Inter"/>
                    <a:sym typeface="Inter"/>
                  </a:rPr>
                  <a:t>01. CHAT SUPPORT - ĐIỀU KIỆN</a:t>
                </a:r>
                <a:endParaRPr b="1" sz="1100">
                  <a:solidFill>
                    <a:srgbClr val="0033A0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Roboto"/>
                    <a:ea typeface="Roboto"/>
                    <a:cs typeface="Roboto"/>
                    <a:sym typeface="Roboto"/>
                  </a:rPr>
                  <a:t>Thiết lập </a:t>
                </a:r>
                <a:r>
                  <a:rPr b="1" lang="en" sz="1100">
                    <a:solidFill>
                      <a:srgbClr val="FF3A20"/>
                    </a:solidFill>
                    <a:latin typeface="Roboto"/>
                    <a:ea typeface="Roboto"/>
                    <a:cs typeface="Roboto"/>
                    <a:sym typeface="Roboto"/>
                  </a:rPr>
                  <a:t>4 cổng điều kiện</a:t>
                </a:r>
                <a:r>
                  <a:rPr b="0" lang="en" sz="1100">
                    <a:solidFill>
                      <a:srgbClr val="111111"/>
                    </a:solidFill>
                    <a:latin typeface="Roboto"/>
                    <a:ea typeface="Roboto"/>
                    <a:cs typeface="Roboto"/>
                    <a:sym typeface="Roboto"/>
                  </a:rPr>
                  <a:t> nghiêm ngặt đầu vào nhằm tự động hóa việc kiểm soát, phân loại dữ liệu và định tuyến tối ưu.</a:t>
                </a:r>
                <a:endParaRPr b="0" sz="1100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421" name="Google Shape;421;p21"/>
            <p:cNvGrpSpPr/>
            <p:nvPr/>
          </p:nvGrpSpPr>
          <p:grpSpPr>
            <a:xfrm>
              <a:off x="4714875" y="1905000"/>
              <a:ext cx="4048200" cy="1333500"/>
              <a:chOff x="4714875" y="1905000"/>
              <a:chExt cx="4048200" cy="1333500"/>
            </a:xfrm>
          </p:grpSpPr>
          <p:sp>
            <p:nvSpPr>
              <p:cNvPr id="422" name="Google Shape;422;p21"/>
              <p:cNvSpPr/>
              <p:nvPr/>
            </p:nvSpPr>
            <p:spPr>
              <a:xfrm>
                <a:off x="4714875" y="1905000"/>
                <a:ext cx="4048200" cy="13335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21"/>
              <p:cNvSpPr/>
              <p:nvPr/>
            </p:nvSpPr>
            <p:spPr>
              <a:xfrm>
                <a:off x="4714875" y="1905000"/>
                <a:ext cx="4048200" cy="38100"/>
              </a:xfrm>
              <a:prstGeom prst="rect">
                <a:avLst/>
              </a:prstGeom>
              <a:solidFill>
                <a:srgbClr val="0033A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24" name="Google Shape;424;p21"/>
              <p:cNvGrpSpPr/>
              <p:nvPr/>
            </p:nvGrpSpPr>
            <p:grpSpPr>
              <a:xfrm>
                <a:off x="4867499" y="2019524"/>
                <a:ext cx="258631" cy="258631"/>
                <a:chOff x="-63126" y="-63126"/>
                <a:chExt cx="431052" cy="431052"/>
              </a:xfrm>
            </p:grpSpPr>
            <p:sp>
              <p:nvSpPr>
                <p:cNvPr id="425" name="Google Shape;425;p21"/>
                <p:cNvSpPr/>
                <p:nvPr/>
              </p:nvSpPr>
              <p:spPr>
                <a:xfrm rot="2700000">
                  <a:off x="0" y="0"/>
                  <a:ext cx="304800" cy="304800"/>
                </a:xfrm>
                <a:prstGeom prst="rect">
                  <a:avLst/>
                </a:prstGeom>
                <a:solidFill>
                  <a:srgbClr val="FF3A20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6" name="Google Shape;426;p21"/>
                <p:cNvSpPr/>
                <p:nvPr/>
              </p:nvSpPr>
              <p:spPr>
                <a:xfrm>
                  <a:off x="95250" y="95250"/>
                  <a:ext cx="114300" cy="11430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27" name="Google Shape;427;p21"/>
              <p:cNvSpPr txBox="1"/>
              <p:nvPr/>
            </p:nvSpPr>
            <p:spPr>
              <a:xfrm>
                <a:off x="5191125" y="2047875"/>
                <a:ext cx="33813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033A0"/>
                    </a:solidFill>
                    <a:latin typeface="Inter"/>
                    <a:ea typeface="Inter"/>
                    <a:cs typeface="Inter"/>
                    <a:sym typeface="Inter"/>
                  </a:rPr>
                  <a:t>02. CHAT SUPPORT - PHÂN NHÁNH</a:t>
                </a:r>
                <a:endParaRPr b="1" sz="1100">
                  <a:solidFill>
                    <a:srgbClr val="0033A0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Roboto"/>
                    <a:ea typeface="Roboto"/>
                    <a:cs typeface="Roboto"/>
                    <a:sym typeface="Roboto"/>
                  </a:rPr>
                  <a:t>Phân nhánh luồng xử lý rõ ràng giữa hai bộ phận cốt lõi: </a:t>
                </a:r>
                <a:r>
                  <a:rPr b="1" lang="en" sz="1100">
                    <a:solidFill>
                      <a:srgbClr val="111111"/>
                    </a:solidFill>
                    <a:latin typeface="Roboto"/>
                    <a:ea typeface="Roboto"/>
                    <a:cs typeface="Roboto"/>
                    <a:sym typeface="Roboto"/>
                  </a:rPr>
                  <a:t>Hỗ trợ kỹ thuật</a:t>
                </a:r>
                <a:r>
                  <a:rPr b="0" lang="en" sz="1100">
                    <a:solidFill>
                      <a:srgbClr val="111111"/>
                    </a:solidFill>
                    <a:latin typeface="Roboto"/>
                    <a:ea typeface="Roboto"/>
                    <a:cs typeface="Roboto"/>
                    <a:sym typeface="Roboto"/>
                  </a:rPr>
                  <a:t> chuyên sâu và hỗ trợ </a:t>
                </a:r>
                <a:r>
                  <a:rPr b="1" lang="en" sz="1100">
                    <a:solidFill>
                      <a:srgbClr val="111111"/>
                    </a:solidFill>
                    <a:latin typeface="Roboto"/>
                    <a:ea typeface="Roboto"/>
                    <a:cs typeface="Roboto"/>
                    <a:sym typeface="Roboto"/>
                  </a:rPr>
                  <a:t>Booking dịch vụ</a:t>
                </a:r>
                <a:r>
                  <a:rPr b="0" lang="en" sz="1100">
                    <a:solidFill>
                      <a:srgbClr val="111111"/>
                    </a:solidFill>
                    <a:latin typeface="Roboto"/>
                    <a:ea typeface="Roboto"/>
                    <a:cs typeface="Roboto"/>
                    <a:sym typeface="Roboto"/>
                  </a:rPr>
                  <a:t> nhanh chóng.</a:t>
                </a:r>
                <a:endParaRPr b="0" sz="1100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428" name="Google Shape;428;p21"/>
            <p:cNvGrpSpPr/>
            <p:nvPr/>
          </p:nvGrpSpPr>
          <p:grpSpPr>
            <a:xfrm>
              <a:off x="381000" y="3333750"/>
              <a:ext cx="4048200" cy="1333500"/>
              <a:chOff x="381000" y="3333750"/>
              <a:chExt cx="4048200" cy="1333500"/>
            </a:xfrm>
          </p:grpSpPr>
          <p:sp>
            <p:nvSpPr>
              <p:cNvPr id="429" name="Google Shape;429;p21"/>
              <p:cNvSpPr/>
              <p:nvPr/>
            </p:nvSpPr>
            <p:spPr>
              <a:xfrm>
                <a:off x="381000" y="3333750"/>
                <a:ext cx="4048200" cy="13335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" name="Google Shape;430;p21"/>
              <p:cNvSpPr/>
              <p:nvPr/>
            </p:nvSpPr>
            <p:spPr>
              <a:xfrm>
                <a:off x="381000" y="3333750"/>
                <a:ext cx="4048200" cy="38100"/>
              </a:xfrm>
              <a:prstGeom prst="rect">
                <a:avLst/>
              </a:prstGeom>
              <a:solidFill>
                <a:srgbClr val="0033A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31" name="Google Shape;431;p21"/>
              <p:cNvGrpSpPr/>
              <p:nvPr/>
            </p:nvGrpSpPr>
            <p:grpSpPr>
              <a:xfrm>
                <a:off x="533624" y="3448274"/>
                <a:ext cx="258631" cy="258631"/>
                <a:chOff x="-63126" y="-63126"/>
                <a:chExt cx="431052" cy="431052"/>
              </a:xfrm>
            </p:grpSpPr>
            <p:sp>
              <p:nvSpPr>
                <p:cNvPr id="432" name="Google Shape;432;p21"/>
                <p:cNvSpPr/>
                <p:nvPr/>
              </p:nvSpPr>
              <p:spPr>
                <a:xfrm rot="2700000">
                  <a:off x="0" y="0"/>
                  <a:ext cx="304800" cy="304800"/>
                </a:xfrm>
                <a:prstGeom prst="rect">
                  <a:avLst/>
                </a:prstGeom>
                <a:solidFill>
                  <a:srgbClr val="FF3A20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3" name="Google Shape;433;p21"/>
                <p:cNvSpPr/>
                <p:nvPr/>
              </p:nvSpPr>
              <p:spPr>
                <a:xfrm>
                  <a:off x="95250" y="95250"/>
                  <a:ext cx="114300" cy="11430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34" name="Google Shape;434;p21"/>
              <p:cNvSpPr txBox="1"/>
              <p:nvPr/>
            </p:nvSpPr>
            <p:spPr>
              <a:xfrm>
                <a:off x="857250" y="3476625"/>
                <a:ext cx="33813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033A0"/>
                    </a:solidFill>
                    <a:latin typeface="Inter"/>
                    <a:ea typeface="Inter"/>
                    <a:cs typeface="Inter"/>
                    <a:sym typeface="Inter"/>
                  </a:rPr>
                  <a:t>03. BÁO CÁO KTV - ĐIỀU KIỆN KHO</a:t>
                </a:r>
                <a:endParaRPr b="1" sz="1100">
                  <a:solidFill>
                    <a:srgbClr val="0033A0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Roboto"/>
                    <a:ea typeface="Roboto"/>
                    <a:cs typeface="Roboto"/>
                    <a:sym typeface="Roboto"/>
                  </a:rPr>
                  <a:t>Hệ thống hóa quy trình báo cáo thông qua </a:t>
                </a:r>
                <a:r>
                  <a:rPr b="1" lang="en" sz="1100">
                    <a:solidFill>
                      <a:srgbClr val="FF3A20"/>
                    </a:solidFill>
                    <a:latin typeface="Roboto"/>
                    <a:ea typeface="Roboto"/>
                    <a:cs typeface="Roboto"/>
                    <a:sym typeface="Roboto"/>
                  </a:rPr>
                  <a:t>5 cổng điều kiện</a:t>
                </a:r>
                <a:r>
                  <a:rPr b="0" lang="en" sz="1100">
                    <a:solidFill>
                      <a:srgbClr val="111111"/>
                    </a:solidFill>
                    <a:latin typeface="Roboto"/>
                    <a:ea typeface="Roboto"/>
                    <a:cs typeface="Roboto"/>
                    <a:sym typeface="Roboto"/>
                  </a:rPr>
                  <a:t> chặt chẽ để kiểm tra tính hợp lệ của linh kiện đầu ra.</a:t>
                </a:r>
                <a:endParaRPr b="0" sz="1100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435" name="Google Shape;435;p21"/>
            <p:cNvGrpSpPr/>
            <p:nvPr/>
          </p:nvGrpSpPr>
          <p:grpSpPr>
            <a:xfrm>
              <a:off x="4714875" y="3333750"/>
              <a:ext cx="4048200" cy="1333500"/>
              <a:chOff x="4714875" y="3333750"/>
              <a:chExt cx="4048200" cy="1333500"/>
            </a:xfrm>
          </p:grpSpPr>
          <p:sp>
            <p:nvSpPr>
              <p:cNvPr id="436" name="Google Shape;436;p21"/>
              <p:cNvSpPr/>
              <p:nvPr/>
            </p:nvSpPr>
            <p:spPr>
              <a:xfrm>
                <a:off x="4714875" y="3333750"/>
                <a:ext cx="4048200" cy="13335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4714875" y="3333750"/>
                <a:ext cx="4048200" cy="38100"/>
              </a:xfrm>
              <a:prstGeom prst="rect">
                <a:avLst/>
              </a:prstGeom>
              <a:solidFill>
                <a:srgbClr val="0033A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38" name="Google Shape;438;p21"/>
              <p:cNvGrpSpPr/>
              <p:nvPr/>
            </p:nvGrpSpPr>
            <p:grpSpPr>
              <a:xfrm>
                <a:off x="4867499" y="3448274"/>
                <a:ext cx="258631" cy="258631"/>
                <a:chOff x="-63126" y="-63126"/>
                <a:chExt cx="431052" cy="431052"/>
              </a:xfrm>
            </p:grpSpPr>
            <p:sp>
              <p:nvSpPr>
                <p:cNvPr id="439" name="Google Shape;439;p21"/>
                <p:cNvSpPr/>
                <p:nvPr/>
              </p:nvSpPr>
              <p:spPr>
                <a:xfrm rot="2700000">
                  <a:off x="0" y="0"/>
                  <a:ext cx="304800" cy="304800"/>
                </a:xfrm>
                <a:prstGeom prst="rect">
                  <a:avLst/>
                </a:prstGeom>
                <a:solidFill>
                  <a:srgbClr val="FF3A20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0" name="Google Shape;440;p21"/>
                <p:cNvSpPr/>
                <p:nvPr/>
              </p:nvSpPr>
              <p:spPr>
                <a:xfrm>
                  <a:off x="95250" y="95250"/>
                  <a:ext cx="114300" cy="11430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41" name="Google Shape;441;p21"/>
              <p:cNvSpPr txBox="1"/>
              <p:nvPr/>
            </p:nvSpPr>
            <p:spPr>
              <a:xfrm>
                <a:off x="5191125" y="3476625"/>
                <a:ext cx="33813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033A0"/>
                    </a:solidFill>
                    <a:latin typeface="Inter"/>
                    <a:ea typeface="Inter"/>
                    <a:cs typeface="Inter"/>
                    <a:sym typeface="Inter"/>
                  </a:rPr>
                  <a:t>04. BÁO CÁO KTV - ĐỐI SOÁT THỰC TẾ</a:t>
                </a:r>
                <a:endParaRPr b="1" sz="1100">
                  <a:solidFill>
                    <a:srgbClr val="0033A0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11111"/>
                    </a:solidFill>
                    <a:latin typeface="Roboto"/>
                    <a:ea typeface="Roboto"/>
                    <a:cs typeface="Roboto"/>
                    <a:sym typeface="Roboto"/>
                  </a:rPr>
                  <a:t>Đảm bảo cơ chế đối soát chính xác tuyệt đối giữa số liệu tồn kho thực tế và tình trạng sử dụng ngoài hiện trường của kỹ thuật viên (KTV).</a:t>
                </a:r>
                <a:endParaRPr b="0" sz="1100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0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6" name="Google Shape;44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9525"/>
            <a:ext cx="8972700" cy="4972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22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2"/>
          <p:cNvSpPr/>
          <p:nvPr/>
        </p:nvSpPr>
        <p:spPr>
          <a:xfrm>
            <a:off x="381000" y="4762500"/>
            <a:ext cx="8382000" cy="9600"/>
          </a:xfrm>
          <a:prstGeom prst="rect">
            <a:avLst/>
          </a:prstGeom>
          <a:solidFill>
            <a:srgbClr val="D0D0C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2"/>
          <p:cNvSpPr txBox="1"/>
          <p:nvPr/>
        </p:nvSpPr>
        <p:spPr>
          <a:xfrm>
            <a:off x="381000" y="485775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88888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BPMN PROCESS ANALYSIS REPORT</a:t>
            </a:r>
            <a:endParaRPr b="0" sz="800">
              <a:solidFill>
                <a:srgbClr val="88888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450" name="Google Shape;450;p22"/>
          <p:cNvGrpSpPr/>
          <p:nvPr/>
        </p:nvGrpSpPr>
        <p:grpSpPr>
          <a:xfrm>
            <a:off x="381000" y="285750"/>
            <a:ext cx="8382000" cy="1238400"/>
            <a:chOff x="381000" y="285750"/>
            <a:chExt cx="8382000" cy="1238400"/>
          </a:xfrm>
        </p:grpSpPr>
        <p:sp>
          <p:nvSpPr>
            <p:cNvPr id="451" name="Google Shape;451;p22"/>
            <p:cNvSpPr/>
            <p:nvPr/>
          </p:nvSpPr>
          <p:spPr>
            <a:xfrm>
              <a:off x="381000" y="285750"/>
              <a:ext cx="381000" cy="38100"/>
            </a:xfrm>
            <a:prstGeom prst="rect">
              <a:avLst/>
            </a:prstGeom>
            <a:solidFill>
              <a:srgbClr val="FF3A2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2"/>
            <p:cNvSpPr txBox="1"/>
            <p:nvPr/>
          </p:nvSpPr>
          <p:spPr>
            <a:xfrm>
              <a:off x="381000" y="476250"/>
              <a:ext cx="8382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380">
                  <a:solidFill>
                    <a:srgbClr val="11111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Phương Pháp Dựa Trên Bằng Chứng Và Phỏng Vấn Thực Tế</a:t>
              </a:r>
              <a:endParaRPr b="0" sz="2380">
                <a:solidFill>
                  <a:srgbClr val="11111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75">
                  <a:solidFill>
                    <a:srgbClr val="0033A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Phân tích vận hành có hệ thống thông qua tài liệu hiện tại và tương tác trực tiếp</a:t>
              </a:r>
              <a:endParaRPr b="0" sz="1275">
                <a:solidFill>
                  <a:srgbClr val="0033A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453" name="Google Shape;453;p22"/>
          <p:cNvGrpSpPr/>
          <p:nvPr/>
        </p:nvGrpSpPr>
        <p:grpSpPr>
          <a:xfrm>
            <a:off x="333655" y="1809750"/>
            <a:ext cx="8429495" cy="2667150"/>
            <a:chOff x="333655" y="1809750"/>
            <a:chExt cx="8429495" cy="2667150"/>
          </a:xfrm>
        </p:grpSpPr>
        <p:grpSp>
          <p:nvGrpSpPr>
            <p:cNvPr id="454" name="Google Shape;454;p22"/>
            <p:cNvGrpSpPr/>
            <p:nvPr/>
          </p:nvGrpSpPr>
          <p:grpSpPr>
            <a:xfrm>
              <a:off x="333655" y="1819555"/>
              <a:ext cx="323289" cy="323289"/>
              <a:chOff x="-47345" y="-47345"/>
              <a:chExt cx="323289" cy="323289"/>
            </a:xfrm>
          </p:grpSpPr>
          <p:sp>
            <p:nvSpPr>
              <p:cNvPr id="455" name="Google Shape;455;p22"/>
              <p:cNvSpPr/>
              <p:nvPr/>
            </p:nvSpPr>
            <p:spPr>
              <a:xfrm rot="2700000">
                <a:off x="0" y="0"/>
                <a:ext cx="228600" cy="228600"/>
              </a:xfrm>
              <a:prstGeom prst="rect">
                <a:avLst/>
              </a:prstGeom>
              <a:solidFill>
                <a:srgbClr val="FF3A2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" name="Google Shape;456;p22"/>
              <p:cNvSpPr/>
              <p:nvPr/>
            </p:nvSpPr>
            <p:spPr>
              <a:xfrm>
                <a:off x="76200" y="76200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57" name="Google Shape;457;p22"/>
            <p:cNvSpPr txBox="1"/>
            <p:nvPr/>
          </p:nvSpPr>
          <p:spPr>
            <a:xfrm>
              <a:off x="857250" y="1809750"/>
              <a:ext cx="7905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33A0"/>
                  </a:solidFill>
                  <a:latin typeface="Roboto"/>
                  <a:ea typeface="Roboto"/>
                  <a:cs typeface="Roboto"/>
                  <a:sym typeface="Roboto"/>
                </a:rPr>
                <a:t>Phương pháp Evidence-based</a:t>
              </a:r>
              <a:endParaRPr b="1" sz="1400">
                <a:solidFill>
                  <a:srgbClr val="0033A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rPr>
                <a:t>Phân tích tài liệu vận hành, sơ đồ tổ chức và KPI hiện có.</a:t>
              </a:r>
              <a:endParaRPr b="0" sz="1300">
                <a:solidFill>
                  <a:srgbClr val="11111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458" name="Google Shape;458;p22"/>
            <p:cNvGrpSpPr/>
            <p:nvPr/>
          </p:nvGrpSpPr>
          <p:grpSpPr>
            <a:xfrm>
              <a:off x="333655" y="2724430"/>
              <a:ext cx="323289" cy="323289"/>
              <a:chOff x="-47345" y="-47345"/>
              <a:chExt cx="323289" cy="323289"/>
            </a:xfrm>
          </p:grpSpPr>
          <p:sp>
            <p:nvSpPr>
              <p:cNvPr id="459" name="Google Shape;459;p22"/>
              <p:cNvSpPr/>
              <p:nvPr/>
            </p:nvSpPr>
            <p:spPr>
              <a:xfrm rot="2700000">
                <a:off x="0" y="0"/>
                <a:ext cx="228600" cy="228600"/>
              </a:xfrm>
              <a:prstGeom prst="rect">
                <a:avLst/>
              </a:prstGeom>
              <a:solidFill>
                <a:srgbClr val="FF3A2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" name="Google Shape;460;p22"/>
              <p:cNvSpPr/>
              <p:nvPr/>
            </p:nvSpPr>
            <p:spPr>
              <a:xfrm>
                <a:off x="76200" y="76200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61" name="Google Shape;461;p22"/>
            <p:cNvSpPr txBox="1"/>
            <p:nvPr/>
          </p:nvSpPr>
          <p:spPr>
            <a:xfrm>
              <a:off x="857250" y="2714625"/>
              <a:ext cx="7905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33A0"/>
                  </a:solidFill>
                  <a:latin typeface="Roboto"/>
                  <a:ea typeface="Roboto"/>
                  <a:cs typeface="Roboto"/>
                  <a:sym typeface="Roboto"/>
                </a:rPr>
                <a:t>Phương pháp phỏng vấn</a:t>
              </a:r>
              <a:endParaRPr b="1" sz="1400">
                <a:solidFill>
                  <a:srgbClr val="0033A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rPr>
                <a:t>Xây dựng bộ 20 câu hỏi khảo sát thực tế để thu thập thông tin trực tiếp.</a:t>
              </a:r>
              <a:endParaRPr b="0" sz="1300">
                <a:solidFill>
                  <a:srgbClr val="11111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462" name="Google Shape;462;p22"/>
            <p:cNvGrpSpPr/>
            <p:nvPr/>
          </p:nvGrpSpPr>
          <p:grpSpPr>
            <a:xfrm>
              <a:off x="333655" y="3629305"/>
              <a:ext cx="323289" cy="323289"/>
              <a:chOff x="-47345" y="-47345"/>
              <a:chExt cx="323289" cy="323289"/>
            </a:xfrm>
          </p:grpSpPr>
          <p:sp>
            <p:nvSpPr>
              <p:cNvPr id="463" name="Google Shape;463;p22"/>
              <p:cNvSpPr/>
              <p:nvPr/>
            </p:nvSpPr>
            <p:spPr>
              <a:xfrm rot="2700000">
                <a:off x="0" y="0"/>
                <a:ext cx="228600" cy="228600"/>
              </a:xfrm>
              <a:prstGeom prst="rect">
                <a:avLst/>
              </a:prstGeom>
              <a:solidFill>
                <a:srgbClr val="FF3A2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76200" y="76200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65" name="Google Shape;465;p22"/>
            <p:cNvSpPr txBox="1"/>
            <p:nvPr/>
          </p:nvSpPr>
          <p:spPr>
            <a:xfrm>
              <a:off x="857250" y="3619500"/>
              <a:ext cx="79059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33A0"/>
                  </a:solidFill>
                  <a:latin typeface="Roboto"/>
                  <a:ea typeface="Roboto"/>
                  <a:cs typeface="Roboto"/>
                  <a:sym typeface="Roboto"/>
                </a:rPr>
                <a:t>Cấu trúc bộ câu hỏi phỏng vấn</a:t>
              </a:r>
              <a:endParaRPr b="1" sz="1400">
                <a:solidFill>
                  <a:srgbClr val="0033A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rPr>
                <a:t>Gồm 10 câu định tính (5 có cấu trúc, 5 không cấu trúc) và 10 câu định lượng (5 có cấu trúc, 5 không cấu trúc).</a:t>
              </a:r>
              <a:endParaRPr b="0" sz="1300">
                <a:solidFill>
                  <a:srgbClr val="11111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4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1" name="Google Shape;47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9525"/>
            <a:ext cx="8972700" cy="4972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23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3"/>
          <p:cNvSpPr/>
          <p:nvPr/>
        </p:nvSpPr>
        <p:spPr>
          <a:xfrm>
            <a:off x="381000" y="4762500"/>
            <a:ext cx="8382000" cy="9600"/>
          </a:xfrm>
          <a:prstGeom prst="rect">
            <a:avLst/>
          </a:prstGeom>
          <a:solidFill>
            <a:srgbClr val="D0D0C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3"/>
          <p:cNvSpPr txBox="1"/>
          <p:nvPr/>
        </p:nvSpPr>
        <p:spPr>
          <a:xfrm>
            <a:off x="381000" y="485775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88888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BPMN PROCESS ANALYSIS REPORT</a:t>
            </a:r>
            <a:endParaRPr b="0" sz="800">
              <a:solidFill>
                <a:srgbClr val="88888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475" name="Google Shape;475;p23"/>
          <p:cNvGrpSpPr/>
          <p:nvPr/>
        </p:nvGrpSpPr>
        <p:grpSpPr>
          <a:xfrm>
            <a:off x="381000" y="428625"/>
            <a:ext cx="8382000" cy="1200300"/>
            <a:chOff x="0" y="0"/>
            <a:chExt cx="8382000" cy="1200300"/>
          </a:xfrm>
        </p:grpSpPr>
        <p:sp>
          <p:nvSpPr>
            <p:cNvPr id="476" name="Google Shape;476;p23"/>
            <p:cNvSpPr/>
            <p:nvPr/>
          </p:nvSpPr>
          <p:spPr>
            <a:xfrm>
              <a:off x="0" y="0"/>
              <a:ext cx="381000" cy="38100"/>
            </a:xfrm>
            <a:prstGeom prst="rect">
              <a:avLst/>
            </a:prstGeom>
            <a:solidFill>
              <a:srgbClr val="FF3A2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23"/>
            <p:cNvSpPr txBox="1"/>
            <p:nvPr/>
          </p:nvSpPr>
          <p:spPr>
            <a:xfrm>
              <a:off x="0" y="152400"/>
              <a:ext cx="8382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11111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Phân Tích Định Tính</a:t>
              </a:r>
              <a:endParaRPr b="0" sz="2400">
                <a:solidFill>
                  <a:srgbClr val="11111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33A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Xác định lãng phí bằng sơ đồ xương cá (Fishbone Diagram)</a:t>
              </a:r>
              <a:endParaRPr b="0" sz="1400">
                <a:solidFill>
                  <a:srgbClr val="0033A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478" name="Google Shape;478;p23"/>
          <p:cNvGrpSpPr/>
          <p:nvPr/>
        </p:nvGrpSpPr>
        <p:grpSpPr>
          <a:xfrm>
            <a:off x="381000" y="1666875"/>
            <a:ext cx="4048200" cy="1333500"/>
            <a:chOff x="381000" y="1666875"/>
            <a:chExt cx="4048200" cy="1333500"/>
          </a:xfrm>
        </p:grpSpPr>
        <p:sp>
          <p:nvSpPr>
            <p:cNvPr id="479" name="Google Shape;479;p23"/>
            <p:cNvSpPr/>
            <p:nvPr/>
          </p:nvSpPr>
          <p:spPr>
            <a:xfrm>
              <a:off x="381000" y="1666875"/>
              <a:ext cx="4048200" cy="13335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D0D0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3"/>
            <p:cNvSpPr/>
            <p:nvPr/>
          </p:nvSpPr>
          <p:spPr>
            <a:xfrm>
              <a:off x="381000" y="1666875"/>
              <a:ext cx="4048200" cy="38100"/>
            </a:xfrm>
            <a:prstGeom prst="rect">
              <a:avLst/>
            </a:prstGeom>
            <a:solidFill>
              <a:srgbClr val="0033A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81" name="Google Shape;481;p23"/>
            <p:cNvGrpSpPr/>
            <p:nvPr/>
          </p:nvGrpSpPr>
          <p:grpSpPr>
            <a:xfrm>
              <a:off x="3961046" y="1817921"/>
              <a:ext cx="269408" cy="269408"/>
              <a:chOff x="-39454" y="-39454"/>
              <a:chExt cx="269408" cy="269408"/>
            </a:xfrm>
          </p:grpSpPr>
          <p:sp>
            <p:nvSpPr>
              <p:cNvPr id="482" name="Google Shape;482;p23"/>
              <p:cNvSpPr/>
              <p:nvPr/>
            </p:nvSpPr>
            <p:spPr>
              <a:xfrm rot="2700000">
                <a:off x="0" y="0"/>
                <a:ext cx="190500" cy="190500"/>
              </a:xfrm>
              <a:prstGeom prst="rect">
                <a:avLst/>
              </a:prstGeom>
              <a:solidFill>
                <a:srgbClr val="0033A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23"/>
              <p:cNvSpPr/>
              <p:nvPr/>
            </p:nvSpPr>
            <p:spPr>
              <a:xfrm>
                <a:off x="52388" y="52388"/>
                <a:ext cx="85800" cy="858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84" name="Google Shape;484;p23"/>
            <p:cNvSpPr txBox="1"/>
            <p:nvPr/>
          </p:nvSpPr>
          <p:spPr>
            <a:xfrm>
              <a:off x="571500" y="1857375"/>
              <a:ext cx="3286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71">
                  <a:solidFill>
                    <a:srgbClr val="0033A0"/>
                  </a:solidFill>
                  <a:latin typeface="Inter"/>
                  <a:ea typeface="Inter"/>
                  <a:cs typeface="Inter"/>
                  <a:sym typeface="Inter"/>
                </a:rPr>
                <a:t>PHÂN TÍCH GIÁ TRỊ</a:t>
              </a:r>
              <a:endParaRPr b="1" sz="971">
                <a:solidFill>
                  <a:srgbClr val="0033A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rPr>
                <a:t>Phân loại các bước công việc theo giá trị tạo ra</a:t>
              </a:r>
              <a:endParaRPr b="1" sz="1018">
                <a:solidFill>
                  <a:srgbClr val="11111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971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• VA (Value-Adding):</a:t>
              </a:r>
              <a:r>
                <a:rPr b="0" lang="en" sz="971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 Tạo giá trị trực tiếp cho khách hàng.</a:t>
              </a:r>
              <a:endParaRPr b="0" sz="97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971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• VBA (Business Value-Adding):</a:t>
              </a:r>
              <a:r>
                <a:rPr b="0" lang="en" sz="971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 Cần thiết cho vận hành.</a:t>
              </a:r>
              <a:endParaRPr b="0" sz="97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971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• NVA (Non-Value-Adding):</a:t>
              </a:r>
              <a:r>
                <a:rPr b="0" lang="en" sz="971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 Lãng phí, cần loại bỏ ngay.</a:t>
              </a:r>
              <a:endParaRPr b="0" sz="97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85" name="Google Shape;485;p23"/>
          <p:cNvGrpSpPr/>
          <p:nvPr/>
        </p:nvGrpSpPr>
        <p:grpSpPr>
          <a:xfrm>
            <a:off x="4714875" y="1666875"/>
            <a:ext cx="4048200" cy="1333500"/>
            <a:chOff x="4714875" y="1666875"/>
            <a:chExt cx="4048200" cy="1333500"/>
          </a:xfrm>
        </p:grpSpPr>
        <p:sp>
          <p:nvSpPr>
            <p:cNvPr id="486" name="Google Shape;486;p23"/>
            <p:cNvSpPr/>
            <p:nvPr/>
          </p:nvSpPr>
          <p:spPr>
            <a:xfrm>
              <a:off x="4714875" y="1666875"/>
              <a:ext cx="4048200" cy="13335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D0D0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23"/>
            <p:cNvSpPr/>
            <p:nvPr/>
          </p:nvSpPr>
          <p:spPr>
            <a:xfrm>
              <a:off x="4714875" y="1666875"/>
              <a:ext cx="4048200" cy="38100"/>
            </a:xfrm>
            <a:prstGeom prst="rect">
              <a:avLst/>
            </a:prstGeom>
            <a:solidFill>
              <a:srgbClr val="FF3A2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88" name="Google Shape;488;p23"/>
            <p:cNvGrpSpPr/>
            <p:nvPr/>
          </p:nvGrpSpPr>
          <p:grpSpPr>
            <a:xfrm>
              <a:off x="8294921" y="1817921"/>
              <a:ext cx="269408" cy="269408"/>
              <a:chOff x="-39454" y="-39454"/>
              <a:chExt cx="269408" cy="269408"/>
            </a:xfrm>
          </p:grpSpPr>
          <p:sp>
            <p:nvSpPr>
              <p:cNvPr id="489" name="Google Shape;489;p23"/>
              <p:cNvSpPr/>
              <p:nvPr/>
            </p:nvSpPr>
            <p:spPr>
              <a:xfrm rot="2700000">
                <a:off x="0" y="0"/>
                <a:ext cx="190500" cy="190500"/>
              </a:xfrm>
              <a:prstGeom prst="rect">
                <a:avLst/>
              </a:prstGeom>
              <a:solidFill>
                <a:srgbClr val="FF3A2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" name="Google Shape;490;p23"/>
              <p:cNvSpPr/>
              <p:nvPr/>
            </p:nvSpPr>
            <p:spPr>
              <a:xfrm>
                <a:off x="52388" y="52388"/>
                <a:ext cx="85800" cy="858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91" name="Google Shape;491;p23"/>
            <p:cNvSpPr txBox="1"/>
            <p:nvPr/>
          </p:nvSpPr>
          <p:spPr>
            <a:xfrm>
              <a:off x="4905375" y="1857375"/>
              <a:ext cx="3286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93">
                  <a:solidFill>
                    <a:srgbClr val="FF3A20"/>
                  </a:solidFill>
                  <a:latin typeface="Inter"/>
                  <a:ea typeface="Inter"/>
                  <a:cs typeface="Inter"/>
                  <a:sym typeface="Inter"/>
                </a:rPr>
                <a:t>PHÂN TÍCH LÃNG PHÍ</a:t>
              </a:r>
              <a:endParaRPr b="1" sz="893">
                <a:solidFill>
                  <a:srgbClr val="FF3A2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935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rPr>
                <a:t>Nhận diện lãng phí phát sinh trong quy trình</a:t>
              </a:r>
              <a:endParaRPr b="1" sz="935">
                <a:solidFill>
                  <a:srgbClr val="11111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893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• Move:</a:t>
              </a:r>
              <a:r>
                <a:rPr b="0" lang="en" sz="893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 Sự di chuyển nguyên vật liệu, thông tin không cần thiết.</a:t>
              </a:r>
              <a:endParaRPr b="0" sz="893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893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• Hold:</a:t>
              </a:r>
              <a:r>
                <a:rPr b="0" lang="en" sz="893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 Trì hoãn, chờ đợi phê duyệt hoặc lưu kho vô ích.</a:t>
              </a:r>
              <a:endParaRPr b="0" sz="893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893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• Overdo:</a:t>
              </a:r>
              <a:r>
                <a:rPr b="0" lang="en" sz="893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 Thao tác thừa, xử lý quá mức yêu cầu của khách.</a:t>
              </a:r>
              <a:endParaRPr b="0" sz="893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92" name="Google Shape;492;p23"/>
          <p:cNvGrpSpPr/>
          <p:nvPr/>
        </p:nvGrpSpPr>
        <p:grpSpPr>
          <a:xfrm>
            <a:off x="381000" y="3190875"/>
            <a:ext cx="4048200" cy="1333500"/>
            <a:chOff x="381000" y="3190875"/>
            <a:chExt cx="4048200" cy="1333500"/>
          </a:xfrm>
        </p:grpSpPr>
        <p:sp>
          <p:nvSpPr>
            <p:cNvPr id="493" name="Google Shape;493;p23"/>
            <p:cNvSpPr/>
            <p:nvPr/>
          </p:nvSpPr>
          <p:spPr>
            <a:xfrm>
              <a:off x="381000" y="3190875"/>
              <a:ext cx="4048200" cy="13335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D0D0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23"/>
            <p:cNvSpPr/>
            <p:nvPr/>
          </p:nvSpPr>
          <p:spPr>
            <a:xfrm>
              <a:off x="381000" y="3190875"/>
              <a:ext cx="4048200" cy="38100"/>
            </a:xfrm>
            <a:prstGeom prst="rect">
              <a:avLst/>
            </a:prstGeom>
            <a:solidFill>
              <a:srgbClr val="0033A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95" name="Google Shape;495;p23"/>
            <p:cNvGrpSpPr/>
            <p:nvPr/>
          </p:nvGrpSpPr>
          <p:grpSpPr>
            <a:xfrm>
              <a:off x="3961046" y="3341921"/>
              <a:ext cx="269408" cy="269408"/>
              <a:chOff x="-39454" y="-39454"/>
              <a:chExt cx="269408" cy="269408"/>
            </a:xfrm>
          </p:grpSpPr>
          <p:sp>
            <p:nvSpPr>
              <p:cNvPr id="496" name="Google Shape;496;p23"/>
              <p:cNvSpPr/>
              <p:nvPr/>
            </p:nvSpPr>
            <p:spPr>
              <a:xfrm rot="2700000">
                <a:off x="0" y="0"/>
                <a:ext cx="190500" cy="190500"/>
              </a:xfrm>
              <a:prstGeom prst="rect">
                <a:avLst/>
              </a:prstGeom>
              <a:solidFill>
                <a:srgbClr val="0033A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7" name="Google Shape;497;p23"/>
              <p:cNvSpPr/>
              <p:nvPr/>
            </p:nvSpPr>
            <p:spPr>
              <a:xfrm>
                <a:off x="52388" y="52388"/>
                <a:ext cx="85800" cy="858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98" name="Google Shape;498;p23"/>
            <p:cNvSpPr txBox="1"/>
            <p:nvPr/>
          </p:nvSpPr>
          <p:spPr>
            <a:xfrm>
              <a:off x="571500" y="3381375"/>
              <a:ext cx="3286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71">
                  <a:solidFill>
                    <a:srgbClr val="0033A0"/>
                  </a:solidFill>
                  <a:latin typeface="Inter"/>
                  <a:ea typeface="Inter"/>
                  <a:cs typeface="Inter"/>
                  <a:sym typeface="Inter"/>
                </a:rPr>
                <a:t>CON NGƯỜI &amp; QUY TRÌNH</a:t>
              </a:r>
              <a:endParaRPr b="1" sz="971">
                <a:solidFill>
                  <a:srgbClr val="0033A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rPr>
                <a:t>Nguyên nhân gây trễ thuộc nhóm vận hành chủ quan</a:t>
              </a:r>
              <a:endParaRPr b="1" sz="1018">
                <a:solidFill>
                  <a:srgbClr val="11111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971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• Con người:</a:t>
              </a:r>
              <a:r>
                <a:rPr b="0" lang="en" sz="971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 Thiếu kỹ năng thực thi, nhân sự quá tải, đào tạo kém.</a:t>
              </a:r>
              <a:endParaRPr b="0" sz="97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971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• Quy trình:</a:t>
              </a:r>
              <a:r>
                <a:rPr b="0" lang="en" sz="971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 Thiết kế rườm rà, thiếu chuẩn hóa, chồng chéo bước.</a:t>
              </a:r>
              <a:endParaRPr b="0" sz="97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99" name="Google Shape;499;p23"/>
          <p:cNvGrpSpPr/>
          <p:nvPr/>
        </p:nvGrpSpPr>
        <p:grpSpPr>
          <a:xfrm>
            <a:off x="4714875" y="3190875"/>
            <a:ext cx="4048200" cy="1333500"/>
            <a:chOff x="4714875" y="3190875"/>
            <a:chExt cx="4048200" cy="1333500"/>
          </a:xfrm>
        </p:grpSpPr>
        <p:sp>
          <p:nvSpPr>
            <p:cNvPr id="500" name="Google Shape;500;p23"/>
            <p:cNvSpPr/>
            <p:nvPr/>
          </p:nvSpPr>
          <p:spPr>
            <a:xfrm>
              <a:off x="4714875" y="3190875"/>
              <a:ext cx="4048200" cy="13335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D0D0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23"/>
            <p:cNvSpPr/>
            <p:nvPr/>
          </p:nvSpPr>
          <p:spPr>
            <a:xfrm>
              <a:off x="4714875" y="3190875"/>
              <a:ext cx="4048200" cy="38100"/>
            </a:xfrm>
            <a:prstGeom prst="rect">
              <a:avLst/>
            </a:prstGeom>
            <a:solidFill>
              <a:srgbClr val="0033A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02" name="Google Shape;502;p23"/>
            <p:cNvGrpSpPr/>
            <p:nvPr/>
          </p:nvGrpSpPr>
          <p:grpSpPr>
            <a:xfrm>
              <a:off x="8294921" y="3341921"/>
              <a:ext cx="269408" cy="269408"/>
              <a:chOff x="-39454" y="-39454"/>
              <a:chExt cx="269408" cy="269408"/>
            </a:xfrm>
          </p:grpSpPr>
          <p:sp>
            <p:nvSpPr>
              <p:cNvPr id="503" name="Google Shape;503;p23"/>
              <p:cNvSpPr/>
              <p:nvPr/>
            </p:nvSpPr>
            <p:spPr>
              <a:xfrm rot="2700000">
                <a:off x="0" y="0"/>
                <a:ext cx="190500" cy="190500"/>
              </a:xfrm>
              <a:prstGeom prst="rect">
                <a:avLst/>
              </a:prstGeom>
              <a:solidFill>
                <a:srgbClr val="0033A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" name="Google Shape;504;p23"/>
              <p:cNvSpPr/>
              <p:nvPr/>
            </p:nvSpPr>
            <p:spPr>
              <a:xfrm>
                <a:off x="52388" y="52388"/>
                <a:ext cx="85800" cy="858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05" name="Google Shape;505;p23"/>
            <p:cNvSpPr txBox="1"/>
            <p:nvPr/>
          </p:nvSpPr>
          <p:spPr>
            <a:xfrm>
              <a:off x="4905375" y="3381375"/>
              <a:ext cx="3286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93">
                  <a:solidFill>
                    <a:srgbClr val="0033A0"/>
                  </a:solidFill>
                  <a:latin typeface="Inter"/>
                  <a:ea typeface="Inter"/>
                  <a:cs typeface="Inter"/>
                  <a:sym typeface="Inter"/>
                </a:rPr>
                <a:t>HỆ THỐNG &amp; VẬT TƯ</a:t>
              </a:r>
              <a:endParaRPr b="1" sz="893">
                <a:solidFill>
                  <a:srgbClr val="0033A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935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rPr>
                <a:t>Nguyên nhân gây trễ do hạ tầng và tài nguyên khách quan</a:t>
              </a:r>
              <a:endParaRPr b="1" sz="935">
                <a:solidFill>
                  <a:srgbClr val="11111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893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• Hệ thống / Công nghệ:</a:t>
              </a:r>
              <a:r>
                <a:rPr b="0" lang="en" sz="893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 Phần mềm chậm, lỗi kết nối, thiếu tự động.</a:t>
              </a:r>
              <a:endParaRPr b="0" sz="893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893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• Linh kiện / Vật tư:</a:t>
              </a:r>
              <a:r>
                <a:rPr b="0" lang="en" sz="893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 Chậm giao hàng, chất lượng vật tư không đạt.</a:t>
              </a:r>
              <a:endParaRPr b="0" sz="893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2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511" name="Google Shape;511;p2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4F4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12" name="Google Shape;512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525" y="9525"/>
              <a:ext cx="8972700" cy="4972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3" name="Google Shape;513;p24"/>
            <p:cNvSpPr/>
            <p:nvPr/>
          </p:nvSpPr>
          <p:spPr>
            <a:xfrm>
              <a:off x="0" y="0"/>
              <a:ext cx="9144000" cy="76200"/>
            </a:xfrm>
            <a:prstGeom prst="rect">
              <a:avLst/>
            </a:prstGeom>
            <a:solidFill>
              <a:srgbClr val="0033A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24"/>
            <p:cNvSpPr/>
            <p:nvPr/>
          </p:nvSpPr>
          <p:spPr>
            <a:xfrm>
              <a:off x="381000" y="4762500"/>
              <a:ext cx="8382000" cy="9600"/>
            </a:xfrm>
            <a:prstGeom prst="rect">
              <a:avLst/>
            </a:prstGeom>
            <a:solidFill>
              <a:srgbClr val="D0D0C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24"/>
            <p:cNvSpPr txBox="1"/>
            <p:nvPr/>
          </p:nvSpPr>
          <p:spPr>
            <a:xfrm>
              <a:off x="381000" y="4857750"/>
              <a:ext cx="838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88888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BPMN PROCESS ANALYSIS REPORT</a:t>
              </a:r>
              <a:endParaRPr b="0" sz="800">
                <a:solidFill>
                  <a:srgbClr val="88888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516" name="Google Shape;516;p24"/>
          <p:cNvGrpSpPr/>
          <p:nvPr/>
        </p:nvGrpSpPr>
        <p:grpSpPr>
          <a:xfrm>
            <a:off x="381000" y="285750"/>
            <a:ext cx="8382000" cy="1428900"/>
            <a:chOff x="381000" y="285750"/>
            <a:chExt cx="8382000" cy="1428900"/>
          </a:xfrm>
        </p:grpSpPr>
        <p:sp>
          <p:nvSpPr>
            <p:cNvPr id="517" name="Google Shape;517;p24"/>
            <p:cNvSpPr/>
            <p:nvPr/>
          </p:nvSpPr>
          <p:spPr>
            <a:xfrm>
              <a:off x="381000" y="285750"/>
              <a:ext cx="381000" cy="38100"/>
            </a:xfrm>
            <a:prstGeom prst="rect">
              <a:avLst/>
            </a:prstGeom>
            <a:solidFill>
              <a:srgbClr val="FF3A2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24"/>
            <p:cNvSpPr txBox="1"/>
            <p:nvPr/>
          </p:nvSpPr>
          <p:spPr>
            <a:xfrm>
              <a:off x="381000" y="476250"/>
              <a:ext cx="8382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200">
                  <a:solidFill>
                    <a:srgbClr val="11111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Phân Tích Định Lượng</a:t>
              </a:r>
              <a:endParaRPr b="0" sz="3200">
                <a:solidFill>
                  <a:srgbClr val="11111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033A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Đánh Giá Hiệu Suất Và Chi Phí</a:t>
              </a:r>
              <a:endParaRPr b="0" sz="1800">
                <a:solidFill>
                  <a:srgbClr val="0033A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519" name="Google Shape;519;p24"/>
          <p:cNvGrpSpPr/>
          <p:nvPr/>
        </p:nvGrpSpPr>
        <p:grpSpPr>
          <a:xfrm>
            <a:off x="381000" y="1905000"/>
            <a:ext cx="8372550" cy="2381400"/>
            <a:chOff x="381000" y="1905000"/>
            <a:chExt cx="8372550" cy="2381400"/>
          </a:xfrm>
        </p:grpSpPr>
        <p:sp>
          <p:nvSpPr>
            <p:cNvPr id="520" name="Google Shape;520;p24"/>
            <p:cNvSpPr/>
            <p:nvPr/>
          </p:nvSpPr>
          <p:spPr>
            <a:xfrm>
              <a:off x="381000" y="1905000"/>
              <a:ext cx="2600400" cy="2381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21" name="Google Shape;521;p24"/>
            <p:cNvGrpSpPr/>
            <p:nvPr/>
          </p:nvGrpSpPr>
          <p:grpSpPr>
            <a:xfrm>
              <a:off x="381000" y="1905000"/>
              <a:ext cx="228600" cy="228600"/>
              <a:chOff x="0" y="0"/>
              <a:chExt cx="228600" cy="228600"/>
            </a:xfrm>
          </p:grpSpPr>
          <p:sp>
            <p:nvSpPr>
              <p:cNvPr id="522" name="Google Shape;522;p24"/>
              <p:cNvSpPr/>
              <p:nvPr/>
            </p:nvSpPr>
            <p:spPr>
              <a:xfrm>
                <a:off x="0" y="0"/>
                <a:ext cx="228600" cy="38100"/>
              </a:xfrm>
              <a:prstGeom prst="rect">
                <a:avLst/>
              </a:prstGeom>
              <a:solidFill>
                <a:srgbClr val="FF3A2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3" name="Google Shape;523;p24"/>
              <p:cNvSpPr/>
              <p:nvPr/>
            </p:nvSpPr>
            <p:spPr>
              <a:xfrm>
                <a:off x="0" y="0"/>
                <a:ext cx="38100" cy="228600"/>
              </a:xfrm>
              <a:prstGeom prst="rect">
                <a:avLst/>
              </a:prstGeom>
              <a:solidFill>
                <a:srgbClr val="FF3A2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24" name="Google Shape;524;p24"/>
            <p:cNvSpPr txBox="1"/>
            <p:nvPr/>
          </p:nvSpPr>
          <p:spPr>
            <a:xfrm>
              <a:off x="571500" y="2095500"/>
              <a:ext cx="22194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800">
                  <a:solidFill>
                    <a:srgbClr val="FF3A2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82%</a:t>
              </a:r>
              <a:endParaRPr b="1" sz="3800">
                <a:solidFill>
                  <a:srgbClr val="FF3A20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033A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CHẤT LƯỢNG</a:t>
              </a:r>
              <a:endParaRPr b="0" sz="1200">
                <a:solidFill>
                  <a:srgbClr val="0033A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44444"/>
                  </a:solidFill>
                  <a:latin typeface="Roboto"/>
                  <a:ea typeface="Roboto"/>
                  <a:cs typeface="Roboto"/>
                  <a:sym typeface="Roboto"/>
                </a:rPr>
                <a:t>Tỷ lệ hoàn tất trong 1 lần đến đạt 82%; tỷ lệ phải đi lại lần 2 là 13%.</a:t>
              </a:r>
              <a:endParaRPr b="0" sz="110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25" name="Google Shape;525;p24"/>
            <p:cNvSpPr/>
            <p:nvPr/>
          </p:nvSpPr>
          <p:spPr>
            <a:xfrm>
              <a:off x="3267075" y="1905000"/>
              <a:ext cx="2600400" cy="2381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26" name="Google Shape;526;p24"/>
            <p:cNvGrpSpPr/>
            <p:nvPr/>
          </p:nvGrpSpPr>
          <p:grpSpPr>
            <a:xfrm>
              <a:off x="3267075" y="1905000"/>
              <a:ext cx="228600" cy="228600"/>
              <a:chOff x="0" y="0"/>
              <a:chExt cx="228600" cy="228600"/>
            </a:xfrm>
          </p:grpSpPr>
          <p:sp>
            <p:nvSpPr>
              <p:cNvPr id="527" name="Google Shape;527;p24"/>
              <p:cNvSpPr/>
              <p:nvPr/>
            </p:nvSpPr>
            <p:spPr>
              <a:xfrm>
                <a:off x="0" y="0"/>
                <a:ext cx="228600" cy="38100"/>
              </a:xfrm>
              <a:prstGeom prst="rect">
                <a:avLst/>
              </a:prstGeom>
              <a:solidFill>
                <a:srgbClr val="FF3A2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24"/>
              <p:cNvSpPr/>
              <p:nvPr/>
            </p:nvSpPr>
            <p:spPr>
              <a:xfrm>
                <a:off x="0" y="0"/>
                <a:ext cx="38100" cy="228600"/>
              </a:xfrm>
              <a:prstGeom prst="rect">
                <a:avLst/>
              </a:prstGeom>
              <a:solidFill>
                <a:srgbClr val="FF3A2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29" name="Google Shape;529;p24"/>
            <p:cNvSpPr txBox="1"/>
            <p:nvPr/>
          </p:nvSpPr>
          <p:spPr>
            <a:xfrm>
              <a:off x="3457575" y="2095500"/>
              <a:ext cx="22194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800">
                  <a:solidFill>
                    <a:srgbClr val="FF3A2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4.2/5</a:t>
              </a:r>
              <a:endParaRPr b="1" sz="3800">
                <a:solidFill>
                  <a:srgbClr val="FF3A20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033A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ĐÁNH GIÁ</a:t>
              </a:r>
              <a:endParaRPr b="0" sz="1200">
                <a:solidFill>
                  <a:srgbClr val="0033A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44444"/>
                  </a:solidFill>
                  <a:latin typeface="Roboto"/>
                  <a:ea typeface="Roboto"/>
                  <a:cs typeface="Roboto"/>
                  <a:sym typeface="Roboto"/>
                </a:rPr>
                <a:t>Điểm trung bình đạt 4.2/5.</a:t>
              </a:r>
              <a:endParaRPr b="0" sz="110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30" name="Google Shape;530;p24"/>
            <p:cNvSpPr/>
            <p:nvPr/>
          </p:nvSpPr>
          <p:spPr>
            <a:xfrm>
              <a:off x="6153150" y="1905000"/>
              <a:ext cx="2600400" cy="2381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31" name="Google Shape;531;p24"/>
            <p:cNvGrpSpPr/>
            <p:nvPr/>
          </p:nvGrpSpPr>
          <p:grpSpPr>
            <a:xfrm>
              <a:off x="6153150" y="1905000"/>
              <a:ext cx="228600" cy="228600"/>
              <a:chOff x="0" y="0"/>
              <a:chExt cx="228600" cy="228600"/>
            </a:xfrm>
          </p:grpSpPr>
          <p:sp>
            <p:nvSpPr>
              <p:cNvPr id="532" name="Google Shape;532;p24"/>
              <p:cNvSpPr/>
              <p:nvPr/>
            </p:nvSpPr>
            <p:spPr>
              <a:xfrm>
                <a:off x="0" y="0"/>
                <a:ext cx="228600" cy="38100"/>
              </a:xfrm>
              <a:prstGeom prst="rect">
                <a:avLst/>
              </a:prstGeom>
              <a:solidFill>
                <a:srgbClr val="FF3A2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3" name="Google Shape;533;p24"/>
              <p:cNvSpPr/>
              <p:nvPr/>
            </p:nvSpPr>
            <p:spPr>
              <a:xfrm>
                <a:off x="0" y="0"/>
                <a:ext cx="38100" cy="228600"/>
              </a:xfrm>
              <a:prstGeom prst="rect">
                <a:avLst/>
              </a:prstGeom>
              <a:solidFill>
                <a:srgbClr val="FF3A2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34" name="Google Shape;534;p24"/>
            <p:cNvSpPr txBox="1"/>
            <p:nvPr/>
          </p:nvSpPr>
          <p:spPr>
            <a:xfrm>
              <a:off x="6343650" y="2095500"/>
              <a:ext cx="22194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FF3A2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400.600</a:t>
              </a:r>
              <a:r>
                <a:rPr b="0" lang="en" sz="1600">
                  <a:solidFill>
                    <a:srgbClr val="FF3A2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VNĐ</a:t>
              </a:r>
              <a:endParaRPr b="1" sz="2800">
                <a:solidFill>
                  <a:srgbClr val="FF3A20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033A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CHI PHÍ</a:t>
              </a:r>
              <a:endParaRPr b="0" sz="1200">
                <a:solidFill>
                  <a:srgbClr val="0033A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44444"/>
                  </a:solidFill>
                  <a:latin typeface="Roboto"/>
                  <a:ea typeface="Roboto"/>
                  <a:cs typeface="Roboto"/>
                  <a:sym typeface="Roboto"/>
                </a:rPr>
                <a:t>Ước tính chi phí trung bình để xử lý một booking là 400.600 VNĐ.</a:t>
              </a:r>
              <a:endParaRPr b="0" sz="1100">
                <a:solidFill>
                  <a:srgbClr val="444444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9" name="Google Shape;539;p2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540" name="Google Shape;540;p2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4F4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41" name="Google Shape;541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525" y="9525"/>
              <a:ext cx="8972700" cy="4972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2" name="Google Shape;542;p25"/>
            <p:cNvSpPr/>
            <p:nvPr/>
          </p:nvSpPr>
          <p:spPr>
            <a:xfrm>
              <a:off x="0" y="0"/>
              <a:ext cx="9144000" cy="76200"/>
            </a:xfrm>
            <a:prstGeom prst="rect">
              <a:avLst/>
            </a:prstGeom>
            <a:solidFill>
              <a:srgbClr val="0033A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25"/>
            <p:cNvSpPr/>
            <p:nvPr/>
          </p:nvSpPr>
          <p:spPr>
            <a:xfrm>
              <a:off x="381000" y="4762500"/>
              <a:ext cx="8382000" cy="9600"/>
            </a:xfrm>
            <a:prstGeom prst="rect">
              <a:avLst/>
            </a:prstGeom>
            <a:solidFill>
              <a:srgbClr val="D0D0C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25"/>
            <p:cNvSpPr txBox="1"/>
            <p:nvPr/>
          </p:nvSpPr>
          <p:spPr>
            <a:xfrm>
              <a:off x="381000" y="4838700"/>
              <a:ext cx="8382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88888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BPMN PROCESS ANALYSIS REPORT</a:t>
              </a:r>
              <a:endParaRPr b="0" sz="800">
                <a:solidFill>
                  <a:srgbClr val="88888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545" name="Google Shape;545;p25"/>
          <p:cNvGrpSpPr/>
          <p:nvPr/>
        </p:nvGrpSpPr>
        <p:grpSpPr>
          <a:xfrm>
            <a:off x="381000" y="285750"/>
            <a:ext cx="8382000" cy="1238400"/>
            <a:chOff x="381000" y="285750"/>
            <a:chExt cx="8382000" cy="1238400"/>
          </a:xfrm>
        </p:grpSpPr>
        <p:sp>
          <p:nvSpPr>
            <p:cNvPr id="546" name="Google Shape;546;p25"/>
            <p:cNvSpPr/>
            <p:nvPr/>
          </p:nvSpPr>
          <p:spPr>
            <a:xfrm>
              <a:off x="381000" y="285750"/>
              <a:ext cx="381000" cy="38100"/>
            </a:xfrm>
            <a:prstGeom prst="rect">
              <a:avLst/>
            </a:prstGeom>
            <a:solidFill>
              <a:srgbClr val="FF3A2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25"/>
            <p:cNvSpPr txBox="1"/>
            <p:nvPr/>
          </p:nvSpPr>
          <p:spPr>
            <a:xfrm>
              <a:off x="381000" y="476250"/>
              <a:ext cx="8382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590">
                  <a:solidFill>
                    <a:srgbClr val="11111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Tổng Kết Kết Quả Và Hướng Mở Rộng Nghiên Cứu</a:t>
              </a:r>
              <a:endParaRPr b="0" sz="2590">
                <a:solidFill>
                  <a:srgbClr val="11111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88">
                  <a:solidFill>
                    <a:srgbClr val="0033A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Đánh giá kết quả thực hiện và định hướng lộ trình tiếp theo</a:t>
              </a:r>
              <a:endParaRPr b="0" sz="1388">
                <a:solidFill>
                  <a:srgbClr val="0033A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548" name="Google Shape;548;p25"/>
          <p:cNvGrpSpPr/>
          <p:nvPr/>
        </p:nvGrpSpPr>
        <p:grpSpPr>
          <a:xfrm>
            <a:off x="381000" y="1714500"/>
            <a:ext cx="8382075" cy="2809800"/>
            <a:chOff x="381000" y="1714500"/>
            <a:chExt cx="8382075" cy="2809800"/>
          </a:xfrm>
        </p:grpSpPr>
        <p:sp>
          <p:nvSpPr>
            <p:cNvPr id="549" name="Google Shape;549;p25"/>
            <p:cNvSpPr/>
            <p:nvPr/>
          </p:nvSpPr>
          <p:spPr>
            <a:xfrm>
              <a:off x="381000" y="1714500"/>
              <a:ext cx="4048200" cy="2809800"/>
            </a:xfrm>
            <a:prstGeom prst="rect">
              <a:avLst/>
            </a:prstGeom>
            <a:solidFill>
              <a:srgbClr val="0033A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50" name="Google Shape;550;p25"/>
            <p:cNvGrpSpPr/>
            <p:nvPr/>
          </p:nvGrpSpPr>
          <p:grpSpPr>
            <a:xfrm>
              <a:off x="381000" y="1714500"/>
              <a:ext cx="228600" cy="228600"/>
              <a:chOff x="0" y="0"/>
              <a:chExt cx="228600" cy="228600"/>
            </a:xfrm>
          </p:grpSpPr>
          <p:sp>
            <p:nvSpPr>
              <p:cNvPr id="551" name="Google Shape;551;p25"/>
              <p:cNvSpPr/>
              <p:nvPr/>
            </p:nvSpPr>
            <p:spPr>
              <a:xfrm>
                <a:off x="0" y="0"/>
                <a:ext cx="228600" cy="381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2" name="Google Shape;552;p25"/>
              <p:cNvSpPr/>
              <p:nvPr/>
            </p:nvSpPr>
            <p:spPr>
              <a:xfrm>
                <a:off x="0" y="0"/>
                <a:ext cx="38100" cy="228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53" name="Google Shape;553;p25"/>
            <p:cNvSpPr txBox="1"/>
            <p:nvPr/>
          </p:nvSpPr>
          <p:spPr>
            <a:xfrm>
              <a:off x="666750" y="2000250"/>
              <a:ext cx="3476700" cy="23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KẾT QUẢ ĐẠT ĐƯỢC &amp; HẠN CHẾ</a:t>
              </a:r>
              <a:endParaRPr b="0" sz="13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3048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Roboto"/>
                <a:buChar char="●"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Mô hình hóa chi tiết </a:t>
              </a:r>
              <a:r>
                <a:rPr b="1"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6/10 quy trình nghiệp vụ</a:t>
              </a: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bằng BPMN.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1200"/>
                </a:spcBef>
                <a:spcAft>
                  <a:spcPts val="1200"/>
                </a:spcAft>
                <a:buClr>
                  <a:srgbClr val="FFFFFF"/>
                </a:buClr>
                <a:buSzPts val="1200"/>
                <a:buFont typeface="Roboto"/>
                <a:buChar char="●"/>
              </a:pPr>
              <a:r>
                <a:rPr b="1" lang="en" sz="1200">
                  <a:solidFill>
                    <a:srgbClr val="E8E8E4"/>
                  </a:solidFill>
                  <a:latin typeface="Roboto"/>
                  <a:ea typeface="Roboto"/>
                  <a:cs typeface="Roboto"/>
                  <a:sym typeface="Roboto"/>
                </a:rPr>
                <a:t>Hạn chế:</a:t>
              </a: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Các số liệu định lượng hiện tại đang ở mức ước tính minh họa.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54" name="Google Shape;554;p25"/>
            <p:cNvSpPr/>
            <p:nvPr/>
          </p:nvSpPr>
          <p:spPr>
            <a:xfrm>
              <a:off x="4714875" y="1714500"/>
              <a:ext cx="4048200" cy="2809800"/>
            </a:xfrm>
            <a:prstGeom prst="rect">
              <a:avLst/>
            </a:prstGeom>
            <a:solidFill>
              <a:srgbClr val="E8E8E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55" name="Google Shape;555;p25"/>
            <p:cNvGrpSpPr/>
            <p:nvPr/>
          </p:nvGrpSpPr>
          <p:grpSpPr>
            <a:xfrm>
              <a:off x="4714875" y="1714500"/>
              <a:ext cx="228600" cy="228600"/>
              <a:chOff x="0" y="0"/>
              <a:chExt cx="228600" cy="228600"/>
            </a:xfrm>
          </p:grpSpPr>
          <p:sp>
            <p:nvSpPr>
              <p:cNvPr id="556" name="Google Shape;556;p25"/>
              <p:cNvSpPr/>
              <p:nvPr/>
            </p:nvSpPr>
            <p:spPr>
              <a:xfrm>
                <a:off x="0" y="0"/>
                <a:ext cx="228600" cy="38100"/>
              </a:xfrm>
              <a:prstGeom prst="rect">
                <a:avLst/>
              </a:prstGeom>
              <a:solidFill>
                <a:srgbClr val="FF3A2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" name="Google Shape;557;p25"/>
              <p:cNvSpPr/>
              <p:nvPr/>
            </p:nvSpPr>
            <p:spPr>
              <a:xfrm>
                <a:off x="0" y="0"/>
                <a:ext cx="38100" cy="228600"/>
              </a:xfrm>
              <a:prstGeom prst="rect">
                <a:avLst/>
              </a:prstGeom>
              <a:solidFill>
                <a:srgbClr val="FF3A2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58" name="Google Shape;558;p25"/>
            <p:cNvSpPr txBox="1"/>
            <p:nvPr/>
          </p:nvSpPr>
          <p:spPr>
            <a:xfrm>
              <a:off x="5000625" y="2000250"/>
              <a:ext cx="3476700" cy="23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033A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HƯỚNG MỞ RỘNG NGHIÊN CỨU</a:t>
              </a:r>
              <a:endParaRPr b="0" sz="1300">
                <a:solidFill>
                  <a:srgbClr val="0033A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3048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111111"/>
                </a:buClr>
                <a:buSzPts val="1200"/>
                <a:buFont typeface="Roboto"/>
                <a:buChar char="●"/>
              </a:pPr>
              <a:r>
                <a:rPr lang="en" sz="1200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rPr>
                <a:t>Mô hình hóa </a:t>
              </a:r>
              <a:r>
                <a:rPr b="1" lang="en" sz="1200">
                  <a:solidFill>
                    <a:srgbClr val="0033A0"/>
                  </a:solidFill>
                  <a:latin typeface="Roboto"/>
                  <a:ea typeface="Roboto"/>
                  <a:cs typeface="Roboto"/>
                  <a:sym typeface="Roboto"/>
                </a:rPr>
                <a:t>4 quy trình còn lại</a:t>
              </a:r>
              <a:r>
                <a:rPr lang="en" sz="1200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rPr>
                <a:t> của doanh nghiệp.</a:t>
              </a:r>
              <a:endParaRPr sz="1200">
                <a:solidFill>
                  <a:srgbClr val="11111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1200"/>
                </a:spcBef>
                <a:spcAft>
                  <a:spcPts val="1200"/>
                </a:spcAft>
                <a:buClr>
                  <a:srgbClr val="111111"/>
                </a:buClr>
                <a:buSzPts val="1200"/>
                <a:buFont typeface="Roboto"/>
                <a:buChar char="●"/>
              </a:pPr>
              <a:r>
                <a:rPr lang="en" sz="1200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rPr>
                <a:t>Thu thập </a:t>
              </a:r>
              <a:r>
                <a:rPr b="1" lang="en" sz="1200">
                  <a:solidFill>
                    <a:srgbClr val="0033A0"/>
                  </a:solidFill>
                  <a:latin typeface="Roboto"/>
                  <a:ea typeface="Roboto"/>
                  <a:cs typeface="Roboto"/>
                  <a:sym typeface="Roboto"/>
                </a:rPr>
                <a:t>số liệu thống kê thực tế</a:t>
              </a:r>
              <a:r>
                <a:rPr lang="en" sz="1200">
                  <a:solidFill>
                    <a:srgbClr val="111111"/>
                  </a:solidFill>
                  <a:latin typeface="Roboto"/>
                  <a:ea typeface="Roboto"/>
                  <a:cs typeface="Roboto"/>
                  <a:sym typeface="Roboto"/>
                </a:rPr>
                <a:t> từ hệ thống vận hành.</a:t>
              </a:r>
              <a:endParaRPr sz="1200">
                <a:solidFill>
                  <a:srgbClr val="11111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