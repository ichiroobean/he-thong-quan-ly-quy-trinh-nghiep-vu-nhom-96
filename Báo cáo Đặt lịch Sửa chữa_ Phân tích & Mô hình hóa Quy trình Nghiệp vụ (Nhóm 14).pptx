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3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9144000" cy="5143500" type="screen16x9"/>
  <p:notesSz cx="6858000" cy="9144000"/>
  <p:embeddedFontLst>
    <p:embeddedFont>
      <p:font typeface="Inter" panose="020B0604020202020204" charset="0"/>
      <p:regular r:id="rId36"/>
      <p:bold r:id="rId37"/>
      <p:italic r:id="rId38"/>
      <p:boldItalic r:id="rId39"/>
    </p:embeddedFont>
    <p:embeddedFont>
      <p:font typeface="Inter ExtraBold" panose="020B0604020202020204" charset="0"/>
      <p:bold r:id="rId40"/>
      <p:boldItalic r:id="rId41"/>
    </p:embeddedFont>
    <p:embeddedFont>
      <p:font typeface="Inter Medium" panose="020B0604020202020204" charset="0"/>
      <p:regular r:id="rId42"/>
      <p:bold r:id="rId43"/>
      <p:italic r:id="rId44"/>
      <p:boldItalic r:id="rId45"/>
    </p:embeddedFont>
    <p:embeddedFont>
      <p:font typeface="Inter SemiBold" panose="020B0604020202020204" charset="0"/>
      <p:regular r:id="rId46"/>
      <p:bold r:id="rId47"/>
      <p:italic r:id="rId48"/>
      <p:boldItalic r:id="rId4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22CD621-9F64-4B2E-9631-1F7B959E530B}">
  <a:tblStyle styleId="{C22CD621-9F64-4B2E-9631-1F7B959E530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26" d="100"/>
          <a:sy n="126" d="100"/>
        </p:scale>
        <p:origin x="132" y="366"/>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4.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7.fntdata"/><Relationship Id="rId47" Type="http://schemas.openxmlformats.org/officeDocument/2006/relationships/font" Target="fonts/font12.fntdata"/><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2.fntdata"/><Relationship Id="rId40" Type="http://schemas.openxmlformats.org/officeDocument/2006/relationships/font" Target="fonts/font5.fntdata"/><Relationship Id="rId45" Type="http://schemas.openxmlformats.org/officeDocument/2006/relationships/font" Target="fonts/font10.fntdata"/><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9.fntdata"/><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43" Type="http://schemas.openxmlformats.org/officeDocument/2006/relationships/font" Target="fonts/font8.fntdata"/><Relationship Id="rId48" Type="http://schemas.openxmlformats.org/officeDocument/2006/relationships/font" Target="fonts/font13.fntdata"/><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3.fntdata"/><Relationship Id="rId46" Type="http://schemas.openxmlformats.org/officeDocument/2006/relationships/font" Target="fonts/font11.fntdata"/><Relationship Id="rId20" Type="http://schemas.openxmlformats.org/officeDocument/2006/relationships/slide" Target="slides/slide19.xml"/><Relationship Id="rId41"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1.fntdata"/><Relationship Id="rId49" Type="http://schemas.openxmlformats.org/officeDocument/2006/relationships/font" Target="fonts/font14.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
        <p:cNvGrpSpPr/>
        <p:nvPr/>
      </p:nvGrpSpPr>
      <p:grpSpPr>
        <a:xfrm>
          <a:off x="0" y="0"/>
          <a:ext cx="0" cy="0"/>
          <a:chOff x="0" y="0"/>
          <a:chExt cx="0" cy="0"/>
        </a:xfrm>
      </p:grpSpPr>
      <p:sp>
        <p:nvSpPr>
          <p:cNvPr id="53" name="Google Shape;53;p1: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4" name="Google Shape;54;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1" name="Google Shape;91;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3: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3" name="Google Shape;133;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p4: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0" name="Google Shape;160;p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p5: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4"/>
        <p:cNvGrpSpPr/>
        <p:nvPr/>
      </p:nvGrpSpPr>
      <p:grpSpPr>
        <a:xfrm>
          <a:off x="0" y="0"/>
          <a:ext cx="0" cy="0"/>
          <a:chOff x="0" y="0"/>
          <a:chExt cx="0" cy="0"/>
        </a:xfrm>
      </p:grpSpPr>
      <p:sp>
        <p:nvSpPr>
          <p:cNvPr id="275" name="Google Shape;275;p6: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6" name="Google Shape;276;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p7: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8" name="Google Shape;308;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8: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68" name="Google Shape;368;p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9"/>
        <p:cNvGrpSpPr/>
        <p:nvPr/>
      </p:nvGrpSpPr>
      <p:grpSpPr>
        <a:xfrm>
          <a:off x="0" y="0"/>
          <a:ext cx="0" cy="0"/>
          <a:chOff x="0" y="0"/>
          <a:chExt cx="0" cy="0"/>
        </a:xfrm>
      </p:grpSpPr>
      <p:sp>
        <p:nvSpPr>
          <p:cNvPr id="410" name="Google Shape;410;p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11" name="Google Shape;411;p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7"/>
        <p:cNvGrpSpPr/>
        <p:nvPr/>
      </p:nvGrpSpPr>
      <p:grpSpPr>
        <a:xfrm>
          <a:off x="0" y="0"/>
          <a:ext cx="0" cy="0"/>
          <a:chOff x="0" y="0"/>
          <a:chExt cx="0" cy="0"/>
        </a:xfrm>
      </p:grpSpPr>
      <p:sp>
        <p:nvSpPr>
          <p:cNvPr id="488" name="Google Shape;488;p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89" name="Google Shape;489;p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4"/>
        <p:cNvGrpSpPr/>
        <p:nvPr/>
      </p:nvGrpSpPr>
      <p:grpSpPr>
        <a:xfrm>
          <a:off x="0" y="0"/>
          <a:ext cx="0" cy="0"/>
          <a:chOff x="0" y="0"/>
          <a:chExt cx="0" cy="0"/>
        </a:xfrm>
      </p:grpSpPr>
      <p:sp>
        <p:nvSpPr>
          <p:cNvPr id="495" name="Google Shape;495;p1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96" name="Google Shape;496;p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7"/>
        <p:cNvGrpSpPr/>
        <p:nvPr/>
      </p:nvGrpSpPr>
      <p:grpSpPr>
        <a:xfrm>
          <a:off x="0" y="0"/>
          <a:ext cx="0" cy="0"/>
          <a:chOff x="0" y="0"/>
          <a:chExt cx="0" cy="0"/>
        </a:xfrm>
      </p:grpSpPr>
      <p:sp>
        <p:nvSpPr>
          <p:cNvPr id="518" name="Google Shape;518;p1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19" name="Google Shape;519;p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4"/>
        <p:cNvGrpSpPr/>
        <p:nvPr/>
      </p:nvGrpSpPr>
      <p:grpSpPr>
        <a:xfrm>
          <a:off x="0" y="0"/>
          <a:ext cx="0" cy="0"/>
          <a:chOff x="0" y="0"/>
          <a:chExt cx="0" cy="0"/>
        </a:xfrm>
      </p:grpSpPr>
      <p:sp>
        <p:nvSpPr>
          <p:cNvPr id="525" name="Google Shape;525;p1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26" name="Google Shape;526;p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9"/>
        <p:cNvGrpSpPr/>
        <p:nvPr/>
      </p:nvGrpSpPr>
      <p:grpSpPr>
        <a:xfrm>
          <a:off x="0" y="0"/>
          <a:ext cx="0" cy="0"/>
          <a:chOff x="0" y="0"/>
          <a:chExt cx="0" cy="0"/>
        </a:xfrm>
      </p:grpSpPr>
      <p:sp>
        <p:nvSpPr>
          <p:cNvPr id="550" name="Google Shape;550;p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51" name="Google Shape;551;p1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6"/>
        <p:cNvGrpSpPr/>
        <p:nvPr/>
      </p:nvGrpSpPr>
      <p:grpSpPr>
        <a:xfrm>
          <a:off x="0" y="0"/>
          <a:ext cx="0" cy="0"/>
          <a:chOff x="0" y="0"/>
          <a:chExt cx="0" cy="0"/>
        </a:xfrm>
      </p:grpSpPr>
      <p:sp>
        <p:nvSpPr>
          <p:cNvPr id="557" name="Google Shape;557;p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58" name="Google Shape;558;p1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3"/>
        <p:cNvGrpSpPr/>
        <p:nvPr/>
      </p:nvGrpSpPr>
      <p:grpSpPr>
        <a:xfrm>
          <a:off x="0" y="0"/>
          <a:ext cx="0" cy="0"/>
          <a:chOff x="0" y="0"/>
          <a:chExt cx="0" cy="0"/>
        </a:xfrm>
      </p:grpSpPr>
      <p:sp>
        <p:nvSpPr>
          <p:cNvPr id="584" name="Google Shape;584;p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85" name="Google Shape;585;p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9"/>
        <p:cNvGrpSpPr/>
        <p:nvPr/>
      </p:nvGrpSpPr>
      <p:grpSpPr>
        <a:xfrm>
          <a:off x="0" y="0"/>
          <a:ext cx="0" cy="0"/>
          <a:chOff x="0" y="0"/>
          <a:chExt cx="0" cy="0"/>
        </a:xfrm>
      </p:grpSpPr>
      <p:sp>
        <p:nvSpPr>
          <p:cNvPr id="610" name="Google Shape;610;p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11" name="Google Shape;611;p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p:cNvGrpSpPr/>
        <p:nvPr/>
      </p:nvGrpSpPr>
      <p:grpSpPr>
        <a:xfrm>
          <a:off x="0" y="0"/>
          <a:ext cx="0" cy="0"/>
          <a:chOff x="0" y="0"/>
          <a:chExt cx="0" cy="0"/>
        </a:xfrm>
      </p:grpSpPr>
      <p:sp>
        <p:nvSpPr>
          <p:cNvPr id="630" name="Google Shape;630;p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31" name="Google Shape;631;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1"/>
        <p:cNvGrpSpPr/>
        <p:nvPr/>
      </p:nvGrpSpPr>
      <p:grpSpPr>
        <a:xfrm>
          <a:off x="0" y="0"/>
          <a:ext cx="0" cy="0"/>
          <a:chOff x="0" y="0"/>
          <a:chExt cx="0" cy="0"/>
        </a:xfrm>
      </p:grpSpPr>
      <p:sp>
        <p:nvSpPr>
          <p:cNvPr id="642" name="Google Shape;642;p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43" name="Google Shape;643;p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3"/>
        <p:cNvGrpSpPr/>
        <p:nvPr/>
      </p:nvGrpSpPr>
      <p:grpSpPr>
        <a:xfrm>
          <a:off x="0" y="0"/>
          <a:ext cx="0" cy="0"/>
          <a:chOff x="0" y="0"/>
          <a:chExt cx="0" cy="0"/>
        </a:xfrm>
      </p:grpSpPr>
      <p:sp>
        <p:nvSpPr>
          <p:cNvPr id="654" name="Google Shape;65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55" name="Google Shape;65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5"/>
        <p:cNvGrpSpPr/>
        <p:nvPr/>
      </p:nvGrpSpPr>
      <p:grpSpPr>
        <a:xfrm>
          <a:off x="0" y="0"/>
          <a:ext cx="0" cy="0"/>
          <a:chOff x="0" y="0"/>
          <a:chExt cx="0" cy="0"/>
        </a:xfrm>
      </p:grpSpPr>
      <p:sp>
        <p:nvSpPr>
          <p:cNvPr id="666" name="Google Shape;666;p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67" name="Google Shape;667;p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9"/>
        <p:cNvGrpSpPr/>
        <p:nvPr/>
      </p:nvGrpSpPr>
      <p:grpSpPr>
        <a:xfrm>
          <a:off x="0" y="0"/>
          <a:ext cx="0" cy="0"/>
          <a:chOff x="0" y="0"/>
          <a:chExt cx="0" cy="0"/>
        </a:xfrm>
      </p:grpSpPr>
      <p:sp>
        <p:nvSpPr>
          <p:cNvPr id="680" name="Google Shape;680;p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81" name="Google Shape;681;p22: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9"/>
        <p:cNvGrpSpPr/>
        <p:nvPr/>
      </p:nvGrpSpPr>
      <p:grpSpPr>
        <a:xfrm>
          <a:off x="0" y="0"/>
          <a:ext cx="0" cy="0"/>
          <a:chOff x="0" y="0"/>
          <a:chExt cx="0" cy="0"/>
        </a:xfrm>
      </p:grpSpPr>
      <p:sp>
        <p:nvSpPr>
          <p:cNvPr id="700" name="Google Shape;700;g3fa6d22aaa5_1_1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01" name="Google Shape;701;g3fa6d22aaa5_1_1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1"/>
        <p:cNvGrpSpPr/>
        <p:nvPr/>
      </p:nvGrpSpPr>
      <p:grpSpPr>
        <a:xfrm>
          <a:off x="0" y="0"/>
          <a:ext cx="0" cy="0"/>
          <a:chOff x="0" y="0"/>
          <a:chExt cx="0" cy="0"/>
        </a:xfrm>
      </p:grpSpPr>
      <p:sp>
        <p:nvSpPr>
          <p:cNvPr id="712" name="Google Shape;712;g3fa6d22aaa5_1_1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13" name="Google Shape;713;g3fa6d22aaa5_1_1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3"/>
        <p:cNvGrpSpPr/>
        <p:nvPr/>
      </p:nvGrpSpPr>
      <p:grpSpPr>
        <a:xfrm>
          <a:off x="0" y="0"/>
          <a:ext cx="0" cy="0"/>
          <a:chOff x="0" y="0"/>
          <a:chExt cx="0" cy="0"/>
        </a:xfrm>
      </p:grpSpPr>
      <p:sp>
        <p:nvSpPr>
          <p:cNvPr id="724" name="Google Shape;724;p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25" name="Google Shape;725;p25: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5"/>
        <p:cNvGrpSpPr/>
        <p:nvPr/>
      </p:nvGrpSpPr>
      <p:grpSpPr>
        <a:xfrm>
          <a:off x="0" y="0"/>
          <a:ext cx="0" cy="0"/>
          <a:chOff x="0" y="0"/>
          <a:chExt cx="0" cy="0"/>
        </a:xfrm>
      </p:grpSpPr>
      <p:sp>
        <p:nvSpPr>
          <p:cNvPr id="736" name="Google Shape;736;p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37" name="Google Shape;737;p26: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7"/>
        <p:cNvGrpSpPr/>
        <p:nvPr/>
      </p:nvGrpSpPr>
      <p:grpSpPr>
        <a:xfrm>
          <a:off x="0" y="0"/>
          <a:ext cx="0" cy="0"/>
          <a:chOff x="0" y="0"/>
          <a:chExt cx="0" cy="0"/>
        </a:xfrm>
      </p:grpSpPr>
      <p:sp>
        <p:nvSpPr>
          <p:cNvPr id="748" name="Google Shape;748;p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49" name="Google Shape;749;p27: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8"/>
        <p:cNvGrpSpPr/>
        <p:nvPr/>
      </p:nvGrpSpPr>
      <p:grpSpPr>
        <a:xfrm>
          <a:off x="0" y="0"/>
          <a:ext cx="0" cy="0"/>
          <a:chOff x="0" y="0"/>
          <a:chExt cx="0" cy="0"/>
        </a:xfrm>
      </p:grpSpPr>
      <p:sp>
        <p:nvSpPr>
          <p:cNvPr id="779" name="Google Shape;779;p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80" name="Google Shape;780;p28: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9"/>
        <p:cNvGrpSpPr/>
        <p:nvPr/>
      </p:nvGrpSpPr>
      <p:grpSpPr>
        <a:xfrm>
          <a:off x="0" y="0"/>
          <a:ext cx="0" cy="0"/>
          <a:chOff x="0" y="0"/>
          <a:chExt cx="0" cy="0"/>
        </a:xfrm>
      </p:grpSpPr>
      <p:sp>
        <p:nvSpPr>
          <p:cNvPr id="800" name="Google Shape;800;p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01" name="Google Shape;801;p29: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2"/>
        <p:cNvGrpSpPr/>
        <p:nvPr/>
      </p:nvGrpSpPr>
      <p:grpSpPr>
        <a:xfrm>
          <a:off x="0" y="0"/>
          <a:ext cx="0" cy="0"/>
          <a:chOff x="0" y="0"/>
          <a:chExt cx="0" cy="0"/>
        </a:xfrm>
      </p:grpSpPr>
      <p:sp>
        <p:nvSpPr>
          <p:cNvPr id="833" name="Google Shape;833;p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34" name="Google Shape;834;p30: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9"/>
        <p:cNvGrpSpPr/>
        <p:nvPr/>
      </p:nvGrpSpPr>
      <p:grpSpPr>
        <a:xfrm>
          <a:off x="0" y="0"/>
          <a:ext cx="0" cy="0"/>
          <a:chOff x="0" y="0"/>
          <a:chExt cx="0" cy="0"/>
        </a:xfrm>
      </p:grpSpPr>
      <p:sp>
        <p:nvSpPr>
          <p:cNvPr id="850" name="Google Shape;850;p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51" name="Google Shape;851;p31: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2"/>
        <p:cNvGrpSpPr/>
        <p:nvPr/>
      </p:nvGrpSpPr>
      <p:grpSpPr>
        <a:xfrm>
          <a:off x="0" y="0"/>
          <a:ext cx="0" cy="0"/>
          <a:chOff x="0" y="0"/>
          <a:chExt cx="0" cy="0"/>
        </a:xfrm>
      </p:grpSpPr>
      <p:sp>
        <p:nvSpPr>
          <p:cNvPr id="873" name="Google Shape;873;p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74" name="Google Shape;874;p32: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2"/>
        <p:cNvGrpSpPr/>
        <p:nvPr/>
      </p:nvGrpSpPr>
      <p:grpSpPr>
        <a:xfrm>
          <a:off x="0" y="0"/>
          <a:ext cx="0" cy="0"/>
          <a:chOff x="0" y="0"/>
          <a:chExt cx="0" cy="0"/>
        </a:xfrm>
      </p:grpSpPr>
      <p:sp>
        <p:nvSpPr>
          <p:cNvPr id="893" name="Google Shape;893;p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4" name="Google Shape;894;p33: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Generated (g409c3fc51ff_0_0)">
  <p:cSld name="Generated (g409c3fc51ff_0_0)">
    <p:spTree>
      <p:nvGrpSpPr>
        <p:cNvPr id="1" name="Shape 9"/>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0"/>
        <p:cNvGrpSpPr/>
        <p:nvPr/>
      </p:nvGrpSpPr>
      <p:grpSpPr>
        <a:xfrm>
          <a:off x="0" y="0"/>
          <a:ext cx="0" cy="0"/>
          <a:chOff x="0" y="0"/>
          <a:chExt cx="0" cy="0"/>
        </a:xfrm>
      </p:grpSpPr>
      <p:sp>
        <p:nvSpPr>
          <p:cNvPr id="11" name="Google Shape;11;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2"/>
        <p:cNvGrpSpPr/>
        <p:nvPr/>
      </p:nvGrpSpPr>
      <p:grpSpPr>
        <a:xfrm>
          <a:off x="0" y="0"/>
          <a:ext cx="0" cy="0"/>
          <a:chOff x="0" y="0"/>
          <a:chExt cx="0" cy="0"/>
        </a:xfrm>
      </p:grpSpPr>
      <p:sp>
        <p:nvSpPr>
          <p:cNvPr id="13" name="Google Shape;13;p4"/>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4" name="Google Shape;14;p4"/>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5" name="Google Shape;15;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6"/>
        <p:cNvGrpSpPr/>
        <p:nvPr/>
      </p:nvGrpSpPr>
      <p:grpSpPr>
        <a:xfrm>
          <a:off x="0" y="0"/>
          <a:ext cx="0" cy="0"/>
          <a:chOff x="0" y="0"/>
          <a:chExt cx="0" cy="0"/>
        </a:xfrm>
      </p:grpSpPr>
      <p:sp>
        <p:nvSpPr>
          <p:cNvPr id="17" name="Google Shape;17;p5"/>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8" name="Google Shape;18;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9"/>
        <p:cNvGrpSpPr/>
        <p:nvPr/>
      </p:nvGrpSpPr>
      <p:grpSpPr>
        <a:xfrm>
          <a:off x="0" y="0"/>
          <a:ext cx="0" cy="0"/>
          <a:chOff x="0" y="0"/>
          <a:chExt cx="0" cy="0"/>
        </a:xfrm>
      </p:grpSpPr>
      <p:sp>
        <p:nvSpPr>
          <p:cNvPr id="20" name="Google Shape;20;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1" name="Google Shape;21;p6"/>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22" name="Google Shape;22;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3"/>
        <p:cNvGrpSpPr/>
        <p:nvPr/>
      </p:nvGrpSpPr>
      <p:grpSpPr>
        <a:xfrm>
          <a:off x="0" y="0"/>
          <a:ext cx="0" cy="0"/>
          <a:chOff x="0" y="0"/>
          <a:chExt cx="0" cy="0"/>
        </a:xfrm>
      </p:grpSpPr>
      <p:sp>
        <p:nvSpPr>
          <p:cNvPr id="24" name="Google Shape;24;p7"/>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5" name="Google Shape;25;p7"/>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6" name="Google Shape;26;p7"/>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7" name="Google Shape;27;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8"/>
        <p:cNvGrpSpPr/>
        <p:nvPr/>
      </p:nvGrpSpPr>
      <p:grpSpPr>
        <a:xfrm>
          <a:off x="0" y="0"/>
          <a:ext cx="0" cy="0"/>
          <a:chOff x="0" y="0"/>
          <a:chExt cx="0" cy="0"/>
        </a:xfrm>
      </p:grpSpPr>
      <p:sp>
        <p:nvSpPr>
          <p:cNvPr id="29" name="Google Shape;29;p8"/>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30" name="Google Shape;30;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1"/>
        <p:cNvGrpSpPr/>
        <p:nvPr/>
      </p:nvGrpSpPr>
      <p:grpSpPr>
        <a:xfrm>
          <a:off x="0" y="0"/>
          <a:ext cx="0" cy="0"/>
          <a:chOff x="0" y="0"/>
          <a:chExt cx="0" cy="0"/>
        </a:xfrm>
      </p:grpSpPr>
      <p:sp>
        <p:nvSpPr>
          <p:cNvPr id="32" name="Google Shape;32;p9"/>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3" name="Google Shape;33;p9"/>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4" name="Google Shape;34;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5"/>
        <p:cNvGrpSpPr/>
        <p:nvPr/>
      </p:nvGrpSpPr>
      <p:grpSpPr>
        <a:xfrm>
          <a:off x="0" y="0"/>
          <a:ext cx="0" cy="0"/>
          <a:chOff x="0" y="0"/>
          <a:chExt cx="0" cy="0"/>
        </a:xfrm>
      </p:grpSpPr>
      <p:sp>
        <p:nvSpPr>
          <p:cNvPr id="36" name="Google Shape;36;p10"/>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7" name="Google Shape;37;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8"/>
        <p:cNvGrpSpPr/>
        <p:nvPr/>
      </p:nvGrpSpPr>
      <p:grpSpPr>
        <a:xfrm>
          <a:off x="0" y="0"/>
          <a:ext cx="0" cy="0"/>
          <a:chOff x="0" y="0"/>
          <a:chExt cx="0" cy="0"/>
        </a:xfrm>
      </p:grpSpPr>
      <p:sp>
        <p:nvSpPr>
          <p:cNvPr id="39" name="Google Shape;39;p11"/>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0" name="Google Shape;40;p11"/>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41" name="Google Shape;41;p11"/>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2" name="Google Shape;42;p11"/>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3" name="Google Shape;43;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4"/>
        <p:cNvGrpSpPr/>
        <p:nvPr/>
      </p:nvGrpSpPr>
      <p:grpSpPr>
        <a:xfrm>
          <a:off x="0" y="0"/>
          <a:ext cx="0" cy="0"/>
          <a:chOff x="0" y="0"/>
          <a:chExt cx="0" cy="0"/>
        </a:xfrm>
      </p:grpSpPr>
      <p:sp>
        <p:nvSpPr>
          <p:cNvPr id="45" name="Google Shape;45;p12"/>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6" name="Google Shape;46;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7"/>
        <p:cNvGrpSpPr/>
        <p:nvPr/>
      </p:nvGrpSpPr>
      <p:grpSpPr>
        <a:xfrm>
          <a:off x="0" y="0"/>
          <a:ext cx="0" cy="0"/>
          <a:chOff x="0" y="0"/>
          <a:chExt cx="0" cy="0"/>
        </a:xfrm>
      </p:grpSpPr>
      <p:sp>
        <p:nvSpPr>
          <p:cNvPr id="48" name="Google Shape;48;p13"/>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9" name="Google Shape;49;p13"/>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50" name="Google Shape;50;p1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Generated (g409c4a42baa_17_0)">
  <p:cSld name="Generated (g409c4a42baa_17_0)">
    <p:spTree>
      <p:nvGrpSpPr>
        <p:cNvPr id="1" name="Shape 51"/>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1.xml"/><Relationship Id="rId16" Type="http://schemas.openxmlformats.org/officeDocument/2006/relationships/image" Target="../media/image14.png"/><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5" Type="http://schemas.openxmlformats.org/officeDocument/2006/relationships/image" Target="../media/image1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 Id="rId14" Type="http://schemas.openxmlformats.org/officeDocument/2006/relationships/image" Target="../media/image1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5"/>
        <p:cNvGrpSpPr/>
        <p:nvPr/>
      </p:nvGrpSpPr>
      <p:grpSpPr>
        <a:xfrm>
          <a:off x="0" y="0"/>
          <a:ext cx="0" cy="0"/>
          <a:chOff x="0" y="0"/>
          <a:chExt cx="0" cy="0"/>
        </a:xfrm>
      </p:grpSpPr>
      <p:grpSp>
        <p:nvGrpSpPr>
          <p:cNvPr id="56" name="Google Shape;56;p15"/>
          <p:cNvGrpSpPr/>
          <p:nvPr/>
        </p:nvGrpSpPr>
        <p:grpSpPr>
          <a:xfrm>
            <a:off x="0" y="0"/>
            <a:ext cx="9144000" cy="5143500"/>
            <a:chOff x="0" y="0"/>
            <a:chExt cx="9144000" cy="5143500"/>
          </a:xfrm>
        </p:grpSpPr>
        <p:sp>
          <p:nvSpPr>
            <p:cNvPr id="57" name="Google Shape;57;p15"/>
            <p:cNvSpPr/>
            <p:nvPr/>
          </p:nvSpPr>
          <p:spPr>
            <a:xfrm>
              <a:off x="0" y="0"/>
              <a:ext cx="9144000" cy="5143500"/>
            </a:xfrm>
            <a:prstGeom prst="rect">
              <a:avLst/>
            </a:pr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8" name="Google Shape;58;p15"/>
            <p:cNvSpPr/>
            <p:nvPr/>
          </p:nvSpPr>
          <p:spPr>
            <a:xfrm>
              <a:off x="5715000" y="0"/>
              <a:ext cx="3429000" cy="5143500"/>
            </a:xfrm>
            <a:custGeom>
              <a:avLst/>
              <a:gdLst/>
              <a:ahLst/>
              <a:cxnLst/>
              <a:rect l="l" t="t" r="r" b="b"/>
              <a:pathLst>
                <a:path w="120000" h="120000" extrusionOk="0">
                  <a:moveTo>
                    <a:pt x="33333" y="0"/>
                  </a:moveTo>
                  <a:lnTo>
                    <a:pt x="120000" y="0"/>
                  </a:lnTo>
                  <a:lnTo>
                    <a:pt x="120000" y="120000"/>
                  </a:lnTo>
                  <a:lnTo>
                    <a:pt x="0" y="120000"/>
                  </a:lnTo>
                  <a:close/>
                </a:path>
              </a:pathLst>
            </a:custGeom>
            <a:solidFill>
              <a:srgbClr val="F8FAF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9" name="Google Shape;59;p15"/>
            <p:cNvSpPr/>
            <p:nvPr/>
          </p:nvSpPr>
          <p:spPr>
            <a:xfrm>
              <a:off x="571500" y="1143000"/>
              <a:ext cx="762000" cy="38100"/>
            </a:xfrm>
            <a:prstGeom prst="rect">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grpSp>
        <p:nvGrpSpPr>
          <p:cNvPr id="60" name="Google Shape;60;p15"/>
          <p:cNvGrpSpPr/>
          <p:nvPr/>
        </p:nvGrpSpPr>
        <p:grpSpPr>
          <a:xfrm>
            <a:off x="6238875" y="1085850"/>
            <a:ext cx="2343150" cy="2019300"/>
            <a:chOff x="142875" y="514350"/>
            <a:chExt cx="2343150" cy="2019300"/>
          </a:xfrm>
        </p:grpSpPr>
        <p:pic>
          <p:nvPicPr>
            <p:cNvPr id="61" name="Google Shape;61;p15"/>
            <p:cNvPicPr preferRelativeResize="0"/>
            <p:nvPr/>
          </p:nvPicPr>
          <p:blipFill rotWithShape="1">
            <a:blip r:embed="rId3">
              <a:alphaModFix/>
            </a:blip>
            <a:srcRect/>
            <a:stretch/>
          </p:blipFill>
          <p:spPr>
            <a:xfrm>
              <a:off x="381000" y="1485900"/>
              <a:ext cx="509700" cy="76200"/>
            </a:xfrm>
            <a:prstGeom prst="rect">
              <a:avLst/>
            </a:prstGeom>
            <a:noFill/>
            <a:ln>
              <a:noFill/>
            </a:ln>
          </p:spPr>
        </p:pic>
        <p:pic>
          <p:nvPicPr>
            <p:cNvPr id="62" name="Google Shape;62;p15"/>
            <p:cNvPicPr preferRelativeResize="0"/>
            <p:nvPr/>
          </p:nvPicPr>
          <p:blipFill rotWithShape="1">
            <a:blip r:embed="rId4">
              <a:alphaModFix/>
            </a:blip>
            <a:srcRect/>
            <a:stretch/>
          </p:blipFill>
          <p:spPr>
            <a:xfrm>
              <a:off x="1809750" y="1485900"/>
              <a:ext cx="414300" cy="76200"/>
            </a:xfrm>
            <a:prstGeom prst="rect">
              <a:avLst/>
            </a:prstGeom>
            <a:noFill/>
            <a:ln>
              <a:noFill/>
            </a:ln>
          </p:spPr>
        </p:pic>
        <p:pic>
          <p:nvPicPr>
            <p:cNvPr id="63" name="Google Shape;63;p15"/>
            <p:cNvPicPr preferRelativeResize="0"/>
            <p:nvPr/>
          </p:nvPicPr>
          <p:blipFill rotWithShape="1">
            <a:blip r:embed="rId5">
              <a:alphaModFix/>
            </a:blip>
            <a:srcRect/>
            <a:stretch/>
          </p:blipFill>
          <p:spPr>
            <a:xfrm>
              <a:off x="1776413" y="723900"/>
              <a:ext cx="566700" cy="657300"/>
            </a:xfrm>
            <a:prstGeom prst="rect">
              <a:avLst/>
            </a:prstGeom>
            <a:noFill/>
            <a:ln>
              <a:noFill/>
            </a:ln>
          </p:spPr>
        </p:pic>
        <p:pic>
          <p:nvPicPr>
            <p:cNvPr id="64" name="Google Shape;64;p15"/>
            <p:cNvPicPr preferRelativeResize="0"/>
            <p:nvPr/>
          </p:nvPicPr>
          <p:blipFill rotWithShape="1">
            <a:blip r:embed="rId6">
              <a:alphaModFix/>
            </a:blip>
            <a:srcRect/>
            <a:stretch/>
          </p:blipFill>
          <p:spPr>
            <a:xfrm>
              <a:off x="1776413" y="1666875"/>
              <a:ext cx="566700" cy="657300"/>
            </a:xfrm>
            <a:prstGeom prst="rect">
              <a:avLst/>
            </a:prstGeom>
            <a:noFill/>
            <a:ln>
              <a:noFill/>
            </a:ln>
          </p:spPr>
        </p:pic>
        <p:pic>
          <p:nvPicPr>
            <p:cNvPr id="65" name="Google Shape;65;p15"/>
            <p:cNvPicPr preferRelativeResize="0"/>
            <p:nvPr/>
          </p:nvPicPr>
          <p:blipFill rotWithShape="1">
            <a:blip r:embed="rId7">
              <a:alphaModFix/>
            </a:blip>
            <a:srcRect/>
            <a:stretch/>
          </p:blipFill>
          <p:spPr>
            <a:xfrm>
              <a:off x="142875" y="1400175"/>
              <a:ext cx="247800" cy="247800"/>
            </a:xfrm>
            <a:prstGeom prst="rect">
              <a:avLst/>
            </a:prstGeom>
            <a:noFill/>
            <a:ln>
              <a:noFill/>
            </a:ln>
          </p:spPr>
        </p:pic>
        <p:pic>
          <p:nvPicPr>
            <p:cNvPr id="66" name="Google Shape;66;p15"/>
            <p:cNvPicPr preferRelativeResize="0"/>
            <p:nvPr/>
          </p:nvPicPr>
          <p:blipFill rotWithShape="1">
            <a:blip r:embed="rId8">
              <a:alphaModFix/>
            </a:blip>
            <a:srcRect/>
            <a:stretch/>
          </p:blipFill>
          <p:spPr>
            <a:xfrm>
              <a:off x="209550" y="1466850"/>
              <a:ext cx="114300" cy="114300"/>
            </a:xfrm>
            <a:prstGeom prst="rect">
              <a:avLst/>
            </a:prstGeom>
            <a:noFill/>
            <a:ln>
              <a:noFill/>
            </a:ln>
          </p:spPr>
        </p:pic>
        <p:pic>
          <p:nvPicPr>
            <p:cNvPr id="67" name="Google Shape;67;p15"/>
            <p:cNvPicPr preferRelativeResize="0"/>
            <p:nvPr/>
          </p:nvPicPr>
          <p:blipFill rotWithShape="1">
            <a:blip r:embed="rId9">
              <a:alphaModFix/>
            </a:blip>
            <a:srcRect/>
            <a:stretch/>
          </p:blipFill>
          <p:spPr>
            <a:xfrm>
              <a:off x="847725" y="1276350"/>
              <a:ext cx="971700" cy="495300"/>
            </a:xfrm>
            <a:prstGeom prst="rect">
              <a:avLst/>
            </a:prstGeom>
            <a:noFill/>
            <a:ln>
              <a:noFill/>
            </a:ln>
          </p:spPr>
        </p:pic>
        <p:pic>
          <p:nvPicPr>
            <p:cNvPr id="68" name="Google Shape;68;p15"/>
            <p:cNvPicPr preferRelativeResize="0"/>
            <p:nvPr/>
          </p:nvPicPr>
          <p:blipFill rotWithShape="1">
            <a:blip r:embed="rId10">
              <a:alphaModFix/>
            </a:blip>
            <a:srcRect/>
            <a:stretch/>
          </p:blipFill>
          <p:spPr>
            <a:xfrm>
              <a:off x="857250" y="1395413"/>
              <a:ext cx="952500" cy="9600"/>
            </a:xfrm>
            <a:prstGeom prst="rect">
              <a:avLst/>
            </a:prstGeom>
            <a:noFill/>
            <a:ln>
              <a:noFill/>
            </a:ln>
          </p:spPr>
        </p:pic>
        <p:pic>
          <p:nvPicPr>
            <p:cNvPr id="69" name="Google Shape;69;p15"/>
            <p:cNvPicPr preferRelativeResize="0"/>
            <p:nvPr/>
          </p:nvPicPr>
          <p:blipFill rotWithShape="1">
            <a:blip r:embed="rId11">
              <a:alphaModFix/>
            </a:blip>
            <a:srcRect/>
            <a:stretch/>
          </p:blipFill>
          <p:spPr>
            <a:xfrm>
              <a:off x="942975" y="1314450"/>
              <a:ext cx="57300" cy="57300"/>
            </a:xfrm>
            <a:prstGeom prst="rect">
              <a:avLst/>
            </a:prstGeom>
            <a:noFill/>
            <a:ln>
              <a:noFill/>
            </a:ln>
          </p:spPr>
        </p:pic>
        <p:pic>
          <p:nvPicPr>
            <p:cNvPr id="70" name="Google Shape;70;p15"/>
            <p:cNvPicPr preferRelativeResize="0"/>
            <p:nvPr/>
          </p:nvPicPr>
          <p:blipFill rotWithShape="1">
            <a:blip r:embed="rId12">
              <a:alphaModFix/>
            </a:blip>
            <a:srcRect/>
            <a:stretch/>
          </p:blipFill>
          <p:spPr>
            <a:xfrm>
              <a:off x="847725" y="514350"/>
              <a:ext cx="971700" cy="495300"/>
            </a:xfrm>
            <a:prstGeom prst="rect">
              <a:avLst/>
            </a:prstGeom>
            <a:noFill/>
            <a:ln>
              <a:noFill/>
            </a:ln>
          </p:spPr>
        </p:pic>
        <p:pic>
          <p:nvPicPr>
            <p:cNvPr id="71" name="Google Shape;71;p15"/>
            <p:cNvPicPr preferRelativeResize="0"/>
            <p:nvPr/>
          </p:nvPicPr>
          <p:blipFill rotWithShape="1">
            <a:blip r:embed="rId13">
              <a:alphaModFix/>
            </a:blip>
            <a:srcRect/>
            <a:stretch/>
          </p:blipFill>
          <p:spPr>
            <a:xfrm>
              <a:off x="857250" y="633413"/>
              <a:ext cx="952500" cy="9600"/>
            </a:xfrm>
            <a:prstGeom prst="rect">
              <a:avLst/>
            </a:prstGeom>
            <a:noFill/>
            <a:ln>
              <a:noFill/>
            </a:ln>
          </p:spPr>
        </p:pic>
        <p:pic>
          <p:nvPicPr>
            <p:cNvPr id="72" name="Google Shape;72;p15"/>
            <p:cNvPicPr preferRelativeResize="0"/>
            <p:nvPr/>
          </p:nvPicPr>
          <p:blipFill rotWithShape="1">
            <a:blip r:embed="rId14">
              <a:alphaModFix/>
            </a:blip>
            <a:srcRect/>
            <a:stretch/>
          </p:blipFill>
          <p:spPr>
            <a:xfrm>
              <a:off x="942975" y="552450"/>
              <a:ext cx="57300" cy="57300"/>
            </a:xfrm>
            <a:prstGeom prst="rect">
              <a:avLst/>
            </a:prstGeom>
            <a:noFill/>
            <a:ln>
              <a:noFill/>
            </a:ln>
          </p:spPr>
        </p:pic>
        <p:pic>
          <p:nvPicPr>
            <p:cNvPr id="73" name="Google Shape;73;p15"/>
            <p:cNvPicPr preferRelativeResize="0"/>
            <p:nvPr/>
          </p:nvPicPr>
          <p:blipFill rotWithShape="1">
            <a:blip r:embed="rId12">
              <a:alphaModFix/>
            </a:blip>
            <a:srcRect/>
            <a:stretch/>
          </p:blipFill>
          <p:spPr>
            <a:xfrm>
              <a:off x="847725" y="2038350"/>
              <a:ext cx="971700" cy="495300"/>
            </a:xfrm>
            <a:prstGeom prst="rect">
              <a:avLst/>
            </a:prstGeom>
            <a:noFill/>
            <a:ln>
              <a:noFill/>
            </a:ln>
          </p:spPr>
        </p:pic>
        <p:pic>
          <p:nvPicPr>
            <p:cNvPr id="74" name="Google Shape;74;p15"/>
            <p:cNvPicPr preferRelativeResize="0"/>
            <p:nvPr/>
          </p:nvPicPr>
          <p:blipFill rotWithShape="1">
            <a:blip r:embed="rId13">
              <a:alphaModFix/>
            </a:blip>
            <a:srcRect/>
            <a:stretch/>
          </p:blipFill>
          <p:spPr>
            <a:xfrm>
              <a:off x="857250" y="2157413"/>
              <a:ext cx="952500" cy="9600"/>
            </a:xfrm>
            <a:prstGeom prst="rect">
              <a:avLst/>
            </a:prstGeom>
            <a:noFill/>
            <a:ln>
              <a:noFill/>
            </a:ln>
          </p:spPr>
        </p:pic>
        <p:pic>
          <p:nvPicPr>
            <p:cNvPr id="75" name="Google Shape;75;p15"/>
            <p:cNvPicPr preferRelativeResize="0"/>
            <p:nvPr/>
          </p:nvPicPr>
          <p:blipFill rotWithShape="1">
            <a:blip r:embed="rId14">
              <a:alphaModFix/>
            </a:blip>
            <a:srcRect/>
            <a:stretch/>
          </p:blipFill>
          <p:spPr>
            <a:xfrm>
              <a:off x="942975" y="2076450"/>
              <a:ext cx="57300" cy="57300"/>
            </a:xfrm>
            <a:prstGeom prst="rect">
              <a:avLst/>
            </a:prstGeom>
            <a:noFill/>
            <a:ln>
              <a:noFill/>
            </a:ln>
          </p:spPr>
        </p:pic>
        <p:pic>
          <p:nvPicPr>
            <p:cNvPr id="76" name="Google Shape;76;p15"/>
            <p:cNvPicPr preferRelativeResize="0"/>
            <p:nvPr/>
          </p:nvPicPr>
          <p:blipFill rotWithShape="1">
            <a:blip r:embed="rId15">
              <a:alphaModFix/>
            </a:blip>
            <a:srcRect/>
            <a:stretch/>
          </p:blipFill>
          <p:spPr>
            <a:xfrm>
              <a:off x="2181225" y="1371600"/>
              <a:ext cx="304800" cy="304800"/>
            </a:xfrm>
            <a:prstGeom prst="rect">
              <a:avLst/>
            </a:prstGeom>
            <a:noFill/>
            <a:ln>
              <a:noFill/>
            </a:ln>
          </p:spPr>
        </p:pic>
        <p:pic>
          <p:nvPicPr>
            <p:cNvPr id="77" name="Google Shape;77;p15"/>
            <p:cNvPicPr preferRelativeResize="0"/>
            <p:nvPr/>
          </p:nvPicPr>
          <p:blipFill rotWithShape="1">
            <a:blip r:embed="rId16">
              <a:alphaModFix/>
            </a:blip>
            <a:srcRect/>
            <a:stretch/>
          </p:blipFill>
          <p:spPr>
            <a:xfrm>
              <a:off x="2290763" y="1481138"/>
              <a:ext cx="85800" cy="85800"/>
            </a:xfrm>
            <a:prstGeom prst="rect">
              <a:avLst/>
            </a:prstGeom>
            <a:noFill/>
            <a:ln>
              <a:noFill/>
            </a:ln>
          </p:spPr>
        </p:pic>
      </p:grpSp>
      <p:grpSp>
        <p:nvGrpSpPr>
          <p:cNvPr id="78" name="Google Shape;78;p15"/>
          <p:cNvGrpSpPr/>
          <p:nvPr/>
        </p:nvGrpSpPr>
        <p:grpSpPr>
          <a:xfrm>
            <a:off x="571500" y="571500"/>
            <a:ext cx="304800" cy="304800"/>
            <a:chOff x="0" y="0"/>
            <a:chExt cx="304800" cy="304800"/>
          </a:xfrm>
        </p:grpSpPr>
        <p:sp>
          <p:nvSpPr>
            <p:cNvPr id="79" name="Google Shape;79;p15"/>
            <p:cNvSpPr/>
            <p:nvPr/>
          </p:nvSpPr>
          <p:spPr>
            <a:xfrm>
              <a:off x="0" y="0"/>
              <a:ext cx="304800" cy="304800"/>
            </a:xfrm>
            <a:prstGeom prst="roundRect">
              <a:avLst>
                <a:gd name="adj" fmla="val 125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 name="Google Shape;80;p15"/>
            <p:cNvSpPr/>
            <p:nvPr/>
          </p:nvSpPr>
          <p:spPr>
            <a:xfrm>
              <a:off x="95250" y="95250"/>
              <a:ext cx="114300" cy="114300"/>
            </a:xfrm>
            <a:custGeom>
              <a:avLst/>
              <a:gdLst/>
              <a:ahLst/>
              <a:cxnLst/>
              <a:rect l="l" t="t" r="r" b="b"/>
              <a:pathLst>
                <a:path w="120000" h="120000" extrusionOk="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1" name="Google Shape;81;p15"/>
            <p:cNvSpPr/>
            <p:nvPr/>
          </p:nvSpPr>
          <p:spPr>
            <a:xfrm>
              <a:off x="123825" y="123825"/>
              <a:ext cx="57300" cy="57300"/>
            </a:xfrm>
            <a:prstGeom prst="ellipse">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
        <p:nvSpPr>
          <p:cNvPr id="82" name="Google Shape;82;p15"/>
          <p:cNvSpPr txBox="1"/>
          <p:nvPr/>
        </p:nvSpPr>
        <p:spPr>
          <a:xfrm>
            <a:off x="571500" y="1428750"/>
            <a:ext cx="4953000" cy="1905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400"/>
              <a:buFont typeface="Arial"/>
              <a:buNone/>
            </a:pPr>
            <a:r>
              <a:rPr lang="en" sz="2400" b="0" i="0" u="none" strike="noStrike" cap="none">
                <a:solidFill>
                  <a:srgbClr val="0F172A"/>
                </a:solidFill>
                <a:latin typeface="Inter ExtraBold"/>
                <a:ea typeface="Inter ExtraBold"/>
                <a:cs typeface="Inter ExtraBold"/>
                <a:sym typeface="Inter ExtraBold"/>
              </a:rPr>
              <a:t>Phân tích và mô hình hóa</a:t>
            </a:r>
            <a:endParaRPr sz="2400" b="0" i="0" u="none" strike="noStrike" cap="none">
              <a:solidFill>
                <a:srgbClr val="0F172A"/>
              </a:solidFill>
              <a:latin typeface="Inter ExtraBold"/>
              <a:ea typeface="Inter ExtraBold"/>
              <a:cs typeface="Inter ExtraBold"/>
              <a:sym typeface="Inter ExtraBold"/>
            </a:endParaRPr>
          </a:p>
          <a:p>
            <a:pPr marL="0" marR="0" lvl="0" indent="0" algn="l" rtl="0">
              <a:lnSpc>
                <a:spcPct val="100000"/>
              </a:lnSpc>
              <a:spcBef>
                <a:spcPts val="300"/>
              </a:spcBef>
              <a:spcAft>
                <a:spcPts val="0"/>
              </a:spcAft>
              <a:buClr>
                <a:srgbClr val="000000"/>
              </a:buClr>
              <a:buSzPts val="2400"/>
              <a:buFont typeface="Arial"/>
              <a:buNone/>
            </a:pPr>
            <a:r>
              <a:rPr lang="en" sz="2400" b="0" i="0" u="none" strike="noStrike" cap="none">
                <a:solidFill>
                  <a:srgbClr val="007B7C"/>
                </a:solidFill>
                <a:latin typeface="Inter ExtraBold"/>
                <a:ea typeface="Inter ExtraBold"/>
                <a:cs typeface="Inter ExtraBold"/>
                <a:sym typeface="Inter ExtraBold"/>
              </a:rPr>
              <a:t>Quy trình Nghiệp vụ</a:t>
            </a:r>
            <a:endParaRPr sz="2400" b="0" i="0" u="none" strike="noStrike" cap="none">
              <a:solidFill>
                <a:srgbClr val="007B7C"/>
              </a:solidFill>
              <a:latin typeface="Inter ExtraBold"/>
              <a:ea typeface="Inter ExtraBold"/>
              <a:cs typeface="Inter ExtraBold"/>
              <a:sym typeface="Inter ExtraBold"/>
            </a:endParaRPr>
          </a:p>
          <a:p>
            <a:pPr marL="0" marR="0" lvl="0" indent="0" algn="l" rtl="0">
              <a:lnSpc>
                <a:spcPct val="100000"/>
              </a:lnSpc>
              <a:spcBef>
                <a:spcPts val="1050"/>
              </a:spcBef>
              <a:spcAft>
                <a:spcPts val="0"/>
              </a:spcAft>
              <a:buClr>
                <a:srgbClr val="000000"/>
              </a:buClr>
              <a:buSzPts val="1350"/>
              <a:buFont typeface="Arial"/>
              <a:buNone/>
            </a:pPr>
            <a:r>
              <a:rPr lang="en" sz="1350" b="0" i="0" u="none" strike="noStrike" cap="none">
                <a:solidFill>
                  <a:srgbClr val="475569"/>
                </a:solidFill>
                <a:latin typeface="Inter SemiBold"/>
                <a:ea typeface="Inter SemiBold"/>
                <a:cs typeface="Inter SemiBold"/>
                <a:sym typeface="Inter SemiBold"/>
              </a:rPr>
              <a:t>Hệ thống đặt lịch sửa chữa thiết bị (Booking)</a:t>
            </a:r>
            <a:endParaRPr sz="1350" b="0" i="0" u="none" strike="noStrike" cap="none">
              <a:solidFill>
                <a:srgbClr val="475569"/>
              </a:solidFill>
              <a:latin typeface="Inter SemiBold"/>
              <a:ea typeface="Inter SemiBold"/>
              <a:cs typeface="Inter SemiBold"/>
              <a:sym typeface="Inter SemiBold"/>
            </a:endParaRPr>
          </a:p>
        </p:txBody>
      </p:sp>
      <p:grpSp>
        <p:nvGrpSpPr>
          <p:cNvPr id="83" name="Google Shape;83;p15"/>
          <p:cNvGrpSpPr/>
          <p:nvPr/>
        </p:nvGrpSpPr>
        <p:grpSpPr>
          <a:xfrm>
            <a:off x="571500" y="3524250"/>
            <a:ext cx="2571900" cy="1095300"/>
            <a:chOff x="0" y="0"/>
            <a:chExt cx="2571900" cy="1095300"/>
          </a:xfrm>
        </p:grpSpPr>
        <p:sp>
          <p:nvSpPr>
            <p:cNvPr id="84" name="Google Shape;84;p15"/>
            <p:cNvSpPr/>
            <p:nvPr/>
          </p:nvSpPr>
          <p:spPr>
            <a:xfrm>
              <a:off x="0" y="0"/>
              <a:ext cx="38100" cy="1095300"/>
            </a:xfrm>
            <a:prstGeom prst="roundRect">
              <a:avLst>
                <a:gd name="adj" fmla="val 500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5" name="Google Shape;85;p15"/>
            <p:cNvSpPr txBox="1"/>
            <p:nvPr/>
          </p:nvSpPr>
          <p:spPr>
            <a:xfrm>
              <a:off x="152400" y="0"/>
              <a:ext cx="2419500" cy="1095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750"/>
                <a:buFont typeface="Arial"/>
                <a:buNone/>
              </a:pPr>
              <a:r>
                <a:rPr lang="en" sz="750" b="1" i="0" u="none" strike="noStrike" cap="none">
                  <a:solidFill>
                    <a:srgbClr val="64748B"/>
                  </a:solidFill>
                  <a:latin typeface="Inter"/>
                  <a:ea typeface="Inter"/>
                  <a:cs typeface="Inter"/>
                  <a:sym typeface="Inter"/>
                </a:rPr>
                <a:t>Giảng viên hướng dẫn</a:t>
              </a:r>
              <a:endParaRPr sz="750" b="1" i="0" u="none" strike="noStrike" cap="none">
                <a:solidFill>
                  <a:srgbClr val="64748B"/>
                </a:solidFill>
                <a:latin typeface="Inter"/>
                <a:ea typeface="Inter"/>
                <a:cs typeface="Inter"/>
                <a:sym typeface="Inter"/>
              </a:endParaRPr>
            </a:p>
            <a:p>
              <a:pPr marL="0" marR="0" lvl="0" indent="0" algn="l" rtl="0">
                <a:lnSpc>
                  <a:spcPct val="100000"/>
                </a:lnSpc>
                <a:spcBef>
                  <a:spcPts val="150"/>
                </a:spcBef>
                <a:spcAft>
                  <a:spcPts val="0"/>
                </a:spcAft>
                <a:buClr>
                  <a:srgbClr val="000000"/>
                </a:buClr>
                <a:buSzPts val="1050"/>
                <a:buFont typeface="Arial"/>
                <a:buNone/>
              </a:pPr>
              <a:r>
                <a:rPr lang="en" sz="1050" b="1" i="0" u="none" strike="noStrike" cap="none">
                  <a:solidFill>
                    <a:srgbClr val="0F172A"/>
                  </a:solidFill>
                  <a:latin typeface="Inter"/>
                  <a:ea typeface="Inter"/>
                  <a:cs typeface="Inter"/>
                  <a:sym typeface="Inter"/>
                </a:rPr>
                <a:t>ThS. Hà Lê Hoài Trung</a:t>
              </a:r>
              <a:endParaRPr sz="1050" b="1" i="0" u="none" strike="noStrike" cap="none">
                <a:solidFill>
                  <a:srgbClr val="0F172A"/>
                </a:solidFill>
                <a:latin typeface="Inter"/>
                <a:ea typeface="Inter"/>
                <a:cs typeface="Inter"/>
                <a:sym typeface="Inter"/>
              </a:endParaRPr>
            </a:p>
            <a:p>
              <a:pPr marL="0" marR="0" lvl="0" indent="0" algn="l" rtl="0">
                <a:lnSpc>
                  <a:spcPct val="100000"/>
                </a:lnSpc>
                <a:spcBef>
                  <a:spcPts val="750"/>
                </a:spcBef>
                <a:spcAft>
                  <a:spcPts val="0"/>
                </a:spcAft>
                <a:buClr>
                  <a:srgbClr val="000000"/>
                </a:buClr>
                <a:buSzPts val="750"/>
                <a:buFont typeface="Arial"/>
                <a:buNone/>
              </a:pPr>
              <a:r>
                <a:rPr lang="en" sz="750" b="1" i="0" u="none" strike="noStrike" cap="none">
                  <a:solidFill>
                    <a:srgbClr val="64748B"/>
                  </a:solidFill>
                  <a:latin typeface="Inter"/>
                  <a:ea typeface="Inter"/>
                  <a:cs typeface="Inter"/>
                  <a:sym typeface="Inter"/>
                </a:rPr>
                <a:t>Đơn vị đào tạo</a:t>
              </a:r>
              <a:endParaRPr sz="750" b="1" i="0" u="none" strike="noStrike" cap="none">
                <a:solidFill>
                  <a:srgbClr val="64748B"/>
                </a:solidFill>
                <a:latin typeface="Inter"/>
                <a:ea typeface="Inter"/>
                <a:cs typeface="Inter"/>
                <a:sym typeface="Inter"/>
              </a:endParaRPr>
            </a:p>
            <a:p>
              <a:pPr marL="0" marR="0" lvl="0" indent="0" algn="l" rtl="0">
                <a:lnSpc>
                  <a:spcPct val="100000"/>
                </a:lnSpc>
                <a:spcBef>
                  <a:spcPts val="225"/>
                </a:spcBef>
                <a:spcAft>
                  <a:spcPts val="0"/>
                </a:spcAft>
                <a:buClr>
                  <a:srgbClr val="000000"/>
                </a:buClr>
                <a:buSzPts val="850"/>
                <a:buFont typeface="Arial"/>
                <a:buNone/>
              </a:pPr>
              <a:r>
                <a:rPr lang="en" sz="850" b="0" i="0" u="none" strike="noStrike" cap="none">
                  <a:solidFill>
                    <a:srgbClr val="475569"/>
                  </a:solidFill>
                  <a:latin typeface="Inter Medium"/>
                  <a:ea typeface="Inter Medium"/>
                  <a:cs typeface="Inter Medium"/>
                  <a:sym typeface="Inter Medium"/>
                </a:rPr>
                <a:t>Khoa Hệ thống Thông tin</a:t>
              </a:r>
              <a:endParaRPr sz="850" b="0" i="0" u="none" strike="noStrike" cap="none">
                <a:solidFill>
                  <a:srgbClr val="475569"/>
                </a:solidFill>
                <a:latin typeface="Inter Medium"/>
                <a:ea typeface="Inter Medium"/>
                <a:cs typeface="Inter Medium"/>
                <a:sym typeface="Inter Medium"/>
              </a:endParaRPr>
            </a:p>
            <a:p>
              <a:pPr marL="0" marR="0" lvl="0" indent="0" algn="l" rtl="0">
                <a:lnSpc>
                  <a:spcPct val="100000"/>
                </a:lnSpc>
                <a:spcBef>
                  <a:spcPts val="150"/>
                </a:spcBef>
                <a:spcAft>
                  <a:spcPts val="0"/>
                </a:spcAft>
                <a:buClr>
                  <a:srgbClr val="000000"/>
                </a:buClr>
                <a:buSzPts val="850"/>
                <a:buFont typeface="Arial"/>
                <a:buNone/>
              </a:pPr>
              <a:r>
                <a:rPr lang="en" sz="850" b="0" i="0" u="none" strike="noStrike" cap="none">
                  <a:solidFill>
                    <a:srgbClr val="475569"/>
                  </a:solidFill>
                  <a:latin typeface="Inter Medium"/>
                  <a:ea typeface="Inter Medium"/>
                  <a:cs typeface="Inter Medium"/>
                  <a:sym typeface="Inter Medium"/>
                </a:rPr>
                <a:t>Trường Đại học Công nghệ Thông tin</a:t>
              </a:r>
              <a:endParaRPr sz="850" b="0" i="0" u="none" strike="noStrike" cap="none">
                <a:solidFill>
                  <a:srgbClr val="475569"/>
                </a:solidFill>
                <a:latin typeface="Inter Medium"/>
                <a:ea typeface="Inter Medium"/>
                <a:cs typeface="Inter Medium"/>
                <a:sym typeface="Inter Medium"/>
              </a:endParaRPr>
            </a:p>
            <a:p>
              <a:pPr marL="0" marR="0" lvl="0" indent="0" algn="l" rtl="0">
                <a:lnSpc>
                  <a:spcPct val="100000"/>
                </a:lnSpc>
                <a:spcBef>
                  <a:spcPts val="150"/>
                </a:spcBef>
                <a:spcAft>
                  <a:spcPts val="0"/>
                </a:spcAft>
                <a:buClr>
                  <a:srgbClr val="000000"/>
                </a:buClr>
                <a:buSzPts val="850"/>
                <a:buFont typeface="Arial"/>
                <a:buNone/>
              </a:pPr>
              <a:r>
                <a:rPr lang="en" sz="850" b="0" i="0" u="none" strike="noStrike" cap="none">
                  <a:solidFill>
                    <a:srgbClr val="475569"/>
                  </a:solidFill>
                  <a:latin typeface="Inter Medium"/>
                  <a:ea typeface="Inter Medium"/>
                  <a:cs typeface="Inter Medium"/>
                  <a:sym typeface="Inter Medium"/>
                </a:rPr>
                <a:t>ĐHQG TP.HCM</a:t>
              </a:r>
              <a:endParaRPr sz="850" b="0" i="0" u="none" strike="noStrike" cap="none">
                <a:solidFill>
                  <a:srgbClr val="475569"/>
                </a:solidFill>
                <a:latin typeface="Inter Medium"/>
                <a:ea typeface="Inter Medium"/>
                <a:cs typeface="Inter Medium"/>
                <a:sym typeface="Inter Medium"/>
              </a:endParaRPr>
            </a:p>
          </p:txBody>
        </p:sp>
      </p:grpSp>
      <p:grpSp>
        <p:nvGrpSpPr>
          <p:cNvPr id="86" name="Google Shape;86;p15"/>
          <p:cNvGrpSpPr/>
          <p:nvPr/>
        </p:nvGrpSpPr>
        <p:grpSpPr>
          <a:xfrm>
            <a:off x="3238500" y="3524250"/>
            <a:ext cx="2438400" cy="1095300"/>
            <a:chOff x="0" y="0"/>
            <a:chExt cx="2438400" cy="1095300"/>
          </a:xfrm>
        </p:grpSpPr>
        <p:sp>
          <p:nvSpPr>
            <p:cNvPr id="87" name="Google Shape;87;p15"/>
            <p:cNvSpPr/>
            <p:nvPr/>
          </p:nvSpPr>
          <p:spPr>
            <a:xfrm>
              <a:off x="0" y="0"/>
              <a:ext cx="38100" cy="1095300"/>
            </a:xfrm>
            <a:prstGeom prst="roundRect">
              <a:avLst>
                <a:gd name="adj" fmla="val 50000"/>
              </a:avLst>
            </a:prstGeom>
            <a:solidFill>
              <a:srgbClr val="0284C7"/>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8" name="Google Shape;88;p15"/>
            <p:cNvSpPr txBox="1"/>
            <p:nvPr/>
          </p:nvSpPr>
          <p:spPr>
            <a:xfrm>
              <a:off x="152400" y="0"/>
              <a:ext cx="2286000" cy="1095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750"/>
                <a:buFont typeface="Arial"/>
                <a:buNone/>
              </a:pPr>
              <a:r>
                <a:rPr lang="en" sz="750" b="1" i="0" u="none" strike="noStrike" cap="none">
                  <a:solidFill>
                    <a:srgbClr val="64748B"/>
                  </a:solidFill>
                  <a:latin typeface="Inter"/>
                  <a:ea typeface="Inter"/>
                  <a:cs typeface="Inter"/>
                  <a:sym typeface="Inter"/>
                </a:rPr>
                <a:t>Nhóm nghiên cứu</a:t>
              </a:r>
              <a:endParaRPr sz="750" b="1" i="0" u="none" strike="noStrike" cap="none">
                <a:solidFill>
                  <a:srgbClr val="64748B"/>
                </a:solidFill>
                <a:latin typeface="Inter"/>
                <a:ea typeface="Inter"/>
                <a:cs typeface="Inter"/>
                <a:sym typeface="Inter"/>
              </a:endParaRPr>
            </a:p>
            <a:p>
              <a:pPr marL="0" marR="0" lvl="0" indent="0" algn="l" rtl="0">
                <a:lnSpc>
                  <a:spcPct val="100000"/>
                </a:lnSpc>
                <a:spcBef>
                  <a:spcPts val="150"/>
                </a:spcBef>
                <a:spcAft>
                  <a:spcPts val="0"/>
                </a:spcAft>
                <a:buClr>
                  <a:srgbClr val="000000"/>
                </a:buClr>
                <a:buSzPts val="1050"/>
                <a:buFont typeface="Arial"/>
                <a:buNone/>
              </a:pPr>
              <a:r>
                <a:rPr lang="en" sz="1050" b="1" i="0" u="none" strike="noStrike" cap="none">
                  <a:solidFill>
                    <a:srgbClr val="0F172A"/>
                  </a:solidFill>
                  <a:latin typeface="Inter"/>
                  <a:ea typeface="Inter"/>
                  <a:cs typeface="Inter"/>
                  <a:sym typeface="Inter"/>
                </a:rPr>
                <a:t>Nhóm 14</a:t>
              </a:r>
              <a:endParaRPr sz="1050" b="1" i="0" u="none" strike="noStrike" cap="none">
                <a:solidFill>
                  <a:srgbClr val="0F172A"/>
                </a:solidFill>
                <a:latin typeface="Inter"/>
                <a:ea typeface="Inter"/>
                <a:cs typeface="Inter"/>
                <a:sym typeface="Inter"/>
              </a:endParaRPr>
            </a:p>
            <a:p>
              <a:pPr marL="0" marR="0" lvl="0" indent="0" algn="l" rtl="0">
                <a:lnSpc>
                  <a:spcPct val="100000"/>
                </a:lnSpc>
                <a:spcBef>
                  <a:spcPts val="600"/>
                </a:spcBef>
                <a:spcAft>
                  <a:spcPts val="0"/>
                </a:spcAft>
                <a:buClr>
                  <a:srgbClr val="000000"/>
                </a:buClr>
                <a:buSzPts val="850"/>
                <a:buFont typeface="Arial"/>
                <a:buNone/>
              </a:pPr>
              <a:r>
                <a:rPr lang="en" sz="850" b="0" i="0" u="none" strike="noStrike" cap="none">
                  <a:solidFill>
                    <a:srgbClr val="475569"/>
                  </a:solidFill>
                  <a:latin typeface="Inter Medium"/>
                  <a:ea typeface="Inter Medium"/>
                  <a:cs typeface="Inter Medium"/>
                  <a:sym typeface="Inter Medium"/>
                </a:rPr>
                <a:t>Đỗ Kim Long (25210135)</a:t>
              </a:r>
              <a:endParaRPr sz="850" b="0" i="0" u="none" strike="noStrike" cap="none">
                <a:solidFill>
                  <a:srgbClr val="475569"/>
                </a:solidFill>
                <a:latin typeface="Inter Medium"/>
                <a:ea typeface="Inter Medium"/>
                <a:cs typeface="Inter Medium"/>
                <a:sym typeface="Inter Medium"/>
              </a:endParaRPr>
            </a:p>
            <a:p>
              <a:pPr marL="0" marR="0" lvl="0" indent="0" algn="l" rtl="0">
                <a:lnSpc>
                  <a:spcPct val="100000"/>
                </a:lnSpc>
                <a:spcBef>
                  <a:spcPts val="225"/>
                </a:spcBef>
                <a:spcAft>
                  <a:spcPts val="0"/>
                </a:spcAft>
                <a:buClr>
                  <a:srgbClr val="000000"/>
                </a:buClr>
                <a:buSzPts val="850"/>
                <a:buFont typeface="Arial"/>
                <a:buNone/>
              </a:pPr>
              <a:r>
                <a:rPr lang="en" sz="850" b="0" i="0" u="none" strike="noStrike" cap="none">
                  <a:solidFill>
                    <a:srgbClr val="475569"/>
                  </a:solidFill>
                  <a:latin typeface="Inter Medium"/>
                  <a:ea typeface="Inter Medium"/>
                  <a:cs typeface="Inter Medium"/>
                  <a:sym typeface="Inter Medium"/>
                </a:rPr>
                <a:t>Nguyễn Hoàng Tân (25210188)</a:t>
              </a:r>
              <a:endParaRPr sz="850" b="0" i="0" u="none" strike="noStrike" cap="none">
                <a:solidFill>
                  <a:srgbClr val="475569"/>
                </a:solidFill>
                <a:latin typeface="Inter Medium"/>
                <a:ea typeface="Inter Medium"/>
                <a:cs typeface="Inter Medium"/>
                <a:sym typeface="Inter Medium"/>
              </a:endParaRPr>
            </a:p>
            <a:p>
              <a:pPr marL="0" marR="0" lvl="0" indent="0" algn="l" rtl="0">
                <a:lnSpc>
                  <a:spcPct val="100000"/>
                </a:lnSpc>
                <a:spcBef>
                  <a:spcPts val="225"/>
                </a:spcBef>
                <a:spcAft>
                  <a:spcPts val="0"/>
                </a:spcAft>
                <a:buClr>
                  <a:srgbClr val="000000"/>
                </a:buClr>
                <a:buSzPts val="850"/>
                <a:buFont typeface="Arial"/>
                <a:buNone/>
              </a:pPr>
              <a:r>
                <a:rPr lang="en" sz="850" b="0" i="0" u="none" strike="noStrike" cap="none">
                  <a:solidFill>
                    <a:srgbClr val="475569"/>
                  </a:solidFill>
                  <a:latin typeface="Inter Medium"/>
                  <a:ea typeface="Inter Medium"/>
                  <a:cs typeface="Inter Medium"/>
                  <a:sym typeface="Inter Medium"/>
                </a:rPr>
                <a:t>Nguyễn Ngọc Thanh Thùy (25210208)</a:t>
              </a:r>
              <a:endParaRPr sz="850" b="0" i="0" u="none" strike="noStrike" cap="none">
                <a:solidFill>
                  <a:srgbClr val="475569"/>
                </a:solidFill>
                <a:latin typeface="Inter Medium"/>
                <a:ea typeface="Inter Medium"/>
                <a:cs typeface="Inter Medium"/>
                <a:sym typeface="Inter Medium"/>
              </a:endParaRPr>
            </a:p>
            <a:p>
              <a:pPr marL="0" marR="0" lvl="0" indent="0" algn="l" rtl="0">
                <a:lnSpc>
                  <a:spcPct val="100000"/>
                </a:lnSpc>
                <a:spcBef>
                  <a:spcPts val="225"/>
                </a:spcBef>
                <a:spcAft>
                  <a:spcPts val="0"/>
                </a:spcAft>
                <a:buClr>
                  <a:srgbClr val="000000"/>
                </a:buClr>
                <a:buSzPts val="850"/>
                <a:buFont typeface="Arial"/>
                <a:buNone/>
              </a:pPr>
              <a:r>
                <a:rPr lang="en" sz="850" b="0" i="0" u="none" strike="noStrike" cap="none">
                  <a:solidFill>
                    <a:srgbClr val="475569"/>
                  </a:solidFill>
                  <a:latin typeface="Inter Medium"/>
                  <a:ea typeface="Inter Medium"/>
                  <a:cs typeface="Inter Medium"/>
                  <a:sym typeface="Inter Medium"/>
                </a:rPr>
                <a:t>Lê Thị Bích Tuyền (25210236)</a:t>
              </a:r>
              <a:endParaRPr sz="850" b="0" i="0" u="none" strike="noStrike" cap="none">
                <a:solidFill>
                  <a:srgbClr val="475569"/>
                </a:solidFill>
                <a:latin typeface="Inter Medium"/>
                <a:ea typeface="Inter Medium"/>
                <a:cs typeface="Inter Medium"/>
                <a:sym typeface="Inter Medium"/>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grpSp>
        <p:nvGrpSpPr>
          <p:cNvPr id="93" name="Google Shape;93;p16"/>
          <p:cNvGrpSpPr/>
          <p:nvPr/>
        </p:nvGrpSpPr>
        <p:grpSpPr>
          <a:xfrm>
            <a:off x="0" y="0"/>
            <a:ext cx="9144000" cy="5143500"/>
            <a:chOff x="0" y="0"/>
            <a:chExt cx="9144000" cy="5143500"/>
          </a:xfrm>
        </p:grpSpPr>
        <p:sp>
          <p:nvSpPr>
            <p:cNvPr id="94" name="Google Shape;94;p16"/>
            <p:cNvSpPr/>
            <p:nvPr/>
          </p:nvSpPr>
          <p:spPr>
            <a:xfrm>
              <a:off x="0" y="0"/>
              <a:ext cx="9144000" cy="5143500"/>
            </a:xfrm>
            <a:prstGeom prst="rect">
              <a:avLst/>
            </a:pr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95" name="Google Shape;95;p16"/>
            <p:cNvGrpSpPr/>
            <p:nvPr/>
          </p:nvGrpSpPr>
          <p:grpSpPr>
            <a:xfrm>
              <a:off x="8458200" y="381000"/>
              <a:ext cx="304800" cy="304800"/>
              <a:chOff x="0" y="0"/>
              <a:chExt cx="304800" cy="304800"/>
            </a:xfrm>
          </p:grpSpPr>
          <p:sp>
            <p:nvSpPr>
              <p:cNvPr id="96" name="Google Shape;96;p16"/>
              <p:cNvSpPr/>
              <p:nvPr/>
            </p:nvSpPr>
            <p:spPr>
              <a:xfrm>
                <a:off x="0" y="0"/>
                <a:ext cx="304800" cy="304800"/>
              </a:xfrm>
              <a:prstGeom prst="roundRect">
                <a:avLst>
                  <a:gd name="adj" fmla="val 125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7" name="Google Shape;97;p16"/>
              <p:cNvSpPr/>
              <p:nvPr/>
            </p:nvSpPr>
            <p:spPr>
              <a:xfrm>
                <a:off x="95250" y="95250"/>
                <a:ext cx="114300" cy="114300"/>
              </a:xfrm>
              <a:custGeom>
                <a:avLst/>
                <a:gdLst/>
                <a:ahLst/>
                <a:cxnLst/>
                <a:rect l="l" t="t" r="r" b="b"/>
                <a:pathLst>
                  <a:path w="120000" h="120000" extrusionOk="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8" name="Google Shape;98;p16"/>
              <p:cNvSpPr/>
              <p:nvPr/>
            </p:nvSpPr>
            <p:spPr>
              <a:xfrm>
                <a:off x="123825" y="123825"/>
                <a:ext cx="57300" cy="57300"/>
              </a:xfrm>
              <a:prstGeom prst="ellipse">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cxnSp>
          <p:nvCxnSpPr>
            <p:cNvPr id="99" name="Google Shape;99;p16"/>
            <p:cNvCxnSpPr/>
            <p:nvPr/>
          </p:nvCxnSpPr>
          <p:spPr>
            <a:xfrm>
              <a:off x="381000" y="1143000"/>
              <a:ext cx="8382000" cy="0"/>
            </a:xfrm>
            <a:prstGeom prst="straightConnector1">
              <a:avLst/>
            </a:prstGeom>
            <a:solidFill>
              <a:srgbClr val="FFFFFF"/>
            </a:solidFill>
            <a:ln w="14300" cap="flat" cmpd="sng">
              <a:solidFill>
                <a:srgbClr val="E2E8F0"/>
              </a:solidFill>
              <a:prstDash val="solid"/>
              <a:round/>
              <a:headEnd type="none" w="sm" len="sm"/>
              <a:tailEnd type="none" w="sm" len="sm"/>
            </a:ln>
          </p:spPr>
        </p:cxnSp>
      </p:grpSp>
      <p:sp>
        <p:nvSpPr>
          <p:cNvPr id="100" name="Google Shape;100;p16"/>
          <p:cNvSpPr txBox="1"/>
          <p:nvPr/>
        </p:nvSpPr>
        <p:spPr>
          <a:xfrm>
            <a:off x="381000" y="333375"/>
            <a:ext cx="7620000" cy="7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 sz="2000" b="0" i="0" u="none" strike="noStrike" cap="none">
                <a:solidFill>
                  <a:srgbClr val="0F172A"/>
                </a:solidFill>
                <a:latin typeface="Inter ExtraBold"/>
                <a:ea typeface="Inter ExtraBold"/>
                <a:cs typeface="Inter ExtraBold"/>
                <a:sym typeface="Inter ExtraBold"/>
              </a:rPr>
              <a:t>Mục lục nội dung báo cáo</a:t>
            </a:r>
            <a:endParaRPr sz="2000" b="0" i="0" u="none" strike="noStrike" cap="none">
              <a:solidFill>
                <a:srgbClr val="0F172A"/>
              </a:solidFill>
              <a:latin typeface="Inter ExtraBold"/>
              <a:ea typeface="Inter ExtraBold"/>
              <a:cs typeface="Inter ExtraBold"/>
              <a:sym typeface="Inter ExtraBold"/>
            </a:endParaRPr>
          </a:p>
          <a:p>
            <a:pPr marL="0" marR="0" lvl="0" indent="0" algn="l" rtl="0">
              <a:lnSpc>
                <a:spcPct val="100000"/>
              </a:lnSpc>
              <a:spcBef>
                <a:spcPts val="500"/>
              </a:spcBef>
              <a:spcAft>
                <a:spcPts val="0"/>
              </a:spcAft>
              <a:buClr>
                <a:srgbClr val="000000"/>
              </a:buClr>
              <a:buSzPts val="1100"/>
              <a:buFont typeface="Arial"/>
              <a:buNone/>
            </a:pPr>
            <a:r>
              <a:rPr lang="en" sz="1100" b="0" i="0" u="none" strike="noStrike" cap="none">
                <a:solidFill>
                  <a:srgbClr val="007B7C"/>
                </a:solidFill>
                <a:latin typeface="Inter SemiBold"/>
                <a:ea typeface="Inter SemiBold"/>
                <a:cs typeface="Inter SemiBold"/>
                <a:sym typeface="Inter SemiBold"/>
              </a:rPr>
              <a:t>Nội dung trình bày được chia thành 5 chương chính, bao quát toàn bộ quá trình nghiên cứu và đề xuất cải tiến:</a:t>
            </a:r>
            <a:endParaRPr sz="1100" b="0" i="0" u="none" strike="noStrike" cap="none">
              <a:solidFill>
                <a:srgbClr val="007B7C"/>
              </a:solidFill>
              <a:latin typeface="Inter SemiBold"/>
              <a:ea typeface="Inter SemiBold"/>
              <a:cs typeface="Inter SemiBold"/>
              <a:sym typeface="Inter SemiBold"/>
            </a:endParaRPr>
          </a:p>
        </p:txBody>
      </p:sp>
      <p:grpSp>
        <p:nvGrpSpPr>
          <p:cNvPr id="101" name="Google Shape;101;p16"/>
          <p:cNvGrpSpPr/>
          <p:nvPr/>
        </p:nvGrpSpPr>
        <p:grpSpPr>
          <a:xfrm>
            <a:off x="381000" y="1381125"/>
            <a:ext cx="4000500" cy="952500"/>
            <a:chOff x="0" y="0"/>
            <a:chExt cx="4000500" cy="952500"/>
          </a:xfrm>
        </p:grpSpPr>
        <p:sp>
          <p:nvSpPr>
            <p:cNvPr id="102" name="Google Shape;102;p16"/>
            <p:cNvSpPr/>
            <p:nvPr/>
          </p:nvSpPr>
          <p:spPr>
            <a:xfrm>
              <a:off x="0" y="0"/>
              <a:ext cx="4000500" cy="952500"/>
            </a:xfrm>
            <a:prstGeom prst="roundRect">
              <a:avLst>
                <a:gd name="adj" fmla="val 6000"/>
              </a:avLst>
            </a:prstGeom>
            <a:solidFill>
              <a:srgbClr val="F8FAFC"/>
            </a:solidFill>
            <a:ln w="95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3" name="Google Shape;103;p16"/>
            <p:cNvSpPr/>
            <p:nvPr/>
          </p:nvSpPr>
          <p:spPr>
            <a:xfrm>
              <a:off x="0" y="0"/>
              <a:ext cx="57300" cy="952500"/>
            </a:xfrm>
            <a:prstGeom prst="roundRect">
              <a:avLst>
                <a:gd name="adj" fmla="val 500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4" name="Google Shape;104;p16"/>
            <p:cNvSpPr/>
            <p:nvPr/>
          </p:nvSpPr>
          <p:spPr>
            <a:xfrm>
              <a:off x="190500" y="152400"/>
              <a:ext cx="266700" cy="266700"/>
            </a:xfrm>
            <a:prstGeom prst="roundRect">
              <a:avLst>
                <a:gd name="adj" fmla="val 14285"/>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5" name="Google Shape;105;p16"/>
            <p:cNvSpPr txBox="1"/>
            <p:nvPr/>
          </p:nvSpPr>
          <p:spPr>
            <a:xfrm>
              <a:off x="190500" y="152400"/>
              <a:ext cx="266700" cy="2667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1" i="0" u="none" strike="noStrike" cap="none">
                  <a:solidFill>
                    <a:srgbClr val="FFFFFF"/>
                  </a:solidFill>
                  <a:latin typeface="Inter"/>
                  <a:ea typeface="Inter"/>
                  <a:cs typeface="Inter"/>
                  <a:sym typeface="Inter"/>
                </a:rPr>
                <a:t>01</a:t>
              </a:r>
              <a:endParaRPr sz="1000" b="1" i="0" u="none" strike="noStrike" cap="none">
                <a:solidFill>
                  <a:srgbClr val="FFFFFF"/>
                </a:solidFill>
                <a:latin typeface="Inter"/>
                <a:ea typeface="Inter"/>
                <a:cs typeface="Inter"/>
                <a:sym typeface="Inter"/>
              </a:endParaRPr>
            </a:p>
          </p:txBody>
        </p:sp>
        <p:sp>
          <p:nvSpPr>
            <p:cNvPr id="106" name="Google Shape;106;p16"/>
            <p:cNvSpPr txBox="1"/>
            <p:nvPr/>
          </p:nvSpPr>
          <p:spPr>
            <a:xfrm>
              <a:off x="571500" y="133350"/>
              <a:ext cx="3238500" cy="685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1" i="0" u="none" strike="noStrike" cap="none">
                  <a:solidFill>
                    <a:srgbClr val="0F172A"/>
                  </a:solidFill>
                  <a:latin typeface="Inter"/>
                  <a:ea typeface="Inter"/>
                  <a:cs typeface="Inter"/>
                  <a:sym typeface="Inter"/>
                </a:rPr>
                <a:t>Chương 1: Liệt kê quy trình doanh nghiệp</a:t>
              </a:r>
              <a:endParaRPr sz="1100" b="1" i="0" u="none" strike="noStrike" cap="none">
                <a:solidFill>
                  <a:srgbClr val="0F172A"/>
                </a:solidFill>
                <a:latin typeface="Inter"/>
                <a:ea typeface="Inter"/>
                <a:cs typeface="Inter"/>
                <a:sym typeface="Inter"/>
              </a:endParaRPr>
            </a:p>
            <a:p>
              <a:pPr marL="0" marR="0" lvl="0" indent="0" algn="l" rtl="0">
                <a:lnSpc>
                  <a:spcPct val="100000"/>
                </a:lnSpc>
                <a:spcBef>
                  <a:spcPts val="300"/>
                </a:spcBef>
                <a:spcAft>
                  <a:spcPts val="0"/>
                </a:spcAft>
                <a:buClr>
                  <a:srgbClr val="000000"/>
                </a:buClr>
                <a:buSzPts val="950"/>
                <a:buFont typeface="Arial"/>
                <a:buNone/>
              </a:pPr>
              <a:r>
                <a:rPr lang="en" sz="950" b="0" i="0" u="none" strike="noStrike" cap="none">
                  <a:solidFill>
                    <a:srgbClr val="475569"/>
                  </a:solidFill>
                  <a:latin typeface="Inter"/>
                  <a:ea typeface="Inter"/>
                  <a:cs typeface="Inter"/>
                  <a:sym typeface="Inter"/>
                </a:rPr>
                <a:t>Tổng quan về bối cảnh và 10 quy trình hoạt động.</a:t>
              </a:r>
              <a:endParaRPr sz="950" b="0" i="0" u="none" strike="noStrike" cap="none">
                <a:solidFill>
                  <a:srgbClr val="475569"/>
                </a:solidFill>
                <a:latin typeface="Inter"/>
                <a:ea typeface="Inter"/>
                <a:cs typeface="Inter"/>
                <a:sym typeface="Inter"/>
              </a:endParaRPr>
            </a:p>
          </p:txBody>
        </p:sp>
      </p:grpSp>
      <p:grpSp>
        <p:nvGrpSpPr>
          <p:cNvPr id="107" name="Google Shape;107;p16"/>
          <p:cNvGrpSpPr/>
          <p:nvPr/>
        </p:nvGrpSpPr>
        <p:grpSpPr>
          <a:xfrm>
            <a:off x="4762500" y="1381125"/>
            <a:ext cx="4000500" cy="952500"/>
            <a:chOff x="0" y="0"/>
            <a:chExt cx="4000500" cy="952500"/>
          </a:xfrm>
        </p:grpSpPr>
        <p:sp>
          <p:nvSpPr>
            <p:cNvPr id="108" name="Google Shape;108;p16"/>
            <p:cNvSpPr/>
            <p:nvPr/>
          </p:nvSpPr>
          <p:spPr>
            <a:xfrm>
              <a:off x="0" y="0"/>
              <a:ext cx="4000500" cy="952500"/>
            </a:xfrm>
            <a:prstGeom prst="roundRect">
              <a:avLst>
                <a:gd name="adj" fmla="val 6000"/>
              </a:avLst>
            </a:prstGeom>
            <a:solidFill>
              <a:srgbClr val="F8FAFC"/>
            </a:solidFill>
            <a:ln w="95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9" name="Google Shape;109;p16"/>
            <p:cNvSpPr/>
            <p:nvPr/>
          </p:nvSpPr>
          <p:spPr>
            <a:xfrm>
              <a:off x="0" y="0"/>
              <a:ext cx="57300" cy="952500"/>
            </a:xfrm>
            <a:prstGeom prst="roundRect">
              <a:avLst>
                <a:gd name="adj" fmla="val 500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0" name="Google Shape;110;p16"/>
            <p:cNvSpPr/>
            <p:nvPr/>
          </p:nvSpPr>
          <p:spPr>
            <a:xfrm>
              <a:off x="190500" y="152400"/>
              <a:ext cx="266700" cy="266700"/>
            </a:xfrm>
            <a:prstGeom prst="roundRect">
              <a:avLst>
                <a:gd name="adj" fmla="val 14285"/>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1" name="Google Shape;111;p16"/>
            <p:cNvSpPr txBox="1"/>
            <p:nvPr/>
          </p:nvSpPr>
          <p:spPr>
            <a:xfrm>
              <a:off x="190500" y="152400"/>
              <a:ext cx="266700" cy="2667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1" i="0" u="none" strike="noStrike" cap="none">
                  <a:solidFill>
                    <a:srgbClr val="FFFFFF"/>
                  </a:solidFill>
                  <a:latin typeface="Inter"/>
                  <a:ea typeface="Inter"/>
                  <a:cs typeface="Inter"/>
                  <a:sym typeface="Inter"/>
                </a:rPr>
                <a:t>02</a:t>
              </a:r>
              <a:endParaRPr sz="1000" b="1" i="0" u="none" strike="noStrike" cap="none">
                <a:solidFill>
                  <a:srgbClr val="FFFFFF"/>
                </a:solidFill>
                <a:latin typeface="Inter"/>
                <a:ea typeface="Inter"/>
                <a:cs typeface="Inter"/>
                <a:sym typeface="Inter"/>
              </a:endParaRPr>
            </a:p>
          </p:txBody>
        </p:sp>
        <p:sp>
          <p:nvSpPr>
            <p:cNvPr id="112" name="Google Shape;112;p16"/>
            <p:cNvSpPr txBox="1"/>
            <p:nvPr/>
          </p:nvSpPr>
          <p:spPr>
            <a:xfrm>
              <a:off x="571500" y="133350"/>
              <a:ext cx="3238500" cy="685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1" i="0" u="none" strike="noStrike" cap="none">
                  <a:solidFill>
                    <a:srgbClr val="0F172A"/>
                  </a:solidFill>
                  <a:latin typeface="Inter"/>
                  <a:ea typeface="Inter"/>
                  <a:cs typeface="Inter"/>
                  <a:sym typeface="Inter"/>
                </a:rPr>
                <a:t>Chương 2: Mô hình hóa quy trình</a:t>
              </a:r>
              <a:endParaRPr sz="1100" b="1" i="0" u="none" strike="noStrike" cap="none">
                <a:solidFill>
                  <a:srgbClr val="0F172A"/>
                </a:solidFill>
                <a:latin typeface="Inter"/>
                <a:ea typeface="Inter"/>
                <a:cs typeface="Inter"/>
                <a:sym typeface="Inter"/>
              </a:endParaRPr>
            </a:p>
            <a:p>
              <a:pPr marL="0" marR="0" lvl="0" indent="0" algn="l" rtl="0">
                <a:lnSpc>
                  <a:spcPct val="100000"/>
                </a:lnSpc>
                <a:spcBef>
                  <a:spcPts val="300"/>
                </a:spcBef>
                <a:spcAft>
                  <a:spcPts val="0"/>
                </a:spcAft>
                <a:buClr>
                  <a:srgbClr val="000000"/>
                </a:buClr>
                <a:buSzPts val="950"/>
                <a:buFont typeface="Arial"/>
                <a:buNone/>
              </a:pPr>
              <a:r>
                <a:rPr lang="en" sz="950" b="0" i="0" u="none" strike="noStrike" cap="none">
                  <a:solidFill>
                    <a:srgbClr val="475569"/>
                  </a:solidFill>
                  <a:latin typeface="Inter"/>
                  <a:ea typeface="Inter"/>
                  <a:cs typeface="Inter"/>
                  <a:sym typeface="Inter"/>
                </a:rPr>
                <a:t>Áp dụng chuẩn BPMN 2.0 để vẽ sơ đồ cho các quy trình trọng yếu.</a:t>
              </a:r>
              <a:endParaRPr sz="950" b="0" i="0" u="none" strike="noStrike" cap="none">
                <a:solidFill>
                  <a:srgbClr val="475569"/>
                </a:solidFill>
                <a:latin typeface="Inter"/>
                <a:ea typeface="Inter"/>
                <a:cs typeface="Inter"/>
                <a:sym typeface="Inter"/>
              </a:endParaRPr>
            </a:p>
          </p:txBody>
        </p:sp>
      </p:grpSp>
      <p:grpSp>
        <p:nvGrpSpPr>
          <p:cNvPr id="113" name="Google Shape;113;p16"/>
          <p:cNvGrpSpPr/>
          <p:nvPr/>
        </p:nvGrpSpPr>
        <p:grpSpPr>
          <a:xfrm>
            <a:off x="381000" y="2476500"/>
            <a:ext cx="4000500" cy="952500"/>
            <a:chOff x="0" y="0"/>
            <a:chExt cx="4000500" cy="952500"/>
          </a:xfrm>
        </p:grpSpPr>
        <p:sp>
          <p:nvSpPr>
            <p:cNvPr id="114" name="Google Shape;114;p16"/>
            <p:cNvSpPr/>
            <p:nvPr/>
          </p:nvSpPr>
          <p:spPr>
            <a:xfrm>
              <a:off x="0" y="0"/>
              <a:ext cx="4000500" cy="952500"/>
            </a:xfrm>
            <a:prstGeom prst="roundRect">
              <a:avLst>
                <a:gd name="adj" fmla="val 6000"/>
              </a:avLst>
            </a:prstGeom>
            <a:solidFill>
              <a:srgbClr val="F8FAFC"/>
            </a:solidFill>
            <a:ln w="95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5" name="Google Shape;115;p16"/>
            <p:cNvSpPr/>
            <p:nvPr/>
          </p:nvSpPr>
          <p:spPr>
            <a:xfrm>
              <a:off x="0" y="0"/>
              <a:ext cx="57300" cy="952500"/>
            </a:xfrm>
            <a:prstGeom prst="roundRect">
              <a:avLst>
                <a:gd name="adj" fmla="val 500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6" name="Google Shape;116;p16"/>
            <p:cNvSpPr/>
            <p:nvPr/>
          </p:nvSpPr>
          <p:spPr>
            <a:xfrm>
              <a:off x="190500" y="152400"/>
              <a:ext cx="266700" cy="266700"/>
            </a:xfrm>
            <a:prstGeom prst="roundRect">
              <a:avLst>
                <a:gd name="adj" fmla="val 14285"/>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7" name="Google Shape;117;p16"/>
            <p:cNvSpPr txBox="1"/>
            <p:nvPr/>
          </p:nvSpPr>
          <p:spPr>
            <a:xfrm>
              <a:off x="190500" y="152400"/>
              <a:ext cx="266700" cy="2667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1" i="0" u="none" strike="noStrike" cap="none">
                  <a:solidFill>
                    <a:srgbClr val="FFFFFF"/>
                  </a:solidFill>
                  <a:latin typeface="Inter"/>
                  <a:ea typeface="Inter"/>
                  <a:cs typeface="Inter"/>
                  <a:sym typeface="Inter"/>
                </a:rPr>
                <a:t>03</a:t>
              </a:r>
              <a:endParaRPr sz="1000" b="1" i="0" u="none" strike="noStrike" cap="none">
                <a:solidFill>
                  <a:srgbClr val="FFFFFF"/>
                </a:solidFill>
                <a:latin typeface="Inter"/>
                <a:ea typeface="Inter"/>
                <a:cs typeface="Inter"/>
                <a:sym typeface="Inter"/>
              </a:endParaRPr>
            </a:p>
          </p:txBody>
        </p:sp>
        <p:sp>
          <p:nvSpPr>
            <p:cNvPr id="118" name="Google Shape;118;p16"/>
            <p:cNvSpPr txBox="1"/>
            <p:nvPr/>
          </p:nvSpPr>
          <p:spPr>
            <a:xfrm>
              <a:off x="571500" y="133350"/>
              <a:ext cx="3238500" cy="685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1" i="0" u="none" strike="noStrike" cap="none">
                  <a:solidFill>
                    <a:srgbClr val="0F172A"/>
                  </a:solidFill>
                  <a:latin typeface="Inter"/>
                  <a:ea typeface="Inter"/>
                  <a:cs typeface="Inter"/>
                  <a:sym typeface="Inter"/>
                </a:rPr>
                <a:t>Chương 3: Phương pháp thực hiện</a:t>
              </a:r>
              <a:endParaRPr sz="1100" b="1" i="0" u="none" strike="noStrike" cap="none">
                <a:solidFill>
                  <a:srgbClr val="0F172A"/>
                </a:solidFill>
                <a:latin typeface="Inter"/>
                <a:ea typeface="Inter"/>
                <a:cs typeface="Inter"/>
                <a:sym typeface="Inter"/>
              </a:endParaRPr>
            </a:p>
            <a:p>
              <a:pPr marL="0" marR="0" lvl="0" indent="0" algn="l" rtl="0">
                <a:lnSpc>
                  <a:spcPct val="100000"/>
                </a:lnSpc>
                <a:spcBef>
                  <a:spcPts val="300"/>
                </a:spcBef>
                <a:spcAft>
                  <a:spcPts val="0"/>
                </a:spcAft>
                <a:buClr>
                  <a:srgbClr val="000000"/>
                </a:buClr>
                <a:buSzPts val="950"/>
                <a:buFont typeface="Arial"/>
                <a:buNone/>
              </a:pPr>
              <a:r>
                <a:rPr lang="en" sz="950" b="0" i="0" u="none" strike="noStrike" cap="none">
                  <a:solidFill>
                    <a:srgbClr val="475569"/>
                  </a:solidFill>
                  <a:latin typeface="Inter"/>
                  <a:ea typeface="Inter"/>
                  <a:cs typeface="Inter"/>
                  <a:sym typeface="Inter"/>
                </a:rPr>
                <a:t>Trình bày phương pháp thu thập dữ liệu dựa trên bằng chứng và bộ câu hỏi phỏng vấn định tính, định lượng.</a:t>
              </a:r>
              <a:endParaRPr sz="950" b="0" i="0" u="none" strike="noStrike" cap="none">
                <a:solidFill>
                  <a:srgbClr val="475569"/>
                </a:solidFill>
                <a:latin typeface="Inter"/>
                <a:ea typeface="Inter"/>
                <a:cs typeface="Inter"/>
                <a:sym typeface="Inter"/>
              </a:endParaRPr>
            </a:p>
          </p:txBody>
        </p:sp>
      </p:grpSp>
      <p:grpSp>
        <p:nvGrpSpPr>
          <p:cNvPr id="119" name="Google Shape;119;p16"/>
          <p:cNvGrpSpPr/>
          <p:nvPr/>
        </p:nvGrpSpPr>
        <p:grpSpPr>
          <a:xfrm>
            <a:off x="4762500" y="2476500"/>
            <a:ext cx="4000500" cy="952500"/>
            <a:chOff x="0" y="0"/>
            <a:chExt cx="4000500" cy="952500"/>
          </a:xfrm>
        </p:grpSpPr>
        <p:sp>
          <p:nvSpPr>
            <p:cNvPr id="120" name="Google Shape;120;p16"/>
            <p:cNvSpPr/>
            <p:nvPr/>
          </p:nvSpPr>
          <p:spPr>
            <a:xfrm>
              <a:off x="0" y="0"/>
              <a:ext cx="4000500" cy="952500"/>
            </a:xfrm>
            <a:prstGeom prst="roundRect">
              <a:avLst>
                <a:gd name="adj" fmla="val 6000"/>
              </a:avLst>
            </a:prstGeom>
            <a:solidFill>
              <a:srgbClr val="F8FAFC"/>
            </a:solidFill>
            <a:ln w="95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1" name="Google Shape;121;p16"/>
            <p:cNvSpPr/>
            <p:nvPr/>
          </p:nvSpPr>
          <p:spPr>
            <a:xfrm>
              <a:off x="0" y="0"/>
              <a:ext cx="57300" cy="952500"/>
            </a:xfrm>
            <a:prstGeom prst="roundRect">
              <a:avLst>
                <a:gd name="adj" fmla="val 500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2" name="Google Shape;122;p16"/>
            <p:cNvSpPr/>
            <p:nvPr/>
          </p:nvSpPr>
          <p:spPr>
            <a:xfrm>
              <a:off x="190500" y="152400"/>
              <a:ext cx="266700" cy="266700"/>
            </a:xfrm>
            <a:prstGeom prst="roundRect">
              <a:avLst>
                <a:gd name="adj" fmla="val 14285"/>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3" name="Google Shape;123;p16"/>
            <p:cNvSpPr txBox="1"/>
            <p:nvPr/>
          </p:nvSpPr>
          <p:spPr>
            <a:xfrm>
              <a:off x="190500" y="152400"/>
              <a:ext cx="266700" cy="2667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1" i="0" u="none" strike="noStrike" cap="none">
                  <a:solidFill>
                    <a:srgbClr val="FFFFFF"/>
                  </a:solidFill>
                  <a:latin typeface="Inter"/>
                  <a:ea typeface="Inter"/>
                  <a:cs typeface="Inter"/>
                  <a:sym typeface="Inter"/>
                </a:rPr>
                <a:t>04</a:t>
              </a:r>
              <a:endParaRPr sz="1000" b="1" i="0" u="none" strike="noStrike" cap="none">
                <a:solidFill>
                  <a:srgbClr val="FFFFFF"/>
                </a:solidFill>
                <a:latin typeface="Inter"/>
                <a:ea typeface="Inter"/>
                <a:cs typeface="Inter"/>
                <a:sym typeface="Inter"/>
              </a:endParaRPr>
            </a:p>
          </p:txBody>
        </p:sp>
        <p:sp>
          <p:nvSpPr>
            <p:cNvPr id="124" name="Google Shape;124;p16"/>
            <p:cNvSpPr txBox="1"/>
            <p:nvPr/>
          </p:nvSpPr>
          <p:spPr>
            <a:xfrm>
              <a:off x="571500" y="133350"/>
              <a:ext cx="3238500" cy="685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1" i="0" u="none" strike="noStrike" cap="none">
                  <a:solidFill>
                    <a:srgbClr val="0F172A"/>
                  </a:solidFill>
                  <a:latin typeface="Inter"/>
                  <a:ea typeface="Inter"/>
                  <a:cs typeface="Inter"/>
                  <a:sym typeface="Inter"/>
                </a:rPr>
                <a:t>Chương 4: Phân tích quy trình</a:t>
              </a:r>
              <a:endParaRPr sz="1100" b="1" i="0" u="none" strike="noStrike" cap="none">
                <a:solidFill>
                  <a:srgbClr val="0F172A"/>
                </a:solidFill>
                <a:latin typeface="Inter"/>
                <a:ea typeface="Inter"/>
                <a:cs typeface="Inter"/>
                <a:sym typeface="Inter"/>
              </a:endParaRPr>
            </a:p>
            <a:p>
              <a:pPr marL="0" marR="0" lvl="0" indent="0" algn="l" rtl="0">
                <a:lnSpc>
                  <a:spcPct val="100000"/>
                </a:lnSpc>
                <a:spcBef>
                  <a:spcPts val="300"/>
                </a:spcBef>
                <a:spcAft>
                  <a:spcPts val="0"/>
                </a:spcAft>
                <a:buClr>
                  <a:srgbClr val="000000"/>
                </a:buClr>
                <a:buSzPts val="950"/>
                <a:buFont typeface="Arial"/>
                <a:buNone/>
              </a:pPr>
              <a:r>
                <a:rPr lang="en" sz="950" b="0" i="0" u="none" strike="noStrike" cap="none">
                  <a:solidFill>
                    <a:srgbClr val="475569"/>
                  </a:solidFill>
                  <a:latin typeface="Inter"/>
                  <a:ea typeface="Inter"/>
                  <a:cs typeface="Inter"/>
                  <a:sym typeface="Inter"/>
                </a:rPr>
                <a:t>Đánh giá giá trị gia tăng (VA/NVA), phân tích lãng phí, sơ đồ xương cá, cùng các chỉ số về thời gian, chất lượng và chi phí.</a:t>
              </a:r>
              <a:endParaRPr sz="950" b="0" i="0" u="none" strike="noStrike" cap="none">
                <a:solidFill>
                  <a:srgbClr val="475569"/>
                </a:solidFill>
                <a:latin typeface="Inter"/>
                <a:ea typeface="Inter"/>
                <a:cs typeface="Inter"/>
                <a:sym typeface="Inter"/>
              </a:endParaRPr>
            </a:p>
          </p:txBody>
        </p:sp>
      </p:grpSp>
      <p:grpSp>
        <p:nvGrpSpPr>
          <p:cNvPr id="125" name="Google Shape;125;p16"/>
          <p:cNvGrpSpPr/>
          <p:nvPr/>
        </p:nvGrpSpPr>
        <p:grpSpPr>
          <a:xfrm>
            <a:off x="381000" y="3571875"/>
            <a:ext cx="8382000" cy="952500"/>
            <a:chOff x="0" y="0"/>
            <a:chExt cx="8382000" cy="952500"/>
          </a:xfrm>
        </p:grpSpPr>
        <p:sp>
          <p:nvSpPr>
            <p:cNvPr id="126" name="Google Shape;126;p16"/>
            <p:cNvSpPr/>
            <p:nvPr/>
          </p:nvSpPr>
          <p:spPr>
            <a:xfrm>
              <a:off x="0" y="0"/>
              <a:ext cx="8382000" cy="952500"/>
            </a:xfrm>
            <a:prstGeom prst="roundRect">
              <a:avLst>
                <a:gd name="adj" fmla="val 6000"/>
              </a:avLst>
            </a:prstGeom>
            <a:solidFill>
              <a:srgbClr val="F8FAFC"/>
            </a:solidFill>
            <a:ln w="95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7" name="Google Shape;127;p16"/>
            <p:cNvSpPr/>
            <p:nvPr/>
          </p:nvSpPr>
          <p:spPr>
            <a:xfrm>
              <a:off x="0" y="0"/>
              <a:ext cx="57300" cy="952500"/>
            </a:xfrm>
            <a:prstGeom prst="roundRect">
              <a:avLst>
                <a:gd name="adj" fmla="val 500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8" name="Google Shape;128;p16"/>
            <p:cNvSpPr/>
            <p:nvPr/>
          </p:nvSpPr>
          <p:spPr>
            <a:xfrm>
              <a:off x="190500" y="152400"/>
              <a:ext cx="266700" cy="266700"/>
            </a:xfrm>
            <a:prstGeom prst="roundRect">
              <a:avLst>
                <a:gd name="adj" fmla="val 14285"/>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9" name="Google Shape;129;p16"/>
            <p:cNvSpPr txBox="1"/>
            <p:nvPr/>
          </p:nvSpPr>
          <p:spPr>
            <a:xfrm>
              <a:off x="190500" y="152400"/>
              <a:ext cx="266700" cy="2667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1" i="0" u="none" strike="noStrike" cap="none">
                  <a:solidFill>
                    <a:srgbClr val="FFFFFF"/>
                  </a:solidFill>
                  <a:latin typeface="Inter"/>
                  <a:ea typeface="Inter"/>
                  <a:cs typeface="Inter"/>
                  <a:sym typeface="Inter"/>
                </a:rPr>
                <a:t>05</a:t>
              </a:r>
              <a:endParaRPr sz="1000" b="1" i="0" u="none" strike="noStrike" cap="none">
                <a:solidFill>
                  <a:srgbClr val="FFFFFF"/>
                </a:solidFill>
                <a:latin typeface="Inter"/>
                <a:ea typeface="Inter"/>
                <a:cs typeface="Inter"/>
                <a:sym typeface="Inter"/>
              </a:endParaRPr>
            </a:p>
          </p:txBody>
        </p:sp>
        <p:sp>
          <p:nvSpPr>
            <p:cNvPr id="130" name="Google Shape;130;p16"/>
            <p:cNvSpPr txBox="1"/>
            <p:nvPr/>
          </p:nvSpPr>
          <p:spPr>
            <a:xfrm>
              <a:off x="571500" y="133350"/>
              <a:ext cx="7620000" cy="685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1" i="0" u="none" strike="noStrike" cap="none">
                  <a:solidFill>
                    <a:srgbClr val="0F172A"/>
                  </a:solidFill>
                  <a:latin typeface="Inter"/>
                  <a:ea typeface="Inter"/>
                  <a:cs typeface="Inter"/>
                  <a:sym typeface="Inter"/>
                </a:rPr>
                <a:t>Chương 5: Kết luận &amp; Đề xuất giải pháp cải tiến</a:t>
              </a:r>
              <a:endParaRPr sz="1100" b="1" i="0" u="none" strike="noStrike" cap="none">
                <a:solidFill>
                  <a:srgbClr val="0F172A"/>
                </a:solidFill>
                <a:latin typeface="Inter"/>
                <a:ea typeface="Inter"/>
                <a:cs typeface="Inter"/>
                <a:sym typeface="Inter"/>
              </a:endParaRPr>
            </a:p>
            <a:p>
              <a:pPr marL="0" marR="0" lvl="0" indent="0" algn="l" rtl="0">
                <a:lnSpc>
                  <a:spcPct val="100000"/>
                </a:lnSpc>
                <a:spcBef>
                  <a:spcPts val="300"/>
                </a:spcBef>
                <a:spcAft>
                  <a:spcPts val="0"/>
                </a:spcAft>
                <a:buClr>
                  <a:srgbClr val="000000"/>
                </a:buClr>
                <a:buSzPts val="950"/>
                <a:buFont typeface="Arial"/>
                <a:buNone/>
              </a:pPr>
              <a:r>
                <a:rPr lang="en" sz="950" b="0" i="0" u="none" strike="noStrike" cap="none">
                  <a:solidFill>
                    <a:srgbClr val="475569"/>
                  </a:solidFill>
                  <a:latin typeface="Inter"/>
                  <a:ea typeface="Inter"/>
                  <a:cs typeface="Inter"/>
                  <a:sym typeface="Inter"/>
                </a:rPr>
                <a:t>Tổng kết kết quả đạt được và đưa ra các định hướng tối ưu hóa hệ thống.</a:t>
              </a:r>
              <a:endParaRPr sz="950" b="0" i="0" u="none" strike="noStrike" cap="none">
                <a:solidFill>
                  <a:srgbClr val="475569"/>
                </a:solidFill>
                <a:latin typeface="Inter"/>
                <a:ea typeface="Inter"/>
                <a:cs typeface="Inter"/>
                <a:sym typeface="Inter"/>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sp>
        <p:nvSpPr>
          <p:cNvPr id="135" name="Google Shape;135;p17"/>
          <p:cNvSpPr/>
          <p:nvPr/>
        </p:nvSpPr>
        <p:spPr>
          <a:xfrm>
            <a:off x="0" y="0"/>
            <a:ext cx="9144000" cy="5143500"/>
          </a:xfrm>
          <a:prstGeom prst="rect">
            <a:avLst/>
          </a:pr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136" name="Google Shape;136;p17"/>
          <p:cNvGrpSpPr/>
          <p:nvPr/>
        </p:nvGrpSpPr>
        <p:grpSpPr>
          <a:xfrm>
            <a:off x="8458200" y="381000"/>
            <a:ext cx="304800" cy="304800"/>
            <a:chOff x="0" y="0"/>
            <a:chExt cx="304800" cy="304800"/>
          </a:xfrm>
        </p:grpSpPr>
        <p:sp>
          <p:nvSpPr>
            <p:cNvPr id="137" name="Google Shape;137;p17"/>
            <p:cNvSpPr/>
            <p:nvPr/>
          </p:nvSpPr>
          <p:spPr>
            <a:xfrm>
              <a:off x="0" y="0"/>
              <a:ext cx="304800" cy="304800"/>
            </a:xfrm>
            <a:prstGeom prst="roundRect">
              <a:avLst>
                <a:gd name="adj" fmla="val 125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8" name="Google Shape;138;p17"/>
            <p:cNvSpPr/>
            <p:nvPr/>
          </p:nvSpPr>
          <p:spPr>
            <a:xfrm>
              <a:off x="95250" y="95250"/>
              <a:ext cx="114300" cy="114300"/>
            </a:xfrm>
            <a:custGeom>
              <a:avLst/>
              <a:gdLst/>
              <a:ahLst/>
              <a:cxnLst/>
              <a:rect l="l" t="t" r="r" b="b"/>
              <a:pathLst>
                <a:path w="120000" h="120000" extrusionOk="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9" name="Google Shape;139;p17"/>
            <p:cNvSpPr/>
            <p:nvPr/>
          </p:nvSpPr>
          <p:spPr>
            <a:xfrm>
              <a:off x="123825" y="123825"/>
              <a:ext cx="57300" cy="57300"/>
            </a:xfrm>
            <a:prstGeom prst="ellipse">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cxnSp>
        <p:nvCxnSpPr>
          <p:cNvPr id="140" name="Google Shape;140;p17"/>
          <p:cNvCxnSpPr/>
          <p:nvPr/>
        </p:nvCxnSpPr>
        <p:spPr>
          <a:xfrm>
            <a:off x="381000" y="1143000"/>
            <a:ext cx="8382000" cy="0"/>
          </a:xfrm>
          <a:prstGeom prst="straightConnector1">
            <a:avLst/>
          </a:prstGeom>
          <a:solidFill>
            <a:srgbClr val="FFFFFF"/>
          </a:solidFill>
          <a:ln w="14300" cap="flat" cmpd="sng">
            <a:solidFill>
              <a:srgbClr val="E2E8F0"/>
            </a:solidFill>
            <a:prstDash val="solid"/>
            <a:round/>
            <a:headEnd type="none" w="sm" len="sm"/>
            <a:tailEnd type="none" w="sm" len="sm"/>
          </a:ln>
        </p:spPr>
      </p:cxnSp>
      <p:sp>
        <p:nvSpPr>
          <p:cNvPr id="141" name="Google Shape;141;p17"/>
          <p:cNvSpPr txBox="1"/>
          <p:nvPr/>
        </p:nvSpPr>
        <p:spPr>
          <a:xfrm>
            <a:off x="381000" y="333375"/>
            <a:ext cx="7810500" cy="7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 sz="2200" b="0" i="0" u="none" strike="noStrike" cap="none">
                <a:solidFill>
                  <a:srgbClr val="0F172A"/>
                </a:solidFill>
                <a:latin typeface="Inter ExtraBold"/>
                <a:ea typeface="Inter ExtraBold"/>
                <a:cs typeface="Inter ExtraBold"/>
                <a:sym typeface="Inter ExtraBold"/>
              </a:rPr>
              <a:t>Phần mở đầu và mục tiêu nghiên cứu</a:t>
            </a:r>
            <a:endParaRPr sz="2200" b="0" i="0" u="none" strike="noStrike" cap="none">
              <a:solidFill>
                <a:srgbClr val="0F172A"/>
              </a:solidFill>
              <a:latin typeface="Inter ExtraBold"/>
              <a:ea typeface="Inter ExtraBold"/>
              <a:cs typeface="Inter ExtraBold"/>
              <a:sym typeface="Inter ExtraBold"/>
            </a:endParaRPr>
          </a:p>
          <a:p>
            <a:pPr marL="0" marR="0" lvl="0" indent="0" algn="l" rtl="0">
              <a:lnSpc>
                <a:spcPct val="100000"/>
              </a:lnSpc>
              <a:spcBef>
                <a:spcPts val="225"/>
              </a:spcBef>
              <a:spcAft>
                <a:spcPts val="0"/>
              </a:spcAft>
              <a:buClr>
                <a:srgbClr val="000000"/>
              </a:buClr>
              <a:buSzPts val="1300"/>
              <a:buFont typeface="Arial"/>
              <a:buNone/>
            </a:pPr>
            <a:r>
              <a:rPr lang="en" sz="1300" b="0" i="0" u="none" strike="noStrike" cap="none">
                <a:solidFill>
                  <a:srgbClr val="007B7C"/>
                </a:solidFill>
                <a:latin typeface="Inter SemiBold"/>
                <a:ea typeface="Inter SemiBold"/>
                <a:cs typeface="Inter SemiBold"/>
                <a:sym typeface="Inter SemiBold"/>
              </a:rPr>
              <a:t>Daikin Việt Nam • Báo cáo phân tích BPM</a:t>
            </a:r>
            <a:endParaRPr sz="1300" b="0" i="0" u="none" strike="noStrike" cap="none">
              <a:solidFill>
                <a:srgbClr val="007B7C"/>
              </a:solidFill>
              <a:latin typeface="Inter SemiBold"/>
              <a:ea typeface="Inter SemiBold"/>
              <a:cs typeface="Inter SemiBold"/>
              <a:sym typeface="Inter SemiBold"/>
            </a:endParaRPr>
          </a:p>
        </p:txBody>
      </p:sp>
      <p:grpSp>
        <p:nvGrpSpPr>
          <p:cNvPr id="142" name="Google Shape;142;p17"/>
          <p:cNvGrpSpPr/>
          <p:nvPr/>
        </p:nvGrpSpPr>
        <p:grpSpPr>
          <a:xfrm>
            <a:off x="381000" y="1333500"/>
            <a:ext cx="4095900" cy="2619300"/>
            <a:chOff x="381000" y="1333500"/>
            <a:chExt cx="4095900" cy="2619300"/>
          </a:xfrm>
        </p:grpSpPr>
        <p:sp>
          <p:nvSpPr>
            <p:cNvPr id="143" name="Google Shape;143;p17"/>
            <p:cNvSpPr txBox="1"/>
            <p:nvPr/>
          </p:nvSpPr>
          <p:spPr>
            <a:xfrm>
              <a:off x="381000" y="1333500"/>
              <a:ext cx="4095900" cy="809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475569"/>
                  </a:solidFill>
                  <a:latin typeface="Inter"/>
                  <a:ea typeface="Inter"/>
                  <a:cs typeface="Inter"/>
                  <a:sym typeface="Inter"/>
                </a:rPr>
                <a:t>Việc áp dụng Quản lý quy trình nghiệp vụ (BPM) vào hệ thống đặt lịch sửa chữa thiết bị nhằm mục đích tối ưu hóa vận hành và nâng cao trải nghiệm khách hàng.</a:t>
              </a:r>
              <a:endParaRPr sz="1000" b="0" i="0" u="none" strike="noStrike" cap="none">
                <a:solidFill>
                  <a:srgbClr val="475569"/>
                </a:solidFill>
                <a:latin typeface="Inter"/>
                <a:ea typeface="Inter"/>
                <a:cs typeface="Inter"/>
                <a:sym typeface="Inter"/>
              </a:endParaRPr>
            </a:p>
            <a:p>
              <a:pPr marL="0" marR="0" lvl="0" indent="0" algn="l" rtl="0">
                <a:lnSpc>
                  <a:spcPct val="100000"/>
                </a:lnSpc>
                <a:spcBef>
                  <a:spcPts val="600"/>
                </a:spcBef>
                <a:spcAft>
                  <a:spcPts val="0"/>
                </a:spcAft>
                <a:buClr>
                  <a:srgbClr val="000000"/>
                </a:buClr>
                <a:buSzPts val="1000"/>
                <a:buFont typeface="Arial"/>
                <a:buNone/>
              </a:pPr>
              <a:r>
                <a:rPr lang="en" sz="1000" b="1" i="0" u="none" strike="noStrike" cap="none">
                  <a:solidFill>
                    <a:srgbClr val="0F172A"/>
                  </a:solidFill>
                  <a:latin typeface="Inter"/>
                  <a:ea typeface="Inter"/>
                  <a:cs typeface="Inter"/>
                  <a:sym typeface="Inter"/>
                </a:rPr>
                <a:t>Mục tiêu cốt lõi của nghiên cứu bao gồm:</a:t>
              </a:r>
              <a:endParaRPr sz="1000" b="1" i="0" u="none" strike="noStrike" cap="none">
                <a:solidFill>
                  <a:srgbClr val="0F172A"/>
                </a:solidFill>
                <a:latin typeface="Inter"/>
                <a:ea typeface="Inter"/>
                <a:cs typeface="Inter"/>
                <a:sym typeface="Inter"/>
              </a:endParaRPr>
            </a:p>
          </p:txBody>
        </p:sp>
        <p:grpSp>
          <p:nvGrpSpPr>
            <p:cNvPr id="144" name="Google Shape;144;p17"/>
            <p:cNvGrpSpPr/>
            <p:nvPr/>
          </p:nvGrpSpPr>
          <p:grpSpPr>
            <a:xfrm>
              <a:off x="381000" y="2333625"/>
              <a:ext cx="4095900" cy="714300"/>
              <a:chOff x="0" y="0"/>
              <a:chExt cx="4095900" cy="714300"/>
            </a:xfrm>
          </p:grpSpPr>
          <p:sp>
            <p:nvSpPr>
              <p:cNvPr id="145" name="Google Shape;145;p17"/>
              <p:cNvSpPr/>
              <p:nvPr/>
            </p:nvSpPr>
            <p:spPr>
              <a:xfrm>
                <a:off x="0" y="0"/>
                <a:ext cx="4095900" cy="714300"/>
              </a:xfrm>
              <a:prstGeom prst="roundRect">
                <a:avLst>
                  <a:gd name="adj" fmla="val 5333"/>
                </a:avLst>
              </a:prstGeom>
              <a:solidFill>
                <a:srgbClr val="F8FAF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6" name="Google Shape;146;p17"/>
              <p:cNvSpPr/>
              <p:nvPr/>
            </p:nvSpPr>
            <p:spPr>
              <a:xfrm>
                <a:off x="0" y="0"/>
                <a:ext cx="38100" cy="714300"/>
              </a:xfrm>
              <a:prstGeom prst="roundRect">
                <a:avLst>
                  <a:gd name="adj" fmla="val 500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7" name="Google Shape;147;p17"/>
              <p:cNvSpPr txBox="1"/>
              <p:nvPr/>
            </p:nvSpPr>
            <p:spPr>
              <a:xfrm>
                <a:off x="152400" y="114300"/>
                <a:ext cx="3810000" cy="523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1" i="0" u="none" strike="noStrike" cap="none">
                    <a:solidFill>
                      <a:srgbClr val="007B7C"/>
                    </a:solidFill>
                    <a:latin typeface="Inter"/>
                    <a:ea typeface="Inter"/>
                    <a:cs typeface="Inter"/>
                    <a:sym typeface="Inter"/>
                  </a:rPr>
                  <a:t>Ghi nhận &amp; Tài liệu hóa</a:t>
                </a:r>
                <a:endParaRPr sz="1000" b="1" i="0" u="none" strike="noStrike" cap="none">
                  <a:solidFill>
                    <a:srgbClr val="007B7C"/>
                  </a:solidFill>
                  <a:latin typeface="Inter"/>
                  <a:ea typeface="Inter"/>
                  <a:cs typeface="Inter"/>
                  <a:sym typeface="Inter"/>
                </a:endParaRPr>
              </a:p>
              <a:p>
                <a:pPr marL="0" marR="0" lvl="0" indent="0" algn="l" rtl="0">
                  <a:lnSpc>
                    <a:spcPct val="100000"/>
                  </a:lnSpc>
                  <a:spcBef>
                    <a:spcPts val="300"/>
                  </a:spcBef>
                  <a:spcAft>
                    <a:spcPts val="0"/>
                  </a:spcAft>
                  <a:buClr>
                    <a:srgbClr val="000000"/>
                  </a:buClr>
                  <a:buSzPts val="900"/>
                  <a:buFont typeface="Arial"/>
                  <a:buNone/>
                </a:pPr>
                <a:r>
                  <a:rPr lang="en" sz="900" b="0" i="0" u="none" strike="noStrike" cap="none">
                    <a:solidFill>
                      <a:srgbClr val="475569"/>
                    </a:solidFill>
                    <a:latin typeface="Inter"/>
                    <a:ea typeface="Inter"/>
                    <a:cs typeface="Inter"/>
                    <a:sym typeface="Inter"/>
                  </a:rPr>
                  <a:t>Ghi nhận và tài liệu hóa hiện trạng (As-Is) của toàn bộ hệ thống vận hành.</a:t>
                </a:r>
                <a:endParaRPr sz="900" b="0" i="0" u="none" strike="noStrike" cap="none">
                  <a:solidFill>
                    <a:srgbClr val="475569"/>
                  </a:solidFill>
                  <a:latin typeface="Inter"/>
                  <a:ea typeface="Inter"/>
                  <a:cs typeface="Inter"/>
                  <a:sym typeface="Inter"/>
                </a:endParaRPr>
              </a:p>
            </p:txBody>
          </p:sp>
        </p:grpSp>
        <p:grpSp>
          <p:nvGrpSpPr>
            <p:cNvPr id="148" name="Google Shape;148;p17"/>
            <p:cNvGrpSpPr/>
            <p:nvPr/>
          </p:nvGrpSpPr>
          <p:grpSpPr>
            <a:xfrm>
              <a:off x="381000" y="3238500"/>
              <a:ext cx="4095900" cy="714300"/>
              <a:chOff x="0" y="0"/>
              <a:chExt cx="4095900" cy="714300"/>
            </a:xfrm>
          </p:grpSpPr>
          <p:sp>
            <p:nvSpPr>
              <p:cNvPr id="149" name="Google Shape;149;p17"/>
              <p:cNvSpPr/>
              <p:nvPr/>
            </p:nvSpPr>
            <p:spPr>
              <a:xfrm>
                <a:off x="0" y="0"/>
                <a:ext cx="4095900" cy="714300"/>
              </a:xfrm>
              <a:prstGeom prst="roundRect">
                <a:avLst>
                  <a:gd name="adj" fmla="val 5333"/>
                </a:avLst>
              </a:prstGeom>
              <a:solidFill>
                <a:srgbClr val="F8FAF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50" name="Google Shape;150;p17"/>
              <p:cNvSpPr/>
              <p:nvPr/>
            </p:nvSpPr>
            <p:spPr>
              <a:xfrm>
                <a:off x="0" y="0"/>
                <a:ext cx="38100" cy="714300"/>
              </a:xfrm>
              <a:prstGeom prst="roundRect">
                <a:avLst>
                  <a:gd name="adj" fmla="val 500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51" name="Google Shape;151;p17"/>
              <p:cNvSpPr txBox="1"/>
              <p:nvPr/>
            </p:nvSpPr>
            <p:spPr>
              <a:xfrm>
                <a:off x="152400" y="114300"/>
                <a:ext cx="3810000" cy="523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1" i="0" u="none" strike="noStrike" cap="none">
                    <a:solidFill>
                      <a:srgbClr val="007B7C"/>
                    </a:solidFill>
                    <a:latin typeface="Inter"/>
                    <a:ea typeface="Inter"/>
                    <a:cs typeface="Inter"/>
                    <a:sym typeface="Inter"/>
                  </a:rPr>
                  <a:t>Nhận diện Điểm nghẽn</a:t>
                </a:r>
                <a:endParaRPr sz="1000" b="1" i="0" u="none" strike="noStrike" cap="none">
                  <a:solidFill>
                    <a:srgbClr val="007B7C"/>
                  </a:solidFill>
                  <a:latin typeface="Inter"/>
                  <a:ea typeface="Inter"/>
                  <a:cs typeface="Inter"/>
                  <a:sym typeface="Inter"/>
                </a:endParaRPr>
              </a:p>
              <a:p>
                <a:pPr marL="0" marR="0" lvl="0" indent="0" algn="l" rtl="0">
                  <a:lnSpc>
                    <a:spcPct val="100000"/>
                  </a:lnSpc>
                  <a:spcBef>
                    <a:spcPts val="300"/>
                  </a:spcBef>
                  <a:spcAft>
                    <a:spcPts val="0"/>
                  </a:spcAft>
                  <a:buClr>
                    <a:srgbClr val="000000"/>
                  </a:buClr>
                  <a:buSzPts val="900"/>
                  <a:buFont typeface="Arial"/>
                  <a:buNone/>
                </a:pPr>
                <a:r>
                  <a:rPr lang="en" sz="900" b="0" i="0" u="none" strike="noStrike" cap="none">
                    <a:solidFill>
                      <a:srgbClr val="475569"/>
                    </a:solidFill>
                    <a:latin typeface="Inter"/>
                    <a:ea typeface="Inter"/>
                    <a:cs typeface="Inter"/>
                    <a:sym typeface="Inter"/>
                  </a:rPr>
                  <a:t>Nhận diện các điểm nghẽn (bottleneck) gây chậm trễ trong việc điều phối kỹ thuật viên và xử lý yêu cầu.</a:t>
                </a:r>
                <a:endParaRPr sz="900" b="0" i="0" u="none" strike="noStrike" cap="none">
                  <a:solidFill>
                    <a:srgbClr val="475569"/>
                  </a:solidFill>
                  <a:latin typeface="Inter"/>
                  <a:ea typeface="Inter"/>
                  <a:cs typeface="Inter"/>
                  <a:sym typeface="Inter"/>
                </a:endParaRPr>
              </a:p>
            </p:txBody>
          </p:sp>
        </p:grpSp>
      </p:grpSp>
      <p:grpSp>
        <p:nvGrpSpPr>
          <p:cNvPr id="152" name="Google Shape;152;p17"/>
          <p:cNvGrpSpPr/>
          <p:nvPr/>
        </p:nvGrpSpPr>
        <p:grpSpPr>
          <a:xfrm>
            <a:off x="4762500" y="1333500"/>
            <a:ext cx="4000500" cy="2619450"/>
            <a:chOff x="4762500" y="1333500"/>
            <a:chExt cx="4000500" cy="2619450"/>
          </a:xfrm>
        </p:grpSpPr>
        <p:sp>
          <p:nvSpPr>
            <p:cNvPr id="153" name="Google Shape;153;p17"/>
            <p:cNvSpPr txBox="1"/>
            <p:nvPr/>
          </p:nvSpPr>
          <p:spPr>
            <a:xfrm>
              <a:off x="4762500" y="1333500"/>
              <a:ext cx="4000500" cy="333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1" i="0" u="none" strike="noStrike" cap="none">
                  <a:solidFill>
                    <a:srgbClr val="0F172A"/>
                  </a:solidFill>
                  <a:latin typeface="Inter"/>
                  <a:ea typeface="Inter"/>
                  <a:cs typeface="Inter"/>
                  <a:sym typeface="Inter"/>
                </a:rPr>
                <a:t>Trọng tâm tối ưu hóa</a:t>
              </a:r>
              <a:endParaRPr sz="1200" b="1" i="0" u="none" strike="noStrike" cap="none">
                <a:solidFill>
                  <a:srgbClr val="0F172A"/>
                </a:solidFill>
                <a:latin typeface="Inter"/>
                <a:ea typeface="Inter"/>
                <a:cs typeface="Inter"/>
                <a:sym typeface="Inter"/>
              </a:endParaRPr>
            </a:p>
          </p:txBody>
        </p:sp>
        <p:grpSp>
          <p:nvGrpSpPr>
            <p:cNvPr id="154" name="Google Shape;154;p17"/>
            <p:cNvGrpSpPr/>
            <p:nvPr/>
          </p:nvGrpSpPr>
          <p:grpSpPr>
            <a:xfrm>
              <a:off x="4762500" y="1809750"/>
              <a:ext cx="4000500" cy="2143200"/>
              <a:chOff x="0" y="0"/>
              <a:chExt cx="4000500" cy="2143200"/>
            </a:xfrm>
          </p:grpSpPr>
          <p:sp>
            <p:nvSpPr>
              <p:cNvPr id="155" name="Google Shape;155;p17"/>
              <p:cNvSpPr/>
              <p:nvPr/>
            </p:nvSpPr>
            <p:spPr>
              <a:xfrm>
                <a:off x="0" y="0"/>
                <a:ext cx="4000500" cy="2143200"/>
              </a:xfrm>
              <a:prstGeom prst="roundRect">
                <a:avLst>
                  <a:gd name="adj" fmla="val 1777"/>
                </a:avLst>
              </a:prstGeom>
              <a:solidFill>
                <a:srgbClr val="ECFDF5"/>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56" name="Google Shape;156;p17"/>
              <p:cNvSpPr/>
              <p:nvPr/>
            </p:nvSpPr>
            <p:spPr>
              <a:xfrm>
                <a:off x="0" y="0"/>
                <a:ext cx="38100" cy="2143200"/>
              </a:xfrm>
              <a:prstGeom prst="roundRect">
                <a:avLst>
                  <a:gd name="adj" fmla="val 50000"/>
                </a:avLst>
              </a:prstGeom>
              <a:solidFill>
                <a:srgbClr val="10B981"/>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57" name="Google Shape;157;p17"/>
              <p:cNvSpPr txBox="1"/>
              <p:nvPr/>
            </p:nvSpPr>
            <p:spPr>
              <a:xfrm>
                <a:off x="152400" y="152400"/>
                <a:ext cx="3695700" cy="18384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50"/>
                  <a:buFont typeface="Arial"/>
                  <a:buNone/>
                </a:pPr>
                <a:r>
                  <a:rPr lang="en" sz="1050" b="1" i="0" u="none" strike="noStrike" cap="none">
                    <a:solidFill>
                      <a:srgbClr val="10B981"/>
                    </a:solidFill>
                    <a:latin typeface="Inter"/>
                    <a:ea typeface="Inter"/>
                    <a:cs typeface="Inter"/>
                    <a:sym typeface="Inter"/>
                  </a:rPr>
                  <a:t>Cải thiện SLA &amp; Giảm chi phí</a:t>
                </a:r>
                <a:endParaRPr sz="1050" b="1" i="0" u="none" strike="noStrike" cap="none">
                  <a:solidFill>
                    <a:srgbClr val="10B981"/>
                  </a:solidFill>
                  <a:latin typeface="Inter"/>
                  <a:ea typeface="Inter"/>
                  <a:cs typeface="Inter"/>
                  <a:sym typeface="Inter"/>
                </a:endParaRPr>
              </a:p>
              <a:p>
                <a:pPr marL="0" marR="0" lvl="0" indent="0" algn="l" rtl="0">
                  <a:lnSpc>
                    <a:spcPct val="100000"/>
                  </a:lnSpc>
                  <a:spcBef>
                    <a:spcPts val="900"/>
                  </a:spcBef>
                  <a:spcAft>
                    <a:spcPts val="0"/>
                  </a:spcAft>
                  <a:buClr>
                    <a:srgbClr val="000000"/>
                  </a:buClr>
                  <a:buSzPts val="950"/>
                  <a:buFont typeface="Arial"/>
                  <a:buNone/>
                </a:pPr>
                <a:r>
                  <a:rPr lang="en" sz="950" b="0" i="0" u="none" strike="noStrike" cap="none">
                    <a:solidFill>
                      <a:srgbClr val="065F46"/>
                    </a:solidFill>
                    <a:latin typeface="Inter"/>
                    <a:ea typeface="Inter"/>
                    <a:cs typeface="Inter"/>
                    <a:sym typeface="Inter"/>
                  </a:rPr>
                  <a:t>Đề xuất các chiến lược tối ưu hóa nhằm cải thiện các cam kết mức độ dịch vụ (</a:t>
                </a:r>
                <a:r>
                  <a:rPr lang="en" sz="950" b="1" i="0" u="none" strike="noStrike" cap="none">
                    <a:solidFill>
                      <a:srgbClr val="065F46"/>
                    </a:solidFill>
                    <a:latin typeface="Inter"/>
                    <a:ea typeface="Inter"/>
                    <a:cs typeface="Inter"/>
                    <a:sym typeface="Inter"/>
                  </a:rPr>
                  <a:t>SLA</a:t>
                </a:r>
                <a:r>
                  <a:rPr lang="en" sz="950" b="0" i="0" u="none" strike="noStrike" cap="none">
                    <a:solidFill>
                      <a:srgbClr val="065F46"/>
                    </a:solidFill>
                    <a:latin typeface="Inter"/>
                    <a:ea typeface="Inter"/>
                    <a:cs typeface="Inter"/>
                    <a:sym typeface="Inter"/>
                  </a:rPr>
                  <a:t>) và giảm thiểu chi phí vận hành.</a:t>
                </a:r>
                <a:endParaRPr sz="950" b="0" i="0" u="none" strike="noStrike" cap="none">
                  <a:solidFill>
                    <a:srgbClr val="065F46"/>
                  </a:solidFill>
                  <a:latin typeface="Inter"/>
                  <a:ea typeface="Inter"/>
                  <a:cs typeface="Inter"/>
                  <a:sym typeface="Inter"/>
                </a:endParaRPr>
              </a:p>
              <a:p>
                <a:pPr marL="0" marR="0" lvl="0" indent="0" algn="l" rtl="0">
                  <a:lnSpc>
                    <a:spcPct val="100000"/>
                  </a:lnSpc>
                  <a:spcBef>
                    <a:spcPts val="750"/>
                  </a:spcBef>
                  <a:spcAft>
                    <a:spcPts val="0"/>
                  </a:spcAft>
                  <a:buClr>
                    <a:srgbClr val="000000"/>
                  </a:buClr>
                  <a:buSzPts val="950"/>
                  <a:buFont typeface="Arial"/>
                  <a:buNone/>
                </a:pPr>
                <a:r>
                  <a:rPr lang="en" sz="950" b="0" i="0" u="none" strike="noStrike" cap="none">
                    <a:solidFill>
                      <a:srgbClr val="065F46"/>
                    </a:solidFill>
                    <a:latin typeface="Inter"/>
                    <a:ea typeface="Inter"/>
                    <a:cs typeface="Inter"/>
                    <a:sym typeface="Inter"/>
                  </a:rPr>
                  <a:t>Đặc biệt chú trọng khắc phục triệt để chi phí phát sinh do các hoạt động lãng phí trong quy trình.</a:t>
                </a:r>
                <a:endParaRPr sz="950" b="0" i="0" u="none" strike="noStrike" cap="none">
                  <a:solidFill>
                    <a:srgbClr val="065F46"/>
                  </a:solidFill>
                  <a:latin typeface="Inter"/>
                  <a:ea typeface="Inter"/>
                  <a:cs typeface="Inter"/>
                  <a:sym typeface="Inter"/>
                </a:endParaRPr>
              </a:p>
            </p:txBody>
          </p:sp>
        </p:gr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grpSp>
        <p:nvGrpSpPr>
          <p:cNvPr id="162" name="Google Shape;162;p18"/>
          <p:cNvGrpSpPr/>
          <p:nvPr/>
        </p:nvGrpSpPr>
        <p:grpSpPr>
          <a:xfrm>
            <a:off x="0" y="0"/>
            <a:ext cx="9144000" cy="5143500"/>
            <a:chOff x="0" y="0"/>
            <a:chExt cx="9144000" cy="5143500"/>
          </a:xfrm>
        </p:grpSpPr>
        <p:sp>
          <p:nvSpPr>
            <p:cNvPr id="163" name="Google Shape;163;p18"/>
            <p:cNvSpPr/>
            <p:nvPr/>
          </p:nvSpPr>
          <p:spPr>
            <a:xfrm>
              <a:off x="0" y="0"/>
              <a:ext cx="9144000" cy="5143500"/>
            </a:xfrm>
            <a:prstGeom prst="rect">
              <a:avLst/>
            </a:pr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164" name="Google Shape;164;p18"/>
            <p:cNvGrpSpPr/>
            <p:nvPr/>
          </p:nvGrpSpPr>
          <p:grpSpPr>
            <a:xfrm>
              <a:off x="8458200" y="381000"/>
              <a:ext cx="304800" cy="304800"/>
              <a:chOff x="0" y="0"/>
              <a:chExt cx="304800" cy="304800"/>
            </a:xfrm>
          </p:grpSpPr>
          <p:sp>
            <p:nvSpPr>
              <p:cNvPr id="165" name="Google Shape;165;p18"/>
              <p:cNvSpPr/>
              <p:nvPr/>
            </p:nvSpPr>
            <p:spPr>
              <a:xfrm>
                <a:off x="0" y="0"/>
                <a:ext cx="304800" cy="304800"/>
              </a:xfrm>
              <a:prstGeom prst="roundRect">
                <a:avLst>
                  <a:gd name="adj" fmla="val 125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6" name="Google Shape;166;p18"/>
              <p:cNvSpPr/>
              <p:nvPr/>
            </p:nvSpPr>
            <p:spPr>
              <a:xfrm>
                <a:off x="95250" y="95250"/>
                <a:ext cx="114300" cy="114300"/>
              </a:xfrm>
              <a:custGeom>
                <a:avLst/>
                <a:gdLst/>
                <a:ahLst/>
                <a:cxnLst/>
                <a:rect l="l" t="t" r="r" b="b"/>
                <a:pathLst>
                  <a:path w="120000" h="120000" extrusionOk="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67" name="Google Shape;167;p18"/>
              <p:cNvSpPr/>
              <p:nvPr/>
            </p:nvSpPr>
            <p:spPr>
              <a:xfrm>
                <a:off x="123825" y="123825"/>
                <a:ext cx="57300" cy="57300"/>
              </a:xfrm>
              <a:prstGeom prst="ellipse">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cxnSp>
          <p:nvCxnSpPr>
            <p:cNvPr id="168" name="Google Shape;168;p18"/>
            <p:cNvCxnSpPr/>
            <p:nvPr/>
          </p:nvCxnSpPr>
          <p:spPr>
            <a:xfrm>
              <a:off x="381000" y="1047750"/>
              <a:ext cx="8382000" cy="0"/>
            </a:xfrm>
            <a:prstGeom prst="straightConnector1">
              <a:avLst/>
            </a:prstGeom>
            <a:solidFill>
              <a:srgbClr val="FFFFFF"/>
            </a:solidFill>
            <a:ln w="14300" cap="flat" cmpd="sng">
              <a:solidFill>
                <a:srgbClr val="E2E8F0"/>
              </a:solidFill>
              <a:prstDash val="solid"/>
              <a:round/>
              <a:headEnd type="none" w="sm" len="sm"/>
              <a:tailEnd type="none" w="sm" len="sm"/>
            </a:ln>
          </p:spPr>
        </p:cxnSp>
      </p:grpSp>
      <p:grpSp>
        <p:nvGrpSpPr>
          <p:cNvPr id="169" name="Google Shape;169;p18"/>
          <p:cNvGrpSpPr/>
          <p:nvPr/>
        </p:nvGrpSpPr>
        <p:grpSpPr>
          <a:xfrm>
            <a:off x="381000" y="381000"/>
            <a:ext cx="7620000" cy="571500"/>
            <a:chOff x="0" y="0"/>
            <a:chExt cx="7620000" cy="571500"/>
          </a:xfrm>
        </p:grpSpPr>
        <p:sp>
          <p:nvSpPr>
            <p:cNvPr id="170" name="Google Shape;170;p18"/>
            <p:cNvSpPr/>
            <p:nvPr/>
          </p:nvSpPr>
          <p:spPr>
            <a:xfrm>
              <a:off x="0" y="0"/>
              <a:ext cx="7620000" cy="571500"/>
            </a:xfrm>
            <a:prstGeom prst="rect">
              <a:avLst/>
            </a:prstGeom>
            <a:solidFill>
              <a:srgbClr val="000000">
                <a:alpha val="0"/>
              </a:srgbClr>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1" name="Google Shape;171;p18"/>
            <p:cNvSpPr txBox="1"/>
            <p:nvPr/>
          </p:nvSpPr>
          <p:spPr>
            <a:xfrm>
              <a:off x="0" y="0"/>
              <a:ext cx="7620000" cy="5715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50"/>
                <a:buFont typeface="Arial"/>
                <a:buNone/>
              </a:pPr>
              <a:r>
                <a:rPr lang="en" sz="1850" b="0" i="0" u="none" strike="noStrike" cap="none">
                  <a:solidFill>
                    <a:srgbClr val="0F172A"/>
                  </a:solidFill>
                  <a:latin typeface="Inter ExtraBold"/>
                  <a:ea typeface="Inter ExtraBold"/>
                  <a:cs typeface="Inter ExtraBold"/>
                  <a:sym typeface="Inter ExtraBold"/>
                </a:rPr>
                <a:t>BỐI CẢNH DOANH NGHIỆP &amp; LUỒNG QUY TRÌNH</a:t>
              </a:r>
              <a:endParaRPr sz="1850" b="0" i="0" u="none" strike="noStrike" cap="none">
                <a:solidFill>
                  <a:srgbClr val="0F172A"/>
                </a:solidFill>
                <a:latin typeface="Inter ExtraBold"/>
                <a:ea typeface="Inter ExtraBold"/>
                <a:cs typeface="Inter ExtraBold"/>
                <a:sym typeface="Inter ExtraBold"/>
              </a:endParaRPr>
            </a:p>
            <a:p>
              <a:pPr marL="0" marR="0" lvl="0" indent="0" algn="l" rtl="0">
                <a:lnSpc>
                  <a:spcPct val="100000"/>
                </a:lnSpc>
                <a:spcBef>
                  <a:spcPts val="300"/>
                </a:spcBef>
                <a:spcAft>
                  <a:spcPts val="300"/>
                </a:spcAft>
                <a:buClr>
                  <a:srgbClr val="000000"/>
                </a:buClr>
                <a:buSzPts val="1018"/>
                <a:buFont typeface="Arial"/>
                <a:buNone/>
              </a:pPr>
              <a:r>
                <a:rPr lang="en" sz="1018" b="0" i="0" u="none" strike="noStrike" cap="none">
                  <a:solidFill>
                    <a:srgbClr val="007B7C"/>
                  </a:solidFill>
                  <a:latin typeface="Inter SemiBold"/>
                  <a:ea typeface="Inter SemiBold"/>
                  <a:cs typeface="Inter SemiBold"/>
                  <a:sym typeface="Inter SemiBold"/>
                </a:rPr>
                <a:t>Mô hình sửa chữa thiết bị điện tử trực tuyến kết hợp điều phối logistics kỹ thuật viên tối ưu</a:t>
              </a:r>
              <a:endParaRPr sz="1018" b="0" i="0" u="none" strike="noStrike" cap="none">
                <a:solidFill>
                  <a:srgbClr val="0F172A"/>
                </a:solidFill>
                <a:latin typeface="Inter ExtraBold"/>
                <a:ea typeface="Inter ExtraBold"/>
                <a:cs typeface="Inter ExtraBold"/>
                <a:sym typeface="Inter ExtraBold"/>
              </a:endParaRPr>
            </a:p>
          </p:txBody>
        </p:sp>
      </p:grpSp>
      <p:grpSp>
        <p:nvGrpSpPr>
          <p:cNvPr id="172" name="Google Shape;172;p18"/>
          <p:cNvGrpSpPr/>
          <p:nvPr/>
        </p:nvGrpSpPr>
        <p:grpSpPr>
          <a:xfrm>
            <a:off x="381000" y="1285875"/>
            <a:ext cx="4095900" cy="3476700"/>
            <a:chOff x="0" y="0"/>
            <a:chExt cx="4095900" cy="3476700"/>
          </a:xfrm>
        </p:grpSpPr>
        <p:sp>
          <p:nvSpPr>
            <p:cNvPr id="173" name="Google Shape;173;p18"/>
            <p:cNvSpPr/>
            <p:nvPr/>
          </p:nvSpPr>
          <p:spPr>
            <a:xfrm>
              <a:off x="0" y="0"/>
              <a:ext cx="4095900" cy="3476700"/>
            </a:xfrm>
            <a:prstGeom prst="roundRect">
              <a:avLst>
                <a:gd name="adj" fmla="val 2190"/>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4" name="Google Shape;174;p18"/>
            <p:cNvSpPr/>
            <p:nvPr/>
          </p:nvSpPr>
          <p:spPr>
            <a:xfrm>
              <a:off x="0" y="0"/>
              <a:ext cx="4095900" cy="57300"/>
            </a:xfrm>
            <a:prstGeom prst="roundRect">
              <a:avLst>
                <a:gd name="adj" fmla="val 49999"/>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175" name="Google Shape;175;p18"/>
            <p:cNvGrpSpPr/>
            <p:nvPr/>
          </p:nvGrpSpPr>
          <p:grpSpPr>
            <a:xfrm>
              <a:off x="228600" y="228600"/>
              <a:ext cx="3638700" cy="3019500"/>
              <a:chOff x="0" y="0"/>
              <a:chExt cx="3638700" cy="3019500"/>
            </a:xfrm>
          </p:grpSpPr>
          <p:sp>
            <p:nvSpPr>
              <p:cNvPr id="176" name="Google Shape;176;p18"/>
              <p:cNvSpPr/>
              <p:nvPr/>
            </p:nvSpPr>
            <p:spPr>
              <a:xfrm>
                <a:off x="0" y="0"/>
                <a:ext cx="3638700" cy="3019500"/>
              </a:xfrm>
              <a:prstGeom prst="rect">
                <a:avLst/>
              </a:prstGeom>
              <a:solidFill>
                <a:srgbClr val="000000">
                  <a:alpha val="0"/>
                </a:srgbClr>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77" name="Google Shape;177;p18"/>
              <p:cNvSpPr txBox="1"/>
              <p:nvPr/>
            </p:nvSpPr>
            <p:spPr>
              <a:xfrm>
                <a:off x="0" y="0"/>
                <a:ext cx="3638700" cy="30195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1" i="0" u="none" strike="noStrike" cap="none">
                    <a:solidFill>
                      <a:srgbClr val="0F172A"/>
                    </a:solidFill>
                    <a:latin typeface="Inter"/>
                    <a:ea typeface="Inter"/>
                    <a:cs typeface="Inter"/>
                    <a:sym typeface="Inter"/>
                  </a:rPr>
                  <a:t>Bối cảnh &amp; Mô hình lai chéo</a:t>
                </a:r>
                <a:endParaRPr sz="1400" b="1" i="0" u="none" strike="noStrike" cap="none">
                  <a:solidFill>
                    <a:srgbClr val="0F172A"/>
                  </a:solidFill>
                  <a:latin typeface="Inter"/>
                  <a:ea typeface="Inter"/>
                  <a:cs typeface="Inter"/>
                  <a:sym typeface="Inter"/>
                </a:endParaRPr>
              </a:p>
              <a:p>
                <a:pPr marL="0" marR="0" lvl="0" indent="0" algn="l" rtl="0">
                  <a:lnSpc>
                    <a:spcPct val="100000"/>
                  </a:lnSpc>
                  <a:spcBef>
                    <a:spcPts val="900"/>
                  </a:spcBef>
                  <a:spcAft>
                    <a:spcPts val="0"/>
                  </a:spcAft>
                  <a:buClr>
                    <a:srgbClr val="000000"/>
                  </a:buClr>
                  <a:buSzPts val="1050"/>
                  <a:buFont typeface="Arial"/>
                  <a:buNone/>
                </a:pPr>
                <a:r>
                  <a:rPr lang="en" sz="1050" b="1" i="0" u="none" strike="noStrike" cap="none">
                    <a:solidFill>
                      <a:srgbClr val="007B7C"/>
                    </a:solidFill>
                    <a:latin typeface="Inter"/>
                    <a:ea typeface="Inter"/>
                    <a:cs typeface="Inter"/>
                    <a:sym typeface="Inter"/>
                  </a:rPr>
                  <a:t>Dịch vụ cốt lõi:</a:t>
                </a:r>
                <a:r>
                  <a:rPr lang="en" sz="1050" b="1" i="0" u="none" strike="noStrike" cap="none">
                    <a:solidFill>
                      <a:srgbClr val="0F172A"/>
                    </a:solidFill>
                    <a:latin typeface="Inter"/>
                    <a:ea typeface="Inter"/>
                    <a:cs typeface="Inter"/>
                    <a:sym typeface="Inter"/>
                  </a:rPr>
                  <a:t> </a:t>
                </a:r>
                <a:r>
                  <a:rPr lang="en" sz="1050" b="0" i="0" u="none" strike="noStrike" cap="none">
                    <a:solidFill>
                      <a:srgbClr val="475569"/>
                    </a:solidFill>
                    <a:latin typeface="Inter"/>
                    <a:ea typeface="Inter"/>
                    <a:cs typeface="Inter"/>
                    <a:sym typeface="Inter"/>
                  </a:rPr>
                  <a:t>Doanh nghiệp cung cấp dịch vụ sửa chữa, bảo trì máy lạnh qua hình thức đặt lịch trực tuyến.</a:t>
                </a:r>
                <a:endParaRPr sz="1050" b="1" i="0" u="none" strike="noStrike" cap="none">
                  <a:solidFill>
                    <a:srgbClr val="0F172A"/>
                  </a:solidFill>
                  <a:latin typeface="Inter"/>
                  <a:ea typeface="Inter"/>
                  <a:cs typeface="Inter"/>
                  <a:sym typeface="Inter"/>
                </a:endParaRPr>
              </a:p>
              <a:p>
                <a:pPr marL="0" marR="0" lvl="0" indent="0" algn="l" rtl="0">
                  <a:lnSpc>
                    <a:spcPct val="100000"/>
                  </a:lnSpc>
                  <a:spcBef>
                    <a:spcPts val="600"/>
                  </a:spcBef>
                  <a:spcAft>
                    <a:spcPts val="0"/>
                  </a:spcAft>
                  <a:buClr>
                    <a:srgbClr val="000000"/>
                  </a:buClr>
                  <a:buSzPts val="1050"/>
                  <a:buFont typeface="Arial"/>
                  <a:buNone/>
                </a:pPr>
                <a:r>
                  <a:rPr lang="en" sz="1050" b="0" i="0" u="none" strike="noStrike" cap="none">
                    <a:solidFill>
                      <a:srgbClr val="475569"/>
                    </a:solidFill>
                    <a:latin typeface="Inter"/>
                    <a:ea typeface="Inter"/>
                    <a:cs typeface="Inter"/>
                    <a:sym typeface="Inter"/>
                  </a:rPr>
                  <a:t>Mô hình vận hành đột phá là sự giao thoa, kết hợp chặt chẽ năng lực từ hai mô hình tham chiếu lớn trên thị trường:</a:t>
                </a:r>
                <a:endParaRPr sz="1050" b="1" i="0" u="none" strike="noStrike" cap="none">
                  <a:solidFill>
                    <a:srgbClr val="0F172A"/>
                  </a:solidFill>
                  <a:latin typeface="Inter"/>
                  <a:ea typeface="Inter"/>
                  <a:cs typeface="Inter"/>
                  <a:sym typeface="Inter"/>
                </a:endParaRPr>
              </a:p>
              <a:p>
                <a:pPr marL="0" marR="0" lvl="0" indent="0" algn="l" rtl="0">
                  <a:lnSpc>
                    <a:spcPct val="100000"/>
                  </a:lnSpc>
                  <a:spcBef>
                    <a:spcPts val="750"/>
                  </a:spcBef>
                  <a:spcAft>
                    <a:spcPts val="0"/>
                  </a:spcAft>
                  <a:buClr>
                    <a:srgbClr val="000000"/>
                  </a:buClr>
                  <a:buSzPts val="950"/>
                  <a:buFont typeface="Arial"/>
                  <a:buNone/>
                </a:pPr>
                <a:r>
                  <a:rPr lang="en" sz="950" b="1" i="0" u="none" strike="noStrike" cap="none">
                    <a:solidFill>
                      <a:srgbClr val="007B7C"/>
                    </a:solidFill>
                    <a:highlight>
                      <a:srgbClr val="F8FAFC"/>
                    </a:highlight>
                    <a:latin typeface="Inter"/>
                    <a:ea typeface="Inter"/>
                    <a:cs typeface="Inter"/>
                    <a:sym typeface="Inter"/>
                  </a:rPr>
                  <a:t>01. DỊCH VỤ TẠI CHỖ CHUYÊN NGHIỆP</a:t>
                </a:r>
                <a:endParaRPr sz="950" b="1" i="0" u="none" strike="noStrike" cap="none">
                  <a:solidFill>
                    <a:srgbClr val="0F172A"/>
                  </a:solidFill>
                  <a:latin typeface="Inter"/>
                  <a:ea typeface="Inter"/>
                  <a:cs typeface="Inter"/>
                  <a:sym typeface="Inter"/>
                </a:endParaRPr>
              </a:p>
              <a:p>
                <a:pPr marL="0" marR="0" lvl="0" indent="0" algn="l" rtl="0">
                  <a:lnSpc>
                    <a:spcPct val="100000"/>
                  </a:lnSpc>
                  <a:spcBef>
                    <a:spcPts val="300"/>
                  </a:spcBef>
                  <a:spcAft>
                    <a:spcPts val="0"/>
                  </a:spcAft>
                  <a:buClr>
                    <a:srgbClr val="000000"/>
                  </a:buClr>
                  <a:buSzPts val="1050"/>
                  <a:buFont typeface="Arial"/>
                  <a:buNone/>
                </a:pPr>
                <a:r>
                  <a:rPr lang="en" sz="1050" b="0" i="0" u="none" strike="noStrike" cap="none">
                    <a:solidFill>
                      <a:srgbClr val="475569"/>
                    </a:solidFill>
                    <a:latin typeface="Inter"/>
                    <a:ea typeface="Inter"/>
                    <a:cs typeface="Inter"/>
                    <a:sym typeface="Inter"/>
                  </a:rPr>
                  <a:t>Có đội ngũ KTV được đào tạo chuyên nghiệp và có hệ thống cố vấn kỹ thuật cao</a:t>
                </a:r>
                <a:endParaRPr sz="1050" b="1" i="0" u="none" strike="noStrike" cap="none">
                  <a:solidFill>
                    <a:srgbClr val="0F172A"/>
                  </a:solidFill>
                  <a:latin typeface="Inter"/>
                  <a:ea typeface="Inter"/>
                  <a:cs typeface="Inter"/>
                  <a:sym typeface="Inter"/>
                </a:endParaRPr>
              </a:p>
              <a:p>
                <a:pPr marL="0" marR="0" lvl="0" indent="0" algn="l" rtl="0">
                  <a:lnSpc>
                    <a:spcPct val="100000"/>
                  </a:lnSpc>
                  <a:spcBef>
                    <a:spcPts val="900"/>
                  </a:spcBef>
                  <a:spcAft>
                    <a:spcPts val="0"/>
                  </a:spcAft>
                  <a:buClr>
                    <a:srgbClr val="000000"/>
                  </a:buClr>
                  <a:buSzPts val="950"/>
                  <a:buFont typeface="Arial"/>
                  <a:buNone/>
                </a:pPr>
                <a:r>
                  <a:rPr lang="en" sz="950" b="1" i="0" u="none" strike="noStrike" cap="none">
                    <a:solidFill>
                      <a:srgbClr val="007B7C"/>
                    </a:solidFill>
                    <a:highlight>
                      <a:srgbClr val="F8FAFC"/>
                    </a:highlight>
                    <a:latin typeface="Inter"/>
                    <a:ea typeface="Inter"/>
                    <a:cs typeface="Inter"/>
                    <a:sym typeface="Inter"/>
                  </a:rPr>
                  <a:t>02. LOGISTICS VÀ ĐIỀU PHỐI THÔNG MINH</a:t>
                </a:r>
                <a:endParaRPr sz="950" b="1" i="0" u="none" strike="noStrike" cap="none">
                  <a:solidFill>
                    <a:srgbClr val="0F172A"/>
                  </a:solidFill>
                  <a:latin typeface="Inter"/>
                  <a:ea typeface="Inter"/>
                  <a:cs typeface="Inter"/>
                  <a:sym typeface="Inter"/>
                </a:endParaRPr>
              </a:p>
              <a:p>
                <a:pPr marL="0" marR="0" lvl="0" indent="0" algn="l" rtl="0">
                  <a:lnSpc>
                    <a:spcPct val="100000"/>
                  </a:lnSpc>
                  <a:spcBef>
                    <a:spcPts val="300"/>
                  </a:spcBef>
                  <a:spcAft>
                    <a:spcPts val="0"/>
                  </a:spcAft>
                  <a:buClr>
                    <a:srgbClr val="000000"/>
                  </a:buClr>
                  <a:buSzPts val="1050"/>
                  <a:buFont typeface="Arial"/>
                  <a:buNone/>
                </a:pPr>
                <a:r>
                  <a:rPr lang="en" sz="1050" b="0" i="0" u="none" strike="noStrike" cap="none">
                    <a:solidFill>
                      <a:srgbClr val="475569"/>
                    </a:solidFill>
                    <a:latin typeface="Inter"/>
                    <a:ea typeface="Inter"/>
                    <a:cs typeface="Inter"/>
                    <a:sym typeface="Inter"/>
                  </a:rPr>
                  <a:t>Vận hành hệ thống quản trị logistics, tối ưu hóa tuyến đường điều phối kỹ thuật viên tức thời đến khách hàng.</a:t>
                </a:r>
                <a:endParaRPr sz="1050" b="1" i="0" u="none" strike="noStrike" cap="none">
                  <a:solidFill>
                    <a:srgbClr val="0F172A"/>
                  </a:solidFill>
                  <a:latin typeface="Inter"/>
                  <a:ea typeface="Inter"/>
                  <a:cs typeface="Inter"/>
                  <a:sym typeface="Inter"/>
                </a:endParaRPr>
              </a:p>
            </p:txBody>
          </p:sp>
        </p:grpSp>
      </p:grpSp>
      <p:grpSp>
        <p:nvGrpSpPr>
          <p:cNvPr id="178" name="Google Shape;178;p18"/>
          <p:cNvGrpSpPr/>
          <p:nvPr/>
        </p:nvGrpSpPr>
        <p:grpSpPr>
          <a:xfrm>
            <a:off x="4667250" y="1285875"/>
            <a:ext cx="4095900" cy="3476700"/>
            <a:chOff x="0" y="0"/>
            <a:chExt cx="4095900" cy="3476700"/>
          </a:xfrm>
        </p:grpSpPr>
        <p:sp>
          <p:nvSpPr>
            <p:cNvPr id="179" name="Google Shape;179;p18"/>
            <p:cNvSpPr/>
            <p:nvPr/>
          </p:nvSpPr>
          <p:spPr>
            <a:xfrm>
              <a:off x="0" y="0"/>
              <a:ext cx="4095900" cy="3476700"/>
            </a:xfrm>
            <a:prstGeom prst="roundRect">
              <a:avLst>
                <a:gd name="adj" fmla="val 2190"/>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80" name="Google Shape;180;p18"/>
            <p:cNvSpPr/>
            <p:nvPr/>
          </p:nvSpPr>
          <p:spPr>
            <a:xfrm>
              <a:off x="0" y="0"/>
              <a:ext cx="4095900" cy="57300"/>
            </a:xfrm>
            <a:prstGeom prst="roundRect">
              <a:avLst>
                <a:gd name="adj" fmla="val 49999"/>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181" name="Google Shape;181;p18"/>
            <p:cNvGrpSpPr/>
            <p:nvPr/>
          </p:nvGrpSpPr>
          <p:grpSpPr>
            <a:xfrm>
              <a:off x="228600" y="228600"/>
              <a:ext cx="3638700" cy="3019500"/>
              <a:chOff x="0" y="0"/>
              <a:chExt cx="3638700" cy="3019500"/>
            </a:xfrm>
          </p:grpSpPr>
          <p:sp>
            <p:nvSpPr>
              <p:cNvPr id="182" name="Google Shape;182;p18"/>
              <p:cNvSpPr/>
              <p:nvPr/>
            </p:nvSpPr>
            <p:spPr>
              <a:xfrm>
                <a:off x="0" y="0"/>
                <a:ext cx="3638700" cy="3019500"/>
              </a:xfrm>
              <a:prstGeom prst="rect">
                <a:avLst/>
              </a:prstGeom>
              <a:solidFill>
                <a:srgbClr val="000000">
                  <a:alpha val="0"/>
                </a:srgbClr>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83" name="Google Shape;183;p18"/>
              <p:cNvSpPr txBox="1"/>
              <p:nvPr/>
            </p:nvSpPr>
            <p:spPr>
              <a:xfrm>
                <a:off x="0" y="0"/>
                <a:ext cx="3638700" cy="30195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295"/>
                  <a:buFont typeface="Arial"/>
                  <a:buNone/>
                </a:pPr>
                <a:r>
                  <a:rPr lang="en" sz="1295" b="1" i="0" u="none" strike="noStrike" cap="none">
                    <a:solidFill>
                      <a:srgbClr val="0F172A"/>
                    </a:solidFill>
                    <a:latin typeface="Inter"/>
                    <a:ea typeface="Inter"/>
                    <a:cs typeface="Inter"/>
                    <a:sym typeface="Inter"/>
                  </a:rPr>
                  <a:t>Quy trình vận hành 4 bước</a:t>
                </a:r>
                <a:endParaRPr sz="1295" b="1" i="0" u="none" strike="noStrike" cap="none">
                  <a:solidFill>
                    <a:srgbClr val="0F172A"/>
                  </a:solidFill>
                  <a:latin typeface="Inter"/>
                  <a:ea typeface="Inter"/>
                  <a:cs typeface="Inter"/>
                  <a:sym typeface="Inter"/>
                </a:endParaRPr>
              </a:p>
              <a:p>
                <a:pPr marL="0" marR="0" lvl="0" indent="0" algn="l" rtl="0">
                  <a:lnSpc>
                    <a:spcPct val="100000"/>
                  </a:lnSpc>
                  <a:spcBef>
                    <a:spcPts val="900"/>
                  </a:spcBef>
                  <a:spcAft>
                    <a:spcPts val="0"/>
                  </a:spcAft>
                  <a:buClr>
                    <a:srgbClr val="000000"/>
                  </a:buClr>
                  <a:buSzPts val="833"/>
                  <a:buFont typeface="Arial"/>
                  <a:buNone/>
                </a:pPr>
                <a:r>
                  <a:rPr lang="en" sz="833" b="1" i="0" u="none" strike="noStrike" cap="none">
                    <a:solidFill>
                      <a:srgbClr val="10B981"/>
                    </a:solidFill>
                    <a:latin typeface="Inter"/>
                    <a:ea typeface="Inter"/>
                    <a:cs typeface="Inter"/>
                    <a:sym typeface="Inter"/>
                  </a:rPr>
                  <a:t>01</a:t>
                </a:r>
                <a:r>
                  <a:rPr lang="en" sz="833" b="1" i="0" u="none" strike="noStrike" cap="none">
                    <a:solidFill>
                      <a:srgbClr val="0F172A"/>
                    </a:solidFill>
                    <a:latin typeface="Inter"/>
                    <a:ea typeface="Inter"/>
                    <a:cs typeface="Inter"/>
                    <a:sym typeface="Inter"/>
                  </a:rPr>
                  <a:t> </a:t>
                </a:r>
                <a:r>
                  <a:rPr lang="en" sz="971" b="1" i="0" u="none" strike="noStrike" cap="none">
                    <a:solidFill>
                      <a:srgbClr val="0F172A"/>
                    </a:solidFill>
                    <a:latin typeface="Inter"/>
                    <a:ea typeface="Inter"/>
                    <a:cs typeface="Inter"/>
                    <a:sym typeface="Inter"/>
                  </a:rPr>
                  <a:t>Đặt lịch trực tuyến</a:t>
                </a:r>
                <a:endParaRPr sz="833" b="1" i="0" u="none" strike="noStrike" cap="none">
                  <a:solidFill>
                    <a:srgbClr val="0F172A"/>
                  </a:solidFill>
                  <a:latin typeface="Inter"/>
                  <a:ea typeface="Inter"/>
                  <a:cs typeface="Inter"/>
                  <a:sym typeface="Inter"/>
                </a:endParaRPr>
              </a:p>
              <a:p>
                <a:pPr marL="0" marR="0" lvl="0" indent="0" algn="l" rtl="0">
                  <a:lnSpc>
                    <a:spcPct val="100000"/>
                  </a:lnSpc>
                  <a:spcBef>
                    <a:spcPts val="150"/>
                  </a:spcBef>
                  <a:spcAft>
                    <a:spcPts val="0"/>
                  </a:spcAft>
                  <a:buClr>
                    <a:srgbClr val="000000"/>
                  </a:buClr>
                  <a:buSzPts val="879"/>
                  <a:buFont typeface="Arial"/>
                  <a:buNone/>
                </a:pPr>
                <a:r>
                  <a:rPr lang="en" sz="879" b="0" i="0" u="none" strike="noStrike" cap="none">
                    <a:solidFill>
                      <a:srgbClr val="475569"/>
                    </a:solidFill>
                    <a:latin typeface="Inter"/>
                    <a:ea typeface="Inter"/>
                    <a:cs typeface="Inter"/>
                    <a:sym typeface="Inter"/>
                  </a:rPr>
                  <a:t>Khách hàng dễ dàng thực hiện đặt lịch dịch vụ thông qua ứng dụng di động hoặc liên hệ trực tiếp tổng đài chăm sóc khách hàng (Call Center).</a:t>
                </a:r>
                <a:endParaRPr sz="879" b="1" i="0" u="none" strike="noStrike" cap="none">
                  <a:solidFill>
                    <a:srgbClr val="0F172A"/>
                  </a:solidFill>
                  <a:latin typeface="Inter"/>
                  <a:ea typeface="Inter"/>
                  <a:cs typeface="Inter"/>
                  <a:sym typeface="Inter"/>
                </a:endParaRPr>
              </a:p>
              <a:p>
                <a:pPr marL="0" marR="0" lvl="0" indent="0" algn="l" rtl="0">
                  <a:lnSpc>
                    <a:spcPct val="100000"/>
                  </a:lnSpc>
                  <a:spcBef>
                    <a:spcPts val="800"/>
                  </a:spcBef>
                  <a:spcAft>
                    <a:spcPts val="0"/>
                  </a:spcAft>
                  <a:buClr>
                    <a:srgbClr val="000000"/>
                  </a:buClr>
                  <a:buSzPts val="833"/>
                  <a:buFont typeface="Arial"/>
                  <a:buNone/>
                </a:pPr>
                <a:r>
                  <a:rPr lang="en" sz="833" b="1" i="0" u="none" strike="noStrike" cap="none">
                    <a:solidFill>
                      <a:srgbClr val="0284C7"/>
                    </a:solidFill>
                    <a:latin typeface="Inter"/>
                    <a:ea typeface="Inter"/>
                    <a:cs typeface="Inter"/>
                    <a:sym typeface="Inter"/>
                  </a:rPr>
                  <a:t>02</a:t>
                </a:r>
                <a:r>
                  <a:rPr lang="en" sz="833" b="1" i="0" u="none" strike="noStrike" cap="none">
                    <a:solidFill>
                      <a:srgbClr val="0F172A"/>
                    </a:solidFill>
                    <a:latin typeface="Inter"/>
                    <a:ea typeface="Inter"/>
                    <a:cs typeface="Inter"/>
                    <a:sym typeface="Inter"/>
                  </a:rPr>
                  <a:t> </a:t>
                </a:r>
                <a:r>
                  <a:rPr lang="en" sz="971" b="1" i="0" u="none" strike="noStrike" cap="none">
                    <a:solidFill>
                      <a:srgbClr val="0F172A"/>
                    </a:solidFill>
                    <a:latin typeface="Inter"/>
                    <a:ea typeface="Inter"/>
                    <a:cs typeface="Inter"/>
                    <a:sym typeface="Inter"/>
                  </a:rPr>
                  <a:t>Xử lý &amp; Điều phối</a:t>
                </a:r>
                <a:endParaRPr sz="833" b="1" i="0" u="none" strike="noStrike" cap="none">
                  <a:solidFill>
                    <a:srgbClr val="0F172A"/>
                  </a:solidFill>
                  <a:latin typeface="Inter"/>
                  <a:ea typeface="Inter"/>
                  <a:cs typeface="Inter"/>
                  <a:sym typeface="Inter"/>
                </a:endParaRPr>
              </a:p>
              <a:p>
                <a:pPr marL="0" marR="0" lvl="0" indent="0" algn="l" rtl="0">
                  <a:lnSpc>
                    <a:spcPct val="100000"/>
                  </a:lnSpc>
                  <a:spcBef>
                    <a:spcPts val="150"/>
                  </a:spcBef>
                  <a:spcAft>
                    <a:spcPts val="0"/>
                  </a:spcAft>
                  <a:buClr>
                    <a:srgbClr val="000000"/>
                  </a:buClr>
                  <a:buSzPts val="879"/>
                  <a:buFont typeface="Arial"/>
                  <a:buNone/>
                </a:pPr>
                <a:r>
                  <a:rPr lang="en" sz="879" b="0" i="0" u="none" strike="noStrike" cap="none">
                    <a:solidFill>
                      <a:srgbClr val="475569"/>
                    </a:solidFill>
                    <a:latin typeface="Inter"/>
                    <a:ea typeface="Inter"/>
                    <a:cs typeface="Inter"/>
                    <a:sym typeface="Inter"/>
                  </a:rPr>
                  <a:t>Hệ thống kết hợp cùng Customer Service xử lý dữ liệu và điều phối kỹ thuật viên (KTV) phù hợp nhất theo khu vực của khách hàng.</a:t>
                </a:r>
                <a:endParaRPr sz="879" b="1" i="0" u="none" strike="noStrike" cap="none">
                  <a:solidFill>
                    <a:srgbClr val="0F172A"/>
                  </a:solidFill>
                  <a:latin typeface="Inter"/>
                  <a:ea typeface="Inter"/>
                  <a:cs typeface="Inter"/>
                  <a:sym typeface="Inter"/>
                </a:endParaRPr>
              </a:p>
              <a:p>
                <a:pPr marL="0" marR="0" lvl="0" indent="0" algn="l" rtl="0">
                  <a:lnSpc>
                    <a:spcPct val="100000"/>
                  </a:lnSpc>
                  <a:spcBef>
                    <a:spcPts val="800"/>
                  </a:spcBef>
                  <a:spcAft>
                    <a:spcPts val="0"/>
                  </a:spcAft>
                  <a:buClr>
                    <a:srgbClr val="000000"/>
                  </a:buClr>
                  <a:buSzPts val="833"/>
                  <a:buFont typeface="Arial"/>
                  <a:buNone/>
                </a:pPr>
                <a:r>
                  <a:rPr lang="en" sz="833" b="1" i="0" u="none" strike="noStrike" cap="none">
                    <a:solidFill>
                      <a:srgbClr val="007B7C"/>
                    </a:solidFill>
                    <a:latin typeface="Inter"/>
                    <a:ea typeface="Inter"/>
                    <a:cs typeface="Inter"/>
                    <a:sym typeface="Inter"/>
                  </a:rPr>
                  <a:t>03</a:t>
                </a:r>
                <a:r>
                  <a:rPr lang="en" sz="833" b="1" i="0" u="none" strike="noStrike" cap="none">
                    <a:solidFill>
                      <a:srgbClr val="0F172A"/>
                    </a:solidFill>
                    <a:latin typeface="Inter"/>
                    <a:ea typeface="Inter"/>
                    <a:cs typeface="Inter"/>
                    <a:sym typeface="Inter"/>
                  </a:rPr>
                  <a:t> </a:t>
                </a:r>
                <a:r>
                  <a:rPr lang="en" sz="971" b="1" i="0" u="none" strike="noStrike" cap="none">
                    <a:solidFill>
                      <a:srgbClr val="0F172A"/>
                    </a:solidFill>
                    <a:latin typeface="Inter"/>
                    <a:ea typeface="Inter"/>
                    <a:cs typeface="Inter"/>
                    <a:sym typeface="Inter"/>
                  </a:rPr>
                  <a:t>Sửa chữa tại chỗ</a:t>
                </a:r>
                <a:endParaRPr sz="833" b="1" i="0" u="none" strike="noStrike" cap="none">
                  <a:solidFill>
                    <a:srgbClr val="0F172A"/>
                  </a:solidFill>
                  <a:latin typeface="Inter"/>
                  <a:ea typeface="Inter"/>
                  <a:cs typeface="Inter"/>
                  <a:sym typeface="Inter"/>
                </a:endParaRPr>
              </a:p>
              <a:p>
                <a:pPr marL="0" marR="0" lvl="0" indent="0" algn="l" rtl="0">
                  <a:lnSpc>
                    <a:spcPct val="100000"/>
                  </a:lnSpc>
                  <a:spcBef>
                    <a:spcPts val="150"/>
                  </a:spcBef>
                  <a:spcAft>
                    <a:spcPts val="0"/>
                  </a:spcAft>
                  <a:buClr>
                    <a:srgbClr val="000000"/>
                  </a:buClr>
                  <a:buSzPts val="879"/>
                  <a:buFont typeface="Arial"/>
                  <a:buNone/>
                </a:pPr>
                <a:r>
                  <a:rPr lang="en" sz="879" b="0" i="0" u="none" strike="noStrike" cap="none">
                    <a:solidFill>
                      <a:srgbClr val="475569"/>
                    </a:solidFill>
                    <a:latin typeface="Inter"/>
                    <a:ea typeface="Inter"/>
                    <a:cs typeface="Inter"/>
                    <a:sym typeface="Inter"/>
                  </a:rPr>
                  <a:t>Kỹ thuật viên tiếp nhận thông tin yêu cầu, đến tận nơi để kiểm tra, chẩn đoán xác thực và sửa chữa thiết bị trực tiếp tại hiện trường.</a:t>
                </a:r>
                <a:endParaRPr sz="879" b="1" i="0" u="none" strike="noStrike" cap="none">
                  <a:solidFill>
                    <a:srgbClr val="0F172A"/>
                  </a:solidFill>
                  <a:latin typeface="Inter"/>
                  <a:ea typeface="Inter"/>
                  <a:cs typeface="Inter"/>
                  <a:sym typeface="Inter"/>
                </a:endParaRPr>
              </a:p>
              <a:p>
                <a:pPr marL="0" marR="0" lvl="0" indent="0" algn="l" rtl="0">
                  <a:lnSpc>
                    <a:spcPct val="100000"/>
                  </a:lnSpc>
                  <a:spcBef>
                    <a:spcPts val="800"/>
                  </a:spcBef>
                  <a:spcAft>
                    <a:spcPts val="0"/>
                  </a:spcAft>
                  <a:buClr>
                    <a:srgbClr val="000000"/>
                  </a:buClr>
                  <a:buSzPts val="833"/>
                  <a:buFont typeface="Arial"/>
                  <a:buNone/>
                </a:pPr>
                <a:r>
                  <a:rPr lang="en" sz="833" b="1" i="0" u="none" strike="noStrike" cap="none">
                    <a:solidFill>
                      <a:srgbClr val="E11D48"/>
                    </a:solidFill>
                    <a:latin typeface="Inter"/>
                    <a:ea typeface="Inter"/>
                    <a:cs typeface="Inter"/>
                    <a:sym typeface="Inter"/>
                  </a:rPr>
                  <a:t>04</a:t>
                </a:r>
                <a:r>
                  <a:rPr lang="en" sz="833" b="1" i="0" u="none" strike="noStrike" cap="none">
                    <a:solidFill>
                      <a:srgbClr val="0F172A"/>
                    </a:solidFill>
                    <a:latin typeface="Inter"/>
                    <a:ea typeface="Inter"/>
                    <a:cs typeface="Inter"/>
                    <a:sym typeface="Inter"/>
                  </a:rPr>
                  <a:t> </a:t>
                </a:r>
                <a:r>
                  <a:rPr lang="en" sz="971" b="1" i="0" u="none" strike="noStrike" cap="none">
                    <a:solidFill>
                      <a:srgbClr val="0F172A"/>
                    </a:solidFill>
                    <a:latin typeface="Inter"/>
                    <a:ea typeface="Inter"/>
                    <a:cs typeface="Inter"/>
                    <a:sym typeface="Inter"/>
                  </a:rPr>
                  <a:t>Nghiệm thu &amp; Thanh toán</a:t>
                </a:r>
                <a:endParaRPr sz="833" b="1" i="0" u="none" strike="noStrike" cap="none">
                  <a:solidFill>
                    <a:srgbClr val="0F172A"/>
                  </a:solidFill>
                  <a:latin typeface="Inter"/>
                  <a:ea typeface="Inter"/>
                  <a:cs typeface="Inter"/>
                  <a:sym typeface="Inter"/>
                </a:endParaRPr>
              </a:p>
              <a:p>
                <a:pPr marL="0" marR="0" lvl="0" indent="0" algn="l" rtl="0">
                  <a:lnSpc>
                    <a:spcPct val="100000"/>
                  </a:lnSpc>
                  <a:spcBef>
                    <a:spcPts val="150"/>
                  </a:spcBef>
                  <a:spcAft>
                    <a:spcPts val="0"/>
                  </a:spcAft>
                  <a:buClr>
                    <a:srgbClr val="000000"/>
                  </a:buClr>
                  <a:buSzPts val="879"/>
                  <a:buFont typeface="Arial"/>
                  <a:buNone/>
                </a:pPr>
                <a:r>
                  <a:rPr lang="en" sz="879" b="0" i="0" u="none" strike="noStrike" cap="none">
                    <a:solidFill>
                      <a:srgbClr val="475569"/>
                    </a:solidFill>
                    <a:latin typeface="Inter"/>
                    <a:ea typeface="Inter"/>
                    <a:cs typeface="Inter"/>
                    <a:sym typeface="Inter"/>
                  </a:rPr>
                  <a:t>Hoàn tất quy trình dịch vụ bằng các bước nghiệm thu kỹ thuật, khách hàng thanh toán và thực hiện đánh giá phản hồi chất lượng.</a:t>
                </a:r>
                <a:endParaRPr sz="879" b="1" i="0" u="none" strike="noStrike" cap="none">
                  <a:solidFill>
                    <a:srgbClr val="0F172A"/>
                  </a:solidFill>
                  <a:latin typeface="Inter"/>
                  <a:ea typeface="Inter"/>
                  <a:cs typeface="Inter"/>
                  <a:sym typeface="Inter"/>
                </a:endParaRPr>
              </a:p>
            </p:txBody>
          </p:sp>
        </p:gr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8" name="Google Shape;188;p19"/>
          <p:cNvSpPr/>
          <p:nvPr/>
        </p:nvSpPr>
        <p:spPr>
          <a:xfrm>
            <a:off x="0" y="0"/>
            <a:ext cx="9144000" cy="5143500"/>
          </a:xfrm>
          <a:prstGeom prst="rect">
            <a:avLst/>
          </a:pr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189" name="Google Shape;189;p19"/>
          <p:cNvGrpSpPr/>
          <p:nvPr/>
        </p:nvGrpSpPr>
        <p:grpSpPr>
          <a:xfrm>
            <a:off x="8458200" y="381000"/>
            <a:ext cx="304800" cy="304800"/>
            <a:chOff x="0" y="0"/>
            <a:chExt cx="304800" cy="304800"/>
          </a:xfrm>
        </p:grpSpPr>
        <p:sp>
          <p:nvSpPr>
            <p:cNvPr id="190" name="Google Shape;190;p19"/>
            <p:cNvSpPr/>
            <p:nvPr/>
          </p:nvSpPr>
          <p:spPr>
            <a:xfrm>
              <a:off x="0" y="0"/>
              <a:ext cx="304800" cy="304800"/>
            </a:xfrm>
            <a:prstGeom prst="roundRect">
              <a:avLst>
                <a:gd name="adj" fmla="val 125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91" name="Google Shape;191;p19"/>
            <p:cNvSpPr/>
            <p:nvPr/>
          </p:nvSpPr>
          <p:spPr>
            <a:xfrm>
              <a:off x="95250" y="95250"/>
              <a:ext cx="114300" cy="114300"/>
            </a:xfrm>
            <a:custGeom>
              <a:avLst/>
              <a:gdLst/>
              <a:ahLst/>
              <a:cxnLst/>
              <a:rect l="l" t="t" r="r" b="b"/>
              <a:pathLst>
                <a:path w="120000" h="120000" extrusionOk="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92" name="Google Shape;192;p19"/>
            <p:cNvSpPr/>
            <p:nvPr/>
          </p:nvSpPr>
          <p:spPr>
            <a:xfrm>
              <a:off x="123825" y="123825"/>
              <a:ext cx="57300" cy="57300"/>
            </a:xfrm>
            <a:prstGeom prst="ellipse">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cxnSp>
        <p:nvCxnSpPr>
          <p:cNvPr id="193" name="Google Shape;193;p19"/>
          <p:cNvCxnSpPr/>
          <p:nvPr/>
        </p:nvCxnSpPr>
        <p:spPr>
          <a:xfrm>
            <a:off x="381000" y="1143000"/>
            <a:ext cx="8382000" cy="0"/>
          </a:xfrm>
          <a:prstGeom prst="straightConnector1">
            <a:avLst/>
          </a:prstGeom>
          <a:solidFill>
            <a:srgbClr val="FFFFFF"/>
          </a:solidFill>
          <a:ln w="14300" cap="flat" cmpd="sng">
            <a:solidFill>
              <a:srgbClr val="E2E8F0"/>
            </a:solidFill>
            <a:prstDash val="solid"/>
            <a:round/>
            <a:headEnd type="none" w="sm" len="sm"/>
            <a:tailEnd type="none" w="sm" len="sm"/>
          </a:ln>
        </p:spPr>
      </p:cxnSp>
      <p:sp>
        <p:nvSpPr>
          <p:cNvPr id="194" name="Google Shape;194;p19"/>
          <p:cNvSpPr txBox="1"/>
          <p:nvPr/>
        </p:nvSpPr>
        <p:spPr>
          <a:xfrm>
            <a:off x="381000" y="238125"/>
            <a:ext cx="7620000" cy="8574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400"/>
              <a:buFont typeface="Arial"/>
              <a:buNone/>
            </a:pPr>
            <a:r>
              <a:rPr lang="en" sz="2400" b="0" i="0" u="none" strike="noStrike" cap="none">
                <a:solidFill>
                  <a:srgbClr val="0F172A"/>
                </a:solidFill>
                <a:latin typeface="Inter ExtraBold"/>
                <a:ea typeface="Inter ExtraBold"/>
                <a:cs typeface="Inter ExtraBold"/>
                <a:sym typeface="Inter ExtraBold"/>
              </a:rPr>
              <a:t>Sơ đồ kiến trúc quy trình tổng thể</a:t>
            </a:r>
            <a:endParaRPr sz="2400" b="0" i="0" u="none" strike="noStrike" cap="none">
              <a:solidFill>
                <a:srgbClr val="0F172A"/>
              </a:solidFill>
              <a:latin typeface="Inter ExtraBold"/>
              <a:ea typeface="Inter ExtraBold"/>
              <a:cs typeface="Inter ExtraBold"/>
              <a:sym typeface="Inter ExtraBold"/>
            </a:endParaRPr>
          </a:p>
          <a:p>
            <a:pPr marL="0" marR="0" lvl="0" indent="0" algn="l" rtl="0">
              <a:lnSpc>
                <a:spcPct val="100000"/>
              </a:lnSpc>
              <a:spcBef>
                <a:spcPts val="300"/>
              </a:spcBef>
              <a:spcAft>
                <a:spcPts val="0"/>
              </a:spcAft>
              <a:buClr>
                <a:srgbClr val="000000"/>
              </a:buClr>
              <a:buSzPts val="1300"/>
              <a:buFont typeface="Arial"/>
              <a:buNone/>
            </a:pPr>
            <a:r>
              <a:rPr lang="en" sz="1300" b="0" i="0" u="none" strike="noStrike" cap="none">
                <a:solidFill>
                  <a:srgbClr val="007B7C"/>
                </a:solidFill>
                <a:latin typeface="Inter SemiBold"/>
                <a:ea typeface="Inter SemiBold"/>
                <a:cs typeface="Inter SemiBold"/>
                <a:sym typeface="Inter SemiBold"/>
              </a:rPr>
              <a:t>Toàn bộ hoạt động của doanh nghiệp được tổ chức thành 10 quy trình, chia thành 3 nhóm chính</a:t>
            </a:r>
            <a:endParaRPr sz="1300" b="0" i="0" u="none" strike="noStrike" cap="none">
              <a:solidFill>
                <a:srgbClr val="007B7C"/>
              </a:solidFill>
              <a:latin typeface="Inter SemiBold"/>
              <a:ea typeface="Inter SemiBold"/>
              <a:cs typeface="Inter SemiBold"/>
              <a:sym typeface="Inter SemiBold"/>
            </a:endParaRPr>
          </a:p>
        </p:txBody>
      </p:sp>
      <p:grpSp>
        <p:nvGrpSpPr>
          <p:cNvPr id="195" name="Google Shape;195;p19"/>
          <p:cNvGrpSpPr/>
          <p:nvPr/>
        </p:nvGrpSpPr>
        <p:grpSpPr>
          <a:xfrm>
            <a:off x="381000" y="1333500"/>
            <a:ext cx="8382000" cy="952500"/>
            <a:chOff x="0" y="0"/>
            <a:chExt cx="8382000" cy="952500"/>
          </a:xfrm>
        </p:grpSpPr>
        <p:sp>
          <p:nvSpPr>
            <p:cNvPr id="196" name="Google Shape;196;p19"/>
            <p:cNvSpPr/>
            <p:nvPr/>
          </p:nvSpPr>
          <p:spPr>
            <a:xfrm>
              <a:off x="0" y="0"/>
              <a:ext cx="8382000" cy="952500"/>
            </a:xfrm>
            <a:prstGeom prst="roundRect">
              <a:avLst>
                <a:gd name="adj" fmla="val 6000"/>
              </a:avLst>
            </a:prstGeom>
            <a:solidFill>
              <a:srgbClr val="F8FAFC"/>
            </a:solidFill>
            <a:ln w="95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97" name="Google Shape;197;p19"/>
            <p:cNvSpPr/>
            <p:nvPr/>
          </p:nvSpPr>
          <p:spPr>
            <a:xfrm>
              <a:off x="0" y="0"/>
              <a:ext cx="1524000" cy="952500"/>
            </a:xfrm>
            <a:prstGeom prst="roundRect">
              <a:avLst>
                <a:gd name="adj" fmla="val 6000"/>
              </a:avLst>
            </a:prstGeom>
            <a:solidFill>
              <a:srgbClr val="0F172A"/>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98" name="Google Shape;198;p19"/>
            <p:cNvSpPr/>
            <p:nvPr/>
          </p:nvSpPr>
          <p:spPr>
            <a:xfrm>
              <a:off x="1428750" y="0"/>
              <a:ext cx="95400" cy="952500"/>
            </a:xfrm>
            <a:prstGeom prst="rect">
              <a:avLst/>
            </a:prstGeom>
            <a:solidFill>
              <a:srgbClr val="0F172A"/>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99" name="Google Shape;199;p19"/>
            <p:cNvSpPr txBox="1"/>
            <p:nvPr/>
          </p:nvSpPr>
          <p:spPr>
            <a:xfrm>
              <a:off x="95250" y="0"/>
              <a:ext cx="1333500" cy="9525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FFFF"/>
                  </a:solidFill>
                  <a:latin typeface="Inter ExtraBold"/>
                  <a:ea typeface="Inter ExtraBold"/>
                  <a:cs typeface="Inter ExtraBold"/>
                  <a:sym typeface="Inter ExtraBold"/>
                </a:rPr>
                <a:t>Quản lý</a:t>
              </a:r>
              <a:endParaRPr sz="1000" b="0" i="0" u="none" strike="noStrike" cap="none">
                <a:solidFill>
                  <a:srgbClr val="FFFFFF"/>
                </a:solidFill>
                <a:latin typeface="Inter ExtraBold"/>
                <a:ea typeface="Inter ExtraBold"/>
                <a:cs typeface="Inter ExtraBold"/>
                <a:sym typeface="Inter ExtraBold"/>
              </a:endParaRPr>
            </a:p>
            <a:p>
              <a:pPr marL="0" marR="0" lvl="0" indent="0" algn="ctr" rtl="0">
                <a:lnSpc>
                  <a:spcPct val="100000"/>
                </a:lnSpc>
                <a:spcBef>
                  <a:spcPts val="300"/>
                </a:spcBef>
                <a:spcAft>
                  <a:spcPts val="0"/>
                </a:spcAft>
                <a:buClr>
                  <a:srgbClr val="000000"/>
                </a:buClr>
                <a:buSzPts val="750"/>
                <a:buFont typeface="Arial"/>
                <a:buNone/>
              </a:pPr>
              <a:r>
                <a:rPr lang="en" sz="750" b="0" i="0" u="none" strike="noStrike" cap="none">
                  <a:solidFill>
                    <a:srgbClr val="94A3B8"/>
                  </a:solidFill>
                  <a:latin typeface="Inter Medium"/>
                  <a:ea typeface="Inter Medium"/>
                  <a:cs typeface="Inter Medium"/>
                  <a:sym typeface="Inter Medium"/>
                </a:rPr>
                <a:t>Management</a:t>
              </a:r>
              <a:endParaRPr sz="750" b="0" i="0" u="none" strike="noStrike" cap="none">
                <a:solidFill>
                  <a:srgbClr val="94A3B8"/>
                </a:solidFill>
                <a:latin typeface="Inter Medium"/>
                <a:ea typeface="Inter Medium"/>
                <a:cs typeface="Inter Medium"/>
                <a:sym typeface="Inter Medium"/>
              </a:endParaRPr>
            </a:p>
          </p:txBody>
        </p:sp>
        <p:grpSp>
          <p:nvGrpSpPr>
            <p:cNvPr id="200" name="Google Shape;200;p19"/>
            <p:cNvGrpSpPr/>
            <p:nvPr/>
          </p:nvGrpSpPr>
          <p:grpSpPr>
            <a:xfrm>
              <a:off x="1714500" y="142875"/>
              <a:ext cx="2000100" cy="666900"/>
              <a:chOff x="0" y="0"/>
              <a:chExt cx="2000100" cy="666900"/>
            </a:xfrm>
          </p:grpSpPr>
          <p:sp>
            <p:nvSpPr>
              <p:cNvPr id="201" name="Google Shape;201;p19"/>
              <p:cNvSpPr/>
              <p:nvPr/>
            </p:nvSpPr>
            <p:spPr>
              <a:xfrm>
                <a:off x="0" y="0"/>
                <a:ext cx="2000100" cy="666900"/>
              </a:xfrm>
              <a:prstGeom prst="roundRect">
                <a:avLst>
                  <a:gd name="adj" fmla="val 5713"/>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02" name="Google Shape;202;p19"/>
              <p:cNvSpPr/>
              <p:nvPr/>
            </p:nvSpPr>
            <p:spPr>
              <a:xfrm>
                <a:off x="0" y="0"/>
                <a:ext cx="428700" cy="666900"/>
              </a:xfrm>
              <a:prstGeom prst="roundRect">
                <a:avLst>
                  <a:gd name="adj" fmla="val 8887"/>
                </a:avLst>
              </a:prstGeom>
              <a:solidFill>
                <a:srgbClr val="475569"/>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03" name="Google Shape;203;p19"/>
              <p:cNvSpPr/>
              <p:nvPr/>
            </p:nvSpPr>
            <p:spPr>
              <a:xfrm>
                <a:off x="381000" y="0"/>
                <a:ext cx="47700" cy="666900"/>
              </a:xfrm>
              <a:prstGeom prst="rect">
                <a:avLst/>
              </a:prstGeom>
              <a:solidFill>
                <a:srgbClr val="475569"/>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04" name="Google Shape;204;p19"/>
              <p:cNvSpPr txBox="1"/>
              <p:nvPr/>
            </p:nvSpPr>
            <p:spPr>
              <a:xfrm>
                <a:off x="0" y="0"/>
                <a:ext cx="428700" cy="666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none" strike="noStrike" cap="none">
                    <a:solidFill>
                      <a:srgbClr val="FFFFFF"/>
                    </a:solidFill>
                    <a:latin typeface="Inter ExtraBold"/>
                    <a:ea typeface="Inter ExtraBold"/>
                    <a:cs typeface="Inter ExtraBold"/>
                    <a:sym typeface="Inter ExtraBold"/>
                  </a:rPr>
                  <a:t>M01</a:t>
                </a:r>
                <a:endParaRPr sz="1100" b="0" i="0" u="none" strike="noStrike" cap="none">
                  <a:solidFill>
                    <a:srgbClr val="FFFFFF"/>
                  </a:solidFill>
                  <a:latin typeface="Inter ExtraBold"/>
                  <a:ea typeface="Inter ExtraBold"/>
                  <a:cs typeface="Inter ExtraBold"/>
                  <a:sym typeface="Inter ExtraBold"/>
                </a:endParaRPr>
              </a:p>
            </p:txBody>
          </p:sp>
          <p:sp>
            <p:nvSpPr>
              <p:cNvPr id="205" name="Google Shape;205;p19"/>
              <p:cNvSpPr txBox="1"/>
              <p:nvPr/>
            </p:nvSpPr>
            <p:spPr>
              <a:xfrm>
                <a:off x="523875" y="0"/>
                <a:ext cx="1381200" cy="666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850"/>
                  <a:buFont typeface="Arial"/>
                  <a:buNone/>
                </a:pPr>
                <a:r>
                  <a:rPr lang="en" sz="850" b="0" i="0" u="none" strike="noStrike" cap="none">
                    <a:solidFill>
                      <a:srgbClr val="0F172A"/>
                    </a:solidFill>
                    <a:latin typeface="Inter SemiBold"/>
                    <a:ea typeface="Inter SemiBold"/>
                    <a:cs typeface="Inter SemiBold"/>
                    <a:sym typeface="Inter SemiBold"/>
                  </a:rPr>
                  <a:t>Quản lý bảo hành thiết bị</a:t>
                </a:r>
                <a:endParaRPr sz="850" b="0" i="0" u="none" strike="noStrike" cap="none">
                  <a:solidFill>
                    <a:srgbClr val="0F172A"/>
                  </a:solidFill>
                  <a:latin typeface="Inter SemiBold"/>
                  <a:ea typeface="Inter SemiBold"/>
                  <a:cs typeface="Inter SemiBold"/>
                  <a:sym typeface="Inter SemiBold"/>
                </a:endParaRPr>
              </a:p>
            </p:txBody>
          </p:sp>
        </p:grpSp>
        <p:grpSp>
          <p:nvGrpSpPr>
            <p:cNvPr id="206" name="Google Shape;206;p19"/>
            <p:cNvGrpSpPr/>
            <p:nvPr/>
          </p:nvGrpSpPr>
          <p:grpSpPr>
            <a:xfrm>
              <a:off x="3857625" y="142875"/>
              <a:ext cx="2000100" cy="666900"/>
              <a:chOff x="0" y="0"/>
              <a:chExt cx="2000100" cy="666900"/>
            </a:xfrm>
          </p:grpSpPr>
          <p:sp>
            <p:nvSpPr>
              <p:cNvPr id="207" name="Google Shape;207;p19"/>
              <p:cNvSpPr/>
              <p:nvPr/>
            </p:nvSpPr>
            <p:spPr>
              <a:xfrm>
                <a:off x="0" y="0"/>
                <a:ext cx="2000100" cy="666900"/>
              </a:xfrm>
              <a:prstGeom prst="roundRect">
                <a:avLst>
                  <a:gd name="adj" fmla="val 5713"/>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08" name="Google Shape;208;p19"/>
              <p:cNvSpPr/>
              <p:nvPr/>
            </p:nvSpPr>
            <p:spPr>
              <a:xfrm>
                <a:off x="0" y="0"/>
                <a:ext cx="428700" cy="666900"/>
              </a:xfrm>
              <a:prstGeom prst="roundRect">
                <a:avLst>
                  <a:gd name="adj" fmla="val 8887"/>
                </a:avLst>
              </a:prstGeom>
              <a:solidFill>
                <a:srgbClr val="475569"/>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09" name="Google Shape;209;p19"/>
              <p:cNvSpPr/>
              <p:nvPr/>
            </p:nvSpPr>
            <p:spPr>
              <a:xfrm>
                <a:off x="381000" y="0"/>
                <a:ext cx="47700" cy="666900"/>
              </a:xfrm>
              <a:prstGeom prst="rect">
                <a:avLst/>
              </a:prstGeom>
              <a:solidFill>
                <a:srgbClr val="475569"/>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0" name="Google Shape;210;p19"/>
              <p:cNvSpPr txBox="1"/>
              <p:nvPr/>
            </p:nvSpPr>
            <p:spPr>
              <a:xfrm>
                <a:off x="0" y="0"/>
                <a:ext cx="428700" cy="666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none" strike="noStrike" cap="none">
                    <a:solidFill>
                      <a:srgbClr val="FFFFFF"/>
                    </a:solidFill>
                    <a:latin typeface="Inter ExtraBold"/>
                    <a:ea typeface="Inter ExtraBold"/>
                    <a:cs typeface="Inter ExtraBold"/>
                    <a:sym typeface="Inter ExtraBold"/>
                  </a:rPr>
                  <a:t>M02</a:t>
                </a:r>
                <a:endParaRPr sz="1100" b="0" i="0" u="none" strike="noStrike" cap="none">
                  <a:solidFill>
                    <a:srgbClr val="FFFFFF"/>
                  </a:solidFill>
                  <a:latin typeface="Inter ExtraBold"/>
                  <a:ea typeface="Inter ExtraBold"/>
                  <a:cs typeface="Inter ExtraBold"/>
                  <a:sym typeface="Inter ExtraBold"/>
                </a:endParaRPr>
              </a:p>
            </p:txBody>
          </p:sp>
          <p:sp>
            <p:nvSpPr>
              <p:cNvPr id="211" name="Google Shape;211;p19"/>
              <p:cNvSpPr txBox="1"/>
              <p:nvPr/>
            </p:nvSpPr>
            <p:spPr>
              <a:xfrm>
                <a:off x="523875" y="0"/>
                <a:ext cx="1381200" cy="666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850"/>
                  <a:buFont typeface="Arial"/>
                  <a:buNone/>
                </a:pPr>
                <a:r>
                  <a:rPr lang="en" sz="850" b="0" i="0" u="none" strike="noStrike" cap="none">
                    <a:solidFill>
                      <a:srgbClr val="0F172A"/>
                    </a:solidFill>
                    <a:latin typeface="Inter SemiBold"/>
                    <a:ea typeface="Inter SemiBold"/>
                    <a:cs typeface="Inter SemiBold"/>
                    <a:sym typeface="Inter SemiBold"/>
                  </a:rPr>
                  <a:t>Quản lý KTV</a:t>
                </a:r>
                <a:endParaRPr sz="850" b="0" i="0" u="none" strike="noStrike" cap="none">
                  <a:solidFill>
                    <a:srgbClr val="0F172A"/>
                  </a:solidFill>
                  <a:latin typeface="Inter SemiBold"/>
                  <a:ea typeface="Inter SemiBold"/>
                  <a:cs typeface="Inter SemiBold"/>
                  <a:sym typeface="Inter SemiBold"/>
                </a:endParaRPr>
              </a:p>
            </p:txBody>
          </p:sp>
        </p:grpSp>
        <p:grpSp>
          <p:nvGrpSpPr>
            <p:cNvPr id="212" name="Google Shape;212;p19"/>
            <p:cNvGrpSpPr/>
            <p:nvPr/>
          </p:nvGrpSpPr>
          <p:grpSpPr>
            <a:xfrm>
              <a:off x="6000750" y="142875"/>
              <a:ext cx="2000100" cy="666900"/>
              <a:chOff x="0" y="0"/>
              <a:chExt cx="2000100" cy="666900"/>
            </a:xfrm>
          </p:grpSpPr>
          <p:sp>
            <p:nvSpPr>
              <p:cNvPr id="213" name="Google Shape;213;p19"/>
              <p:cNvSpPr/>
              <p:nvPr/>
            </p:nvSpPr>
            <p:spPr>
              <a:xfrm>
                <a:off x="0" y="0"/>
                <a:ext cx="2000100" cy="666900"/>
              </a:xfrm>
              <a:prstGeom prst="roundRect">
                <a:avLst>
                  <a:gd name="adj" fmla="val 5713"/>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4" name="Google Shape;214;p19"/>
              <p:cNvSpPr/>
              <p:nvPr/>
            </p:nvSpPr>
            <p:spPr>
              <a:xfrm>
                <a:off x="0" y="0"/>
                <a:ext cx="428700" cy="666900"/>
              </a:xfrm>
              <a:prstGeom prst="roundRect">
                <a:avLst>
                  <a:gd name="adj" fmla="val 8887"/>
                </a:avLst>
              </a:prstGeom>
              <a:solidFill>
                <a:srgbClr val="475569"/>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5" name="Google Shape;215;p19"/>
              <p:cNvSpPr/>
              <p:nvPr/>
            </p:nvSpPr>
            <p:spPr>
              <a:xfrm>
                <a:off x="381000" y="0"/>
                <a:ext cx="47700" cy="666900"/>
              </a:xfrm>
              <a:prstGeom prst="rect">
                <a:avLst/>
              </a:prstGeom>
              <a:solidFill>
                <a:srgbClr val="475569"/>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16" name="Google Shape;216;p19"/>
              <p:cNvSpPr txBox="1"/>
              <p:nvPr/>
            </p:nvSpPr>
            <p:spPr>
              <a:xfrm>
                <a:off x="0" y="0"/>
                <a:ext cx="428700" cy="666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none" strike="noStrike" cap="none">
                    <a:solidFill>
                      <a:srgbClr val="FFFFFF"/>
                    </a:solidFill>
                    <a:latin typeface="Inter ExtraBold"/>
                    <a:ea typeface="Inter ExtraBold"/>
                    <a:cs typeface="Inter ExtraBold"/>
                    <a:sym typeface="Inter ExtraBold"/>
                  </a:rPr>
                  <a:t>M03</a:t>
                </a:r>
                <a:endParaRPr sz="1100" b="0" i="0" u="none" strike="noStrike" cap="none">
                  <a:solidFill>
                    <a:srgbClr val="FFFFFF"/>
                  </a:solidFill>
                  <a:latin typeface="Inter ExtraBold"/>
                  <a:ea typeface="Inter ExtraBold"/>
                  <a:cs typeface="Inter ExtraBold"/>
                  <a:sym typeface="Inter ExtraBold"/>
                </a:endParaRPr>
              </a:p>
            </p:txBody>
          </p:sp>
          <p:sp>
            <p:nvSpPr>
              <p:cNvPr id="217" name="Google Shape;217;p19"/>
              <p:cNvSpPr txBox="1"/>
              <p:nvPr/>
            </p:nvSpPr>
            <p:spPr>
              <a:xfrm>
                <a:off x="523875" y="0"/>
                <a:ext cx="1381200" cy="666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850"/>
                  <a:buFont typeface="Arial"/>
                  <a:buNone/>
                </a:pPr>
                <a:r>
                  <a:rPr lang="en" sz="850" b="0" i="0" u="none" strike="noStrike" cap="none">
                    <a:solidFill>
                      <a:srgbClr val="0F172A"/>
                    </a:solidFill>
                    <a:latin typeface="Inter SemiBold"/>
                    <a:ea typeface="Inter SemiBold"/>
                    <a:cs typeface="Inter SemiBold"/>
                    <a:sym typeface="Inter SemiBold"/>
                  </a:rPr>
                  <a:t>Quản lý chất lượng dịch vụ booking</a:t>
                </a:r>
                <a:endParaRPr sz="850" b="0" i="0" u="none" strike="noStrike" cap="none">
                  <a:solidFill>
                    <a:srgbClr val="0F172A"/>
                  </a:solidFill>
                  <a:latin typeface="Inter SemiBold"/>
                  <a:ea typeface="Inter SemiBold"/>
                  <a:cs typeface="Inter SemiBold"/>
                  <a:sym typeface="Inter SemiBold"/>
                </a:endParaRPr>
              </a:p>
            </p:txBody>
          </p:sp>
        </p:grpSp>
      </p:grpSp>
      <p:grpSp>
        <p:nvGrpSpPr>
          <p:cNvPr id="218" name="Google Shape;218;p19"/>
          <p:cNvGrpSpPr/>
          <p:nvPr/>
        </p:nvGrpSpPr>
        <p:grpSpPr>
          <a:xfrm>
            <a:off x="381000" y="2428875"/>
            <a:ext cx="8382000" cy="952500"/>
            <a:chOff x="0" y="0"/>
            <a:chExt cx="8382000" cy="952500"/>
          </a:xfrm>
        </p:grpSpPr>
        <p:sp>
          <p:nvSpPr>
            <p:cNvPr id="219" name="Google Shape;219;p19"/>
            <p:cNvSpPr/>
            <p:nvPr/>
          </p:nvSpPr>
          <p:spPr>
            <a:xfrm>
              <a:off x="0" y="0"/>
              <a:ext cx="8382000" cy="952500"/>
            </a:xfrm>
            <a:prstGeom prst="roundRect">
              <a:avLst>
                <a:gd name="adj" fmla="val 6000"/>
              </a:avLst>
            </a:prstGeom>
            <a:solidFill>
              <a:srgbClr val="F0FDF4"/>
            </a:solidFill>
            <a:ln w="9525" cap="flat" cmpd="sng">
              <a:solidFill>
                <a:srgbClr val="DCFCE7"/>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20" name="Google Shape;220;p19"/>
            <p:cNvSpPr/>
            <p:nvPr/>
          </p:nvSpPr>
          <p:spPr>
            <a:xfrm>
              <a:off x="0" y="0"/>
              <a:ext cx="1524000" cy="952500"/>
            </a:xfrm>
            <a:prstGeom prst="roundRect">
              <a:avLst>
                <a:gd name="adj" fmla="val 60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21" name="Google Shape;221;p19"/>
            <p:cNvSpPr/>
            <p:nvPr/>
          </p:nvSpPr>
          <p:spPr>
            <a:xfrm>
              <a:off x="1428750" y="0"/>
              <a:ext cx="95400" cy="952500"/>
            </a:xfrm>
            <a:prstGeom prst="rect">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22" name="Google Shape;222;p19"/>
            <p:cNvSpPr txBox="1"/>
            <p:nvPr/>
          </p:nvSpPr>
          <p:spPr>
            <a:xfrm>
              <a:off x="95250" y="0"/>
              <a:ext cx="1333500" cy="9525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FFFF"/>
                  </a:solidFill>
                  <a:latin typeface="Inter ExtraBold"/>
                  <a:ea typeface="Inter ExtraBold"/>
                  <a:cs typeface="Inter ExtraBold"/>
                  <a:sym typeface="Inter ExtraBold"/>
                </a:rPr>
                <a:t>Cốt lõi</a:t>
              </a:r>
              <a:endParaRPr sz="1000" b="0" i="0" u="none" strike="noStrike" cap="none">
                <a:solidFill>
                  <a:srgbClr val="FFFFFF"/>
                </a:solidFill>
                <a:latin typeface="Inter ExtraBold"/>
                <a:ea typeface="Inter ExtraBold"/>
                <a:cs typeface="Inter ExtraBold"/>
                <a:sym typeface="Inter ExtraBold"/>
              </a:endParaRPr>
            </a:p>
            <a:p>
              <a:pPr marL="0" marR="0" lvl="0" indent="0" algn="ctr" rtl="0">
                <a:lnSpc>
                  <a:spcPct val="100000"/>
                </a:lnSpc>
                <a:spcBef>
                  <a:spcPts val="300"/>
                </a:spcBef>
                <a:spcAft>
                  <a:spcPts val="0"/>
                </a:spcAft>
                <a:buClr>
                  <a:srgbClr val="000000"/>
                </a:buClr>
                <a:buSzPts val="750"/>
                <a:buFont typeface="Arial"/>
                <a:buNone/>
              </a:pPr>
              <a:r>
                <a:rPr lang="en" sz="750" b="0" i="0" u="none" strike="noStrike" cap="none">
                  <a:solidFill>
                    <a:srgbClr val="99F6E4"/>
                  </a:solidFill>
                  <a:latin typeface="Inter Medium"/>
                  <a:ea typeface="Inter Medium"/>
                  <a:cs typeface="Inter Medium"/>
                  <a:sym typeface="Inter Medium"/>
                </a:rPr>
                <a:t>Core Processes</a:t>
              </a:r>
              <a:endParaRPr sz="750" b="0" i="0" u="none" strike="noStrike" cap="none">
                <a:solidFill>
                  <a:srgbClr val="99F6E4"/>
                </a:solidFill>
                <a:latin typeface="Inter Medium"/>
                <a:ea typeface="Inter Medium"/>
                <a:cs typeface="Inter Medium"/>
                <a:sym typeface="Inter Medium"/>
              </a:endParaRPr>
            </a:p>
          </p:txBody>
        </p:sp>
        <p:grpSp>
          <p:nvGrpSpPr>
            <p:cNvPr id="223" name="Google Shape;223;p19"/>
            <p:cNvGrpSpPr/>
            <p:nvPr/>
          </p:nvGrpSpPr>
          <p:grpSpPr>
            <a:xfrm>
              <a:off x="1714500" y="142875"/>
              <a:ext cx="1476300" cy="666900"/>
              <a:chOff x="0" y="0"/>
              <a:chExt cx="1476300" cy="666900"/>
            </a:xfrm>
          </p:grpSpPr>
          <p:sp>
            <p:nvSpPr>
              <p:cNvPr id="224" name="Google Shape;224;p19"/>
              <p:cNvSpPr/>
              <p:nvPr/>
            </p:nvSpPr>
            <p:spPr>
              <a:xfrm>
                <a:off x="0" y="0"/>
                <a:ext cx="1476300" cy="666900"/>
              </a:xfrm>
              <a:prstGeom prst="roundRect">
                <a:avLst>
                  <a:gd name="adj" fmla="val 5713"/>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25" name="Google Shape;225;p19"/>
              <p:cNvSpPr/>
              <p:nvPr/>
            </p:nvSpPr>
            <p:spPr>
              <a:xfrm>
                <a:off x="0" y="0"/>
                <a:ext cx="381000" cy="666900"/>
              </a:xfrm>
              <a:prstGeom prst="roundRect">
                <a:avLst>
                  <a:gd name="adj" fmla="val 100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26" name="Google Shape;226;p19"/>
              <p:cNvSpPr/>
              <p:nvPr/>
            </p:nvSpPr>
            <p:spPr>
              <a:xfrm>
                <a:off x="333375" y="0"/>
                <a:ext cx="47700" cy="666900"/>
              </a:xfrm>
              <a:prstGeom prst="rect">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27" name="Google Shape;227;p19"/>
              <p:cNvSpPr txBox="1"/>
              <p:nvPr/>
            </p:nvSpPr>
            <p:spPr>
              <a:xfrm>
                <a:off x="0" y="0"/>
                <a:ext cx="381000" cy="666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FFFF"/>
                    </a:solidFill>
                    <a:latin typeface="Inter ExtraBold"/>
                    <a:ea typeface="Inter ExtraBold"/>
                    <a:cs typeface="Inter ExtraBold"/>
                    <a:sym typeface="Inter ExtraBold"/>
                  </a:rPr>
                  <a:t>C01</a:t>
                </a:r>
                <a:endParaRPr sz="1000" b="0" i="0" u="none" strike="noStrike" cap="none">
                  <a:solidFill>
                    <a:srgbClr val="FFFFFF"/>
                  </a:solidFill>
                  <a:latin typeface="Inter ExtraBold"/>
                  <a:ea typeface="Inter ExtraBold"/>
                  <a:cs typeface="Inter ExtraBold"/>
                  <a:sym typeface="Inter ExtraBold"/>
                </a:endParaRPr>
              </a:p>
            </p:txBody>
          </p:sp>
          <p:sp>
            <p:nvSpPr>
              <p:cNvPr id="228" name="Google Shape;228;p19"/>
              <p:cNvSpPr txBox="1"/>
              <p:nvPr/>
            </p:nvSpPr>
            <p:spPr>
              <a:xfrm>
                <a:off x="457200" y="0"/>
                <a:ext cx="971700" cy="666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800"/>
                  <a:buFont typeface="Arial"/>
                  <a:buNone/>
                </a:pPr>
                <a:r>
                  <a:rPr lang="en" sz="800" b="0" i="0" u="none" strike="noStrike" cap="none">
                    <a:solidFill>
                      <a:srgbClr val="0F172A"/>
                    </a:solidFill>
                    <a:latin typeface="Inter SemiBold"/>
                    <a:ea typeface="Inter SemiBold"/>
                    <a:cs typeface="Inter SemiBold"/>
                    <a:sym typeface="Inter SemiBold"/>
                  </a:rPr>
                  <a:t>Khách hàng đặt booking</a:t>
                </a:r>
                <a:endParaRPr sz="800" b="0" i="0" u="none" strike="noStrike" cap="none">
                  <a:solidFill>
                    <a:srgbClr val="0F172A"/>
                  </a:solidFill>
                  <a:latin typeface="Inter SemiBold"/>
                  <a:ea typeface="Inter SemiBold"/>
                  <a:cs typeface="Inter SemiBold"/>
                  <a:sym typeface="Inter SemiBold"/>
                </a:endParaRPr>
              </a:p>
            </p:txBody>
          </p:sp>
        </p:grpSp>
        <p:grpSp>
          <p:nvGrpSpPr>
            <p:cNvPr id="229" name="Google Shape;229;p19"/>
            <p:cNvGrpSpPr/>
            <p:nvPr/>
          </p:nvGrpSpPr>
          <p:grpSpPr>
            <a:xfrm>
              <a:off x="3314700" y="142875"/>
              <a:ext cx="1476300" cy="666900"/>
              <a:chOff x="0" y="0"/>
              <a:chExt cx="1476300" cy="666900"/>
            </a:xfrm>
          </p:grpSpPr>
          <p:sp>
            <p:nvSpPr>
              <p:cNvPr id="230" name="Google Shape;230;p19"/>
              <p:cNvSpPr/>
              <p:nvPr/>
            </p:nvSpPr>
            <p:spPr>
              <a:xfrm>
                <a:off x="0" y="0"/>
                <a:ext cx="1476300" cy="666900"/>
              </a:xfrm>
              <a:prstGeom prst="roundRect">
                <a:avLst>
                  <a:gd name="adj" fmla="val 5713"/>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31" name="Google Shape;231;p19"/>
              <p:cNvSpPr/>
              <p:nvPr/>
            </p:nvSpPr>
            <p:spPr>
              <a:xfrm>
                <a:off x="0" y="0"/>
                <a:ext cx="381000" cy="666900"/>
              </a:xfrm>
              <a:prstGeom prst="roundRect">
                <a:avLst>
                  <a:gd name="adj" fmla="val 100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32" name="Google Shape;232;p19"/>
              <p:cNvSpPr/>
              <p:nvPr/>
            </p:nvSpPr>
            <p:spPr>
              <a:xfrm>
                <a:off x="333375" y="0"/>
                <a:ext cx="47700" cy="666900"/>
              </a:xfrm>
              <a:prstGeom prst="rect">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33" name="Google Shape;233;p19"/>
              <p:cNvSpPr txBox="1"/>
              <p:nvPr/>
            </p:nvSpPr>
            <p:spPr>
              <a:xfrm>
                <a:off x="0" y="0"/>
                <a:ext cx="381000" cy="666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FFFF"/>
                    </a:solidFill>
                    <a:latin typeface="Inter ExtraBold"/>
                    <a:ea typeface="Inter ExtraBold"/>
                    <a:cs typeface="Inter ExtraBold"/>
                    <a:sym typeface="Inter ExtraBold"/>
                  </a:rPr>
                  <a:t>C02</a:t>
                </a:r>
                <a:endParaRPr sz="1000" b="0" i="0" u="none" strike="noStrike" cap="none">
                  <a:solidFill>
                    <a:srgbClr val="FFFFFF"/>
                  </a:solidFill>
                  <a:latin typeface="Inter ExtraBold"/>
                  <a:ea typeface="Inter ExtraBold"/>
                  <a:cs typeface="Inter ExtraBold"/>
                  <a:sym typeface="Inter ExtraBold"/>
                </a:endParaRPr>
              </a:p>
            </p:txBody>
          </p:sp>
          <p:sp>
            <p:nvSpPr>
              <p:cNvPr id="234" name="Google Shape;234;p19"/>
              <p:cNvSpPr txBox="1"/>
              <p:nvPr/>
            </p:nvSpPr>
            <p:spPr>
              <a:xfrm>
                <a:off x="457200" y="0"/>
                <a:ext cx="971700" cy="666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800"/>
                  <a:buFont typeface="Arial"/>
                  <a:buNone/>
                </a:pPr>
                <a:r>
                  <a:rPr lang="en" sz="800" b="0" i="0" u="none" strike="noStrike" cap="none">
                    <a:solidFill>
                      <a:srgbClr val="0F172A"/>
                    </a:solidFill>
                    <a:latin typeface="Inter SemiBold"/>
                    <a:ea typeface="Inter SemiBold"/>
                    <a:cs typeface="Inter SemiBold"/>
                    <a:sym typeface="Inter SemiBold"/>
                  </a:rPr>
                  <a:t>CS assign KTV cho booking</a:t>
                </a:r>
                <a:endParaRPr sz="800" b="0" i="0" u="none" strike="noStrike" cap="none">
                  <a:solidFill>
                    <a:srgbClr val="0F172A"/>
                  </a:solidFill>
                  <a:latin typeface="Inter SemiBold"/>
                  <a:ea typeface="Inter SemiBold"/>
                  <a:cs typeface="Inter SemiBold"/>
                  <a:sym typeface="Inter SemiBold"/>
                </a:endParaRPr>
              </a:p>
            </p:txBody>
          </p:sp>
        </p:grpSp>
        <p:grpSp>
          <p:nvGrpSpPr>
            <p:cNvPr id="235" name="Google Shape;235;p19"/>
            <p:cNvGrpSpPr/>
            <p:nvPr/>
          </p:nvGrpSpPr>
          <p:grpSpPr>
            <a:xfrm>
              <a:off x="4914900" y="142875"/>
              <a:ext cx="1476300" cy="666900"/>
              <a:chOff x="0" y="0"/>
              <a:chExt cx="1476300" cy="666900"/>
            </a:xfrm>
          </p:grpSpPr>
          <p:sp>
            <p:nvSpPr>
              <p:cNvPr id="236" name="Google Shape;236;p19"/>
              <p:cNvSpPr/>
              <p:nvPr/>
            </p:nvSpPr>
            <p:spPr>
              <a:xfrm>
                <a:off x="0" y="0"/>
                <a:ext cx="1476300" cy="666900"/>
              </a:xfrm>
              <a:prstGeom prst="roundRect">
                <a:avLst>
                  <a:gd name="adj" fmla="val 5713"/>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37" name="Google Shape;237;p19"/>
              <p:cNvSpPr/>
              <p:nvPr/>
            </p:nvSpPr>
            <p:spPr>
              <a:xfrm>
                <a:off x="0" y="0"/>
                <a:ext cx="381000" cy="666900"/>
              </a:xfrm>
              <a:prstGeom prst="roundRect">
                <a:avLst>
                  <a:gd name="adj" fmla="val 100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38" name="Google Shape;238;p19"/>
              <p:cNvSpPr/>
              <p:nvPr/>
            </p:nvSpPr>
            <p:spPr>
              <a:xfrm>
                <a:off x="333375" y="0"/>
                <a:ext cx="47700" cy="666900"/>
              </a:xfrm>
              <a:prstGeom prst="rect">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39" name="Google Shape;239;p19"/>
              <p:cNvSpPr txBox="1"/>
              <p:nvPr/>
            </p:nvSpPr>
            <p:spPr>
              <a:xfrm>
                <a:off x="0" y="0"/>
                <a:ext cx="381000" cy="666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FFFF"/>
                    </a:solidFill>
                    <a:latin typeface="Inter ExtraBold"/>
                    <a:ea typeface="Inter ExtraBold"/>
                    <a:cs typeface="Inter ExtraBold"/>
                    <a:sym typeface="Inter ExtraBold"/>
                  </a:rPr>
                  <a:t>C03</a:t>
                </a:r>
                <a:endParaRPr sz="1000" b="0" i="0" u="none" strike="noStrike" cap="none">
                  <a:solidFill>
                    <a:srgbClr val="FFFFFF"/>
                  </a:solidFill>
                  <a:latin typeface="Inter ExtraBold"/>
                  <a:ea typeface="Inter ExtraBold"/>
                  <a:cs typeface="Inter ExtraBold"/>
                  <a:sym typeface="Inter ExtraBold"/>
                </a:endParaRPr>
              </a:p>
            </p:txBody>
          </p:sp>
          <p:sp>
            <p:nvSpPr>
              <p:cNvPr id="240" name="Google Shape;240;p19"/>
              <p:cNvSpPr txBox="1"/>
              <p:nvPr/>
            </p:nvSpPr>
            <p:spPr>
              <a:xfrm>
                <a:off x="457200" y="0"/>
                <a:ext cx="971700" cy="666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800"/>
                  <a:buFont typeface="Arial"/>
                  <a:buNone/>
                </a:pPr>
                <a:r>
                  <a:rPr lang="en" sz="800" b="0" i="0" u="none" strike="noStrike" cap="none">
                    <a:solidFill>
                      <a:srgbClr val="0F172A"/>
                    </a:solidFill>
                    <a:latin typeface="Inter SemiBold"/>
                    <a:ea typeface="Inter SemiBold"/>
                    <a:cs typeface="Inter SemiBold"/>
                    <a:sym typeface="Inter SemiBold"/>
                  </a:rPr>
                  <a:t>KTV nhận và xử lý booking</a:t>
                </a:r>
                <a:endParaRPr sz="800" b="0" i="0" u="none" strike="noStrike" cap="none">
                  <a:solidFill>
                    <a:srgbClr val="0F172A"/>
                  </a:solidFill>
                  <a:latin typeface="Inter SemiBold"/>
                  <a:ea typeface="Inter SemiBold"/>
                  <a:cs typeface="Inter SemiBold"/>
                  <a:sym typeface="Inter SemiBold"/>
                </a:endParaRPr>
              </a:p>
            </p:txBody>
          </p:sp>
        </p:grpSp>
        <p:grpSp>
          <p:nvGrpSpPr>
            <p:cNvPr id="241" name="Google Shape;241;p19"/>
            <p:cNvGrpSpPr/>
            <p:nvPr/>
          </p:nvGrpSpPr>
          <p:grpSpPr>
            <a:xfrm>
              <a:off x="6515100" y="142875"/>
              <a:ext cx="1476300" cy="666900"/>
              <a:chOff x="0" y="0"/>
              <a:chExt cx="1476300" cy="666900"/>
            </a:xfrm>
          </p:grpSpPr>
          <p:sp>
            <p:nvSpPr>
              <p:cNvPr id="242" name="Google Shape;242;p19"/>
              <p:cNvSpPr/>
              <p:nvPr/>
            </p:nvSpPr>
            <p:spPr>
              <a:xfrm>
                <a:off x="0" y="0"/>
                <a:ext cx="1476300" cy="666900"/>
              </a:xfrm>
              <a:prstGeom prst="roundRect">
                <a:avLst>
                  <a:gd name="adj" fmla="val 5713"/>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43" name="Google Shape;243;p19"/>
              <p:cNvSpPr/>
              <p:nvPr/>
            </p:nvSpPr>
            <p:spPr>
              <a:xfrm>
                <a:off x="0" y="0"/>
                <a:ext cx="381000" cy="666900"/>
              </a:xfrm>
              <a:prstGeom prst="roundRect">
                <a:avLst>
                  <a:gd name="adj" fmla="val 100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44" name="Google Shape;244;p19"/>
              <p:cNvSpPr/>
              <p:nvPr/>
            </p:nvSpPr>
            <p:spPr>
              <a:xfrm>
                <a:off x="333375" y="0"/>
                <a:ext cx="47700" cy="666900"/>
              </a:xfrm>
              <a:prstGeom prst="rect">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45" name="Google Shape;245;p19"/>
              <p:cNvSpPr txBox="1"/>
              <p:nvPr/>
            </p:nvSpPr>
            <p:spPr>
              <a:xfrm>
                <a:off x="0" y="0"/>
                <a:ext cx="381000" cy="666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FFFF"/>
                    </a:solidFill>
                    <a:latin typeface="Inter ExtraBold"/>
                    <a:ea typeface="Inter ExtraBold"/>
                    <a:cs typeface="Inter ExtraBold"/>
                    <a:sym typeface="Inter ExtraBold"/>
                  </a:rPr>
                  <a:t>C04</a:t>
                </a:r>
                <a:endParaRPr sz="1000" b="0" i="0" u="none" strike="noStrike" cap="none">
                  <a:solidFill>
                    <a:srgbClr val="FFFFFF"/>
                  </a:solidFill>
                  <a:latin typeface="Inter ExtraBold"/>
                  <a:ea typeface="Inter ExtraBold"/>
                  <a:cs typeface="Inter ExtraBold"/>
                  <a:sym typeface="Inter ExtraBold"/>
                </a:endParaRPr>
              </a:p>
            </p:txBody>
          </p:sp>
          <p:sp>
            <p:nvSpPr>
              <p:cNvPr id="246" name="Google Shape;246;p19"/>
              <p:cNvSpPr txBox="1"/>
              <p:nvPr/>
            </p:nvSpPr>
            <p:spPr>
              <a:xfrm>
                <a:off x="457200" y="0"/>
                <a:ext cx="971700" cy="666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800"/>
                  <a:buFont typeface="Arial"/>
                  <a:buNone/>
                </a:pPr>
                <a:r>
                  <a:rPr lang="en" sz="800" b="0" i="0" u="none" strike="noStrike" cap="none">
                    <a:solidFill>
                      <a:srgbClr val="0F172A"/>
                    </a:solidFill>
                    <a:latin typeface="Inter SemiBold"/>
                    <a:ea typeface="Inter SemiBold"/>
                    <a:cs typeface="Inter SemiBold"/>
                    <a:sym typeface="Inter SemiBold"/>
                  </a:rPr>
                  <a:t>Khách hàng thanh toán &amp; đóng booking</a:t>
                </a:r>
                <a:endParaRPr sz="800" b="0" i="0" u="none" strike="noStrike" cap="none">
                  <a:solidFill>
                    <a:srgbClr val="0F172A"/>
                  </a:solidFill>
                  <a:latin typeface="Inter SemiBold"/>
                  <a:ea typeface="Inter SemiBold"/>
                  <a:cs typeface="Inter SemiBold"/>
                  <a:sym typeface="Inter SemiBold"/>
                </a:endParaRPr>
              </a:p>
            </p:txBody>
          </p:sp>
        </p:grpSp>
      </p:grpSp>
      <p:grpSp>
        <p:nvGrpSpPr>
          <p:cNvPr id="247" name="Google Shape;247;p19"/>
          <p:cNvGrpSpPr/>
          <p:nvPr/>
        </p:nvGrpSpPr>
        <p:grpSpPr>
          <a:xfrm>
            <a:off x="381000" y="3524250"/>
            <a:ext cx="8382000" cy="952500"/>
            <a:chOff x="0" y="0"/>
            <a:chExt cx="8382000" cy="952500"/>
          </a:xfrm>
        </p:grpSpPr>
        <p:sp>
          <p:nvSpPr>
            <p:cNvPr id="248" name="Google Shape;248;p19"/>
            <p:cNvSpPr/>
            <p:nvPr/>
          </p:nvSpPr>
          <p:spPr>
            <a:xfrm>
              <a:off x="0" y="0"/>
              <a:ext cx="8382000" cy="952500"/>
            </a:xfrm>
            <a:prstGeom prst="roundRect">
              <a:avLst>
                <a:gd name="adj" fmla="val 6000"/>
              </a:avLst>
            </a:prstGeom>
            <a:solidFill>
              <a:srgbClr val="F0F9FF"/>
            </a:solidFill>
            <a:ln w="9525" cap="flat" cmpd="sng">
              <a:solidFill>
                <a:srgbClr val="E0F2FE"/>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49" name="Google Shape;249;p19"/>
            <p:cNvSpPr/>
            <p:nvPr/>
          </p:nvSpPr>
          <p:spPr>
            <a:xfrm>
              <a:off x="0" y="0"/>
              <a:ext cx="1524000" cy="952500"/>
            </a:xfrm>
            <a:prstGeom prst="roundRect">
              <a:avLst>
                <a:gd name="adj" fmla="val 6000"/>
              </a:avLst>
            </a:prstGeom>
            <a:solidFill>
              <a:srgbClr val="0284C7"/>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50" name="Google Shape;250;p19"/>
            <p:cNvSpPr/>
            <p:nvPr/>
          </p:nvSpPr>
          <p:spPr>
            <a:xfrm>
              <a:off x="1428750" y="0"/>
              <a:ext cx="95400" cy="952500"/>
            </a:xfrm>
            <a:prstGeom prst="rect">
              <a:avLst/>
            </a:prstGeom>
            <a:solidFill>
              <a:srgbClr val="0284C7"/>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51" name="Google Shape;251;p19"/>
            <p:cNvSpPr txBox="1"/>
            <p:nvPr/>
          </p:nvSpPr>
          <p:spPr>
            <a:xfrm>
              <a:off x="95250" y="0"/>
              <a:ext cx="1333500" cy="9525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FFFF"/>
                  </a:solidFill>
                  <a:latin typeface="Inter ExtraBold"/>
                  <a:ea typeface="Inter ExtraBold"/>
                  <a:cs typeface="Inter ExtraBold"/>
                  <a:sym typeface="Inter ExtraBold"/>
                </a:rPr>
                <a:t>Hỗ trợ</a:t>
              </a:r>
              <a:endParaRPr sz="1000" b="0" i="0" u="none" strike="noStrike" cap="none">
                <a:solidFill>
                  <a:srgbClr val="FFFFFF"/>
                </a:solidFill>
                <a:latin typeface="Inter ExtraBold"/>
                <a:ea typeface="Inter ExtraBold"/>
                <a:cs typeface="Inter ExtraBold"/>
                <a:sym typeface="Inter ExtraBold"/>
              </a:endParaRPr>
            </a:p>
            <a:p>
              <a:pPr marL="0" marR="0" lvl="0" indent="0" algn="ctr" rtl="0">
                <a:lnSpc>
                  <a:spcPct val="100000"/>
                </a:lnSpc>
                <a:spcBef>
                  <a:spcPts val="300"/>
                </a:spcBef>
                <a:spcAft>
                  <a:spcPts val="0"/>
                </a:spcAft>
                <a:buClr>
                  <a:srgbClr val="000000"/>
                </a:buClr>
                <a:buSzPts val="750"/>
                <a:buFont typeface="Arial"/>
                <a:buNone/>
              </a:pPr>
              <a:r>
                <a:rPr lang="en" sz="750" b="0" i="0" u="none" strike="noStrike" cap="none">
                  <a:solidFill>
                    <a:srgbClr val="BAE6FD"/>
                  </a:solidFill>
                  <a:latin typeface="Inter Medium"/>
                  <a:ea typeface="Inter Medium"/>
                  <a:cs typeface="Inter Medium"/>
                  <a:sym typeface="Inter Medium"/>
                </a:rPr>
                <a:t>Supporting</a:t>
              </a:r>
              <a:endParaRPr sz="750" b="0" i="0" u="none" strike="noStrike" cap="none">
                <a:solidFill>
                  <a:srgbClr val="BAE6FD"/>
                </a:solidFill>
                <a:latin typeface="Inter Medium"/>
                <a:ea typeface="Inter Medium"/>
                <a:cs typeface="Inter Medium"/>
                <a:sym typeface="Inter Medium"/>
              </a:endParaRPr>
            </a:p>
          </p:txBody>
        </p:sp>
        <p:grpSp>
          <p:nvGrpSpPr>
            <p:cNvPr id="252" name="Google Shape;252;p19"/>
            <p:cNvGrpSpPr/>
            <p:nvPr/>
          </p:nvGrpSpPr>
          <p:grpSpPr>
            <a:xfrm>
              <a:off x="1714500" y="142875"/>
              <a:ext cx="2000100" cy="666900"/>
              <a:chOff x="0" y="0"/>
              <a:chExt cx="2000100" cy="666900"/>
            </a:xfrm>
          </p:grpSpPr>
          <p:sp>
            <p:nvSpPr>
              <p:cNvPr id="253" name="Google Shape;253;p19"/>
              <p:cNvSpPr/>
              <p:nvPr/>
            </p:nvSpPr>
            <p:spPr>
              <a:xfrm>
                <a:off x="0" y="0"/>
                <a:ext cx="2000100" cy="666900"/>
              </a:xfrm>
              <a:prstGeom prst="roundRect">
                <a:avLst>
                  <a:gd name="adj" fmla="val 5713"/>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54" name="Google Shape;254;p19"/>
              <p:cNvSpPr/>
              <p:nvPr/>
            </p:nvSpPr>
            <p:spPr>
              <a:xfrm>
                <a:off x="0" y="0"/>
                <a:ext cx="428700" cy="666900"/>
              </a:xfrm>
              <a:prstGeom prst="roundRect">
                <a:avLst>
                  <a:gd name="adj" fmla="val 8887"/>
                </a:avLst>
              </a:prstGeom>
              <a:solidFill>
                <a:srgbClr val="0284C7"/>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55" name="Google Shape;255;p19"/>
              <p:cNvSpPr/>
              <p:nvPr/>
            </p:nvSpPr>
            <p:spPr>
              <a:xfrm>
                <a:off x="381000" y="0"/>
                <a:ext cx="47700" cy="666900"/>
              </a:xfrm>
              <a:prstGeom prst="rect">
                <a:avLst/>
              </a:prstGeom>
              <a:solidFill>
                <a:srgbClr val="0284C7"/>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56" name="Google Shape;256;p19"/>
              <p:cNvSpPr txBox="1"/>
              <p:nvPr/>
            </p:nvSpPr>
            <p:spPr>
              <a:xfrm>
                <a:off x="0" y="0"/>
                <a:ext cx="428700" cy="666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none" strike="noStrike" cap="none">
                    <a:solidFill>
                      <a:srgbClr val="FFFFFF"/>
                    </a:solidFill>
                    <a:latin typeface="Inter ExtraBold"/>
                    <a:ea typeface="Inter ExtraBold"/>
                    <a:cs typeface="Inter ExtraBold"/>
                    <a:sym typeface="Inter ExtraBold"/>
                  </a:rPr>
                  <a:t>S01</a:t>
                </a:r>
                <a:endParaRPr sz="1100" b="0" i="0" u="none" strike="noStrike" cap="none">
                  <a:solidFill>
                    <a:srgbClr val="FFFFFF"/>
                  </a:solidFill>
                  <a:latin typeface="Inter ExtraBold"/>
                  <a:ea typeface="Inter ExtraBold"/>
                  <a:cs typeface="Inter ExtraBold"/>
                  <a:sym typeface="Inter ExtraBold"/>
                </a:endParaRPr>
              </a:p>
            </p:txBody>
          </p:sp>
          <p:sp>
            <p:nvSpPr>
              <p:cNvPr id="257" name="Google Shape;257;p19"/>
              <p:cNvSpPr txBox="1"/>
              <p:nvPr/>
            </p:nvSpPr>
            <p:spPr>
              <a:xfrm>
                <a:off x="523875" y="0"/>
                <a:ext cx="1381200" cy="666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850"/>
                  <a:buFont typeface="Arial"/>
                  <a:buNone/>
                </a:pPr>
                <a:r>
                  <a:rPr lang="en" sz="850" b="0" i="0" u="none" strike="noStrike" cap="none">
                    <a:solidFill>
                      <a:srgbClr val="0F172A"/>
                    </a:solidFill>
                    <a:latin typeface="Inter SemiBold"/>
                    <a:ea typeface="Inter SemiBold"/>
                    <a:cs typeface="Inter SemiBold"/>
                    <a:sym typeface="Inter SemiBold"/>
                  </a:rPr>
                  <a:t>Chat support</a:t>
                </a:r>
                <a:endParaRPr sz="850" b="0" i="0" u="none" strike="noStrike" cap="none">
                  <a:solidFill>
                    <a:srgbClr val="0F172A"/>
                  </a:solidFill>
                  <a:latin typeface="Inter SemiBold"/>
                  <a:ea typeface="Inter SemiBold"/>
                  <a:cs typeface="Inter SemiBold"/>
                  <a:sym typeface="Inter SemiBold"/>
                </a:endParaRPr>
              </a:p>
            </p:txBody>
          </p:sp>
        </p:grpSp>
        <p:grpSp>
          <p:nvGrpSpPr>
            <p:cNvPr id="258" name="Google Shape;258;p19"/>
            <p:cNvGrpSpPr/>
            <p:nvPr/>
          </p:nvGrpSpPr>
          <p:grpSpPr>
            <a:xfrm>
              <a:off x="3857625" y="142875"/>
              <a:ext cx="2000100" cy="666900"/>
              <a:chOff x="0" y="0"/>
              <a:chExt cx="2000100" cy="666900"/>
            </a:xfrm>
          </p:grpSpPr>
          <p:sp>
            <p:nvSpPr>
              <p:cNvPr id="259" name="Google Shape;259;p19"/>
              <p:cNvSpPr/>
              <p:nvPr/>
            </p:nvSpPr>
            <p:spPr>
              <a:xfrm>
                <a:off x="0" y="0"/>
                <a:ext cx="2000100" cy="666900"/>
              </a:xfrm>
              <a:prstGeom prst="roundRect">
                <a:avLst>
                  <a:gd name="adj" fmla="val 5713"/>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60" name="Google Shape;260;p19"/>
              <p:cNvSpPr/>
              <p:nvPr/>
            </p:nvSpPr>
            <p:spPr>
              <a:xfrm>
                <a:off x="0" y="0"/>
                <a:ext cx="428700" cy="666900"/>
              </a:xfrm>
              <a:prstGeom prst="roundRect">
                <a:avLst>
                  <a:gd name="adj" fmla="val 8887"/>
                </a:avLst>
              </a:prstGeom>
              <a:solidFill>
                <a:srgbClr val="0284C7"/>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61" name="Google Shape;261;p19"/>
              <p:cNvSpPr/>
              <p:nvPr/>
            </p:nvSpPr>
            <p:spPr>
              <a:xfrm>
                <a:off x="381000" y="0"/>
                <a:ext cx="47700" cy="666900"/>
              </a:xfrm>
              <a:prstGeom prst="rect">
                <a:avLst/>
              </a:prstGeom>
              <a:solidFill>
                <a:srgbClr val="0284C7"/>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62" name="Google Shape;262;p19"/>
              <p:cNvSpPr txBox="1"/>
              <p:nvPr/>
            </p:nvSpPr>
            <p:spPr>
              <a:xfrm>
                <a:off x="0" y="0"/>
                <a:ext cx="428700" cy="666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none" strike="noStrike" cap="none">
                    <a:solidFill>
                      <a:srgbClr val="FFFFFF"/>
                    </a:solidFill>
                    <a:latin typeface="Inter ExtraBold"/>
                    <a:ea typeface="Inter ExtraBold"/>
                    <a:cs typeface="Inter ExtraBold"/>
                    <a:sym typeface="Inter ExtraBold"/>
                  </a:rPr>
                  <a:t>S02</a:t>
                </a:r>
                <a:endParaRPr sz="1100" b="0" i="0" u="none" strike="noStrike" cap="none">
                  <a:solidFill>
                    <a:srgbClr val="FFFFFF"/>
                  </a:solidFill>
                  <a:latin typeface="Inter ExtraBold"/>
                  <a:ea typeface="Inter ExtraBold"/>
                  <a:cs typeface="Inter ExtraBold"/>
                  <a:sym typeface="Inter ExtraBold"/>
                </a:endParaRPr>
              </a:p>
            </p:txBody>
          </p:sp>
          <p:sp>
            <p:nvSpPr>
              <p:cNvPr id="263" name="Google Shape;263;p19"/>
              <p:cNvSpPr txBox="1"/>
              <p:nvPr/>
            </p:nvSpPr>
            <p:spPr>
              <a:xfrm>
                <a:off x="523875" y="0"/>
                <a:ext cx="1381200" cy="666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850"/>
                  <a:buFont typeface="Arial"/>
                  <a:buNone/>
                </a:pPr>
                <a:r>
                  <a:rPr lang="en" sz="850" b="0" i="0" u="none" strike="noStrike" cap="none">
                    <a:solidFill>
                      <a:srgbClr val="0F172A"/>
                    </a:solidFill>
                    <a:latin typeface="Inter SemiBold"/>
                    <a:ea typeface="Inter SemiBold"/>
                    <a:cs typeface="Inter SemiBold"/>
                    <a:sym typeface="Inter SemiBold"/>
                  </a:rPr>
                  <a:t>Báo cáo linh kiện KTV</a:t>
                </a:r>
                <a:endParaRPr sz="850" b="0" i="0" u="none" strike="noStrike" cap="none">
                  <a:solidFill>
                    <a:srgbClr val="0F172A"/>
                  </a:solidFill>
                  <a:latin typeface="Inter SemiBold"/>
                  <a:ea typeface="Inter SemiBold"/>
                  <a:cs typeface="Inter SemiBold"/>
                  <a:sym typeface="Inter SemiBold"/>
                </a:endParaRPr>
              </a:p>
            </p:txBody>
          </p:sp>
        </p:grpSp>
        <p:grpSp>
          <p:nvGrpSpPr>
            <p:cNvPr id="264" name="Google Shape;264;p19"/>
            <p:cNvGrpSpPr/>
            <p:nvPr/>
          </p:nvGrpSpPr>
          <p:grpSpPr>
            <a:xfrm>
              <a:off x="6000750" y="142875"/>
              <a:ext cx="2000100" cy="666900"/>
              <a:chOff x="0" y="0"/>
              <a:chExt cx="2000100" cy="666900"/>
            </a:xfrm>
          </p:grpSpPr>
          <p:sp>
            <p:nvSpPr>
              <p:cNvPr id="265" name="Google Shape;265;p19"/>
              <p:cNvSpPr/>
              <p:nvPr/>
            </p:nvSpPr>
            <p:spPr>
              <a:xfrm>
                <a:off x="0" y="0"/>
                <a:ext cx="2000100" cy="666900"/>
              </a:xfrm>
              <a:prstGeom prst="roundRect">
                <a:avLst>
                  <a:gd name="adj" fmla="val 5713"/>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66" name="Google Shape;266;p19"/>
              <p:cNvSpPr/>
              <p:nvPr/>
            </p:nvSpPr>
            <p:spPr>
              <a:xfrm>
                <a:off x="0" y="0"/>
                <a:ext cx="428700" cy="666900"/>
              </a:xfrm>
              <a:prstGeom prst="roundRect">
                <a:avLst>
                  <a:gd name="adj" fmla="val 8887"/>
                </a:avLst>
              </a:prstGeom>
              <a:solidFill>
                <a:srgbClr val="0284C7"/>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67" name="Google Shape;267;p19"/>
              <p:cNvSpPr/>
              <p:nvPr/>
            </p:nvSpPr>
            <p:spPr>
              <a:xfrm>
                <a:off x="381000" y="0"/>
                <a:ext cx="47700" cy="666900"/>
              </a:xfrm>
              <a:prstGeom prst="rect">
                <a:avLst/>
              </a:prstGeom>
              <a:solidFill>
                <a:srgbClr val="0284C7"/>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68" name="Google Shape;268;p19"/>
              <p:cNvSpPr txBox="1"/>
              <p:nvPr/>
            </p:nvSpPr>
            <p:spPr>
              <a:xfrm>
                <a:off x="0" y="0"/>
                <a:ext cx="428700" cy="666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none" strike="noStrike" cap="none">
                    <a:solidFill>
                      <a:srgbClr val="FFFFFF"/>
                    </a:solidFill>
                    <a:latin typeface="Inter ExtraBold"/>
                    <a:ea typeface="Inter ExtraBold"/>
                    <a:cs typeface="Inter ExtraBold"/>
                    <a:sym typeface="Inter ExtraBold"/>
                  </a:rPr>
                  <a:t>S03</a:t>
                </a:r>
                <a:endParaRPr sz="1100" b="0" i="0" u="none" strike="noStrike" cap="none">
                  <a:solidFill>
                    <a:srgbClr val="FFFFFF"/>
                  </a:solidFill>
                  <a:latin typeface="Inter ExtraBold"/>
                  <a:ea typeface="Inter ExtraBold"/>
                  <a:cs typeface="Inter ExtraBold"/>
                  <a:sym typeface="Inter ExtraBold"/>
                </a:endParaRPr>
              </a:p>
            </p:txBody>
          </p:sp>
          <p:sp>
            <p:nvSpPr>
              <p:cNvPr id="269" name="Google Shape;269;p19"/>
              <p:cNvSpPr txBox="1"/>
              <p:nvPr/>
            </p:nvSpPr>
            <p:spPr>
              <a:xfrm>
                <a:off x="523875" y="0"/>
                <a:ext cx="1381200" cy="666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850"/>
                  <a:buFont typeface="Arial"/>
                  <a:buNone/>
                </a:pPr>
                <a:r>
                  <a:rPr lang="en" sz="850" b="0" i="0" u="none" strike="noStrike" cap="none">
                    <a:solidFill>
                      <a:srgbClr val="0F172A"/>
                    </a:solidFill>
                    <a:latin typeface="Inter SemiBold"/>
                    <a:ea typeface="Inter SemiBold"/>
                    <a:cs typeface="Inter SemiBold"/>
                    <a:sym typeface="Inter SemiBold"/>
                  </a:rPr>
                  <a:t>Quản lý kho linh kiện</a:t>
                </a:r>
                <a:endParaRPr sz="850" b="0" i="0" u="none" strike="noStrike" cap="none">
                  <a:solidFill>
                    <a:srgbClr val="0F172A"/>
                  </a:solidFill>
                  <a:latin typeface="Inter SemiBold"/>
                  <a:ea typeface="Inter SemiBold"/>
                  <a:cs typeface="Inter SemiBold"/>
                  <a:sym typeface="Inter SemiBold"/>
                </a:endParaRPr>
              </a:p>
            </p:txBody>
          </p:sp>
        </p:grpSp>
      </p:grpSp>
      <p:grpSp>
        <p:nvGrpSpPr>
          <p:cNvPr id="270" name="Google Shape;270;p19"/>
          <p:cNvGrpSpPr/>
          <p:nvPr/>
        </p:nvGrpSpPr>
        <p:grpSpPr>
          <a:xfrm>
            <a:off x="381000" y="4619625"/>
            <a:ext cx="8382000" cy="400200"/>
            <a:chOff x="0" y="0"/>
            <a:chExt cx="8382000" cy="400200"/>
          </a:xfrm>
        </p:grpSpPr>
        <p:sp>
          <p:nvSpPr>
            <p:cNvPr id="271" name="Google Shape;271;p19"/>
            <p:cNvSpPr/>
            <p:nvPr/>
          </p:nvSpPr>
          <p:spPr>
            <a:xfrm>
              <a:off x="0" y="0"/>
              <a:ext cx="8382000" cy="400200"/>
            </a:xfrm>
            <a:prstGeom prst="roundRect">
              <a:avLst>
                <a:gd name="adj" fmla="val 9523"/>
              </a:avLst>
            </a:prstGeom>
            <a:solidFill>
              <a:srgbClr val="F8FAFC"/>
            </a:solidFill>
            <a:ln w="95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72" name="Google Shape;272;p19"/>
            <p:cNvSpPr/>
            <p:nvPr/>
          </p:nvSpPr>
          <p:spPr>
            <a:xfrm>
              <a:off x="0" y="0"/>
              <a:ext cx="38100" cy="400200"/>
            </a:xfrm>
            <a:prstGeom prst="roundRect">
              <a:avLst>
                <a:gd name="adj" fmla="val 500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73" name="Google Shape;273;p19"/>
            <p:cNvSpPr txBox="1"/>
            <p:nvPr/>
          </p:nvSpPr>
          <p:spPr>
            <a:xfrm>
              <a:off x="190500" y="0"/>
              <a:ext cx="8001000" cy="400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07B7C"/>
                  </a:solidFill>
                  <a:latin typeface="Inter"/>
                  <a:ea typeface="Inter"/>
                  <a:cs typeface="Inter"/>
                  <a:sym typeface="Inter"/>
                </a:rPr>
                <a:t>Mối quan hệ:</a:t>
              </a:r>
              <a:r>
                <a:rPr lang="en" sz="900" b="0" i="0" u="none" strike="noStrike" cap="none">
                  <a:solidFill>
                    <a:srgbClr val="475569"/>
                  </a:solidFill>
                  <a:latin typeface="Inter"/>
                  <a:ea typeface="Inter"/>
                  <a:cs typeface="Inter"/>
                  <a:sym typeface="Inter"/>
                </a:rPr>
                <a:t> Quy trình quản lý giám sát quy trình cốt lõi; quy trình hỗ trợ cung cấp nguồn lực (linh kiện, thông tin) cho quy trình cốt lõi.</a:t>
              </a:r>
              <a:endParaRPr sz="900" b="0" i="0" u="none" strike="noStrike" cap="none">
                <a:solidFill>
                  <a:srgbClr val="475569"/>
                </a:solidFill>
                <a:latin typeface="Inter"/>
                <a:ea typeface="Inter"/>
                <a:cs typeface="Inter"/>
                <a:sym typeface="Inter"/>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77"/>
        <p:cNvGrpSpPr/>
        <p:nvPr/>
      </p:nvGrpSpPr>
      <p:grpSpPr>
        <a:xfrm>
          <a:off x="0" y="0"/>
          <a:ext cx="0" cy="0"/>
          <a:chOff x="0" y="0"/>
          <a:chExt cx="0" cy="0"/>
        </a:xfrm>
      </p:grpSpPr>
      <p:sp>
        <p:nvSpPr>
          <p:cNvPr id="278" name="Google Shape;278;p20"/>
          <p:cNvSpPr/>
          <p:nvPr/>
        </p:nvSpPr>
        <p:spPr>
          <a:xfrm>
            <a:off x="0" y="0"/>
            <a:ext cx="9144000" cy="5143500"/>
          </a:xfrm>
          <a:prstGeom prst="rect">
            <a:avLst/>
          </a:pr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279" name="Google Shape;279;p20"/>
          <p:cNvGrpSpPr/>
          <p:nvPr/>
        </p:nvGrpSpPr>
        <p:grpSpPr>
          <a:xfrm>
            <a:off x="8458200" y="381000"/>
            <a:ext cx="304800" cy="304800"/>
            <a:chOff x="0" y="0"/>
            <a:chExt cx="304800" cy="304800"/>
          </a:xfrm>
        </p:grpSpPr>
        <p:sp>
          <p:nvSpPr>
            <p:cNvPr id="280" name="Google Shape;280;p20"/>
            <p:cNvSpPr/>
            <p:nvPr/>
          </p:nvSpPr>
          <p:spPr>
            <a:xfrm>
              <a:off x="0" y="0"/>
              <a:ext cx="304800" cy="304800"/>
            </a:xfrm>
            <a:prstGeom prst="roundRect">
              <a:avLst>
                <a:gd name="adj" fmla="val 125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81" name="Google Shape;281;p20"/>
            <p:cNvSpPr/>
            <p:nvPr/>
          </p:nvSpPr>
          <p:spPr>
            <a:xfrm>
              <a:off x="95250" y="95250"/>
              <a:ext cx="114300" cy="114300"/>
            </a:xfrm>
            <a:custGeom>
              <a:avLst/>
              <a:gdLst/>
              <a:ahLst/>
              <a:cxnLst/>
              <a:rect l="l" t="t" r="r" b="b"/>
              <a:pathLst>
                <a:path w="120000" h="120000" extrusionOk="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82" name="Google Shape;282;p20"/>
            <p:cNvSpPr/>
            <p:nvPr/>
          </p:nvSpPr>
          <p:spPr>
            <a:xfrm>
              <a:off x="123825" y="123825"/>
              <a:ext cx="57300" cy="57300"/>
            </a:xfrm>
            <a:prstGeom prst="ellipse">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cxnSp>
        <p:nvCxnSpPr>
          <p:cNvPr id="283" name="Google Shape;283;p20"/>
          <p:cNvCxnSpPr/>
          <p:nvPr/>
        </p:nvCxnSpPr>
        <p:spPr>
          <a:xfrm>
            <a:off x="381000" y="1143000"/>
            <a:ext cx="8382000" cy="0"/>
          </a:xfrm>
          <a:prstGeom prst="straightConnector1">
            <a:avLst/>
          </a:prstGeom>
          <a:solidFill>
            <a:srgbClr val="FFFFFF"/>
          </a:solidFill>
          <a:ln w="14300" cap="flat" cmpd="sng">
            <a:solidFill>
              <a:srgbClr val="E2E8F0"/>
            </a:solidFill>
            <a:prstDash val="solid"/>
            <a:round/>
            <a:headEnd type="none" w="sm" len="sm"/>
            <a:tailEnd type="none" w="sm" len="sm"/>
          </a:ln>
        </p:spPr>
      </p:cxnSp>
      <p:sp>
        <p:nvSpPr>
          <p:cNvPr id="284" name="Google Shape;284;p20"/>
          <p:cNvSpPr txBox="1"/>
          <p:nvPr/>
        </p:nvSpPr>
        <p:spPr>
          <a:xfrm>
            <a:off x="381000" y="333375"/>
            <a:ext cx="7620000" cy="762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 sz="2000" b="0" i="0" u="none" strike="noStrike" cap="none">
                <a:solidFill>
                  <a:srgbClr val="0F172A"/>
                </a:solidFill>
                <a:latin typeface="Inter ExtraBold"/>
                <a:ea typeface="Inter ExtraBold"/>
                <a:cs typeface="Inter ExtraBold"/>
                <a:sym typeface="Inter ExtraBold"/>
              </a:rPr>
              <a:t>Danh sách và mô tả nhóm Quy trình Quản lý</a:t>
            </a:r>
            <a:endParaRPr sz="2000" b="0" i="0" u="none" strike="noStrike" cap="none">
              <a:solidFill>
                <a:srgbClr val="0F172A"/>
              </a:solidFill>
              <a:latin typeface="Inter ExtraBold"/>
              <a:ea typeface="Inter ExtraBold"/>
              <a:cs typeface="Inter ExtraBold"/>
              <a:sym typeface="Inter ExtraBold"/>
            </a:endParaRPr>
          </a:p>
          <a:p>
            <a:pPr marL="0" marR="0" lvl="0" indent="0" algn="l" rtl="0">
              <a:lnSpc>
                <a:spcPct val="100000"/>
              </a:lnSpc>
              <a:spcBef>
                <a:spcPts val="375"/>
              </a:spcBef>
              <a:spcAft>
                <a:spcPts val="0"/>
              </a:spcAft>
              <a:buClr>
                <a:srgbClr val="000000"/>
              </a:buClr>
              <a:buSzPts val="1100"/>
              <a:buFont typeface="Arial"/>
              <a:buNone/>
            </a:pPr>
            <a:r>
              <a:rPr lang="en" sz="1100" b="0" i="0" u="none" strike="noStrike" cap="none">
                <a:solidFill>
                  <a:srgbClr val="007B7C"/>
                </a:solidFill>
                <a:latin typeface="Inter SemiBold"/>
                <a:ea typeface="Inter SemiBold"/>
                <a:cs typeface="Inter SemiBold"/>
                <a:sym typeface="Inter SemiBold"/>
              </a:rPr>
              <a:t>Nhóm quy trình Quản lý gồm 3 quy trình trọng yếu nhằm giám sát và tối ưu hóa nguồn lực</a:t>
            </a:r>
            <a:endParaRPr sz="1100" b="0" i="0" u="none" strike="noStrike" cap="none">
              <a:solidFill>
                <a:srgbClr val="007B7C"/>
              </a:solidFill>
              <a:latin typeface="Inter SemiBold"/>
              <a:ea typeface="Inter SemiBold"/>
              <a:cs typeface="Inter SemiBold"/>
              <a:sym typeface="Inter SemiBold"/>
            </a:endParaRPr>
          </a:p>
        </p:txBody>
      </p:sp>
      <p:grpSp>
        <p:nvGrpSpPr>
          <p:cNvPr id="285" name="Google Shape;285;p20"/>
          <p:cNvGrpSpPr/>
          <p:nvPr/>
        </p:nvGrpSpPr>
        <p:grpSpPr>
          <a:xfrm>
            <a:off x="381000" y="1381125"/>
            <a:ext cx="2571900" cy="3381300"/>
            <a:chOff x="0" y="0"/>
            <a:chExt cx="2571900" cy="3381300"/>
          </a:xfrm>
        </p:grpSpPr>
        <p:sp>
          <p:nvSpPr>
            <p:cNvPr id="286" name="Google Shape;286;p20"/>
            <p:cNvSpPr/>
            <p:nvPr/>
          </p:nvSpPr>
          <p:spPr>
            <a:xfrm>
              <a:off x="0" y="0"/>
              <a:ext cx="2571900" cy="3381300"/>
            </a:xfrm>
            <a:prstGeom prst="roundRect">
              <a:avLst>
                <a:gd name="adj" fmla="val 2962"/>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87" name="Google Shape;287;p20"/>
            <p:cNvSpPr/>
            <p:nvPr/>
          </p:nvSpPr>
          <p:spPr>
            <a:xfrm>
              <a:off x="0" y="0"/>
              <a:ext cx="2571900" cy="523800"/>
            </a:xfrm>
            <a:custGeom>
              <a:avLst/>
              <a:gdLst/>
              <a:ahLst/>
              <a:cxnLst/>
              <a:rect l="l" t="t" r="r" b="b"/>
              <a:pathLst>
                <a:path w="120000" h="120000" extrusionOk="0">
                  <a:moveTo>
                    <a:pt x="3556" y="0"/>
                  </a:moveTo>
                  <a:lnTo>
                    <a:pt x="116444" y="0"/>
                  </a:lnTo>
                  <a:cubicBezTo>
                    <a:pt x="117387" y="-1"/>
                    <a:pt x="118292" y="1838"/>
                    <a:pt x="118958" y="5112"/>
                  </a:cubicBezTo>
                  <a:cubicBezTo>
                    <a:pt x="119625" y="8385"/>
                    <a:pt x="120000" y="12825"/>
                    <a:pt x="120000" y="17455"/>
                  </a:cubicBezTo>
                  <a:lnTo>
                    <a:pt x="120000" y="120000"/>
                  </a:lnTo>
                  <a:lnTo>
                    <a:pt x="0" y="120000"/>
                  </a:lnTo>
                  <a:lnTo>
                    <a:pt x="0" y="17455"/>
                  </a:lnTo>
                  <a:cubicBezTo>
                    <a:pt x="0" y="12826"/>
                    <a:pt x="375" y="8386"/>
                    <a:pt x="1041" y="5112"/>
                  </a:cubicBezTo>
                  <a:cubicBezTo>
                    <a:pt x="1708" y="1839"/>
                    <a:pt x="2613" y="0"/>
                    <a:pt x="3556" y="0"/>
                  </a:cubicBezTo>
                  <a:close/>
                </a:path>
              </a:pathLst>
            </a:custGeom>
            <a:solidFill>
              <a:srgbClr val="0F172A"/>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88" name="Google Shape;288;p20"/>
            <p:cNvSpPr/>
            <p:nvPr/>
          </p:nvSpPr>
          <p:spPr>
            <a:xfrm>
              <a:off x="0" y="0"/>
              <a:ext cx="523800" cy="523800"/>
            </a:xfrm>
            <a:custGeom>
              <a:avLst/>
              <a:gdLst/>
              <a:ahLst/>
              <a:cxnLst/>
              <a:rect l="l" t="t" r="r" b="b"/>
              <a:pathLst>
                <a:path w="120000" h="120000" extrusionOk="0">
                  <a:moveTo>
                    <a:pt x="17455" y="0"/>
                  </a:moveTo>
                  <a:lnTo>
                    <a:pt x="120000" y="0"/>
                  </a:lnTo>
                  <a:lnTo>
                    <a:pt x="120000" y="120000"/>
                  </a:lnTo>
                  <a:lnTo>
                    <a:pt x="0" y="120000"/>
                  </a:lnTo>
                  <a:lnTo>
                    <a:pt x="0" y="17455"/>
                  </a:lnTo>
                  <a:cubicBezTo>
                    <a:pt x="0" y="12826"/>
                    <a:pt x="1839" y="8386"/>
                    <a:pt x="5112" y="5112"/>
                  </a:cubicBezTo>
                  <a:cubicBezTo>
                    <a:pt x="8386" y="1839"/>
                    <a:pt x="12825" y="0"/>
                    <a:pt x="17455" y="0"/>
                  </a:cubicBezTo>
                  <a:close/>
                </a:path>
              </a:pathLst>
            </a:cu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89" name="Google Shape;289;p20"/>
            <p:cNvSpPr txBox="1"/>
            <p:nvPr/>
          </p:nvSpPr>
          <p:spPr>
            <a:xfrm>
              <a:off x="0" y="0"/>
              <a:ext cx="523800" cy="5238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FFFF"/>
                  </a:solidFill>
                  <a:latin typeface="Inter ExtraBold"/>
                  <a:ea typeface="Inter ExtraBold"/>
                  <a:cs typeface="Inter ExtraBold"/>
                  <a:sym typeface="Inter ExtraBold"/>
                </a:rPr>
                <a:t>M01</a:t>
              </a:r>
              <a:endParaRPr sz="1200" b="0" i="0" u="none" strike="noStrike" cap="none">
                <a:solidFill>
                  <a:srgbClr val="FFFFFF"/>
                </a:solidFill>
                <a:latin typeface="Inter ExtraBold"/>
                <a:ea typeface="Inter ExtraBold"/>
                <a:cs typeface="Inter ExtraBold"/>
                <a:sym typeface="Inter ExtraBold"/>
              </a:endParaRPr>
            </a:p>
          </p:txBody>
        </p:sp>
        <p:sp>
          <p:nvSpPr>
            <p:cNvPr id="290" name="Google Shape;290;p20"/>
            <p:cNvSpPr txBox="1"/>
            <p:nvPr/>
          </p:nvSpPr>
          <p:spPr>
            <a:xfrm>
              <a:off x="619125" y="0"/>
              <a:ext cx="1857300" cy="5238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1" i="0" u="none" strike="noStrike" cap="none">
                  <a:solidFill>
                    <a:srgbClr val="FFFFFF"/>
                  </a:solidFill>
                  <a:latin typeface="Inter"/>
                  <a:ea typeface="Inter"/>
                  <a:cs typeface="Inter"/>
                  <a:sym typeface="Inter"/>
                </a:rPr>
                <a:t>Quản lý bảo hành thiết bị</a:t>
              </a:r>
              <a:endParaRPr sz="1000" b="1" i="0" u="none" strike="noStrike" cap="none">
                <a:solidFill>
                  <a:srgbClr val="FFFFFF"/>
                </a:solidFill>
                <a:latin typeface="Inter"/>
                <a:ea typeface="Inter"/>
                <a:cs typeface="Inter"/>
                <a:sym typeface="Inter"/>
              </a:endParaRPr>
            </a:p>
          </p:txBody>
        </p:sp>
        <p:sp>
          <p:nvSpPr>
            <p:cNvPr id="291" name="Google Shape;291;p20"/>
            <p:cNvSpPr txBox="1"/>
            <p:nvPr/>
          </p:nvSpPr>
          <p:spPr>
            <a:xfrm>
              <a:off x="142875" y="666750"/>
              <a:ext cx="2286000" cy="25719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50"/>
                <a:buFont typeface="Arial"/>
                <a:buNone/>
              </a:pPr>
              <a:r>
                <a:rPr lang="en" sz="950" b="1" i="0" u="none" strike="noStrike" cap="none">
                  <a:solidFill>
                    <a:srgbClr val="007B7C"/>
                  </a:solidFill>
                  <a:latin typeface="Inter"/>
                  <a:ea typeface="Inter"/>
                  <a:cs typeface="Inter"/>
                  <a:sym typeface="Inter"/>
                </a:rPr>
                <a:t>Bộ phận phụ trách: Admin</a:t>
              </a:r>
              <a:endParaRPr sz="950" b="1" i="0" u="none" strike="noStrike" cap="none">
                <a:solidFill>
                  <a:srgbClr val="007B7C"/>
                </a:solidFill>
                <a:latin typeface="Inter"/>
                <a:ea typeface="Inter"/>
                <a:cs typeface="Inter"/>
                <a:sym typeface="Inter"/>
              </a:endParaRPr>
            </a:p>
            <a:p>
              <a:pPr marL="457200" marR="0" lvl="0" indent="-288925" algn="l" rtl="0">
                <a:lnSpc>
                  <a:spcPct val="100000"/>
                </a:lnSpc>
                <a:spcBef>
                  <a:spcPts val="900"/>
                </a:spcBef>
                <a:spcAft>
                  <a:spcPts val="0"/>
                </a:spcAft>
                <a:buClr>
                  <a:srgbClr val="0F172A"/>
                </a:buClr>
                <a:buSzPts val="950"/>
                <a:buFont typeface="Inter"/>
                <a:buChar char="●"/>
              </a:pPr>
              <a:r>
                <a:rPr lang="en" sz="950" b="0" i="0" u="none" strike="noStrike" cap="none">
                  <a:solidFill>
                    <a:srgbClr val="475569"/>
                  </a:solidFill>
                  <a:latin typeface="Inter"/>
                  <a:ea typeface="Inter"/>
                  <a:cs typeface="Inter"/>
                  <a:sym typeface="Inter"/>
                </a:rPr>
                <a:t>Cập nhật chính sách, đồng bộ dữ liệu bảo hành để hệ thống thực hiện kiểm tra tự động.</a:t>
              </a:r>
              <a:endParaRPr sz="950" b="0" i="0" u="none" strike="noStrike" cap="none">
                <a:solidFill>
                  <a:srgbClr val="475569"/>
                </a:solidFill>
                <a:latin typeface="Inter"/>
                <a:ea typeface="Inter"/>
                <a:cs typeface="Inter"/>
                <a:sym typeface="Inter"/>
              </a:endParaRPr>
            </a:p>
            <a:p>
              <a:pPr marL="457200" marR="0" lvl="0" indent="-288925" algn="l" rtl="0">
                <a:lnSpc>
                  <a:spcPct val="100000"/>
                </a:lnSpc>
                <a:spcBef>
                  <a:spcPts val="750"/>
                </a:spcBef>
                <a:spcAft>
                  <a:spcPts val="0"/>
                </a:spcAft>
                <a:buClr>
                  <a:srgbClr val="0F172A"/>
                </a:buClr>
                <a:buSzPts val="950"/>
                <a:buFont typeface="Inter"/>
                <a:buChar char="●"/>
              </a:pPr>
              <a:r>
                <a:rPr lang="en" sz="950" b="0" i="0" u="none" strike="noStrike" cap="none">
                  <a:solidFill>
                    <a:srgbClr val="475569"/>
                  </a:solidFill>
                  <a:latin typeface="Inter"/>
                  <a:ea typeface="Inter"/>
                  <a:cs typeface="Inter"/>
                  <a:sym typeface="Inter"/>
                </a:rPr>
                <a:t>Theo dõi các cuộc tranh chấp phát sinh liên quan đến hiệu lực bảo hành.</a:t>
              </a:r>
              <a:endParaRPr sz="950" b="0" i="0" u="none" strike="noStrike" cap="none">
                <a:solidFill>
                  <a:srgbClr val="475569"/>
                </a:solidFill>
                <a:latin typeface="Inter"/>
                <a:ea typeface="Inter"/>
                <a:cs typeface="Inter"/>
                <a:sym typeface="Inter"/>
              </a:endParaRPr>
            </a:p>
            <a:p>
              <a:pPr marL="457200" marR="0" lvl="0" indent="-288925" algn="l" rtl="0">
                <a:lnSpc>
                  <a:spcPct val="100000"/>
                </a:lnSpc>
                <a:spcBef>
                  <a:spcPts val="750"/>
                </a:spcBef>
                <a:spcAft>
                  <a:spcPts val="750"/>
                </a:spcAft>
                <a:buClr>
                  <a:srgbClr val="0F172A"/>
                </a:buClr>
                <a:buSzPts val="950"/>
                <a:buFont typeface="Inter"/>
                <a:buChar char="●"/>
              </a:pPr>
              <a:r>
                <a:rPr lang="en" sz="950" b="1" i="0" u="none" strike="noStrike" cap="none">
                  <a:solidFill>
                    <a:srgbClr val="0F172A"/>
                  </a:solidFill>
                  <a:latin typeface="Inter"/>
                  <a:ea typeface="Inter"/>
                  <a:cs typeface="Inter"/>
                  <a:sym typeface="Inter"/>
                </a:rPr>
                <a:t>Đảm bảo dữ liệu luôn chính xác tuyệt đối để tránh việc tính sai chi phí dịch vụ cho khách hàng.</a:t>
              </a:r>
              <a:endParaRPr sz="950" b="1" i="0" u="none" strike="noStrike" cap="none">
                <a:solidFill>
                  <a:srgbClr val="0F172A"/>
                </a:solidFill>
                <a:latin typeface="Inter"/>
                <a:ea typeface="Inter"/>
                <a:cs typeface="Inter"/>
                <a:sym typeface="Inter"/>
              </a:endParaRPr>
            </a:p>
          </p:txBody>
        </p:sp>
      </p:grpSp>
      <p:grpSp>
        <p:nvGrpSpPr>
          <p:cNvPr id="292" name="Google Shape;292;p20"/>
          <p:cNvGrpSpPr/>
          <p:nvPr/>
        </p:nvGrpSpPr>
        <p:grpSpPr>
          <a:xfrm>
            <a:off x="3286125" y="1381125"/>
            <a:ext cx="2571900" cy="3381300"/>
            <a:chOff x="0" y="0"/>
            <a:chExt cx="2571900" cy="3381300"/>
          </a:xfrm>
        </p:grpSpPr>
        <p:sp>
          <p:nvSpPr>
            <p:cNvPr id="293" name="Google Shape;293;p20"/>
            <p:cNvSpPr/>
            <p:nvPr/>
          </p:nvSpPr>
          <p:spPr>
            <a:xfrm>
              <a:off x="0" y="0"/>
              <a:ext cx="2571900" cy="3381300"/>
            </a:xfrm>
            <a:prstGeom prst="roundRect">
              <a:avLst>
                <a:gd name="adj" fmla="val 2962"/>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94" name="Google Shape;294;p20"/>
            <p:cNvSpPr/>
            <p:nvPr/>
          </p:nvSpPr>
          <p:spPr>
            <a:xfrm>
              <a:off x="0" y="0"/>
              <a:ext cx="2571900" cy="523800"/>
            </a:xfrm>
            <a:custGeom>
              <a:avLst/>
              <a:gdLst/>
              <a:ahLst/>
              <a:cxnLst/>
              <a:rect l="l" t="t" r="r" b="b"/>
              <a:pathLst>
                <a:path w="120000" h="120000" extrusionOk="0">
                  <a:moveTo>
                    <a:pt x="3556" y="0"/>
                  </a:moveTo>
                  <a:lnTo>
                    <a:pt x="116444" y="0"/>
                  </a:lnTo>
                  <a:cubicBezTo>
                    <a:pt x="117387" y="-1"/>
                    <a:pt x="118292" y="1838"/>
                    <a:pt x="118958" y="5112"/>
                  </a:cubicBezTo>
                  <a:cubicBezTo>
                    <a:pt x="119625" y="8385"/>
                    <a:pt x="120000" y="12825"/>
                    <a:pt x="120000" y="17455"/>
                  </a:cubicBezTo>
                  <a:lnTo>
                    <a:pt x="120000" y="120000"/>
                  </a:lnTo>
                  <a:lnTo>
                    <a:pt x="0" y="120000"/>
                  </a:lnTo>
                  <a:lnTo>
                    <a:pt x="0" y="17455"/>
                  </a:lnTo>
                  <a:cubicBezTo>
                    <a:pt x="0" y="12826"/>
                    <a:pt x="375" y="8386"/>
                    <a:pt x="1041" y="5112"/>
                  </a:cubicBezTo>
                  <a:cubicBezTo>
                    <a:pt x="1708" y="1839"/>
                    <a:pt x="2613" y="0"/>
                    <a:pt x="3556" y="0"/>
                  </a:cubicBezTo>
                  <a:close/>
                </a:path>
              </a:pathLst>
            </a:custGeom>
            <a:solidFill>
              <a:srgbClr val="0F172A"/>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95" name="Google Shape;295;p20"/>
            <p:cNvSpPr/>
            <p:nvPr/>
          </p:nvSpPr>
          <p:spPr>
            <a:xfrm>
              <a:off x="0" y="0"/>
              <a:ext cx="523800" cy="523800"/>
            </a:xfrm>
            <a:custGeom>
              <a:avLst/>
              <a:gdLst/>
              <a:ahLst/>
              <a:cxnLst/>
              <a:rect l="l" t="t" r="r" b="b"/>
              <a:pathLst>
                <a:path w="120000" h="120000" extrusionOk="0">
                  <a:moveTo>
                    <a:pt x="17455" y="0"/>
                  </a:moveTo>
                  <a:lnTo>
                    <a:pt x="120000" y="0"/>
                  </a:lnTo>
                  <a:lnTo>
                    <a:pt x="120000" y="120000"/>
                  </a:lnTo>
                  <a:lnTo>
                    <a:pt x="0" y="120000"/>
                  </a:lnTo>
                  <a:lnTo>
                    <a:pt x="0" y="17455"/>
                  </a:lnTo>
                  <a:cubicBezTo>
                    <a:pt x="0" y="12826"/>
                    <a:pt x="1839" y="8386"/>
                    <a:pt x="5112" y="5112"/>
                  </a:cubicBezTo>
                  <a:cubicBezTo>
                    <a:pt x="8386" y="1839"/>
                    <a:pt x="12825" y="0"/>
                    <a:pt x="17455" y="0"/>
                  </a:cubicBezTo>
                  <a:close/>
                </a:path>
              </a:pathLst>
            </a:cu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96" name="Google Shape;296;p20"/>
            <p:cNvSpPr txBox="1"/>
            <p:nvPr/>
          </p:nvSpPr>
          <p:spPr>
            <a:xfrm>
              <a:off x="0" y="0"/>
              <a:ext cx="523800" cy="5238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FFFF"/>
                  </a:solidFill>
                  <a:latin typeface="Inter ExtraBold"/>
                  <a:ea typeface="Inter ExtraBold"/>
                  <a:cs typeface="Inter ExtraBold"/>
                  <a:sym typeface="Inter ExtraBold"/>
                </a:rPr>
                <a:t>M02</a:t>
              </a:r>
              <a:endParaRPr sz="1200" b="0" i="0" u="none" strike="noStrike" cap="none">
                <a:solidFill>
                  <a:srgbClr val="FFFFFF"/>
                </a:solidFill>
                <a:latin typeface="Inter ExtraBold"/>
                <a:ea typeface="Inter ExtraBold"/>
                <a:cs typeface="Inter ExtraBold"/>
                <a:sym typeface="Inter ExtraBold"/>
              </a:endParaRPr>
            </a:p>
          </p:txBody>
        </p:sp>
        <p:sp>
          <p:nvSpPr>
            <p:cNvPr id="297" name="Google Shape;297;p20"/>
            <p:cNvSpPr txBox="1"/>
            <p:nvPr/>
          </p:nvSpPr>
          <p:spPr>
            <a:xfrm>
              <a:off x="619125" y="0"/>
              <a:ext cx="1857300" cy="5238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1" i="0" u="none" strike="noStrike" cap="none">
                  <a:solidFill>
                    <a:srgbClr val="FFFFFF"/>
                  </a:solidFill>
                  <a:latin typeface="Inter"/>
                  <a:ea typeface="Inter"/>
                  <a:cs typeface="Inter"/>
                  <a:sym typeface="Inter"/>
                </a:rPr>
                <a:t>Quản lý Kỹ thuật viên (KTV)</a:t>
              </a:r>
              <a:endParaRPr sz="1000" b="1" i="0" u="none" strike="noStrike" cap="none">
                <a:solidFill>
                  <a:srgbClr val="FFFFFF"/>
                </a:solidFill>
                <a:latin typeface="Inter"/>
                <a:ea typeface="Inter"/>
                <a:cs typeface="Inter"/>
                <a:sym typeface="Inter"/>
              </a:endParaRPr>
            </a:p>
          </p:txBody>
        </p:sp>
        <p:sp>
          <p:nvSpPr>
            <p:cNvPr id="298" name="Google Shape;298;p20"/>
            <p:cNvSpPr txBox="1"/>
            <p:nvPr/>
          </p:nvSpPr>
          <p:spPr>
            <a:xfrm>
              <a:off x="142875" y="666750"/>
              <a:ext cx="2286000" cy="25719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50"/>
                <a:buFont typeface="Arial"/>
                <a:buNone/>
              </a:pPr>
              <a:r>
                <a:rPr lang="en" sz="950" b="1" i="0" u="none" strike="noStrike" cap="none">
                  <a:solidFill>
                    <a:srgbClr val="007B7C"/>
                  </a:solidFill>
                  <a:latin typeface="Inter"/>
                  <a:ea typeface="Inter"/>
                  <a:cs typeface="Inter"/>
                  <a:sym typeface="Inter"/>
                </a:rPr>
                <a:t>Bộ phận phụ trách: Operations Manager</a:t>
              </a:r>
              <a:endParaRPr sz="950" b="1" i="0" u="none" strike="noStrike" cap="none">
                <a:solidFill>
                  <a:srgbClr val="007B7C"/>
                </a:solidFill>
                <a:latin typeface="Inter"/>
                <a:ea typeface="Inter"/>
                <a:cs typeface="Inter"/>
                <a:sym typeface="Inter"/>
              </a:endParaRPr>
            </a:p>
            <a:p>
              <a:pPr marL="457200" marR="0" lvl="0" indent="-288925" algn="l" rtl="0">
                <a:lnSpc>
                  <a:spcPct val="100000"/>
                </a:lnSpc>
                <a:spcBef>
                  <a:spcPts val="900"/>
                </a:spcBef>
                <a:spcAft>
                  <a:spcPts val="0"/>
                </a:spcAft>
                <a:buClr>
                  <a:srgbClr val="0F172A"/>
                </a:buClr>
                <a:buSzPts val="950"/>
                <a:buFont typeface="Inter"/>
                <a:buChar char="●"/>
              </a:pPr>
              <a:r>
                <a:rPr lang="en" sz="950" b="0" i="0" u="none" strike="noStrike" cap="none">
                  <a:solidFill>
                    <a:srgbClr val="475569"/>
                  </a:solidFill>
                  <a:latin typeface="Inter"/>
                  <a:ea typeface="Inter"/>
                  <a:cs typeface="Inter"/>
                  <a:sym typeface="Inter"/>
                </a:rPr>
                <a:t>Lập kế hoạch chi tiết để phân bổ KTV theo khu vực địa lý và ca làm việc phù hợp.</a:t>
              </a:r>
              <a:endParaRPr sz="950" b="0" i="0" u="none" strike="noStrike" cap="none">
                <a:solidFill>
                  <a:srgbClr val="475569"/>
                </a:solidFill>
                <a:latin typeface="Inter"/>
                <a:ea typeface="Inter"/>
                <a:cs typeface="Inter"/>
                <a:sym typeface="Inter"/>
              </a:endParaRPr>
            </a:p>
            <a:p>
              <a:pPr marL="457200" marR="0" lvl="0" indent="-288925" algn="l" rtl="0">
                <a:lnSpc>
                  <a:spcPct val="100000"/>
                </a:lnSpc>
                <a:spcBef>
                  <a:spcPts val="750"/>
                </a:spcBef>
                <a:spcAft>
                  <a:spcPts val="0"/>
                </a:spcAft>
                <a:buClr>
                  <a:srgbClr val="0F172A"/>
                </a:buClr>
                <a:buSzPts val="950"/>
                <a:buFont typeface="Inter"/>
                <a:buChar char="●"/>
              </a:pPr>
              <a:r>
                <a:rPr lang="en" sz="950" b="0" i="0" u="none" strike="noStrike" cap="none">
                  <a:solidFill>
                    <a:srgbClr val="475569"/>
                  </a:solidFill>
                  <a:latin typeface="Inter"/>
                  <a:ea typeface="Inter"/>
                  <a:cs typeface="Inter"/>
                  <a:sym typeface="Inter"/>
                </a:rPr>
                <a:t>Theo dõi sát sao hiệu suất (thời gian xử lý sự cố, tỷ lệ phải di chuyển lại lần 2).</a:t>
              </a:r>
              <a:endParaRPr sz="950" b="0" i="0" u="none" strike="noStrike" cap="none">
                <a:solidFill>
                  <a:srgbClr val="475569"/>
                </a:solidFill>
                <a:latin typeface="Inter"/>
                <a:ea typeface="Inter"/>
                <a:cs typeface="Inter"/>
                <a:sym typeface="Inter"/>
              </a:endParaRPr>
            </a:p>
            <a:p>
              <a:pPr marL="457200" marR="0" lvl="0" indent="-288925" algn="l" rtl="0">
                <a:lnSpc>
                  <a:spcPct val="100000"/>
                </a:lnSpc>
                <a:spcBef>
                  <a:spcPts val="750"/>
                </a:spcBef>
                <a:spcAft>
                  <a:spcPts val="750"/>
                </a:spcAft>
                <a:buClr>
                  <a:srgbClr val="0F172A"/>
                </a:buClr>
                <a:buSzPts val="950"/>
                <a:buFont typeface="Inter"/>
                <a:buChar char="●"/>
              </a:pPr>
              <a:r>
                <a:rPr lang="en" sz="950" b="1" i="0" u="none" strike="noStrike" cap="none">
                  <a:solidFill>
                    <a:srgbClr val="0F172A"/>
                  </a:solidFill>
                  <a:latin typeface="Inter"/>
                  <a:ea typeface="Inter"/>
                  <a:cs typeface="Inter"/>
                  <a:sym typeface="Inter"/>
                </a:rPr>
                <a:t>Xử lý nhanh chóng các tình trạng thiếu hụt nhân sự hoặc quá tải KTV tại các khu vực.</a:t>
              </a:r>
              <a:endParaRPr sz="950" b="1" i="0" u="none" strike="noStrike" cap="none">
                <a:solidFill>
                  <a:srgbClr val="0F172A"/>
                </a:solidFill>
                <a:latin typeface="Inter"/>
                <a:ea typeface="Inter"/>
                <a:cs typeface="Inter"/>
                <a:sym typeface="Inter"/>
              </a:endParaRPr>
            </a:p>
          </p:txBody>
        </p:sp>
      </p:grpSp>
      <p:grpSp>
        <p:nvGrpSpPr>
          <p:cNvPr id="299" name="Google Shape;299;p20"/>
          <p:cNvGrpSpPr/>
          <p:nvPr/>
        </p:nvGrpSpPr>
        <p:grpSpPr>
          <a:xfrm>
            <a:off x="6191250" y="1381125"/>
            <a:ext cx="2571900" cy="3381300"/>
            <a:chOff x="0" y="0"/>
            <a:chExt cx="2571900" cy="3381300"/>
          </a:xfrm>
        </p:grpSpPr>
        <p:sp>
          <p:nvSpPr>
            <p:cNvPr id="300" name="Google Shape;300;p20"/>
            <p:cNvSpPr/>
            <p:nvPr/>
          </p:nvSpPr>
          <p:spPr>
            <a:xfrm>
              <a:off x="0" y="0"/>
              <a:ext cx="2571900" cy="3381300"/>
            </a:xfrm>
            <a:prstGeom prst="roundRect">
              <a:avLst>
                <a:gd name="adj" fmla="val 2962"/>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01" name="Google Shape;301;p20"/>
            <p:cNvSpPr/>
            <p:nvPr/>
          </p:nvSpPr>
          <p:spPr>
            <a:xfrm>
              <a:off x="0" y="0"/>
              <a:ext cx="2571900" cy="523800"/>
            </a:xfrm>
            <a:custGeom>
              <a:avLst/>
              <a:gdLst/>
              <a:ahLst/>
              <a:cxnLst/>
              <a:rect l="l" t="t" r="r" b="b"/>
              <a:pathLst>
                <a:path w="120000" h="120000" extrusionOk="0">
                  <a:moveTo>
                    <a:pt x="3556" y="0"/>
                  </a:moveTo>
                  <a:lnTo>
                    <a:pt x="116444" y="0"/>
                  </a:lnTo>
                  <a:cubicBezTo>
                    <a:pt x="117387" y="-1"/>
                    <a:pt x="118292" y="1838"/>
                    <a:pt x="118958" y="5112"/>
                  </a:cubicBezTo>
                  <a:cubicBezTo>
                    <a:pt x="119625" y="8385"/>
                    <a:pt x="120000" y="12825"/>
                    <a:pt x="120000" y="17455"/>
                  </a:cubicBezTo>
                  <a:lnTo>
                    <a:pt x="120000" y="120000"/>
                  </a:lnTo>
                  <a:lnTo>
                    <a:pt x="0" y="120000"/>
                  </a:lnTo>
                  <a:lnTo>
                    <a:pt x="0" y="17455"/>
                  </a:lnTo>
                  <a:cubicBezTo>
                    <a:pt x="0" y="12826"/>
                    <a:pt x="375" y="8386"/>
                    <a:pt x="1041" y="5112"/>
                  </a:cubicBezTo>
                  <a:cubicBezTo>
                    <a:pt x="1708" y="1839"/>
                    <a:pt x="2613" y="0"/>
                    <a:pt x="3556" y="0"/>
                  </a:cubicBezTo>
                  <a:close/>
                </a:path>
              </a:pathLst>
            </a:custGeom>
            <a:solidFill>
              <a:srgbClr val="0F172A"/>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02" name="Google Shape;302;p20"/>
            <p:cNvSpPr/>
            <p:nvPr/>
          </p:nvSpPr>
          <p:spPr>
            <a:xfrm>
              <a:off x="0" y="0"/>
              <a:ext cx="523800" cy="523800"/>
            </a:xfrm>
            <a:custGeom>
              <a:avLst/>
              <a:gdLst/>
              <a:ahLst/>
              <a:cxnLst/>
              <a:rect l="l" t="t" r="r" b="b"/>
              <a:pathLst>
                <a:path w="120000" h="120000" extrusionOk="0">
                  <a:moveTo>
                    <a:pt x="17455" y="0"/>
                  </a:moveTo>
                  <a:lnTo>
                    <a:pt x="120000" y="0"/>
                  </a:lnTo>
                  <a:lnTo>
                    <a:pt x="120000" y="120000"/>
                  </a:lnTo>
                  <a:lnTo>
                    <a:pt x="0" y="120000"/>
                  </a:lnTo>
                  <a:lnTo>
                    <a:pt x="0" y="17455"/>
                  </a:lnTo>
                  <a:cubicBezTo>
                    <a:pt x="0" y="12826"/>
                    <a:pt x="1839" y="8386"/>
                    <a:pt x="5112" y="5112"/>
                  </a:cubicBezTo>
                  <a:cubicBezTo>
                    <a:pt x="8386" y="1839"/>
                    <a:pt x="12825" y="0"/>
                    <a:pt x="17455" y="0"/>
                  </a:cubicBezTo>
                  <a:close/>
                </a:path>
              </a:pathLst>
            </a:cu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03" name="Google Shape;303;p20"/>
            <p:cNvSpPr txBox="1"/>
            <p:nvPr/>
          </p:nvSpPr>
          <p:spPr>
            <a:xfrm>
              <a:off x="0" y="0"/>
              <a:ext cx="523800" cy="5238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FFFF"/>
                  </a:solidFill>
                  <a:latin typeface="Inter ExtraBold"/>
                  <a:ea typeface="Inter ExtraBold"/>
                  <a:cs typeface="Inter ExtraBold"/>
                  <a:sym typeface="Inter ExtraBold"/>
                </a:rPr>
                <a:t>M03</a:t>
              </a:r>
              <a:endParaRPr sz="1200" b="0" i="0" u="none" strike="noStrike" cap="none">
                <a:solidFill>
                  <a:srgbClr val="FFFFFF"/>
                </a:solidFill>
                <a:latin typeface="Inter ExtraBold"/>
                <a:ea typeface="Inter ExtraBold"/>
                <a:cs typeface="Inter ExtraBold"/>
                <a:sym typeface="Inter ExtraBold"/>
              </a:endParaRPr>
            </a:p>
          </p:txBody>
        </p:sp>
        <p:sp>
          <p:nvSpPr>
            <p:cNvPr id="304" name="Google Shape;304;p20"/>
            <p:cNvSpPr txBox="1"/>
            <p:nvPr/>
          </p:nvSpPr>
          <p:spPr>
            <a:xfrm>
              <a:off x="619125" y="0"/>
              <a:ext cx="1857300" cy="5238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1" i="0" u="none" strike="noStrike" cap="none">
                  <a:solidFill>
                    <a:srgbClr val="FFFFFF"/>
                  </a:solidFill>
                  <a:latin typeface="Inter"/>
                  <a:ea typeface="Inter"/>
                  <a:cs typeface="Inter"/>
                  <a:sym typeface="Inter"/>
                </a:rPr>
                <a:t>Quản lý chất lượng booking</a:t>
              </a:r>
              <a:endParaRPr sz="1000" b="1" i="0" u="none" strike="noStrike" cap="none">
                <a:solidFill>
                  <a:srgbClr val="FFFFFF"/>
                </a:solidFill>
                <a:latin typeface="Inter"/>
                <a:ea typeface="Inter"/>
                <a:cs typeface="Inter"/>
                <a:sym typeface="Inter"/>
              </a:endParaRPr>
            </a:p>
          </p:txBody>
        </p:sp>
        <p:sp>
          <p:nvSpPr>
            <p:cNvPr id="305" name="Google Shape;305;p20"/>
            <p:cNvSpPr txBox="1"/>
            <p:nvPr/>
          </p:nvSpPr>
          <p:spPr>
            <a:xfrm>
              <a:off x="142875" y="666750"/>
              <a:ext cx="2286000" cy="25719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50"/>
                <a:buFont typeface="Arial"/>
                <a:buNone/>
              </a:pPr>
              <a:r>
                <a:rPr lang="en" sz="950" b="1" i="0" u="none" strike="noStrike" cap="none">
                  <a:solidFill>
                    <a:srgbClr val="007B7C"/>
                  </a:solidFill>
                  <a:latin typeface="Inter"/>
                  <a:ea typeface="Inter"/>
                  <a:cs typeface="Inter"/>
                  <a:sym typeface="Inter"/>
                </a:rPr>
                <a:t>Bộ phận phụ trách: QA Manager</a:t>
              </a:r>
              <a:endParaRPr sz="950" b="1" i="0" u="none" strike="noStrike" cap="none">
                <a:solidFill>
                  <a:srgbClr val="007B7C"/>
                </a:solidFill>
                <a:latin typeface="Inter"/>
                <a:ea typeface="Inter"/>
                <a:cs typeface="Inter"/>
                <a:sym typeface="Inter"/>
              </a:endParaRPr>
            </a:p>
            <a:p>
              <a:pPr marL="457200" marR="0" lvl="0" indent="-288925" algn="l" rtl="0">
                <a:lnSpc>
                  <a:spcPct val="100000"/>
                </a:lnSpc>
                <a:spcBef>
                  <a:spcPts val="900"/>
                </a:spcBef>
                <a:spcAft>
                  <a:spcPts val="0"/>
                </a:spcAft>
                <a:buClr>
                  <a:srgbClr val="0F172A"/>
                </a:buClr>
                <a:buSzPts val="950"/>
                <a:buFont typeface="Inter"/>
                <a:buChar char="●"/>
              </a:pPr>
              <a:r>
                <a:rPr lang="en" sz="950" b="0" i="0" u="none" strike="noStrike" cap="none">
                  <a:solidFill>
                    <a:srgbClr val="475569"/>
                  </a:solidFill>
                  <a:latin typeface="Inter"/>
                  <a:ea typeface="Inter"/>
                  <a:cs typeface="Inter"/>
                  <a:sym typeface="Inter"/>
                </a:rPr>
                <a:t>Theo dõi liên tục các chỉ số KPI đánh giá chất lượng dịch vụ tổng thể.</a:t>
              </a:r>
              <a:endParaRPr sz="950" b="0" i="0" u="none" strike="noStrike" cap="none">
                <a:solidFill>
                  <a:srgbClr val="475569"/>
                </a:solidFill>
                <a:latin typeface="Inter"/>
                <a:ea typeface="Inter"/>
                <a:cs typeface="Inter"/>
                <a:sym typeface="Inter"/>
              </a:endParaRPr>
            </a:p>
            <a:p>
              <a:pPr marL="457200" marR="0" lvl="0" indent="-288925" algn="l" rtl="0">
                <a:lnSpc>
                  <a:spcPct val="100000"/>
                </a:lnSpc>
                <a:spcBef>
                  <a:spcPts val="750"/>
                </a:spcBef>
                <a:spcAft>
                  <a:spcPts val="0"/>
                </a:spcAft>
                <a:buClr>
                  <a:srgbClr val="0F172A"/>
                </a:buClr>
                <a:buSzPts val="950"/>
                <a:buFont typeface="Inter"/>
                <a:buChar char="●"/>
              </a:pPr>
              <a:r>
                <a:rPr lang="en" sz="950" b="0" i="0" u="none" strike="noStrike" cap="none">
                  <a:solidFill>
                    <a:srgbClr val="475569"/>
                  </a:solidFill>
                  <a:latin typeface="Inter"/>
                  <a:ea typeface="Inter"/>
                  <a:cs typeface="Inter"/>
                  <a:sym typeface="Inter"/>
                </a:rPr>
                <a:t>Phân tích nguyên nhân cốt lõi khiến các lượt booking bị khách hàng đánh giá thấp.</a:t>
              </a:r>
              <a:endParaRPr sz="950" b="0" i="0" u="none" strike="noStrike" cap="none">
                <a:solidFill>
                  <a:srgbClr val="475569"/>
                </a:solidFill>
                <a:latin typeface="Inter"/>
                <a:ea typeface="Inter"/>
                <a:cs typeface="Inter"/>
                <a:sym typeface="Inter"/>
              </a:endParaRPr>
            </a:p>
            <a:p>
              <a:pPr marL="457200" marR="0" lvl="0" indent="-288925" algn="l" rtl="0">
                <a:lnSpc>
                  <a:spcPct val="100000"/>
                </a:lnSpc>
                <a:spcBef>
                  <a:spcPts val="750"/>
                </a:spcBef>
                <a:spcAft>
                  <a:spcPts val="750"/>
                </a:spcAft>
                <a:buClr>
                  <a:srgbClr val="0F172A"/>
                </a:buClr>
                <a:buSzPts val="950"/>
                <a:buFont typeface="Inter"/>
                <a:buChar char="●"/>
              </a:pPr>
              <a:r>
                <a:rPr lang="en" sz="950" b="1" i="0" u="none" strike="noStrike" cap="none">
                  <a:solidFill>
                    <a:srgbClr val="0F172A"/>
                  </a:solidFill>
                  <a:latin typeface="Inter"/>
                  <a:ea typeface="Inter"/>
                  <a:cs typeface="Inter"/>
                  <a:sym typeface="Inter"/>
                </a:rPr>
                <a:t>Đề xuất các phương án khắc phục kịp thời và thực hiện báo cáo định kỳ cho ban quản lý.</a:t>
              </a:r>
              <a:endParaRPr sz="950" b="1" i="0" u="none" strike="noStrike" cap="none">
                <a:solidFill>
                  <a:srgbClr val="0F172A"/>
                </a:solidFill>
                <a:latin typeface="Inter"/>
                <a:ea typeface="Inter"/>
                <a:cs typeface="Inter"/>
                <a:sym typeface="Inter"/>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21"/>
          <p:cNvSpPr/>
          <p:nvPr/>
        </p:nvSpPr>
        <p:spPr>
          <a:xfrm>
            <a:off x="0" y="0"/>
            <a:ext cx="9144000" cy="5143500"/>
          </a:xfrm>
          <a:prstGeom prst="rect">
            <a:avLst/>
          </a:pr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311" name="Google Shape;311;p21"/>
          <p:cNvGrpSpPr/>
          <p:nvPr/>
        </p:nvGrpSpPr>
        <p:grpSpPr>
          <a:xfrm>
            <a:off x="8458200" y="381000"/>
            <a:ext cx="304800" cy="304800"/>
            <a:chOff x="0" y="0"/>
            <a:chExt cx="304800" cy="304800"/>
          </a:xfrm>
        </p:grpSpPr>
        <p:sp>
          <p:nvSpPr>
            <p:cNvPr id="312" name="Google Shape;312;p21"/>
            <p:cNvSpPr/>
            <p:nvPr/>
          </p:nvSpPr>
          <p:spPr>
            <a:xfrm>
              <a:off x="0" y="0"/>
              <a:ext cx="304800" cy="304800"/>
            </a:xfrm>
            <a:prstGeom prst="roundRect">
              <a:avLst>
                <a:gd name="adj" fmla="val 125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13" name="Google Shape;313;p21"/>
            <p:cNvSpPr/>
            <p:nvPr/>
          </p:nvSpPr>
          <p:spPr>
            <a:xfrm>
              <a:off x="95250" y="95250"/>
              <a:ext cx="114300" cy="114300"/>
            </a:xfrm>
            <a:custGeom>
              <a:avLst/>
              <a:gdLst/>
              <a:ahLst/>
              <a:cxnLst/>
              <a:rect l="l" t="t" r="r" b="b"/>
              <a:pathLst>
                <a:path w="120000" h="120000" extrusionOk="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14" name="Google Shape;314;p21"/>
            <p:cNvSpPr/>
            <p:nvPr/>
          </p:nvSpPr>
          <p:spPr>
            <a:xfrm>
              <a:off x="123825" y="123825"/>
              <a:ext cx="57300" cy="57300"/>
            </a:xfrm>
            <a:prstGeom prst="ellipse">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cxnSp>
        <p:nvCxnSpPr>
          <p:cNvPr id="315" name="Google Shape;315;p21"/>
          <p:cNvCxnSpPr/>
          <p:nvPr/>
        </p:nvCxnSpPr>
        <p:spPr>
          <a:xfrm>
            <a:off x="381000" y="1143000"/>
            <a:ext cx="8382000" cy="0"/>
          </a:xfrm>
          <a:prstGeom prst="straightConnector1">
            <a:avLst/>
          </a:prstGeom>
          <a:solidFill>
            <a:srgbClr val="FFFFFF"/>
          </a:solidFill>
          <a:ln w="14300" cap="flat" cmpd="sng">
            <a:solidFill>
              <a:srgbClr val="E2E8F0"/>
            </a:solidFill>
            <a:prstDash val="solid"/>
            <a:round/>
            <a:headEnd type="none" w="sm" len="sm"/>
            <a:tailEnd type="none" w="sm" len="sm"/>
          </a:ln>
        </p:spPr>
      </p:cxnSp>
      <p:sp>
        <p:nvSpPr>
          <p:cNvPr id="316" name="Google Shape;316;p21"/>
          <p:cNvSpPr txBox="1"/>
          <p:nvPr/>
        </p:nvSpPr>
        <p:spPr>
          <a:xfrm>
            <a:off x="381000" y="333375"/>
            <a:ext cx="7620000" cy="762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 sz="2000" b="0" i="0" u="none" strike="noStrike" cap="none">
                <a:solidFill>
                  <a:srgbClr val="0F172A"/>
                </a:solidFill>
                <a:latin typeface="Inter ExtraBold"/>
                <a:ea typeface="Inter ExtraBold"/>
                <a:cs typeface="Inter ExtraBold"/>
                <a:sym typeface="Inter ExtraBold"/>
              </a:rPr>
              <a:t>Danh sách và Mô tả Nhóm Quy trình Cốt lõi</a:t>
            </a:r>
            <a:endParaRPr sz="2000" b="0" i="0" u="none" strike="noStrike" cap="none">
              <a:solidFill>
                <a:srgbClr val="0F172A"/>
              </a:solidFill>
              <a:latin typeface="Inter ExtraBold"/>
              <a:ea typeface="Inter ExtraBold"/>
              <a:cs typeface="Inter ExtraBold"/>
              <a:sym typeface="Inter ExtraBold"/>
            </a:endParaRPr>
          </a:p>
          <a:p>
            <a:pPr marL="0" marR="0" lvl="0" indent="0" algn="l" rtl="0">
              <a:lnSpc>
                <a:spcPct val="100000"/>
              </a:lnSpc>
              <a:spcBef>
                <a:spcPts val="225"/>
              </a:spcBef>
              <a:spcAft>
                <a:spcPts val="0"/>
              </a:spcAft>
              <a:buClr>
                <a:srgbClr val="000000"/>
              </a:buClr>
              <a:buSzPts val="1100"/>
              <a:buFont typeface="Arial"/>
              <a:buNone/>
            </a:pPr>
            <a:r>
              <a:rPr lang="en" sz="1100" b="0" i="0" u="none" strike="noStrike" cap="none">
                <a:solidFill>
                  <a:srgbClr val="007B7C"/>
                </a:solidFill>
                <a:latin typeface="Inter SemiBold"/>
                <a:ea typeface="Inter SemiBold"/>
                <a:cs typeface="Inter SemiBold"/>
                <a:sym typeface="Inter SemiBold"/>
              </a:rPr>
              <a:t>Nhóm quy trình Cốt lõi bao gồm 4 quy trình trực tiếp tạo ra giá trị:</a:t>
            </a:r>
            <a:endParaRPr sz="1100" b="0" i="0" u="none" strike="noStrike" cap="none">
              <a:solidFill>
                <a:srgbClr val="007B7C"/>
              </a:solidFill>
              <a:latin typeface="Inter SemiBold"/>
              <a:ea typeface="Inter SemiBold"/>
              <a:cs typeface="Inter SemiBold"/>
              <a:sym typeface="Inter SemiBold"/>
            </a:endParaRPr>
          </a:p>
        </p:txBody>
      </p:sp>
      <p:grpSp>
        <p:nvGrpSpPr>
          <p:cNvPr id="317" name="Google Shape;317;p21"/>
          <p:cNvGrpSpPr/>
          <p:nvPr/>
        </p:nvGrpSpPr>
        <p:grpSpPr>
          <a:xfrm>
            <a:off x="381000" y="1333500"/>
            <a:ext cx="1809600" cy="571500"/>
            <a:chOff x="0" y="0"/>
            <a:chExt cx="1809600" cy="571500"/>
          </a:xfrm>
        </p:grpSpPr>
        <p:sp>
          <p:nvSpPr>
            <p:cNvPr id="318" name="Google Shape;318;p21"/>
            <p:cNvSpPr/>
            <p:nvPr/>
          </p:nvSpPr>
          <p:spPr>
            <a:xfrm>
              <a:off x="0" y="0"/>
              <a:ext cx="1809600" cy="571500"/>
            </a:xfrm>
            <a:prstGeom prst="roundRect">
              <a:avLst>
                <a:gd name="adj" fmla="val 10000"/>
              </a:avLst>
            </a:prstGeom>
            <a:solidFill>
              <a:srgbClr val="FFFFFF"/>
            </a:solidFill>
            <a:ln w="114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19" name="Google Shape;319;p21"/>
            <p:cNvSpPr/>
            <p:nvPr/>
          </p:nvSpPr>
          <p:spPr>
            <a:xfrm>
              <a:off x="0" y="0"/>
              <a:ext cx="381000" cy="571500"/>
            </a:xfrm>
            <a:prstGeom prst="roundRect">
              <a:avLst>
                <a:gd name="adj" fmla="val 15000"/>
              </a:avLst>
            </a:prstGeom>
            <a:solidFill>
              <a:srgbClr val="0F172A"/>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20" name="Google Shape;320;p21"/>
            <p:cNvSpPr/>
            <p:nvPr/>
          </p:nvSpPr>
          <p:spPr>
            <a:xfrm>
              <a:off x="333375" y="0"/>
              <a:ext cx="47700" cy="571500"/>
            </a:xfrm>
            <a:prstGeom prst="rect">
              <a:avLst/>
            </a:prstGeom>
            <a:solidFill>
              <a:srgbClr val="0F172A"/>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21" name="Google Shape;321;p21"/>
            <p:cNvSpPr txBox="1"/>
            <p:nvPr/>
          </p:nvSpPr>
          <p:spPr>
            <a:xfrm>
              <a:off x="0" y="0"/>
              <a:ext cx="381000" cy="5715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none" strike="noStrike" cap="none">
                  <a:solidFill>
                    <a:srgbClr val="FFFFFF"/>
                  </a:solidFill>
                  <a:latin typeface="Inter ExtraBold"/>
                  <a:ea typeface="Inter ExtraBold"/>
                  <a:cs typeface="Inter ExtraBold"/>
                  <a:sym typeface="Inter ExtraBold"/>
                </a:rPr>
                <a:t>C01</a:t>
              </a:r>
              <a:endParaRPr sz="1100" b="0" i="0" u="none" strike="noStrike" cap="none">
                <a:solidFill>
                  <a:srgbClr val="FFFFFF"/>
                </a:solidFill>
                <a:latin typeface="Inter ExtraBold"/>
                <a:ea typeface="Inter ExtraBold"/>
                <a:cs typeface="Inter ExtraBold"/>
                <a:sym typeface="Inter ExtraBold"/>
              </a:endParaRPr>
            </a:p>
          </p:txBody>
        </p:sp>
        <p:sp>
          <p:nvSpPr>
            <p:cNvPr id="322" name="Google Shape;322;p21"/>
            <p:cNvSpPr txBox="1"/>
            <p:nvPr/>
          </p:nvSpPr>
          <p:spPr>
            <a:xfrm>
              <a:off x="476250" y="0"/>
              <a:ext cx="1285800" cy="5715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850"/>
                <a:buFont typeface="Arial"/>
                <a:buNone/>
              </a:pPr>
              <a:r>
                <a:rPr lang="en" sz="850" b="1" i="0" u="none" strike="noStrike" cap="none">
                  <a:solidFill>
                    <a:srgbClr val="0F172A"/>
                  </a:solidFill>
                  <a:latin typeface="Inter"/>
                  <a:ea typeface="Inter"/>
                  <a:cs typeface="Inter"/>
                  <a:sym typeface="Inter"/>
                </a:rPr>
                <a:t>Khách hàng đặt booking</a:t>
              </a:r>
              <a:endParaRPr sz="850" b="1" i="0" u="none" strike="noStrike" cap="none">
                <a:solidFill>
                  <a:srgbClr val="0F172A"/>
                </a:solidFill>
                <a:latin typeface="Inter"/>
                <a:ea typeface="Inter"/>
                <a:cs typeface="Inter"/>
                <a:sym typeface="Inter"/>
              </a:endParaRPr>
            </a:p>
          </p:txBody>
        </p:sp>
      </p:grpSp>
      <p:grpSp>
        <p:nvGrpSpPr>
          <p:cNvPr id="323" name="Google Shape;323;p21"/>
          <p:cNvGrpSpPr/>
          <p:nvPr/>
        </p:nvGrpSpPr>
        <p:grpSpPr>
          <a:xfrm>
            <a:off x="381000" y="2047875"/>
            <a:ext cx="1809600" cy="2571900"/>
            <a:chOff x="0" y="0"/>
            <a:chExt cx="1809600" cy="2571900"/>
          </a:xfrm>
        </p:grpSpPr>
        <p:sp>
          <p:nvSpPr>
            <p:cNvPr id="324" name="Google Shape;324;p21"/>
            <p:cNvSpPr/>
            <p:nvPr/>
          </p:nvSpPr>
          <p:spPr>
            <a:xfrm>
              <a:off x="0" y="0"/>
              <a:ext cx="1809600" cy="2571900"/>
            </a:xfrm>
            <a:prstGeom prst="roundRect">
              <a:avLst>
                <a:gd name="adj" fmla="val 4210"/>
              </a:avLst>
            </a:prstGeom>
            <a:solidFill>
              <a:srgbClr val="F8FAFC"/>
            </a:solidFill>
            <a:ln w="114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25" name="Google Shape;325;p21"/>
            <p:cNvSpPr/>
            <p:nvPr/>
          </p:nvSpPr>
          <p:spPr>
            <a:xfrm>
              <a:off x="0" y="0"/>
              <a:ext cx="1809600" cy="38100"/>
            </a:xfrm>
            <a:prstGeom prst="roundRect">
              <a:avLst>
                <a:gd name="adj" fmla="val 500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26" name="Google Shape;326;p21"/>
            <p:cNvSpPr txBox="1"/>
            <p:nvPr/>
          </p:nvSpPr>
          <p:spPr>
            <a:xfrm>
              <a:off x="142875" y="142875"/>
              <a:ext cx="1524000" cy="2286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1" i="0" u="none" strike="noStrike" cap="none">
                  <a:solidFill>
                    <a:srgbClr val="0F172A"/>
                  </a:solidFill>
                  <a:latin typeface="Inter"/>
                  <a:ea typeface="Inter"/>
                  <a:cs typeface="Inter"/>
                  <a:sym typeface="Inter"/>
                </a:rPr>
                <a:t>Khởi tạo yêu cầu</a:t>
              </a:r>
              <a:endParaRPr sz="1000" b="1" i="0" u="none" strike="noStrike" cap="none">
                <a:solidFill>
                  <a:srgbClr val="0F172A"/>
                </a:solidFill>
                <a:latin typeface="Inter"/>
                <a:ea typeface="Inter"/>
                <a:cs typeface="Inter"/>
                <a:sym typeface="Inter"/>
              </a:endParaRPr>
            </a:p>
            <a:p>
              <a:pPr marL="0" marR="0" lvl="0" indent="0" algn="l" rtl="0">
                <a:lnSpc>
                  <a:spcPct val="100000"/>
                </a:lnSpc>
                <a:spcBef>
                  <a:spcPts val="750"/>
                </a:spcBef>
                <a:spcAft>
                  <a:spcPts val="0"/>
                </a:spcAft>
                <a:buClr>
                  <a:srgbClr val="000000"/>
                </a:buClr>
                <a:buSzPts val="900"/>
                <a:buFont typeface="Arial"/>
                <a:buNone/>
              </a:pPr>
              <a:r>
                <a:rPr lang="en" sz="900" b="0" i="0" u="none" strike="noStrike" cap="none">
                  <a:solidFill>
                    <a:srgbClr val="475569"/>
                  </a:solidFill>
                  <a:latin typeface="Inter"/>
                  <a:ea typeface="Inter"/>
                  <a:cs typeface="Inter"/>
                  <a:sym typeface="Inter"/>
                </a:rPr>
                <a:t>Khách hàng gửi yêu cầu qua Call Center hoặc ứng dụng.</a:t>
              </a:r>
              <a:endParaRPr sz="900" b="0" i="0" u="none" strike="noStrike" cap="none">
                <a:solidFill>
                  <a:srgbClr val="475569"/>
                </a:solidFill>
                <a:latin typeface="Inter"/>
                <a:ea typeface="Inter"/>
                <a:cs typeface="Inter"/>
                <a:sym typeface="Inter"/>
              </a:endParaRPr>
            </a:p>
            <a:p>
              <a:pPr marL="0" marR="0" lvl="0" indent="0" algn="l" rtl="0">
                <a:lnSpc>
                  <a:spcPct val="100000"/>
                </a:lnSpc>
                <a:spcBef>
                  <a:spcPts val="900"/>
                </a:spcBef>
                <a:spcAft>
                  <a:spcPts val="0"/>
                </a:spcAft>
                <a:buClr>
                  <a:srgbClr val="000000"/>
                </a:buClr>
                <a:buSzPts val="850"/>
                <a:buFont typeface="Arial"/>
                <a:buNone/>
              </a:pPr>
              <a:r>
                <a:rPr lang="en" sz="850" b="1" i="0" u="none" strike="noStrike" cap="none">
                  <a:solidFill>
                    <a:srgbClr val="64748B"/>
                  </a:solidFill>
                  <a:latin typeface="Inter"/>
                  <a:ea typeface="Inter"/>
                  <a:cs typeface="Inter"/>
                  <a:sym typeface="Inter"/>
                </a:rPr>
                <a:t>Hệ thống ghi nhận:</a:t>
              </a:r>
              <a:br>
                <a:rPr lang="en" sz="850" b="0" i="0" u="none" strike="noStrike" cap="none">
                  <a:solidFill>
                    <a:srgbClr val="475569"/>
                  </a:solidFill>
                  <a:latin typeface="Inter"/>
                  <a:ea typeface="Inter"/>
                  <a:cs typeface="Inter"/>
                  <a:sym typeface="Inter"/>
                </a:rPr>
              </a:br>
              <a:r>
                <a:rPr lang="en" sz="850" b="0" i="0" u="none" strike="noStrike" cap="none">
                  <a:solidFill>
                    <a:srgbClr val="475569"/>
                  </a:solidFill>
                  <a:latin typeface="Inter"/>
                  <a:ea typeface="Inter"/>
                  <a:cs typeface="Inter"/>
                  <a:sym typeface="Inter"/>
                </a:rPr>
                <a:t>Trạng thái </a:t>
              </a:r>
              <a:r>
                <a:rPr lang="en" sz="850" b="1" i="0" u="none" strike="noStrike" cap="none">
                  <a:solidFill>
                    <a:srgbClr val="0284C7"/>
                  </a:solidFill>
                  <a:latin typeface="Inter"/>
                  <a:ea typeface="Inter"/>
                  <a:cs typeface="Inter"/>
                  <a:sym typeface="Inter"/>
                </a:rPr>
                <a:t>"New"</a:t>
              </a:r>
              <a:endParaRPr sz="850" b="0" i="0" u="none" strike="noStrike" cap="none">
                <a:solidFill>
                  <a:srgbClr val="475569"/>
                </a:solidFill>
                <a:latin typeface="Inter"/>
                <a:ea typeface="Inter"/>
                <a:cs typeface="Inter"/>
                <a:sym typeface="Inter"/>
              </a:endParaRPr>
            </a:p>
          </p:txBody>
        </p:sp>
      </p:grpSp>
      <p:grpSp>
        <p:nvGrpSpPr>
          <p:cNvPr id="327" name="Google Shape;327;p21"/>
          <p:cNvGrpSpPr/>
          <p:nvPr/>
        </p:nvGrpSpPr>
        <p:grpSpPr>
          <a:xfrm>
            <a:off x="2266950" y="1562100"/>
            <a:ext cx="228750" cy="114300"/>
            <a:chOff x="0" y="0"/>
            <a:chExt cx="228750" cy="114300"/>
          </a:xfrm>
        </p:grpSpPr>
        <p:cxnSp>
          <p:nvCxnSpPr>
            <p:cNvPr id="328" name="Google Shape;328;p21"/>
            <p:cNvCxnSpPr/>
            <p:nvPr/>
          </p:nvCxnSpPr>
          <p:spPr>
            <a:xfrm>
              <a:off x="0" y="57150"/>
              <a:ext cx="228600" cy="0"/>
            </a:xfrm>
            <a:prstGeom prst="straightConnector1">
              <a:avLst/>
            </a:prstGeom>
            <a:solidFill>
              <a:srgbClr val="FFFFFF"/>
            </a:solidFill>
            <a:ln w="19050" cap="rnd" cmpd="sng">
              <a:solidFill>
                <a:srgbClr val="0284C7"/>
              </a:solidFill>
              <a:prstDash val="solid"/>
              <a:round/>
              <a:headEnd type="none" w="sm" len="sm"/>
              <a:tailEnd type="none" w="sm" len="sm"/>
            </a:ln>
          </p:spPr>
        </p:cxnSp>
        <p:sp>
          <p:nvSpPr>
            <p:cNvPr id="329" name="Google Shape;329;p21"/>
            <p:cNvSpPr/>
            <p:nvPr/>
          </p:nvSpPr>
          <p:spPr>
            <a:xfrm>
              <a:off x="171450" y="0"/>
              <a:ext cx="57300" cy="114300"/>
            </a:xfrm>
            <a:custGeom>
              <a:avLst/>
              <a:gdLst/>
              <a:ahLst/>
              <a:cxnLst/>
              <a:rect l="l" t="t" r="r" b="b"/>
              <a:pathLst>
                <a:path w="120000" h="120000" extrusionOk="0">
                  <a:moveTo>
                    <a:pt x="0" y="0"/>
                  </a:moveTo>
                  <a:lnTo>
                    <a:pt x="120000" y="60000"/>
                  </a:lnTo>
                  <a:lnTo>
                    <a:pt x="0" y="120000"/>
                  </a:lnTo>
                </a:path>
              </a:pathLst>
            </a:custGeom>
            <a:solidFill>
              <a:srgbClr val="000000">
                <a:alpha val="0"/>
              </a:srgbClr>
            </a:solidFill>
            <a:ln w="19050" cap="rnd" cmpd="sng">
              <a:solidFill>
                <a:srgbClr val="0284C7"/>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grpSp>
        <p:nvGrpSpPr>
          <p:cNvPr id="330" name="Google Shape;330;p21"/>
          <p:cNvGrpSpPr/>
          <p:nvPr/>
        </p:nvGrpSpPr>
        <p:grpSpPr>
          <a:xfrm>
            <a:off x="2571750" y="1333500"/>
            <a:ext cx="1809600" cy="571500"/>
            <a:chOff x="0" y="0"/>
            <a:chExt cx="1809600" cy="571500"/>
          </a:xfrm>
        </p:grpSpPr>
        <p:sp>
          <p:nvSpPr>
            <p:cNvPr id="331" name="Google Shape;331;p21"/>
            <p:cNvSpPr/>
            <p:nvPr/>
          </p:nvSpPr>
          <p:spPr>
            <a:xfrm>
              <a:off x="0" y="0"/>
              <a:ext cx="1809600" cy="571500"/>
            </a:xfrm>
            <a:prstGeom prst="roundRect">
              <a:avLst>
                <a:gd name="adj" fmla="val 10000"/>
              </a:avLst>
            </a:prstGeom>
            <a:solidFill>
              <a:srgbClr val="FFFFFF"/>
            </a:solidFill>
            <a:ln w="114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32" name="Google Shape;332;p21"/>
            <p:cNvSpPr/>
            <p:nvPr/>
          </p:nvSpPr>
          <p:spPr>
            <a:xfrm>
              <a:off x="0" y="0"/>
              <a:ext cx="381000" cy="571500"/>
            </a:xfrm>
            <a:prstGeom prst="roundRect">
              <a:avLst>
                <a:gd name="adj" fmla="val 15000"/>
              </a:avLst>
            </a:prstGeom>
            <a:solidFill>
              <a:srgbClr val="0F172A"/>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33" name="Google Shape;333;p21"/>
            <p:cNvSpPr/>
            <p:nvPr/>
          </p:nvSpPr>
          <p:spPr>
            <a:xfrm>
              <a:off x="333375" y="0"/>
              <a:ext cx="47700" cy="571500"/>
            </a:xfrm>
            <a:prstGeom prst="rect">
              <a:avLst/>
            </a:prstGeom>
            <a:solidFill>
              <a:srgbClr val="0F172A"/>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34" name="Google Shape;334;p21"/>
            <p:cNvSpPr txBox="1"/>
            <p:nvPr/>
          </p:nvSpPr>
          <p:spPr>
            <a:xfrm>
              <a:off x="0" y="0"/>
              <a:ext cx="381000" cy="5715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none" strike="noStrike" cap="none">
                  <a:solidFill>
                    <a:srgbClr val="FFFFFF"/>
                  </a:solidFill>
                  <a:latin typeface="Inter ExtraBold"/>
                  <a:ea typeface="Inter ExtraBold"/>
                  <a:cs typeface="Inter ExtraBold"/>
                  <a:sym typeface="Inter ExtraBold"/>
                </a:rPr>
                <a:t>C02</a:t>
              </a:r>
              <a:endParaRPr sz="1100" b="0" i="0" u="none" strike="noStrike" cap="none">
                <a:solidFill>
                  <a:srgbClr val="FFFFFF"/>
                </a:solidFill>
                <a:latin typeface="Inter ExtraBold"/>
                <a:ea typeface="Inter ExtraBold"/>
                <a:cs typeface="Inter ExtraBold"/>
                <a:sym typeface="Inter ExtraBold"/>
              </a:endParaRPr>
            </a:p>
          </p:txBody>
        </p:sp>
        <p:sp>
          <p:nvSpPr>
            <p:cNvPr id="335" name="Google Shape;335;p21"/>
            <p:cNvSpPr txBox="1"/>
            <p:nvPr/>
          </p:nvSpPr>
          <p:spPr>
            <a:xfrm>
              <a:off x="476250" y="0"/>
              <a:ext cx="1285800" cy="5715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850"/>
                <a:buFont typeface="Arial"/>
                <a:buNone/>
              </a:pPr>
              <a:r>
                <a:rPr lang="en" sz="850" b="1" i="0" u="none" strike="noStrike" cap="none">
                  <a:solidFill>
                    <a:srgbClr val="0F172A"/>
                  </a:solidFill>
                  <a:latin typeface="Inter"/>
                  <a:ea typeface="Inter"/>
                  <a:cs typeface="Inter"/>
                  <a:sym typeface="Inter"/>
                </a:rPr>
                <a:t>CS assign KTV cho booking</a:t>
              </a:r>
              <a:endParaRPr sz="850" b="1" i="0" u="none" strike="noStrike" cap="none">
                <a:solidFill>
                  <a:srgbClr val="0F172A"/>
                </a:solidFill>
                <a:latin typeface="Inter"/>
                <a:ea typeface="Inter"/>
                <a:cs typeface="Inter"/>
                <a:sym typeface="Inter"/>
              </a:endParaRPr>
            </a:p>
          </p:txBody>
        </p:sp>
      </p:grpSp>
      <p:grpSp>
        <p:nvGrpSpPr>
          <p:cNvPr id="336" name="Google Shape;336;p21"/>
          <p:cNvGrpSpPr/>
          <p:nvPr/>
        </p:nvGrpSpPr>
        <p:grpSpPr>
          <a:xfrm>
            <a:off x="2571750" y="2047875"/>
            <a:ext cx="1809600" cy="2571900"/>
            <a:chOff x="0" y="0"/>
            <a:chExt cx="1809600" cy="2571900"/>
          </a:xfrm>
        </p:grpSpPr>
        <p:sp>
          <p:nvSpPr>
            <p:cNvPr id="337" name="Google Shape;337;p21"/>
            <p:cNvSpPr/>
            <p:nvPr/>
          </p:nvSpPr>
          <p:spPr>
            <a:xfrm>
              <a:off x="0" y="0"/>
              <a:ext cx="1809600" cy="2571900"/>
            </a:xfrm>
            <a:prstGeom prst="roundRect">
              <a:avLst>
                <a:gd name="adj" fmla="val 4210"/>
              </a:avLst>
            </a:prstGeom>
            <a:solidFill>
              <a:srgbClr val="F8FAFC"/>
            </a:solidFill>
            <a:ln w="114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38" name="Google Shape;338;p21"/>
            <p:cNvSpPr/>
            <p:nvPr/>
          </p:nvSpPr>
          <p:spPr>
            <a:xfrm>
              <a:off x="0" y="0"/>
              <a:ext cx="1809600" cy="38100"/>
            </a:xfrm>
            <a:prstGeom prst="roundRect">
              <a:avLst>
                <a:gd name="adj" fmla="val 500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39" name="Google Shape;339;p21"/>
            <p:cNvSpPr txBox="1"/>
            <p:nvPr/>
          </p:nvSpPr>
          <p:spPr>
            <a:xfrm>
              <a:off x="142875" y="142875"/>
              <a:ext cx="1524000" cy="2286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1" i="0" u="none" strike="noStrike" cap="none">
                  <a:solidFill>
                    <a:srgbClr val="0F172A"/>
                  </a:solidFill>
                  <a:latin typeface="Inter"/>
                  <a:ea typeface="Inter"/>
                  <a:cs typeface="Inter"/>
                  <a:sym typeface="Inter"/>
                </a:rPr>
                <a:t>Điều phối &amp; Giao việc</a:t>
              </a:r>
              <a:endParaRPr sz="1000" b="1" i="0" u="none" strike="noStrike" cap="none">
                <a:solidFill>
                  <a:srgbClr val="0F172A"/>
                </a:solidFill>
                <a:latin typeface="Inter"/>
                <a:ea typeface="Inter"/>
                <a:cs typeface="Inter"/>
                <a:sym typeface="Inter"/>
              </a:endParaRPr>
            </a:p>
            <a:p>
              <a:pPr marL="0" marR="0" lvl="0" indent="0" algn="l" rtl="0">
                <a:lnSpc>
                  <a:spcPct val="100000"/>
                </a:lnSpc>
                <a:spcBef>
                  <a:spcPts val="750"/>
                </a:spcBef>
                <a:spcAft>
                  <a:spcPts val="0"/>
                </a:spcAft>
                <a:buClr>
                  <a:srgbClr val="000000"/>
                </a:buClr>
                <a:buSzPts val="900"/>
                <a:buFont typeface="Arial"/>
                <a:buNone/>
              </a:pPr>
              <a:r>
                <a:rPr lang="en" sz="900" b="0" i="0" u="none" strike="noStrike" cap="none">
                  <a:solidFill>
                    <a:srgbClr val="475569"/>
                  </a:solidFill>
                  <a:latin typeface="Inter"/>
                  <a:ea typeface="Inter"/>
                  <a:cs typeface="Inter"/>
                  <a:sym typeface="Inter"/>
                </a:rPr>
                <a:t>Customer Service điều phối KTV phù hợp trên Portal dựa theo khu vực và lịch làm việc.</a:t>
              </a:r>
              <a:endParaRPr sz="900" b="0" i="0" u="none" strike="noStrike" cap="none">
                <a:solidFill>
                  <a:srgbClr val="475569"/>
                </a:solidFill>
                <a:latin typeface="Inter"/>
                <a:ea typeface="Inter"/>
                <a:cs typeface="Inter"/>
                <a:sym typeface="Inter"/>
              </a:endParaRPr>
            </a:p>
            <a:p>
              <a:pPr marL="0" marR="0" lvl="0" indent="0" algn="l" rtl="0">
                <a:lnSpc>
                  <a:spcPct val="100000"/>
                </a:lnSpc>
                <a:spcBef>
                  <a:spcPts val="900"/>
                </a:spcBef>
                <a:spcAft>
                  <a:spcPts val="0"/>
                </a:spcAft>
                <a:buClr>
                  <a:srgbClr val="000000"/>
                </a:buClr>
                <a:buSzPts val="850"/>
                <a:buFont typeface="Arial"/>
                <a:buNone/>
              </a:pPr>
              <a:r>
                <a:rPr lang="en" sz="850" b="1" i="0" u="none" strike="noStrike" cap="none">
                  <a:solidFill>
                    <a:srgbClr val="64748B"/>
                  </a:solidFill>
                  <a:latin typeface="Inter"/>
                  <a:ea typeface="Inter"/>
                  <a:cs typeface="Inter"/>
                  <a:sym typeface="Inter"/>
                </a:rPr>
                <a:t>Hệ thống ghi nhận:</a:t>
              </a:r>
              <a:br>
                <a:rPr lang="en" sz="850" b="0" i="0" u="none" strike="noStrike" cap="none">
                  <a:solidFill>
                    <a:srgbClr val="475569"/>
                  </a:solidFill>
                  <a:latin typeface="Inter"/>
                  <a:ea typeface="Inter"/>
                  <a:cs typeface="Inter"/>
                  <a:sym typeface="Inter"/>
                </a:rPr>
              </a:br>
              <a:r>
                <a:rPr lang="en" sz="850" b="0" i="0" u="none" strike="noStrike" cap="none">
                  <a:solidFill>
                    <a:srgbClr val="475569"/>
                  </a:solidFill>
                  <a:latin typeface="Inter"/>
                  <a:ea typeface="Inter"/>
                  <a:cs typeface="Inter"/>
                  <a:sym typeface="Inter"/>
                </a:rPr>
                <a:t>Chuyển sang </a:t>
              </a:r>
              <a:r>
                <a:rPr lang="en" sz="850" b="1" i="0" u="none" strike="noStrike" cap="none">
                  <a:solidFill>
                    <a:srgbClr val="0284C7"/>
                  </a:solidFill>
                  <a:latin typeface="Inter"/>
                  <a:ea typeface="Inter"/>
                  <a:cs typeface="Inter"/>
                  <a:sym typeface="Inter"/>
                </a:rPr>
                <a:t>"Received"</a:t>
              </a:r>
              <a:r>
                <a:rPr lang="en" sz="850" b="0" i="0" u="none" strike="noStrike" cap="none">
                  <a:solidFill>
                    <a:srgbClr val="475569"/>
                  </a:solidFill>
                  <a:latin typeface="Inter"/>
                  <a:ea typeface="Inter"/>
                  <a:cs typeface="Inter"/>
                  <a:sym typeface="Inter"/>
                </a:rPr>
                <a:t> khi CS nhận xử lý booking và sau đó là </a:t>
              </a:r>
              <a:r>
                <a:rPr lang="en" sz="850" b="1" i="0" u="none" strike="noStrike" cap="none">
                  <a:solidFill>
                    <a:srgbClr val="0284C7"/>
                  </a:solidFill>
                  <a:latin typeface="Inter"/>
                  <a:ea typeface="Inter"/>
                  <a:cs typeface="Inter"/>
                  <a:sym typeface="Inter"/>
                </a:rPr>
                <a:t>"Accepted/Assigned"</a:t>
              </a:r>
              <a:r>
                <a:rPr lang="en" sz="850" b="0" i="0" u="none" strike="noStrike" cap="none">
                  <a:solidFill>
                    <a:srgbClr val="475569"/>
                  </a:solidFill>
                  <a:latin typeface="Inter"/>
                  <a:ea typeface="Inter"/>
                  <a:cs typeface="Inter"/>
                  <a:sym typeface="Inter"/>
                </a:rPr>
                <a:t> khi KTV xác nhận.</a:t>
              </a:r>
              <a:endParaRPr sz="850" b="0" i="0" u="none" strike="noStrike" cap="none">
                <a:solidFill>
                  <a:srgbClr val="475569"/>
                </a:solidFill>
                <a:latin typeface="Inter"/>
                <a:ea typeface="Inter"/>
                <a:cs typeface="Inter"/>
                <a:sym typeface="Inter"/>
              </a:endParaRPr>
            </a:p>
          </p:txBody>
        </p:sp>
      </p:grpSp>
      <p:grpSp>
        <p:nvGrpSpPr>
          <p:cNvPr id="340" name="Google Shape;340;p21"/>
          <p:cNvGrpSpPr/>
          <p:nvPr/>
        </p:nvGrpSpPr>
        <p:grpSpPr>
          <a:xfrm>
            <a:off x="4457700" y="1562100"/>
            <a:ext cx="228750" cy="114300"/>
            <a:chOff x="0" y="0"/>
            <a:chExt cx="228750" cy="114300"/>
          </a:xfrm>
        </p:grpSpPr>
        <p:cxnSp>
          <p:nvCxnSpPr>
            <p:cNvPr id="341" name="Google Shape;341;p21"/>
            <p:cNvCxnSpPr/>
            <p:nvPr/>
          </p:nvCxnSpPr>
          <p:spPr>
            <a:xfrm>
              <a:off x="0" y="57150"/>
              <a:ext cx="228600" cy="0"/>
            </a:xfrm>
            <a:prstGeom prst="straightConnector1">
              <a:avLst/>
            </a:prstGeom>
            <a:solidFill>
              <a:srgbClr val="FFFFFF"/>
            </a:solidFill>
            <a:ln w="19050" cap="rnd" cmpd="sng">
              <a:solidFill>
                <a:srgbClr val="0284C7"/>
              </a:solidFill>
              <a:prstDash val="solid"/>
              <a:round/>
              <a:headEnd type="none" w="sm" len="sm"/>
              <a:tailEnd type="none" w="sm" len="sm"/>
            </a:ln>
          </p:spPr>
        </p:cxnSp>
        <p:sp>
          <p:nvSpPr>
            <p:cNvPr id="342" name="Google Shape;342;p21"/>
            <p:cNvSpPr/>
            <p:nvPr/>
          </p:nvSpPr>
          <p:spPr>
            <a:xfrm>
              <a:off x="171450" y="0"/>
              <a:ext cx="57300" cy="114300"/>
            </a:xfrm>
            <a:custGeom>
              <a:avLst/>
              <a:gdLst/>
              <a:ahLst/>
              <a:cxnLst/>
              <a:rect l="l" t="t" r="r" b="b"/>
              <a:pathLst>
                <a:path w="120000" h="120000" extrusionOk="0">
                  <a:moveTo>
                    <a:pt x="0" y="0"/>
                  </a:moveTo>
                  <a:lnTo>
                    <a:pt x="120000" y="60000"/>
                  </a:lnTo>
                  <a:lnTo>
                    <a:pt x="0" y="120000"/>
                  </a:lnTo>
                </a:path>
              </a:pathLst>
            </a:custGeom>
            <a:solidFill>
              <a:srgbClr val="000000">
                <a:alpha val="0"/>
              </a:srgbClr>
            </a:solidFill>
            <a:ln w="19050" cap="rnd" cmpd="sng">
              <a:solidFill>
                <a:srgbClr val="0284C7"/>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grpSp>
        <p:nvGrpSpPr>
          <p:cNvPr id="343" name="Google Shape;343;p21"/>
          <p:cNvGrpSpPr/>
          <p:nvPr/>
        </p:nvGrpSpPr>
        <p:grpSpPr>
          <a:xfrm>
            <a:off x="4762500" y="1333500"/>
            <a:ext cx="1809600" cy="571500"/>
            <a:chOff x="0" y="0"/>
            <a:chExt cx="1809600" cy="571500"/>
          </a:xfrm>
        </p:grpSpPr>
        <p:sp>
          <p:nvSpPr>
            <p:cNvPr id="344" name="Google Shape;344;p21"/>
            <p:cNvSpPr/>
            <p:nvPr/>
          </p:nvSpPr>
          <p:spPr>
            <a:xfrm>
              <a:off x="0" y="0"/>
              <a:ext cx="1809600" cy="571500"/>
            </a:xfrm>
            <a:prstGeom prst="roundRect">
              <a:avLst>
                <a:gd name="adj" fmla="val 10000"/>
              </a:avLst>
            </a:prstGeom>
            <a:solidFill>
              <a:srgbClr val="FFFFFF"/>
            </a:solidFill>
            <a:ln w="114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45" name="Google Shape;345;p21"/>
            <p:cNvSpPr/>
            <p:nvPr/>
          </p:nvSpPr>
          <p:spPr>
            <a:xfrm>
              <a:off x="0" y="0"/>
              <a:ext cx="381000" cy="571500"/>
            </a:xfrm>
            <a:prstGeom prst="roundRect">
              <a:avLst>
                <a:gd name="adj" fmla="val 15000"/>
              </a:avLst>
            </a:prstGeom>
            <a:solidFill>
              <a:srgbClr val="0F172A"/>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46" name="Google Shape;346;p21"/>
            <p:cNvSpPr/>
            <p:nvPr/>
          </p:nvSpPr>
          <p:spPr>
            <a:xfrm>
              <a:off x="333375" y="0"/>
              <a:ext cx="47700" cy="571500"/>
            </a:xfrm>
            <a:prstGeom prst="rect">
              <a:avLst/>
            </a:prstGeom>
            <a:solidFill>
              <a:srgbClr val="0F172A"/>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47" name="Google Shape;347;p21"/>
            <p:cNvSpPr txBox="1"/>
            <p:nvPr/>
          </p:nvSpPr>
          <p:spPr>
            <a:xfrm>
              <a:off x="0" y="0"/>
              <a:ext cx="381000" cy="5715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none" strike="noStrike" cap="none">
                  <a:solidFill>
                    <a:srgbClr val="FFFFFF"/>
                  </a:solidFill>
                  <a:latin typeface="Inter ExtraBold"/>
                  <a:ea typeface="Inter ExtraBold"/>
                  <a:cs typeface="Inter ExtraBold"/>
                  <a:sym typeface="Inter ExtraBold"/>
                </a:rPr>
                <a:t>C03</a:t>
              </a:r>
              <a:endParaRPr sz="1100" b="0" i="0" u="none" strike="noStrike" cap="none">
                <a:solidFill>
                  <a:srgbClr val="FFFFFF"/>
                </a:solidFill>
                <a:latin typeface="Inter ExtraBold"/>
                <a:ea typeface="Inter ExtraBold"/>
                <a:cs typeface="Inter ExtraBold"/>
                <a:sym typeface="Inter ExtraBold"/>
              </a:endParaRPr>
            </a:p>
          </p:txBody>
        </p:sp>
        <p:sp>
          <p:nvSpPr>
            <p:cNvPr id="348" name="Google Shape;348;p21"/>
            <p:cNvSpPr txBox="1"/>
            <p:nvPr/>
          </p:nvSpPr>
          <p:spPr>
            <a:xfrm>
              <a:off x="476250" y="0"/>
              <a:ext cx="1285800" cy="5715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850"/>
                <a:buFont typeface="Arial"/>
                <a:buNone/>
              </a:pPr>
              <a:r>
                <a:rPr lang="en" sz="850" b="1" i="0" u="none" strike="noStrike" cap="none">
                  <a:solidFill>
                    <a:srgbClr val="0F172A"/>
                  </a:solidFill>
                  <a:latin typeface="Inter"/>
                  <a:ea typeface="Inter"/>
                  <a:cs typeface="Inter"/>
                  <a:sym typeface="Inter"/>
                </a:rPr>
                <a:t>KTV nhận và xử lý booking</a:t>
              </a:r>
              <a:endParaRPr sz="850" b="1" i="0" u="none" strike="noStrike" cap="none">
                <a:solidFill>
                  <a:srgbClr val="0F172A"/>
                </a:solidFill>
                <a:latin typeface="Inter"/>
                <a:ea typeface="Inter"/>
                <a:cs typeface="Inter"/>
                <a:sym typeface="Inter"/>
              </a:endParaRPr>
            </a:p>
          </p:txBody>
        </p:sp>
      </p:grpSp>
      <p:grpSp>
        <p:nvGrpSpPr>
          <p:cNvPr id="349" name="Google Shape;349;p21"/>
          <p:cNvGrpSpPr/>
          <p:nvPr/>
        </p:nvGrpSpPr>
        <p:grpSpPr>
          <a:xfrm>
            <a:off x="4762500" y="2047875"/>
            <a:ext cx="1809600" cy="2571900"/>
            <a:chOff x="0" y="0"/>
            <a:chExt cx="1809600" cy="2571900"/>
          </a:xfrm>
        </p:grpSpPr>
        <p:sp>
          <p:nvSpPr>
            <p:cNvPr id="350" name="Google Shape;350;p21"/>
            <p:cNvSpPr/>
            <p:nvPr/>
          </p:nvSpPr>
          <p:spPr>
            <a:xfrm>
              <a:off x="0" y="0"/>
              <a:ext cx="1809600" cy="2571900"/>
            </a:xfrm>
            <a:prstGeom prst="roundRect">
              <a:avLst>
                <a:gd name="adj" fmla="val 4210"/>
              </a:avLst>
            </a:prstGeom>
            <a:solidFill>
              <a:srgbClr val="F8FAFC"/>
            </a:solidFill>
            <a:ln w="114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51" name="Google Shape;351;p21"/>
            <p:cNvSpPr/>
            <p:nvPr/>
          </p:nvSpPr>
          <p:spPr>
            <a:xfrm>
              <a:off x="0" y="0"/>
              <a:ext cx="1809600" cy="38100"/>
            </a:xfrm>
            <a:prstGeom prst="roundRect">
              <a:avLst>
                <a:gd name="adj" fmla="val 500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52" name="Google Shape;352;p21"/>
            <p:cNvSpPr txBox="1"/>
            <p:nvPr/>
          </p:nvSpPr>
          <p:spPr>
            <a:xfrm>
              <a:off x="142875" y="142875"/>
              <a:ext cx="1524000" cy="2286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1" i="0" u="none" strike="noStrike" cap="none">
                  <a:solidFill>
                    <a:srgbClr val="0F172A"/>
                  </a:solidFill>
                  <a:latin typeface="Inter"/>
                  <a:ea typeface="Inter"/>
                  <a:cs typeface="Inter"/>
                  <a:sym typeface="Inter"/>
                </a:rPr>
                <a:t>Thực hiện kỹ thuật</a:t>
              </a:r>
              <a:endParaRPr sz="1000" b="1" i="0" u="none" strike="noStrike" cap="none">
                <a:solidFill>
                  <a:srgbClr val="0F172A"/>
                </a:solidFill>
                <a:latin typeface="Inter"/>
                <a:ea typeface="Inter"/>
                <a:cs typeface="Inter"/>
                <a:sym typeface="Inter"/>
              </a:endParaRPr>
            </a:p>
            <a:p>
              <a:pPr marL="0" marR="0" lvl="0" indent="0" algn="l" rtl="0">
                <a:lnSpc>
                  <a:spcPct val="100000"/>
                </a:lnSpc>
                <a:spcBef>
                  <a:spcPts val="750"/>
                </a:spcBef>
                <a:spcAft>
                  <a:spcPts val="0"/>
                </a:spcAft>
                <a:buClr>
                  <a:srgbClr val="000000"/>
                </a:buClr>
                <a:buSzPts val="900"/>
                <a:buFont typeface="Arial"/>
                <a:buNone/>
              </a:pPr>
              <a:r>
                <a:rPr lang="en" sz="900" b="0" i="0" u="none" strike="noStrike" cap="none">
                  <a:solidFill>
                    <a:srgbClr val="475569"/>
                  </a:solidFill>
                  <a:latin typeface="Inter"/>
                  <a:ea typeface="Inter"/>
                  <a:cs typeface="Inter"/>
                  <a:sym typeface="Inter"/>
                </a:rPr>
                <a:t>KTV di chuyển </a:t>
              </a:r>
              <a:r>
                <a:rPr lang="en" sz="900" b="1" i="0" u="none" strike="noStrike" cap="none">
                  <a:solidFill>
                    <a:srgbClr val="0284C7"/>
                  </a:solidFill>
                  <a:latin typeface="Inter"/>
                  <a:ea typeface="Inter"/>
                  <a:cs typeface="Inter"/>
                  <a:sym typeface="Inter"/>
                </a:rPr>
                <a:t>(On The Way)</a:t>
              </a:r>
              <a:r>
                <a:rPr lang="en" sz="900" b="0" i="0" u="none" strike="noStrike" cap="none">
                  <a:solidFill>
                    <a:srgbClr val="475569"/>
                  </a:solidFill>
                  <a:latin typeface="Inter"/>
                  <a:ea typeface="Inter"/>
                  <a:cs typeface="Inter"/>
                  <a:sym typeface="Inter"/>
                </a:rPr>
                <a:t>, chẩn đoán lỗi, lập hóa đơn chi phí.</a:t>
              </a:r>
              <a:endParaRPr sz="900" b="0" i="0" u="none" strike="noStrike" cap="none">
                <a:solidFill>
                  <a:srgbClr val="475569"/>
                </a:solidFill>
                <a:latin typeface="Inter"/>
                <a:ea typeface="Inter"/>
                <a:cs typeface="Inter"/>
                <a:sym typeface="Inter"/>
              </a:endParaRPr>
            </a:p>
            <a:p>
              <a:pPr marL="0" marR="0" lvl="0" indent="0" algn="l" rtl="0">
                <a:lnSpc>
                  <a:spcPct val="100000"/>
                </a:lnSpc>
                <a:spcBef>
                  <a:spcPts val="600"/>
                </a:spcBef>
                <a:spcAft>
                  <a:spcPts val="900"/>
                </a:spcAft>
                <a:buClr>
                  <a:srgbClr val="000000"/>
                </a:buClr>
                <a:buSzPts val="900"/>
                <a:buFont typeface="Arial"/>
                <a:buNone/>
              </a:pPr>
              <a:r>
                <a:rPr lang="en" sz="900" b="0" i="0" u="none" strike="noStrike" cap="none">
                  <a:solidFill>
                    <a:srgbClr val="475569"/>
                  </a:solidFill>
                  <a:latin typeface="Inter"/>
                  <a:ea typeface="Inter"/>
                  <a:cs typeface="Inter"/>
                  <a:sym typeface="Inter"/>
                </a:rPr>
                <a:t>Nếu thiếu linh kiện, KTV hẹn lại lần 2. Nếu đủ, KTV sửa chữa và lập Báo cáo kỹ thuật.</a:t>
              </a:r>
              <a:endParaRPr sz="900" b="0" i="0" u="none" strike="noStrike" cap="none">
                <a:solidFill>
                  <a:srgbClr val="475569"/>
                </a:solidFill>
                <a:latin typeface="Inter"/>
                <a:ea typeface="Inter"/>
                <a:cs typeface="Inter"/>
                <a:sym typeface="Inter"/>
              </a:endParaRPr>
            </a:p>
          </p:txBody>
        </p:sp>
      </p:grpSp>
      <p:grpSp>
        <p:nvGrpSpPr>
          <p:cNvPr id="353" name="Google Shape;353;p21"/>
          <p:cNvGrpSpPr/>
          <p:nvPr/>
        </p:nvGrpSpPr>
        <p:grpSpPr>
          <a:xfrm>
            <a:off x="6648450" y="1562100"/>
            <a:ext cx="228750" cy="114300"/>
            <a:chOff x="0" y="0"/>
            <a:chExt cx="228750" cy="114300"/>
          </a:xfrm>
        </p:grpSpPr>
        <p:cxnSp>
          <p:nvCxnSpPr>
            <p:cNvPr id="354" name="Google Shape;354;p21"/>
            <p:cNvCxnSpPr/>
            <p:nvPr/>
          </p:nvCxnSpPr>
          <p:spPr>
            <a:xfrm>
              <a:off x="0" y="57150"/>
              <a:ext cx="228600" cy="0"/>
            </a:xfrm>
            <a:prstGeom prst="straightConnector1">
              <a:avLst/>
            </a:prstGeom>
            <a:solidFill>
              <a:srgbClr val="FFFFFF"/>
            </a:solidFill>
            <a:ln w="19050" cap="rnd" cmpd="sng">
              <a:solidFill>
                <a:srgbClr val="0284C7"/>
              </a:solidFill>
              <a:prstDash val="solid"/>
              <a:round/>
              <a:headEnd type="none" w="sm" len="sm"/>
              <a:tailEnd type="none" w="sm" len="sm"/>
            </a:ln>
          </p:spPr>
        </p:cxnSp>
        <p:sp>
          <p:nvSpPr>
            <p:cNvPr id="355" name="Google Shape;355;p21"/>
            <p:cNvSpPr/>
            <p:nvPr/>
          </p:nvSpPr>
          <p:spPr>
            <a:xfrm>
              <a:off x="171450" y="0"/>
              <a:ext cx="57300" cy="114300"/>
            </a:xfrm>
            <a:custGeom>
              <a:avLst/>
              <a:gdLst/>
              <a:ahLst/>
              <a:cxnLst/>
              <a:rect l="l" t="t" r="r" b="b"/>
              <a:pathLst>
                <a:path w="120000" h="120000" extrusionOk="0">
                  <a:moveTo>
                    <a:pt x="0" y="0"/>
                  </a:moveTo>
                  <a:lnTo>
                    <a:pt x="120000" y="60000"/>
                  </a:lnTo>
                  <a:lnTo>
                    <a:pt x="0" y="120000"/>
                  </a:lnTo>
                </a:path>
              </a:pathLst>
            </a:custGeom>
            <a:solidFill>
              <a:srgbClr val="000000">
                <a:alpha val="0"/>
              </a:srgbClr>
            </a:solidFill>
            <a:ln w="19050" cap="rnd" cmpd="sng">
              <a:solidFill>
                <a:srgbClr val="0284C7"/>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grpSp>
        <p:nvGrpSpPr>
          <p:cNvPr id="356" name="Google Shape;356;p21"/>
          <p:cNvGrpSpPr/>
          <p:nvPr/>
        </p:nvGrpSpPr>
        <p:grpSpPr>
          <a:xfrm>
            <a:off x="6953250" y="1333500"/>
            <a:ext cx="1809600" cy="571500"/>
            <a:chOff x="0" y="0"/>
            <a:chExt cx="1809600" cy="571500"/>
          </a:xfrm>
        </p:grpSpPr>
        <p:sp>
          <p:nvSpPr>
            <p:cNvPr id="357" name="Google Shape;357;p21"/>
            <p:cNvSpPr/>
            <p:nvPr/>
          </p:nvSpPr>
          <p:spPr>
            <a:xfrm>
              <a:off x="0" y="0"/>
              <a:ext cx="1809600" cy="571500"/>
            </a:xfrm>
            <a:prstGeom prst="roundRect">
              <a:avLst>
                <a:gd name="adj" fmla="val 10000"/>
              </a:avLst>
            </a:prstGeom>
            <a:solidFill>
              <a:srgbClr val="FFFFFF"/>
            </a:solidFill>
            <a:ln w="114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58" name="Google Shape;358;p21"/>
            <p:cNvSpPr/>
            <p:nvPr/>
          </p:nvSpPr>
          <p:spPr>
            <a:xfrm>
              <a:off x="0" y="0"/>
              <a:ext cx="381000" cy="571500"/>
            </a:xfrm>
            <a:prstGeom prst="roundRect">
              <a:avLst>
                <a:gd name="adj" fmla="val 15000"/>
              </a:avLst>
            </a:prstGeom>
            <a:solidFill>
              <a:srgbClr val="0F172A"/>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59" name="Google Shape;359;p21"/>
            <p:cNvSpPr/>
            <p:nvPr/>
          </p:nvSpPr>
          <p:spPr>
            <a:xfrm>
              <a:off x="333375" y="0"/>
              <a:ext cx="47700" cy="571500"/>
            </a:xfrm>
            <a:prstGeom prst="rect">
              <a:avLst/>
            </a:prstGeom>
            <a:solidFill>
              <a:srgbClr val="0F172A"/>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60" name="Google Shape;360;p21"/>
            <p:cNvSpPr txBox="1"/>
            <p:nvPr/>
          </p:nvSpPr>
          <p:spPr>
            <a:xfrm>
              <a:off x="0" y="0"/>
              <a:ext cx="381000" cy="5715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none" strike="noStrike" cap="none">
                  <a:solidFill>
                    <a:srgbClr val="FFFFFF"/>
                  </a:solidFill>
                  <a:latin typeface="Inter ExtraBold"/>
                  <a:ea typeface="Inter ExtraBold"/>
                  <a:cs typeface="Inter ExtraBold"/>
                  <a:sym typeface="Inter ExtraBold"/>
                </a:rPr>
                <a:t>C04</a:t>
              </a:r>
              <a:endParaRPr sz="1100" b="0" i="0" u="none" strike="noStrike" cap="none">
                <a:solidFill>
                  <a:srgbClr val="FFFFFF"/>
                </a:solidFill>
                <a:latin typeface="Inter ExtraBold"/>
                <a:ea typeface="Inter ExtraBold"/>
                <a:cs typeface="Inter ExtraBold"/>
                <a:sym typeface="Inter ExtraBold"/>
              </a:endParaRPr>
            </a:p>
          </p:txBody>
        </p:sp>
        <p:sp>
          <p:nvSpPr>
            <p:cNvPr id="361" name="Google Shape;361;p21"/>
            <p:cNvSpPr txBox="1"/>
            <p:nvPr/>
          </p:nvSpPr>
          <p:spPr>
            <a:xfrm>
              <a:off x="476250" y="0"/>
              <a:ext cx="1285800" cy="5715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850"/>
                <a:buFont typeface="Arial"/>
                <a:buNone/>
              </a:pPr>
              <a:r>
                <a:rPr lang="en" sz="850" b="1" i="0" u="none" strike="noStrike" cap="none">
                  <a:solidFill>
                    <a:srgbClr val="0F172A"/>
                  </a:solidFill>
                  <a:latin typeface="Inter"/>
                  <a:ea typeface="Inter"/>
                  <a:cs typeface="Inter"/>
                  <a:sym typeface="Inter"/>
                </a:rPr>
                <a:t>Khách hàng thanh toán và đóng booking</a:t>
              </a:r>
              <a:endParaRPr sz="850" b="1" i="0" u="none" strike="noStrike" cap="none">
                <a:solidFill>
                  <a:srgbClr val="0F172A"/>
                </a:solidFill>
                <a:latin typeface="Inter"/>
                <a:ea typeface="Inter"/>
                <a:cs typeface="Inter"/>
                <a:sym typeface="Inter"/>
              </a:endParaRPr>
            </a:p>
          </p:txBody>
        </p:sp>
      </p:grpSp>
      <p:grpSp>
        <p:nvGrpSpPr>
          <p:cNvPr id="362" name="Google Shape;362;p21"/>
          <p:cNvGrpSpPr/>
          <p:nvPr/>
        </p:nvGrpSpPr>
        <p:grpSpPr>
          <a:xfrm>
            <a:off x="6953250" y="2047875"/>
            <a:ext cx="1809600" cy="2571900"/>
            <a:chOff x="0" y="0"/>
            <a:chExt cx="1809600" cy="2571900"/>
          </a:xfrm>
        </p:grpSpPr>
        <p:sp>
          <p:nvSpPr>
            <p:cNvPr id="363" name="Google Shape;363;p21"/>
            <p:cNvSpPr/>
            <p:nvPr/>
          </p:nvSpPr>
          <p:spPr>
            <a:xfrm>
              <a:off x="0" y="0"/>
              <a:ext cx="1809600" cy="2571900"/>
            </a:xfrm>
            <a:prstGeom prst="roundRect">
              <a:avLst>
                <a:gd name="adj" fmla="val 4210"/>
              </a:avLst>
            </a:prstGeom>
            <a:solidFill>
              <a:srgbClr val="F8FAFC"/>
            </a:solidFill>
            <a:ln w="114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64" name="Google Shape;364;p21"/>
            <p:cNvSpPr/>
            <p:nvPr/>
          </p:nvSpPr>
          <p:spPr>
            <a:xfrm>
              <a:off x="0" y="0"/>
              <a:ext cx="1809600" cy="38100"/>
            </a:xfrm>
            <a:prstGeom prst="roundRect">
              <a:avLst>
                <a:gd name="adj" fmla="val 500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65" name="Google Shape;365;p21"/>
            <p:cNvSpPr txBox="1"/>
            <p:nvPr/>
          </p:nvSpPr>
          <p:spPr>
            <a:xfrm>
              <a:off x="142875" y="142875"/>
              <a:ext cx="1524000" cy="2286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1" i="0" u="none" strike="noStrike" cap="none">
                  <a:solidFill>
                    <a:srgbClr val="0F172A"/>
                  </a:solidFill>
                  <a:latin typeface="Inter"/>
                  <a:ea typeface="Inter"/>
                  <a:cs typeface="Inter"/>
                  <a:sym typeface="Inter"/>
                </a:rPr>
                <a:t>Thanh toán &amp; Nghiệm thu</a:t>
              </a:r>
              <a:endParaRPr sz="1000" b="1" i="0" u="none" strike="noStrike" cap="none">
                <a:solidFill>
                  <a:srgbClr val="0F172A"/>
                </a:solidFill>
                <a:latin typeface="Inter"/>
                <a:ea typeface="Inter"/>
                <a:cs typeface="Inter"/>
                <a:sym typeface="Inter"/>
              </a:endParaRPr>
            </a:p>
            <a:p>
              <a:pPr marL="0" marR="0" lvl="0" indent="0" algn="l" rtl="0">
                <a:lnSpc>
                  <a:spcPct val="100000"/>
                </a:lnSpc>
                <a:spcBef>
                  <a:spcPts val="750"/>
                </a:spcBef>
                <a:spcAft>
                  <a:spcPts val="0"/>
                </a:spcAft>
                <a:buClr>
                  <a:srgbClr val="000000"/>
                </a:buClr>
                <a:buSzPts val="900"/>
                <a:buFont typeface="Arial"/>
                <a:buNone/>
              </a:pPr>
              <a:r>
                <a:rPr lang="en" sz="900" b="0" i="0" u="none" strike="noStrike" cap="none">
                  <a:solidFill>
                    <a:srgbClr val="475569"/>
                  </a:solidFill>
                  <a:latin typeface="Inter"/>
                  <a:ea typeface="Inter"/>
                  <a:cs typeface="Inter"/>
                  <a:sym typeface="Inter"/>
                </a:rPr>
                <a:t>Sau khi thanh toán hoàn tất, khách hàng đánh giá dịch vụ.</a:t>
              </a:r>
              <a:endParaRPr sz="900" b="0" i="0" u="none" strike="noStrike" cap="none">
                <a:solidFill>
                  <a:srgbClr val="475569"/>
                </a:solidFill>
                <a:latin typeface="Inter"/>
                <a:ea typeface="Inter"/>
                <a:cs typeface="Inter"/>
                <a:sym typeface="Inter"/>
              </a:endParaRPr>
            </a:p>
            <a:p>
              <a:pPr marL="0" marR="0" lvl="0" indent="0" algn="l" rtl="0">
                <a:lnSpc>
                  <a:spcPct val="100000"/>
                </a:lnSpc>
                <a:spcBef>
                  <a:spcPts val="900"/>
                </a:spcBef>
                <a:spcAft>
                  <a:spcPts val="0"/>
                </a:spcAft>
                <a:buClr>
                  <a:srgbClr val="000000"/>
                </a:buClr>
                <a:buSzPts val="850"/>
                <a:buFont typeface="Arial"/>
                <a:buNone/>
              </a:pPr>
              <a:r>
                <a:rPr lang="en" sz="850" b="1" i="0" u="none" strike="noStrike" cap="none">
                  <a:solidFill>
                    <a:srgbClr val="64748B"/>
                  </a:solidFill>
                  <a:latin typeface="Inter"/>
                  <a:ea typeface="Inter"/>
                  <a:cs typeface="Inter"/>
                  <a:sym typeface="Inter"/>
                </a:rPr>
                <a:t>Hệ thống ghi nhận:</a:t>
              </a:r>
              <a:br>
                <a:rPr lang="en" sz="850" b="0" i="0" u="none" strike="noStrike" cap="none">
                  <a:solidFill>
                    <a:srgbClr val="475569"/>
                  </a:solidFill>
                  <a:latin typeface="Inter"/>
                  <a:ea typeface="Inter"/>
                  <a:cs typeface="Inter"/>
                  <a:sym typeface="Inter"/>
                </a:rPr>
              </a:br>
              <a:r>
                <a:rPr lang="en" sz="850" b="0" i="0" u="none" strike="noStrike" cap="none">
                  <a:solidFill>
                    <a:srgbClr val="475569"/>
                  </a:solidFill>
                  <a:latin typeface="Inter"/>
                  <a:ea typeface="Inter"/>
                  <a:cs typeface="Inter"/>
                  <a:sym typeface="Inter"/>
                </a:rPr>
                <a:t>Trạng thái chuyển sang </a:t>
              </a:r>
              <a:r>
                <a:rPr lang="en" sz="850" b="1" i="0" u="none" strike="noStrike" cap="none">
                  <a:solidFill>
                    <a:srgbClr val="0284C7"/>
                  </a:solidFill>
                  <a:latin typeface="Inter"/>
                  <a:ea typeface="Inter"/>
                  <a:cs typeface="Inter"/>
                  <a:sym typeface="Inter"/>
                </a:rPr>
                <a:t>"Payment Confirm"</a:t>
              </a:r>
              <a:r>
                <a:rPr lang="en" sz="850" b="0" i="0" u="none" strike="noStrike" cap="none">
                  <a:solidFill>
                    <a:srgbClr val="475569"/>
                  </a:solidFill>
                  <a:latin typeface="Inter"/>
                  <a:ea typeface="Inter"/>
                  <a:cs typeface="Inter"/>
                  <a:sym typeface="Inter"/>
                </a:rPr>
                <a:t> và trạng thái cuối cùng là </a:t>
              </a:r>
              <a:r>
                <a:rPr lang="en" sz="850" b="1" i="0" u="none" strike="noStrike" cap="none">
                  <a:solidFill>
                    <a:srgbClr val="10B981"/>
                  </a:solidFill>
                  <a:latin typeface="Inter"/>
                  <a:ea typeface="Inter"/>
                  <a:cs typeface="Inter"/>
                  <a:sym typeface="Inter"/>
                </a:rPr>
                <a:t>"Completed"</a:t>
              </a:r>
              <a:r>
                <a:rPr lang="en" sz="850" b="0" i="0" u="none" strike="noStrike" cap="none">
                  <a:solidFill>
                    <a:srgbClr val="475569"/>
                  </a:solidFill>
                  <a:latin typeface="Inter"/>
                  <a:ea typeface="Inter"/>
                  <a:cs typeface="Inter"/>
                  <a:sym typeface="Inter"/>
                </a:rPr>
                <a:t>.</a:t>
              </a:r>
              <a:endParaRPr sz="850" b="0" i="0" u="none" strike="noStrike" cap="none">
                <a:solidFill>
                  <a:srgbClr val="475569"/>
                </a:solidFill>
                <a:latin typeface="Inter"/>
                <a:ea typeface="Inter"/>
                <a:cs typeface="Inter"/>
                <a:sym typeface="Inter"/>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69"/>
        <p:cNvGrpSpPr/>
        <p:nvPr/>
      </p:nvGrpSpPr>
      <p:grpSpPr>
        <a:xfrm>
          <a:off x="0" y="0"/>
          <a:ext cx="0" cy="0"/>
          <a:chOff x="0" y="0"/>
          <a:chExt cx="0" cy="0"/>
        </a:xfrm>
      </p:grpSpPr>
      <p:grpSp>
        <p:nvGrpSpPr>
          <p:cNvPr id="370" name="Google Shape;370;p22"/>
          <p:cNvGrpSpPr/>
          <p:nvPr/>
        </p:nvGrpSpPr>
        <p:grpSpPr>
          <a:xfrm>
            <a:off x="8458200" y="381000"/>
            <a:ext cx="304800" cy="304800"/>
            <a:chOff x="0" y="0"/>
            <a:chExt cx="304800" cy="304800"/>
          </a:xfrm>
        </p:grpSpPr>
        <p:sp>
          <p:nvSpPr>
            <p:cNvPr id="371" name="Google Shape;371;p22"/>
            <p:cNvSpPr/>
            <p:nvPr/>
          </p:nvSpPr>
          <p:spPr>
            <a:xfrm>
              <a:off x="0" y="0"/>
              <a:ext cx="304800" cy="304800"/>
            </a:xfrm>
            <a:prstGeom prst="roundRect">
              <a:avLst>
                <a:gd name="adj" fmla="val 125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2" name="Google Shape;372;p22"/>
            <p:cNvSpPr/>
            <p:nvPr/>
          </p:nvSpPr>
          <p:spPr>
            <a:xfrm>
              <a:off x="95250" y="95250"/>
              <a:ext cx="114300" cy="114300"/>
            </a:xfrm>
            <a:custGeom>
              <a:avLst/>
              <a:gdLst/>
              <a:ahLst/>
              <a:cxnLst/>
              <a:rect l="l" t="t" r="r" b="b"/>
              <a:pathLst>
                <a:path w="120000" h="120000" extrusionOk="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3" name="Google Shape;373;p22"/>
            <p:cNvSpPr/>
            <p:nvPr/>
          </p:nvSpPr>
          <p:spPr>
            <a:xfrm>
              <a:off x="123825" y="123825"/>
              <a:ext cx="57300" cy="57300"/>
            </a:xfrm>
            <a:prstGeom prst="ellipse">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
        <p:nvSpPr>
          <p:cNvPr id="374" name="Google Shape;374;p22"/>
          <p:cNvSpPr txBox="1"/>
          <p:nvPr/>
        </p:nvSpPr>
        <p:spPr>
          <a:xfrm>
            <a:off x="381000" y="333375"/>
            <a:ext cx="7620000" cy="762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 sz="2000" b="0" i="0" u="none" strike="noStrike" cap="none">
                <a:solidFill>
                  <a:srgbClr val="0F172A"/>
                </a:solidFill>
                <a:latin typeface="Inter ExtraBold"/>
                <a:ea typeface="Inter ExtraBold"/>
                <a:cs typeface="Inter ExtraBold"/>
                <a:sym typeface="Inter ExtraBold"/>
              </a:rPr>
              <a:t>Danh sách &amp; Mô tả Nhóm Quy trình Hỗ trợ</a:t>
            </a:r>
            <a:endParaRPr sz="2000" b="0" i="0" u="none" strike="noStrike" cap="none">
              <a:solidFill>
                <a:srgbClr val="0F172A"/>
              </a:solidFill>
              <a:latin typeface="Inter ExtraBold"/>
              <a:ea typeface="Inter ExtraBold"/>
              <a:cs typeface="Inter ExtraBold"/>
              <a:sym typeface="Inter ExtraBold"/>
            </a:endParaRPr>
          </a:p>
          <a:p>
            <a:pPr marL="0" marR="0" lvl="0" indent="0" algn="l" rtl="0">
              <a:lnSpc>
                <a:spcPct val="100000"/>
              </a:lnSpc>
              <a:spcBef>
                <a:spcPts val="375"/>
              </a:spcBef>
              <a:spcAft>
                <a:spcPts val="0"/>
              </a:spcAft>
              <a:buClr>
                <a:srgbClr val="000000"/>
              </a:buClr>
              <a:buSzPts val="1100"/>
              <a:buFont typeface="Arial"/>
              <a:buNone/>
            </a:pPr>
            <a:r>
              <a:rPr lang="en" sz="1100" b="0" i="0" u="none" strike="noStrike" cap="none">
                <a:solidFill>
                  <a:srgbClr val="007B7C"/>
                </a:solidFill>
                <a:latin typeface="Inter SemiBold"/>
                <a:ea typeface="Inter SemiBold"/>
                <a:cs typeface="Inter SemiBold"/>
                <a:sym typeface="Inter SemiBold"/>
              </a:rPr>
              <a:t>Nhóm quy trình Hỗ trợ gồm 3 quy trình đảm bảo hoạt động trơn tru cho tuyến đầu</a:t>
            </a:r>
            <a:endParaRPr sz="1100" b="0" i="0" u="none" strike="noStrike" cap="none">
              <a:solidFill>
                <a:srgbClr val="007B7C"/>
              </a:solidFill>
              <a:latin typeface="Inter SemiBold"/>
              <a:ea typeface="Inter SemiBold"/>
              <a:cs typeface="Inter SemiBold"/>
              <a:sym typeface="Inter SemiBold"/>
            </a:endParaRPr>
          </a:p>
        </p:txBody>
      </p:sp>
      <p:cxnSp>
        <p:nvCxnSpPr>
          <p:cNvPr id="375" name="Google Shape;375;p22"/>
          <p:cNvCxnSpPr/>
          <p:nvPr/>
        </p:nvCxnSpPr>
        <p:spPr>
          <a:xfrm>
            <a:off x="381000" y="1143000"/>
            <a:ext cx="8382000" cy="0"/>
          </a:xfrm>
          <a:prstGeom prst="straightConnector1">
            <a:avLst/>
          </a:prstGeom>
          <a:solidFill>
            <a:srgbClr val="FFFFFF"/>
          </a:solidFill>
          <a:ln w="14300" cap="flat" cmpd="sng">
            <a:solidFill>
              <a:srgbClr val="E2E8F0"/>
            </a:solidFill>
            <a:prstDash val="solid"/>
            <a:round/>
            <a:headEnd type="none" w="sm" len="sm"/>
            <a:tailEnd type="none" w="sm" len="sm"/>
          </a:ln>
        </p:spPr>
      </p:cxnSp>
      <p:grpSp>
        <p:nvGrpSpPr>
          <p:cNvPr id="376" name="Google Shape;376;p22"/>
          <p:cNvGrpSpPr/>
          <p:nvPr/>
        </p:nvGrpSpPr>
        <p:grpSpPr>
          <a:xfrm>
            <a:off x="381000" y="1381125"/>
            <a:ext cx="2628900" cy="3286125"/>
            <a:chOff x="0" y="0"/>
            <a:chExt cx="2628900" cy="3286125"/>
          </a:xfrm>
        </p:grpSpPr>
        <p:grpSp>
          <p:nvGrpSpPr>
            <p:cNvPr id="377" name="Google Shape;377;p22"/>
            <p:cNvGrpSpPr/>
            <p:nvPr/>
          </p:nvGrpSpPr>
          <p:grpSpPr>
            <a:xfrm>
              <a:off x="0" y="0"/>
              <a:ext cx="2628900" cy="666900"/>
              <a:chOff x="0" y="0"/>
              <a:chExt cx="2628900" cy="666900"/>
            </a:xfrm>
          </p:grpSpPr>
          <p:sp>
            <p:nvSpPr>
              <p:cNvPr id="378" name="Google Shape;378;p22"/>
              <p:cNvSpPr/>
              <p:nvPr/>
            </p:nvSpPr>
            <p:spPr>
              <a:xfrm>
                <a:off x="0" y="0"/>
                <a:ext cx="2628900" cy="666900"/>
              </a:xfrm>
              <a:prstGeom prst="roundRect">
                <a:avLst>
                  <a:gd name="adj" fmla="val 8571"/>
                </a:avLst>
              </a:prstGeom>
              <a:solidFill>
                <a:srgbClr val="FFFFFF"/>
              </a:solidFill>
              <a:ln w="14300"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9" name="Google Shape;379;p22"/>
              <p:cNvSpPr/>
              <p:nvPr/>
            </p:nvSpPr>
            <p:spPr>
              <a:xfrm>
                <a:off x="0" y="0"/>
                <a:ext cx="523800" cy="666900"/>
              </a:xfrm>
              <a:prstGeom prst="roundRect">
                <a:avLst>
                  <a:gd name="adj" fmla="val 10909"/>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80" name="Google Shape;380;p22"/>
              <p:cNvSpPr/>
              <p:nvPr/>
            </p:nvSpPr>
            <p:spPr>
              <a:xfrm>
                <a:off x="428625" y="0"/>
                <a:ext cx="95400" cy="666900"/>
              </a:xfrm>
              <a:prstGeom prst="rect">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81" name="Google Shape;381;p22"/>
              <p:cNvSpPr txBox="1"/>
              <p:nvPr/>
            </p:nvSpPr>
            <p:spPr>
              <a:xfrm>
                <a:off x="0" y="0"/>
                <a:ext cx="523800" cy="666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FFFF"/>
                    </a:solidFill>
                    <a:latin typeface="Inter ExtraBold"/>
                    <a:ea typeface="Inter ExtraBold"/>
                    <a:cs typeface="Inter ExtraBold"/>
                    <a:sym typeface="Inter ExtraBold"/>
                  </a:rPr>
                  <a:t>S01</a:t>
                </a:r>
                <a:endParaRPr sz="1200" b="0" i="0" u="none" strike="noStrike" cap="none">
                  <a:solidFill>
                    <a:srgbClr val="FFFFFF"/>
                  </a:solidFill>
                  <a:latin typeface="Inter ExtraBold"/>
                  <a:ea typeface="Inter ExtraBold"/>
                  <a:cs typeface="Inter ExtraBold"/>
                  <a:sym typeface="Inter ExtraBold"/>
                </a:endParaRPr>
              </a:p>
            </p:txBody>
          </p:sp>
          <p:sp>
            <p:nvSpPr>
              <p:cNvPr id="382" name="Google Shape;382;p22"/>
              <p:cNvSpPr txBox="1"/>
              <p:nvPr/>
            </p:nvSpPr>
            <p:spPr>
              <a:xfrm>
                <a:off x="619125" y="0"/>
                <a:ext cx="1914600" cy="666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1" i="0" u="none" strike="noStrike" cap="none">
                    <a:solidFill>
                      <a:srgbClr val="0F172A"/>
                    </a:solidFill>
                    <a:latin typeface="Inter"/>
                    <a:ea typeface="Inter"/>
                    <a:cs typeface="Inter"/>
                    <a:sym typeface="Inter"/>
                  </a:rPr>
                  <a:t>Chat support</a:t>
                </a:r>
                <a:endParaRPr sz="1100" b="1" i="0" u="none" strike="noStrike" cap="none">
                  <a:solidFill>
                    <a:srgbClr val="0F172A"/>
                  </a:solidFill>
                  <a:latin typeface="Inter"/>
                  <a:ea typeface="Inter"/>
                  <a:cs typeface="Inter"/>
                  <a:sym typeface="Inter"/>
                </a:endParaRPr>
              </a:p>
            </p:txBody>
          </p:sp>
        </p:grpSp>
        <p:grpSp>
          <p:nvGrpSpPr>
            <p:cNvPr id="383" name="Google Shape;383;p22"/>
            <p:cNvGrpSpPr/>
            <p:nvPr/>
          </p:nvGrpSpPr>
          <p:grpSpPr>
            <a:xfrm>
              <a:off x="0" y="809625"/>
              <a:ext cx="2628900" cy="2476500"/>
              <a:chOff x="0" y="0"/>
              <a:chExt cx="2628900" cy="2476500"/>
            </a:xfrm>
          </p:grpSpPr>
          <p:sp>
            <p:nvSpPr>
              <p:cNvPr id="384" name="Google Shape;384;p22"/>
              <p:cNvSpPr/>
              <p:nvPr/>
            </p:nvSpPr>
            <p:spPr>
              <a:xfrm>
                <a:off x="0" y="0"/>
                <a:ext cx="2628900" cy="2476500"/>
              </a:xfrm>
              <a:prstGeom prst="roundRect">
                <a:avLst>
                  <a:gd name="adj" fmla="val 3076"/>
                </a:avLst>
              </a:prstGeom>
              <a:solidFill>
                <a:srgbClr val="F8FAFC"/>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85" name="Google Shape;385;p22"/>
              <p:cNvSpPr/>
              <p:nvPr/>
            </p:nvSpPr>
            <p:spPr>
              <a:xfrm>
                <a:off x="0" y="0"/>
                <a:ext cx="38100" cy="2476500"/>
              </a:xfrm>
              <a:prstGeom prst="roundRect">
                <a:avLst>
                  <a:gd name="adj" fmla="val 500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86" name="Google Shape;386;p22"/>
              <p:cNvSpPr txBox="1"/>
              <p:nvPr/>
            </p:nvSpPr>
            <p:spPr>
              <a:xfrm>
                <a:off x="171450" y="190500"/>
                <a:ext cx="2286000" cy="20955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1" i="0" u="none" strike="noStrike" cap="none">
                    <a:solidFill>
                      <a:srgbClr val="0F172A"/>
                    </a:solidFill>
                    <a:latin typeface="Inter"/>
                    <a:ea typeface="Inter"/>
                    <a:cs typeface="Inter"/>
                    <a:sym typeface="Inter"/>
                  </a:rPr>
                  <a:t>Hỗ trợ trực tuyến</a:t>
                </a:r>
                <a:endParaRPr sz="1100" b="1" i="0" u="none" strike="noStrike" cap="none">
                  <a:solidFill>
                    <a:srgbClr val="0F172A"/>
                  </a:solidFill>
                  <a:latin typeface="Inter"/>
                  <a:ea typeface="Inter"/>
                  <a:cs typeface="Inter"/>
                  <a:sym typeface="Inter"/>
                </a:endParaRPr>
              </a:p>
              <a:p>
                <a:pPr marL="0" marR="0" lvl="0" indent="0" algn="l" rtl="0">
                  <a:lnSpc>
                    <a:spcPct val="100000"/>
                  </a:lnSpc>
                  <a:spcBef>
                    <a:spcPts val="750"/>
                  </a:spcBef>
                  <a:spcAft>
                    <a:spcPts val="0"/>
                  </a:spcAft>
                  <a:buClr>
                    <a:srgbClr val="000000"/>
                  </a:buClr>
                  <a:buSzPts val="1000"/>
                  <a:buFont typeface="Arial"/>
                  <a:buNone/>
                </a:pPr>
                <a:r>
                  <a:rPr lang="en" sz="1000" b="0" i="0" u="none" strike="noStrike" cap="none">
                    <a:solidFill>
                      <a:srgbClr val="475569"/>
                    </a:solidFill>
                    <a:latin typeface="Inter"/>
                    <a:ea typeface="Inter"/>
                    <a:cs typeface="Inter"/>
                    <a:sym typeface="Inter"/>
                  </a:rPr>
                  <a:t>KTV gửi yêu cầu hỗ trợ kỹ thuật hoặc hỗ trợ booking qua hệ thống chat.</a:t>
                </a:r>
                <a:endParaRPr sz="1000" b="0" i="0" u="none" strike="noStrike" cap="none">
                  <a:solidFill>
                    <a:srgbClr val="475569"/>
                  </a:solidFill>
                  <a:latin typeface="Inter"/>
                  <a:ea typeface="Inter"/>
                  <a:cs typeface="Inter"/>
                  <a:sym typeface="Inter"/>
                </a:endParaRPr>
              </a:p>
              <a:p>
                <a:pPr marL="0" marR="0" lvl="0" indent="0" algn="l" rtl="0">
                  <a:lnSpc>
                    <a:spcPct val="100000"/>
                  </a:lnSpc>
                  <a:spcBef>
                    <a:spcPts val="900"/>
                  </a:spcBef>
                  <a:spcAft>
                    <a:spcPts val="0"/>
                  </a:spcAft>
                  <a:buClr>
                    <a:srgbClr val="000000"/>
                  </a:buClr>
                  <a:buSzPts val="1000"/>
                  <a:buFont typeface="Arial"/>
                  <a:buNone/>
                </a:pPr>
                <a:r>
                  <a:rPr lang="en" sz="1000" b="1" i="0" u="none" strike="noStrike" cap="none">
                    <a:solidFill>
                      <a:srgbClr val="007B7C"/>
                    </a:solidFill>
                    <a:latin typeface="Inter"/>
                    <a:ea typeface="Inter"/>
                    <a:cs typeface="Inter"/>
                    <a:sym typeface="Inter"/>
                  </a:rPr>
                  <a:t>● Đánh giá &amp; Hoàn tất</a:t>
                </a:r>
                <a:endParaRPr sz="1000" b="1" i="0" u="none" strike="noStrike" cap="none">
                  <a:solidFill>
                    <a:srgbClr val="007B7C"/>
                  </a:solidFill>
                  <a:latin typeface="Inter"/>
                  <a:ea typeface="Inter"/>
                  <a:cs typeface="Inter"/>
                  <a:sym typeface="Inter"/>
                </a:endParaRPr>
              </a:p>
              <a:p>
                <a:pPr marL="0" marR="0" lvl="0" indent="0" algn="l" rtl="0">
                  <a:lnSpc>
                    <a:spcPct val="100000"/>
                  </a:lnSpc>
                  <a:spcBef>
                    <a:spcPts val="450"/>
                  </a:spcBef>
                  <a:spcAft>
                    <a:spcPts val="0"/>
                  </a:spcAft>
                  <a:buClr>
                    <a:srgbClr val="000000"/>
                  </a:buClr>
                  <a:buSzPts val="1000"/>
                  <a:buFont typeface="Arial"/>
                  <a:buNone/>
                </a:pPr>
                <a:r>
                  <a:rPr lang="en" sz="1000" b="0" i="0" u="none" strike="noStrike" cap="none">
                    <a:solidFill>
                      <a:srgbClr val="475569"/>
                    </a:solidFill>
                    <a:latin typeface="Inter"/>
                    <a:ea typeface="Inter"/>
                    <a:cs typeface="Inter"/>
                    <a:sym typeface="Inter"/>
                  </a:rPr>
                  <a:t>Sau khi xử lý xong, KTV kết thúc và đánh giá chất lượng phiên hỗ trợ (rating conversation).</a:t>
                </a:r>
                <a:endParaRPr sz="1000" b="0" i="0" u="none" strike="noStrike" cap="none">
                  <a:solidFill>
                    <a:srgbClr val="475569"/>
                  </a:solidFill>
                  <a:latin typeface="Inter"/>
                  <a:ea typeface="Inter"/>
                  <a:cs typeface="Inter"/>
                  <a:sym typeface="Inter"/>
                </a:endParaRPr>
              </a:p>
            </p:txBody>
          </p:sp>
        </p:grpSp>
      </p:grpSp>
      <p:grpSp>
        <p:nvGrpSpPr>
          <p:cNvPr id="387" name="Google Shape;387;p22"/>
          <p:cNvGrpSpPr/>
          <p:nvPr/>
        </p:nvGrpSpPr>
        <p:grpSpPr>
          <a:xfrm>
            <a:off x="3257550" y="1381125"/>
            <a:ext cx="2628900" cy="3286125"/>
            <a:chOff x="0" y="0"/>
            <a:chExt cx="2628900" cy="3286125"/>
          </a:xfrm>
        </p:grpSpPr>
        <p:grpSp>
          <p:nvGrpSpPr>
            <p:cNvPr id="388" name="Google Shape;388;p22"/>
            <p:cNvGrpSpPr/>
            <p:nvPr/>
          </p:nvGrpSpPr>
          <p:grpSpPr>
            <a:xfrm>
              <a:off x="0" y="0"/>
              <a:ext cx="2628900" cy="666900"/>
              <a:chOff x="0" y="0"/>
              <a:chExt cx="2628900" cy="666900"/>
            </a:xfrm>
          </p:grpSpPr>
          <p:sp>
            <p:nvSpPr>
              <p:cNvPr id="389" name="Google Shape;389;p22"/>
              <p:cNvSpPr/>
              <p:nvPr/>
            </p:nvSpPr>
            <p:spPr>
              <a:xfrm>
                <a:off x="0" y="0"/>
                <a:ext cx="2628900" cy="666900"/>
              </a:xfrm>
              <a:prstGeom prst="roundRect">
                <a:avLst>
                  <a:gd name="adj" fmla="val 8571"/>
                </a:avLst>
              </a:prstGeom>
              <a:solidFill>
                <a:srgbClr val="FFFFFF"/>
              </a:solidFill>
              <a:ln w="14300"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90" name="Google Shape;390;p22"/>
              <p:cNvSpPr/>
              <p:nvPr/>
            </p:nvSpPr>
            <p:spPr>
              <a:xfrm>
                <a:off x="0" y="0"/>
                <a:ext cx="523800" cy="666900"/>
              </a:xfrm>
              <a:prstGeom prst="roundRect">
                <a:avLst>
                  <a:gd name="adj" fmla="val 10909"/>
                </a:avLst>
              </a:prstGeom>
              <a:solidFill>
                <a:srgbClr val="0284C7"/>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91" name="Google Shape;391;p22"/>
              <p:cNvSpPr/>
              <p:nvPr/>
            </p:nvSpPr>
            <p:spPr>
              <a:xfrm>
                <a:off x="428625" y="0"/>
                <a:ext cx="95400" cy="666900"/>
              </a:xfrm>
              <a:prstGeom prst="rect">
                <a:avLst/>
              </a:prstGeom>
              <a:solidFill>
                <a:srgbClr val="0284C7"/>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92" name="Google Shape;392;p22"/>
              <p:cNvSpPr txBox="1"/>
              <p:nvPr/>
            </p:nvSpPr>
            <p:spPr>
              <a:xfrm>
                <a:off x="0" y="0"/>
                <a:ext cx="523800" cy="666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FFFF"/>
                    </a:solidFill>
                    <a:latin typeface="Inter ExtraBold"/>
                    <a:ea typeface="Inter ExtraBold"/>
                    <a:cs typeface="Inter ExtraBold"/>
                    <a:sym typeface="Inter ExtraBold"/>
                  </a:rPr>
                  <a:t>S02</a:t>
                </a:r>
                <a:endParaRPr sz="1200" b="0" i="0" u="none" strike="noStrike" cap="none">
                  <a:solidFill>
                    <a:srgbClr val="FFFFFF"/>
                  </a:solidFill>
                  <a:latin typeface="Inter ExtraBold"/>
                  <a:ea typeface="Inter ExtraBold"/>
                  <a:cs typeface="Inter ExtraBold"/>
                  <a:sym typeface="Inter ExtraBold"/>
                </a:endParaRPr>
              </a:p>
            </p:txBody>
          </p:sp>
          <p:sp>
            <p:nvSpPr>
              <p:cNvPr id="393" name="Google Shape;393;p22"/>
              <p:cNvSpPr txBox="1"/>
              <p:nvPr/>
            </p:nvSpPr>
            <p:spPr>
              <a:xfrm>
                <a:off x="619125" y="0"/>
                <a:ext cx="1914600" cy="666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1" i="0" u="none" strike="noStrike" cap="none">
                    <a:solidFill>
                      <a:srgbClr val="0F172A"/>
                    </a:solidFill>
                    <a:latin typeface="Inter"/>
                    <a:ea typeface="Inter"/>
                    <a:cs typeface="Inter"/>
                    <a:sym typeface="Inter"/>
                  </a:rPr>
                  <a:t>Báo cáo linh kiện KTV</a:t>
                </a:r>
                <a:endParaRPr sz="1100" b="1" i="0" u="none" strike="noStrike" cap="none">
                  <a:solidFill>
                    <a:srgbClr val="0F172A"/>
                  </a:solidFill>
                  <a:latin typeface="Inter"/>
                  <a:ea typeface="Inter"/>
                  <a:cs typeface="Inter"/>
                  <a:sym typeface="Inter"/>
                </a:endParaRPr>
              </a:p>
            </p:txBody>
          </p:sp>
        </p:grpSp>
        <p:grpSp>
          <p:nvGrpSpPr>
            <p:cNvPr id="394" name="Google Shape;394;p22"/>
            <p:cNvGrpSpPr/>
            <p:nvPr/>
          </p:nvGrpSpPr>
          <p:grpSpPr>
            <a:xfrm>
              <a:off x="0" y="809625"/>
              <a:ext cx="2628900" cy="2476500"/>
              <a:chOff x="0" y="0"/>
              <a:chExt cx="2628900" cy="2476500"/>
            </a:xfrm>
          </p:grpSpPr>
          <p:sp>
            <p:nvSpPr>
              <p:cNvPr id="395" name="Google Shape;395;p22"/>
              <p:cNvSpPr/>
              <p:nvPr/>
            </p:nvSpPr>
            <p:spPr>
              <a:xfrm>
                <a:off x="0" y="0"/>
                <a:ext cx="2628900" cy="2476500"/>
              </a:xfrm>
              <a:prstGeom prst="roundRect">
                <a:avLst>
                  <a:gd name="adj" fmla="val 3076"/>
                </a:avLst>
              </a:prstGeom>
              <a:solidFill>
                <a:srgbClr val="F8FAFC"/>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96" name="Google Shape;396;p22"/>
              <p:cNvSpPr/>
              <p:nvPr/>
            </p:nvSpPr>
            <p:spPr>
              <a:xfrm>
                <a:off x="0" y="0"/>
                <a:ext cx="38100" cy="2476500"/>
              </a:xfrm>
              <a:prstGeom prst="roundRect">
                <a:avLst>
                  <a:gd name="adj" fmla="val 50000"/>
                </a:avLst>
              </a:prstGeom>
              <a:solidFill>
                <a:srgbClr val="0284C7"/>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97" name="Google Shape;397;p22"/>
              <p:cNvSpPr txBox="1"/>
              <p:nvPr/>
            </p:nvSpPr>
            <p:spPr>
              <a:xfrm>
                <a:off x="171450" y="190500"/>
                <a:ext cx="2286000" cy="20955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1" i="0" u="none" strike="noStrike" cap="none">
                    <a:solidFill>
                      <a:srgbClr val="0F172A"/>
                    </a:solidFill>
                    <a:latin typeface="Inter"/>
                    <a:ea typeface="Inter"/>
                    <a:cs typeface="Inter"/>
                    <a:sym typeface="Inter"/>
                  </a:rPr>
                  <a:t>Quản lý linh kiện cá nhân</a:t>
                </a:r>
                <a:endParaRPr sz="1100" b="1" i="0" u="none" strike="noStrike" cap="none">
                  <a:solidFill>
                    <a:srgbClr val="0F172A"/>
                  </a:solidFill>
                  <a:latin typeface="Inter"/>
                  <a:ea typeface="Inter"/>
                  <a:cs typeface="Inter"/>
                  <a:sym typeface="Inter"/>
                </a:endParaRPr>
              </a:p>
              <a:p>
                <a:pPr marL="0" marR="0" lvl="0" indent="0" algn="l" rtl="0">
                  <a:lnSpc>
                    <a:spcPct val="100000"/>
                  </a:lnSpc>
                  <a:spcBef>
                    <a:spcPts val="750"/>
                  </a:spcBef>
                  <a:spcAft>
                    <a:spcPts val="0"/>
                  </a:spcAft>
                  <a:buClr>
                    <a:srgbClr val="000000"/>
                  </a:buClr>
                  <a:buSzPts val="1000"/>
                  <a:buFont typeface="Arial"/>
                  <a:buNone/>
                </a:pPr>
                <a:r>
                  <a:rPr lang="en" sz="1000" b="0" i="0" u="none" strike="noStrike" cap="none">
                    <a:solidFill>
                      <a:srgbClr val="475569"/>
                    </a:solidFill>
                    <a:latin typeface="Inter"/>
                    <a:ea typeface="Inter"/>
                    <a:cs typeface="Inter"/>
                    <a:sym typeface="Inter"/>
                  </a:rPr>
                  <a:t>Kho giao linh kiện, KTV quét nhận hàng. KTV phải báo cáo tình trạng sử dụng cụ thể của từng linh kiện.</a:t>
                </a:r>
                <a:endParaRPr sz="1000" b="0" i="0" u="none" strike="noStrike" cap="none">
                  <a:solidFill>
                    <a:srgbClr val="475569"/>
                  </a:solidFill>
                  <a:latin typeface="Inter"/>
                  <a:ea typeface="Inter"/>
                  <a:cs typeface="Inter"/>
                  <a:sym typeface="Inter"/>
                </a:endParaRPr>
              </a:p>
              <a:p>
                <a:pPr marL="0" marR="0" lvl="0" indent="0" algn="l" rtl="0">
                  <a:lnSpc>
                    <a:spcPct val="100000"/>
                  </a:lnSpc>
                  <a:spcBef>
                    <a:spcPts val="900"/>
                  </a:spcBef>
                  <a:spcAft>
                    <a:spcPts val="0"/>
                  </a:spcAft>
                  <a:buClr>
                    <a:srgbClr val="000000"/>
                  </a:buClr>
                  <a:buSzPts val="1000"/>
                  <a:buFont typeface="Arial"/>
                  <a:buNone/>
                </a:pPr>
                <a:r>
                  <a:rPr lang="en" sz="1000" b="1" i="0" u="none" strike="noStrike" cap="none">
                    <a:solidFill>
                      <a:srgbClr val="0284C7"/>
                    </a:solidFill>
                    <a:latin typeface="Inter"/>
                    <a:ea typeface="Inter"/>
                    <a:cs typeface="Inter"/>
                    <a:sym typeface="Inter"/>
                  </a:rPr>
                  <a:t>● Phân loại đối soát</a:t>
                </a:r>
                <a:endParaRPr sz="1000" b="1" i="0" u="none" strike="noStrike" cap="none">
                  <a:solidFill>
                    <a:srgbClr val="0284C7"/>
                  </a:solidFill>
                  <a:latin typeface="Inter"/>
                  <a:ea typeface="Inter"/>
                  <a:cs typeface="Inter"/>
                  <a:sym typeface="Inter"/>
                </a:endParaRPr>
              </a:p>
              <a:p>
                <a:pPr marL="0" marR="0" lvl="0" indent="0" algn="l" rtl="0">
                  <a:lnSpc>
                    <a:spcPct val="100000"/>
                  </a:lnSpc>
                  <a:spcBef>
                    <a:spcPts val="450"/>
                  </a:spcBef>
                  <a:spcAft>
                    <a:spcPts val="0"/>
                  </a:spcAft>
                  <a:buClr>
                    <a:srgbClr val="000000"/>
                  </a:buClr>
                  <a:buSzPts val="1000"/>
                  <a:buFont typeface="Arial"/>
                  <a:buNone/>
                </a:pPr>
                <a:r>
                  <a:rPr lang="en" sz="1000" b="0" i="0" u="none" strike="noStrike" cap="none">
                    <a:solidFill>
                      <a:srgbClr val="475569"/>
                    </a:solidFill>
                    <a:latin typeface="Inter"/>
                    <a:ea typeface="Inter"/>
                    <a:cs typeface="Inter"/>
                    <a:sym typeface="Inter"/>
                  </a:rPr>
                  <a:t>Quét vào bill nếu đã dùng, hoặc báo cáo nếu không sử dụng, bị lỗi, bị mất để kho tiến hành đối soát.</a:t>
                </a:r>
                <a:endParaRPr sz="1000" b="0" i="0" u="none" strike="noStrike" cap="none">
                  <a:solidFill>
                    <a:srgbClr val="475569"/>
                  </a:solidFill>
                  <a:latin typeface="Inter"/>
                  <a:ea typeface="Inter"/>
                  <a:cs typeface="Inter"/>
                  <a:sym typeface="Inter"/>
                </a:endParaRPr>
              </a:p>
            </p:txBody>
          </p:sp>
        </p:grpSp>
      </p:grpSp>
      <p:grpSp>
        <p:nvGrpSpPr>
          <p:cNvPr id="398" name="Google Shape;398;p22"/>
          <p:cNvGrpSpPr/>
          <p:nvPr/>
        </p:nvGrpSpPr>
        <p:grpSpPr>
          <a:xfrm>
            <a:off x="6134100" y="1381125"/>
            <a:ext cx="2628900" cy="3286125"/>
            <a:chOff x="0" y="0"/>
            <a:chExt cx="2628900" cy="3286125"/>
          </a:xfrm>
        </p:grpSpPr>
        <p:grpSp>
          <p:nvGrpSpPr>
            <p:cNvPr id="399" name="Google Shape;399;p22"/>
            <p:cNvGrpSpPr/>
            <p:nvPr/>
          </p:nvGrpSpPr>
          <p:grpSpPr>
            <a:xfrm>
              <a:off x="0" y="0"/>
              <a:ext cx="2628900" cy="666900"/>
              <a:chOff x="0" y="0"/>
              <a:chExt cx="2628900" cy="666900"/>
            </a:xfrm>
          </p:grpSpPr>
          <p:sp>
            <p:nvSpPr>
              <p:cNvPr id="400" name="Google Shape;400;p22"/>
              <p:cNvSpPr/>
              <p:nvPr/>
            </p:nvSpPr>
            <p:spPr>
              <a:xfrm>
                <a:off x="0" y="0"/>
                <a:ext cx="2628900" cy="666900"/>
              </a:xfrm>
              <a:prstGeom prst="roundRect">
                <a:avLst>
                  <a:gd name="adj" fmla="val 8571"/>
                </a:avLst>
              </a:prstGeom>
              <a:solidFill>
                <a:srgbClr val="FFFFFF"/>
              </a:solidFill>
              <a:ln w="14300"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01" name="Google Shape;401;p22"/>
              <p:cNvSpPr/>
              <p:nvPr/>
            </p:nvSpPr>
            <p:spPr>
              <a:xfrm>
                <a:off x="0" y="0"/>
                <a:ext cx="523800" cy="666900"/>
              </a:xfrm>
              <a:prstGeom prst="roundRect">
                <a:avLst>
                  <a:gd name="adj" fmla="val 10909"/>
                </a:avLst>
              </a:prstGeom>
              <a:solidFill>
                <a:srgbClr val="10B981"/>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02" name="Google Shape;402;p22"/>
              <p:cNvSpPr/>
              <p:nvPr/>
            </p:nvSpPr>
            <p:spPr>
              <a:xfrm>
                <a:off x="428625" y="0"/>
                <a:ext cx="95400" cy="666900"/>
              </a:xfrm>
              <a:prstGeom prst="rect">
                <a:avLst/>
              </a:prstGeom>
              <a:solidFill>
                <a:srgbClr val="10B981"/>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03" name="Google Shape;403;p22"/>
              <p:cNvSpPr txBox="1"/>
              <p:nvPr/>
            </p:nvSpPr>
            <p:spPr>
              <a:xfrm>
                <a:off x="0" y="0"/>
                <a:ext cx="523800" cy="666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FFFFFF"/>
                    </a:solidFill>
                    <a:latin typeface="Inter ExtraBold"/>
                    <a:ea typeface="Inter ExtraBold"/>
                    <a:cs typeface="Inter ExtraBold"/>
                    <a:sym typeface="Inter ExtraBold"/>
                  </a:rPr>
                  <a:t>S03</a:t>
                </a:r>
                <a:endParaRPr sz="1200" b="0" i="0" u="none" strike="noStrike" cap="none">
                  <a:solidFill>
                    <a:srgbClr val="FFFFFF"/>
                  </a:solidFill>
                  <a:latin typeface="Inter ExtraBold"/>
                  <a:ea typeface="Inter ExtraBold"/>
                  <a:cs typeface="Inter ExtraBold"/>
                  <a:sym typeface="Inter ExtraBold"/>
                </a:endParaRPr>
              </a:p>
            </p:txBody>
          </p:sp>
          <p:sp>
            <p:nvSpPr>
              <p:cNvPr id="404" name="Google Shape;404;p22"/>
              <p:cNvSpPr txBox="1"/>
              <p:nvPr/>
            </p:nvSpPr>
            <p:spPr>
              <a:xfrm>
                <a:off x="619125" y="0"/>
                <a:ext cx="1914600" cy="666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1" i="0" u="none" strike="noStrike" cap="none">
                    <a:solidFill>
                      <a:srgbClr val="0F172A"/>
                    </a:solidFill>
                    <a:latin typeface="Inter"/>
                    <a:ea typeface="Inter"/>
                    <a:cs typeface="Inter"/>
                    <a:sym typeface="Inter"/>
                  </a:rPr>
                  <a:t>Quản lý kho linh kiện</a:t>
                </a:r>
                <a:endParaRPr sz="1100" b="1" i="0" u="none" strike="noStrike" cap="none">
                  <a:solidFill>
                    <a:srgbClr val="0F172A"/>
                  </a:solidFill>
                  <a:latin typeface="Inter"/>
                  <a:ea typeface="Inter"/>
                  <a:cs typeface="Inter"/>
                  <a:sym typeface="Inter"/>
                </a:endParaRPr>
              </a:p>
            </p:txBody>
          </p:sp>
        </p:grpSp>
        <p:grpSp>
          <p:nvGrpSpPr>
            <p:cNvPr id="405" name="Google Shape;405;p22"/>
            <p:cNvGrpSpPr/>
            <p:nvPr/>
          </p:nvGrpSpPr>
          <p:grpSpPr>
            <a:xfrm>
              <a:off x="0" y="809625"/>
              <a:ext cx="2628900" cy="2476500"/>
              <a:chOff x="0" y="0"/>
              <a:chExt cx="2628900" cy="2476500"/>
            </a:xfrm>
          </p:grpSpPr>
          <p:sp>
            <p:nvSpPr>
              <p:cNvPr id="406" name="Google Shape;406;p22"/>
              <p:cNvSpPr/>
              <p:nvPr/>
            </p:nvSpPr>
            <p:spPr>
              <a:xfrm>
                <a:off x="0" y="0"/>
                <a:ext cx="2628900" cy="2476500"/>
              </a:xfrm>
              <a:prstGeom prst="roundRect">
                <a:avLst>
                  <a:gd name="adj" fmla="val 3076"/>
                </a:avLst>
              </a:prstGeom>
              <a:solidFill>
                <a:srgbClr val="F8FAFC"/>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07" name="Google Shape;407;p22"/>
              <p:cNvSpPr/>
              <p:nvPr/>
            </p:nvSpPr>
            <p:spPr>
              <a:xfrm>
                <a:off x="0" y="0"/>
                <a:ext cx="38100" cy="2476500"/>
              </a:xfrm>
              <a:prstGeom prst="roundRect">
                <a:avLst>
                  <a:gd name="adj" fmla="val 50000"/>
                </a:avLst>
              </a:prstGeom>
              <a:solidFill>
                <a:srgbClr val="10B981"/>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08" name="Google Shape;408;p22"/>
              <p:cNvSpPr txBox="1"/>
              <p:nvPr/>
            </p:nvSpPr>
            <p:spPr>
              <a:xfrm>
                <a:off x="171450" y="190500"/>
                <a:ext cx="2286000" cy="20955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1" i="0" u="none" strike="noStrike" cap="none">
                    <a:solidFill>
                      <a:srgbClr val="0F172A"/>
                    </a:solidFill>
                    <a:latin typeface="Inter"/>
                    <a:ea typeface="Inter"/>
                    <a:cs typeface="Inter"/>
                    <a:sym typeface="Inter"/>
                  </a:rPr>
                  <a:t>Vận hành &amp; Cung ứng Kho</a:t>
                </a:r>
                <a:endParaRPr sz="1100" b="1" i="0" u="none" strike="noStrike" cap="none">
                  <a:solidFill>
                    <a:srgbClr val="0F172A"/>
                  </a:solidFill>
                  <a:latin typeface="Inter"/>
                  <a:ea typeface="Inter"/>
                  <a:cs typeface="Inter"/>
                  <a:sym typeface="Inter"/>
                </a:endParaRPr>
              </a:p>
              <a:p>
                <a:pPr marL="0" marR="0" lvl="0" indent="0" algn="l" rtl="0">
                  <a:lnSpc>
                    <a:spcPct val="100000"/>
                  </a:lnSpc>
                  <a:spcBef>
                    <a:spcPts val="750"/>
                  </a:spcBef>
                  <a:spcAft>
                    <a:spcPts val="0"/>
                  </a:spcAft>
                  <a:buClr>
                    <a:srgbClr val="000000"/>
                  </a:buClr>
                  <a:buSzPts val="1000"/>
                  <a:buFont typeface="Arial"/>
                  <a:buNone/>
                </a:pPr>
                <a:r>
                  <a:rPr lang="en" sz="1000" b="0" i="0" u="none" strike="noStrike" cap="none">
                    <a:solidFill>
                      <a:srgbClr val="475569"/>
                    </a:solidFill>
                    <a:latin typeface="Inter"/>
                    <a:ea typeface="Inter"/>
                    <a:cs typeface="Inter"/>
                    <a:sym typeface="Inter"/>
                  </a:rPr>
                  <a:t>Nhập hàng từ nhà cung cấp, cấp phát linh kiện theo yêu cầu từ KTV</a:t>
                </a:r>
                <a:endParaRPr sz="1000" b="0" i="0" u="none" strike="noStrike" cap="none">
                  <a:solidFill>
                    <a:srgbClr val="475569"/>
                  </a:solidFill>
                  <a:latin typeface="Inter"/>
                  <a:ea typeface="Inter"/>
                  <a:cs typeface="Inter"/>
                  <a:sym typeface="Inter"/>
                </a:endParaRPr>
              </a:p>
              <a:p>
                <a:pPr marL="0" marR="0" lvl="0" indent="0" algn="l" rtl="0">
                  <a:lnSpc>
                    <a:spcPct val="100000"/>
                  </a:lnSpc>
                  <a:spcBef>
                    <a:spcPts val="900"/>
                  </a:spcBef>
                  <a:spcAft>
                    <a:spcPts val="0"/>
                  </a:spcAft>
                  <a:buClr>
                    <a:srgbClr val="000000"/>
                  </a:buClr>
                  <a:buSzPts val="1000"/>
                  <a:buFont typeface="Arial"/>
                  <a:buNone/>
                </a:pPr>
                <a:r>
                  <a:rPr lang="en" sz="1000" b="1" i="0" u="none" strike="noStrike" cap="none">
                    <a:solidFill>
                      <a:srgbClr val="10B981"/>
                    </a:solidFill>
                    <a:latin typeface="Inter"/>
                    <a:ea typeface="Inter"/>
                    <a:cs typeface="Inter"/>
                    <a:sym typeface="Inter"/>
                  </a:rPr>
                  <a:t>● Tối ưu hóa tồn kho</a:t>
                </a:r>
                <a:endParaRPr sz="1000" b="1" i="0" u="none" strike="noStrike" cap="none">
                  <a:solidFill>
                    <a:srgbClr val="10B981"/>
                  </a:solidFill>
                  <a:latin typeface="Inter"/>
                  <a:ea typeface="Inter"/>
                  <a:cs typeface="Inter"/>
                  <a:sym typeface="Inter"/>
                </a:endParaRPr>
              </a:p>
              <a:p>
                <a:pPr marL="0" marR="0" lvl="0" indent="0" algn="l" rtl="0">
                  <a:lnSpc>
                    <a:spcPct val="100000"/>
                  </a:lnSpc>
                  <a:spcBef>
                    <a:spcPts val="900"/>
                  </a:spcBef>
                  <a:spcAft>
                    <a:spcPts val="0"/>
                  </a:spcAft>
                  <a:buClr>
                    <a:srgbClr val="000000"/>
                  </a:buClr>
                  <a:buSzPts val="1000"/>
                  <a:buFont typeface="Arial"/>
                  <a:buNone/>
                </a:pPr>
                <a:r>
                  <a:rPr lang="en" sz="1000" b="0" i="0" u="none" strike="noStrike" cap="none">
                    <a:solidFill>
                      <a:srgbClr val="475569"/>
                    </a:solidFill>
                    <a:latin typeface="Inter"/>
                    <a:ea typeface="Inter"/>
                    <a:cs typeface="Inter"/>
                    <a:sym typeface="Inter"/>
                  </a:rPr>
                  <a:t>Chủ động theo dõi tồn kho và đặt hàng bổ sung kịp thời khi phát hiện dấu hiệu thiếu hụt.</a:t>
                </a:r>
                <a:endParaRPr sz="1000" b="0" i="0" u="none" strike="noStrike" cap="none">
                  <a:solidFill>
                    <a:srgbClr val="475569"/>
                  </a:solidFill>
                  <a:latin typeface="Inter"/>
                  <a:ea typeface="Inter"/>
                  <a:cs typeface="Inter"/>
                  <a:sym typeface="Inter"/>
                </a:endParaRPr>
              </a:p>
            </p:txBody>
          </p:sp>
        </p:gr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412"/>
        <p:cNvGrpSpPr/>
        <p:nvPr/>
      </p:nvGrpSpPr>
      <p:grpSpPr>
        <a:xfrm>
          <a:off x="0" y="0"/>
          <a:ext cx="0" cy="0"/>
          <a:chOff x="0" y="0"/>
          <a:chExt cx="0" cy="0"/>
        </a:xfrm>
      </p:grpSpPr>
      <p:sp>
        <p:nvSpPr>
          <p:cNvPr id="413" name="Google Shape;413;p23"/>
          <p:cNvSpPr/>
          <p:nvPr/>
        </p:nvSpPr>
        <p:spPr>
          <a:xfrm>
            <a:off x="0" y="0"/>
            <a:ext cx="3524400" cy="5143500"/>
          </a:xfrm>
          <a:prstGeom prst="rect">
            <a:avLst/>
          </a:prstGeom>
          <a:solidFill>
            <a:srgbClr val="F8FAF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414" name="Google Shape;414;p23"/>
          <p:cNvCxnSpPr/>
          <p:nvPr/>
        </p:nvCxnSpPr>
        <p:spPr>
          <a:xfrm>
            <a:off x="3524250" y="0"/>
            <a:ext cx="0" cy="5143500"/>
          </a:xfrm>
          <a:prstGeom prst="straightConnector1">
            <a:avLst/>
          </a:prstGeom>
          <a:solidFill>
            <a:srgbClr val="FFFFFF"/>
          </a:solidFill>
          <a:ln w="9525" cap="flat" cmpd="sng">
            <a:solidFill>
              <a:srgbClr val="E2E8F0"/>
            </a:solidFill>
            <a:prstDash val="solid"/>
            <a:round/>
            <a:headEnd type="none" w="sm" len="sm"/>
            <a:tailEnd type="none" w="sm" len="sm"/>
          </a:ln>
        </p:spPr>
      </p:cxnSp>
      <p:sp>
        <p:nvSpPr>
          <p:cNvPr id="415" name="Google Shape;415;p23"/>
          <p:cNvSpPr txBox="1"/>
          <p:nvPr/>
        </p:nvSpPr>
        <p:spPr>
          <a:xfrm>
            <a:off x="285750" y="333375"/>
            <a:ext cx="2952900" cy="1047900"/>
          </a:xfrm>
          <a:prstGeom prst="rect">
            <a:avLst/>
          </a:prstGeom>
          <a:solidFill>
            <a:srgbClr val="000000">
              <a:alpha val="0"/>
            </a:srgbClr>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850"/>
              <a:buFont typeface="Arial"/>
              <a:buNone/>
            </a:pPr>
            <a:r>
              <a:rPr lang="en" sz="850" b="1" i="0" u="none" strike="noStrike" cap="none">
                <a:solidFill>
                  <a:srgbClr val="007B7C"/>
                </a:solidFill>
                <a:latin typeface="Inter"/>
                <a:ea typeface="Inter"/>
                <a:cs typeface="Inter"/>
                <a:sym typeface="Inter"/>
              </a:rPr>
              <a:t>Chuẩn mô hình hóa</a:t>
            </a:r>
            <a:endParaRPr sz="850" b="1" i="0" u="none" strike="noStrike" cap="none">
              <a:solidFill>
                <a:srgbClr val="007B7C"/>
              </a:solidFill>
              <a:latin typeface="Inter"/>
              <a:ea typeface="Inter"/>
              <a:cs typeface="Inter"/>
              <a:sym typeface="Inter"/>
            </a:endParaRPr>
          </a:p>
          <a:p>
            <a:pPr marL="0" marR="0" lvl="0" indent="0" algn="l" rtl="0">
              <a:lnSpc>
                <a:spcPct val="100000"/>
              </a:lnSpc>
              <a:spcBef>
                <a:spcPts val="300"/>
              </a:spcBef>
              <a:spcAft>
                <a:spcPts val="0"/>
              </a:spcAft>
              <a:buClr>
                <a:srgbClr val="000000"/>
              </a:buClr>
              <a:buSzPts val="2000"/>
              <a:buFont typeface="Arial"/>
              <a:buNone/>
            </a:pPr>
            <a:r>
              <a:rPr lang="en" sz="2000" b="0" i="0" u="none" strike="noStrike" cap="none">
                <a:solidFill>
                  <a:srgbClr val="0F172A"/>
                </a:solidFill>
                <a:latin typeface="Inter ExtraBold"/>
                <a:ea typeface="Inter ExtraBold"/>
                <a:cs typeface="Inter ExtraBold"/>
                <a:sym typeface="Inter ExtraBold"/>
              </a:rPr>
              <a:t>BPMN 2.0 Standard</a:t>
            </a:r>
            <a:endParaRPr sz="2000" b="0" i="0" u="none" strike="noStrike" cap="none">
              <a:solidFill>
                <a:srgbClr val="0F172A"/>
              </a:solidFill>
              <a:latin typeface="Inter ExtraBold"/>
              <a:ea typeface="Inter ExtraBold"/>
              <a:cs typeface="Inter ExtraBold"/>
              <a:sym typeface="Inter ExtraBold"/>
            </a:endParaRPr>
          </a:p>
          <a:p>
            <a:pPr marL="0" marR="0" lvl="0" indent="0" algn="l" rtl="0">
              <a:lnSpc>
                <a:spcPct val="100000"/>
              </a:lnSpc>
              <a:spcBef>
                <a:spcPts val="600"/>
              </a:spcBef>
              <a:spcAft>
                <a:spcPts val="0"/>
              </a:spcAft>
              <a:buClr>
                <a:srgbClr val="000000"/>
              </a:buClr>
              <a:buSzPts val="950"/>
              <a:buFont typeface="Arial"/>
              <a:buNone/>
            </a:pPr>
            <a:r>
              <a:rPr lang="en" sz="950" b="0" i="0" u="none" strike="noStrike" cap="none">
                <a:solidFill>
                  <a:srgbClr val="475569"/>
                </a:solidFill>
                <a:latin typeface="Inter"/>
                <a:ea typeface="Inter"/>
                <a:cs typeface="Inter"/>
                <a:sym typeface="Inter"/>
              </a:rPr>
              <a:t>Đồ án áp dụng chuẩn BPMN 2.0 (Business Process Model and Notation) để mô hình hóa chi tiết các quy trình.</a:t>
            </a:r>
            <a:endParaRPr sz="950" b="0" i="0" u="none" strike="noStrike" cap="none">
              <a:solidFill>
                <a:srgbClr val="475569"/>
              </a:solidFill>
              <a:latin typeface="Inter"/>
              <a:ea typeface="Inter"/>
              <a:cs typeface="Inter"/>
              <a:sym typeface="Inter"/>
            </a:endParaRPr>
          </a:p>
        </p:txBody>
      </p:sp>
      <p:cxnSp>
        <p:nvCxnSpPr>
          <p:cNvPr id="416" name="Google Shape;416;p23"/>
          <p:cNvCxnSpPr/>
          <p:nvPr/>
        </p:nvCxnSpPr>
        <p:spPr>
          <a:xfrm>
            <a:off x="285750" y="1285875"/>
            <a:ext cx="2952900" cy="0"/>
          </a:xfrm>
          <a:prstGeom prst="straightConnector1">
            <a:avLst/>
          </a:prstGeom>
          <a:solidFill>
            <a:srgbClr val="FFFFFF"/>
          </a:solidFill>
          <a:ln w="9525" cap="flat" cmpd="sng">
            <a:solidFill>
              <a:srgbClr val="E2E8F0"/>
            </a:solidFill>
            <a:prstDash val="solid"/>
            <a:round/>
            <a:headEnd type="none" w="sm" len="sm"/>
            <a:tailEnd type="none" w="sm" len="sm"/>
          </a:ln>
        </p:spPr>
      </p:cxnSp>
      <p:grpSp>
        <p:nvGrpSpPr>
          <p:cNvPr id="417" name="Google Shape;417;p23"/>
          <p:cNvGrpSpPr/>
          <p:nvPr/>
        </p:nvGrpSpPr>
        <p:grpSpPr>
          <a:xfrm>
            <a:off x="285750" y="1524000"/>
            <a:ext cx="2952900" cy="2933700"/>
            <a:chOff x="0" y="0"/>
            <a:chExt cx="2952900" cy="2933700"/>
          </a:xfrm>
        </p:grpSpPr>
        <p:grpSp>
          <p:nvGrpSpPr>
            <p:cNvPr id="418" name="Google Shape;418;p23"/>
            <p:cNvGrpSpPr/>
            <p:nvPr/>
          </p:nvGrpSpPr>
          <p:grpSpPr>
            <a:xfrm>
              <a:off x="0" y="0"/>
              <a:ext cx="2952900" cy="457200"/>
              <a:chOff x="0" y="0"/>
              <a:chExt cx="2952900" cy="457200"/>
            </a:xfrm>
          </p:grpSpPr>
          <p:sp>
            <p:nvSpPr>
              <p:cNvPr id="419" name="Google Shape;419;p23"/>
              <p:cNvSpPr/>
              <p:nvPr/>
            </p:nvSpPr>
            <p:spPr>
              <a:xfrm>
                <a:off x="0" y="0"/>
                <a:ext cx="304800" cy="304800"/>
              </a:xfrm>
              <a:prstGeom prst="roundRect">
                <a:avLst>
                  <a:gd name="adj" fmla="val 18750"/>
                </a:avLst>
              </a:prstGeom>
              <a:solidFill>
                <a:srgbClr val="E0F2F1"/>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20" name="Google Shape;420;p23"/>
              <p:cNvSpPr/>
              <p:nvPr/>
            </p:nvSpPr>
            <p:spPr>
              <a:xfrm>
                <a:off x="66675" y="66675"/>
                <a:ext cx="171600" cy="171600"/>
              </a:xfrm>
              <a:prstGeom prst="roundRect">
                <a:avLst>
                  <a:gd name="adj" fmla="val 11111"/>
                </a:avLst>
              </a:prstGeom>
              <a:solidFill>
                <a:srgbClr val="000000">
                  <a:alpha val="0"/>
                </a:srgbClr>
              </a:solidFill>
              <a:ln w="14300" cap="flat" cmpd="sng">
                <a:solidFill>
                  <a:srgbClr val="007B7C"/>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421" name="Google Shape;421;p23"/>
              <p:cNvCxnSpPr/>
              <p:nvPr/>
            </p:nvCxnSpPr>
            <p:spPr>
              <a:xfrm>
                <a:off x="152400" y="66675"/>
                <a:ext cx="0" cy="171600"/>
              </a:xfrm>
              <a:prstGeom prst="straightConnector1">
                <a:avLst/>
              </a:prstGeom>
              <a:solidFill>
                <a:srgbClr val="FFFFFF"/>
              </a:solidFill>
              <a:ln w="14300" cap="flat" cmpd="sng">
                <a:solidFill>
                  <a:srgbClr val="007B7C"/>
                </a:solidFill>
                <a:prstDash val="solid"/>
                <a:round/>
                <a:headEnd type="none" w="sm" len="sm"/>
                <a:tailEnd type="none" w="sm" len="sm"/>
              </a:ln>
            </p:spPr>
          </p:cxnSp>
          <p:cxnSp>
            <p:nvCxnSpPr>
              <p:cNvPr id="422" name="Google Shape;422;p23"/>
              <p:cNvCxnSpPr/>
              <p:nvPr/>
            </p:nvCxnSpPr>
            <p:spPr>
              <a:xfrm>
                <a:off x="66675" y="152400"/>
                <a:ext cx="171600" cy="0"/>
              </a:xfrm>
              <a:prstGeom prst="straightConnector1">
                <a:avLst/>
              </a:prstGeom>
              <a:solidFill>
                <a:srgbClr val="FFFFFF"/>
              </a:solidFill>
              <a:ln w="14300" cap="flat" cmpd="sng">
                <a:solidFill>
                  <a:srgbClr val="007B7C"/>
                </a:solidFill>
                <a:prstDash val="solid"/>
                <a:round/>
                <a:headEnd type="none" w="sm" len="sm"/>
                <a:tailEnd type="none" w="sm" len="sm"/>
              </a:ln>
            </p:spPr>
          </p:cxnSp>
          <p:sp>
            <p:nvSpPr>
              <p:cNvPr id="423" name="Google Shape;423;p23"/>
              <p:cNvSpPr txBox="1"/>
              <p:nvPr/>
            </p:nvSpPr>
            <p:spPr>
              <a:xfrm>
                <a:off x="419100" y="0"/>
                <a:ext cx="2533800" cy="457200"/>
              </a:xfrm>
              <a:prstGeom prst="rect">
                <a:avLst/>
              </a:prstGeom>
              <a:solidFill>
                <a:srgbClr val="000000">
                  <a:alpha val="0"/>
                </a:srgbClr>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F172A"/>
                    </a:solidFill>
                    <a:latin typeface="Inter"/>
                    <a:ea typeface="Inter"/>
                    <a:cs typeface="Inter"/>
                    <a:sym typeface="Inter"/>
                  </a:rPr>
                  <a:t>Lanes (Tác nhân): </a:t>
                </a:r>
                <a:r>
                  <a:rPr lang="en" sz="900" b="0" i="0" u="none" strike="noStrike" cap="none">
                    <a:solidFill>
                      <a:srgbClr val="475569"/>
                    </a:solidFill>
                    <a:latin typeface="Inter"/>
                    <a:ea typeface="Inter"/>
                    <a:cs typeface="Inter"/>
                    <a:sym typeface="Inter"/>
                  </a:rPr>
                  <a:t>Thể hiện rõ vai trò của từng cá nhân hoặc hệ thống tham gia vào quy trình.</a:t>
                </a:r>
                <a:endParaRPr sz="900" b="1" i="0" u="none" strike="noStrike" cap="none">
                  <a:solidFill>
                    <a:srgbClr val="0F172A"/>
                  </a:solidFill>
                  <a:latin typeface="Inter"/>
                  <a:ea typeface="Inter"/>
                  <a:cs typeface="Inter"/>
                  <a:sym typeface="Inter"/>
                </a:endParaRPr>
              </a:p>
            </p:txBody>
          </p:sp>
        </p:grpSp>
        <p:grpSp>
          <p:nvGrpSpPr>
            <p:cNvPr id="424" name="Google Shape;424;p23"/>
            <p:cNvGrpSpPr/>
            <p:nvPr/>
          </p:nvGrpSpPr>
          <p:grpSpPr>
            <a:xfrm>
              <a:off x="0" y="619125"/>
              <a:ext cx="2952900" cy="457200"/>
              <a:chOff x="0" y="0"/>
              <a:chExt cx="2952900" cy="457200"/>
            </a:xfrm>
          </p:grpSpPr>
          <p:sp>
            <p:nvSpPr>
              <p:cNvPr id="425" name="Google Shape;425;p23"/>
              <p:cNvSpPr/>
              <p:nvPr/>
            </p:nvSpPr>
            <p:spPr>
              <a:xfrm>
                <a:off x="0" y="0"/>
                <a:ext cx="304800" cy="304800"/>
              </a:xfrm>
              <a:prstGeom prst="roundRect">
                <a:avLst>
                  <a:gd name="adj" fmla="val 18750"/>
                </a:avLst>
              </a:prstGeom>
              <a:solidFill>
                <a:srgbClr val="FEE2E2"/>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26" name="Google Shape;426;p23"/>
              <p:cNvSpPr/>
              <p:nvPr/>
            </p:nvSpPr>
            <p:spPr>
              <a:xfrm>
                <a:off x="66675" y="104775"/>
                <a:ext cx="95400" cy="95400"/>
              </a:xfrm>
              <a:prstGeom prst="ellipse">
                <a:avLst/>
              </a:prstGeom>
              <a:solidFill>
                <a:srgbClr val="000000">
                  <a:alpha val="0"/>
                </a:srgbClr>
              </a:solidFill>
              <a:ln w="14300" cap="flat" cmpd="sng">
                <a:solidFill>
                  <a:srgbClr val="10B981"/>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27" name="Google Shape;427;p23"/>
              <p:cNvSpPr/>
              <p:nvPr/>
            </p:nvSpPr>
            <p:spPr>
              <a:xfrm>
                <a:off x="142875" y="104775"/>
                <a:ext cx="95400" cy="95400"/>
              </a:xfrm>
              <a:prstGeom prst="ellipse">
                <a:avLst/>
              </a:prstGeom>
              <a:solidFill>
                <a:srgbClr val="000000">
                  <a:alpha val="0"/>
                </a:srgbClr>
              </a:solidFill>
              <a:ln w="19050" cap="flat" cmpd="sng">
                <a:solidFill>
                  <a:srgbClr val="E11D48"/>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28" name="Google Shape;428;p23"/>
              <p:cNvSpPr txBox="1"/>
              <p:nvPr/>
            </p:nvSpPr>
            <p:spPr>
              <a:xfrm>
                <a:off x="419100" y="0"/>
                <a:ext cx="2533800" cy="457200"/>
              </a:xfrm>
              <a:prstGeom prst="rect">
                <a:avLst/>
              </a:prstGeom>
              <a:solidFill>
                <a:srgbClr val="000000">
                  <a:alpha val="0"/>
                </a:srgbClr>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F172A"/>
                    </a:solidFill>
                    <a:latin typeface="Inter"/>
                    <a:ea typeface="Inter"/>
                    <a:cs typeface="Inter"/>
                    <a:sym typeface="Inter"/>
                  </a:rPr>
                  <a:t>Bắt đầu / Kết thúc: </a:t>
                </a:r>
                <a:r>
                  <a:rPr lang="en" sz="900" b="0" i="0" u="none" strike="noStrike" cap="none">
                    <a:solidFill>
                      <a:srgbClr val="475569"/>
                    </a:solidFill>
                    <a:latin typeface="Inter"/>
                    <a:ea typeface="Inter"/>
                    <a:cs typeface="Inter"/>
                    <a:sym typeface="Inter"/>
                  </a:rPr>
                  <a:t>Xác định điểm kích hoạt và hoàn tất của một luồng công việc.</a:t>
                </a:r>
                <a:endParaRPr sz="900" b="1" i="0" u="none" strike="noStrike" cap="none">
                  <a:solidFill>
                    <a:srgbClr val="0F172A"/>
                  </a:solidFill>
                  <a:latin typeface="Inter"/>
                  <a:ea typeface="Inter"/>
                  <a:cs typeface="Inter"/>
                  <a:sym typeface="Inter"/>
                </a:endParaRPr>
              </a:p>
            </p:txBody>
          </p:sp>
        </p:grpSp>
        <p:grpSp>
          <p:nvGrpSpPr>
            <p:cNvPr id="429" name="Google Shape;429;p23"/>
            <p:cNvGrpSpPr/>
            <p:nvPr/>
          </p:nvGrpSpPr>
          <p:grpSpPr>
            <a:xfrm>
              <a:off x="0" y="1238250"/>
              <a:ext cx="2952900" cy="457200"/>
              <a:chOff x="0" y="0"/>
              <a:chExt cx="2952900" cy="457200"/>
            </a:xfrm>
          </p:grpSpPr>
          <p:sp>
            <p:nvSpPr>
              <p:cNvPr id="430" name="Google Shape;430;p23"/>
              <p:cNvSpPr/>
              <p:nvPr/>
            </p:nvSpPr>
            <p:spPr>
              <a:xfrm>
                <a:off x="0" y="0"/>
                <a:ext cx="304800" cy="304800"/>
              </a:xfrm>
              <a:prstGeom prst="roundRect">
                <a:avLst>
                  <a:gd name="adj" fmla="val 18750"/>
                </a:avLst>
              </a:prstGeom>
              <a:solidFill>
                <a:srgbClr val="E0F2F1"/>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31" name="Google Shape;431;p23"/>
              <p:cNvSpPr/>
              <p:nvPr/>
            </p:nvSpPr>
            <p:spPr>
              <a:xfrm>
                <a:off x="66675" y="80963"/>
                <a:ext cx="171600" cy="142800"/>
              </a:xfrm>
              <a:prstGeom prst="roundRect">
                <a:avLst>
                  <a:gd name="adj" fmla="val 20000"/>
                </a:avLst>
              </a:prstGeom>
              <a:solidFill>
                <a:srgbClr val="000000">
                  <a:alpha val="0"/>
                </a:srgbClr>
              </a:solidFill>
              <a:ln w="14300" cap="flat" cmpd="sng">
                <a:solidFill>
                  <a:srgbClr val="007B7C"/>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432" name="Google Shape;432;p23"/>
              <p:cNvCxnSpPr/>
              <p:nvPr/>
            </p:nvCxnSpPr>
            <p:spPr>
              <a:xfrm>
                <a:off x="104775" y="123825"/>
                <a:ext cx="95400" cy="0"/>
              </a:xfrm>
              <a:prstGeom prst="straightConnector1">
                <a:avLst/>
              </a:prstGeom>
              <a:solidFill>
                <a:srgbClr val="FFFFFF"/>
              </a:solidFill>
              <a:ln w="11425" cap="flat" cmpd="sng">
                <a:solidFill>
                  <a:srgbClr val="007B7C"/>
                </a:solidFill>
                <a:prstDash val="solid"/>
                <a:round/>
                <a:headEnd type="none" w="sm" len="sm"/>
                <a:tailEnd type="none" w="sm" len="sm"/>
              </a:ln>
            </p:spPr>
          </p:cxnSp>
          <p:cxnSp>
            <p:nvCxnSpPr>
              <p:cNvPr id="433" name="Google Shape;433;p23"/>
              <p:cNvCxnSpPr/>
              <p:nvPr/>
            </p:nvCxnSpPr>
            <p:spPr>
              <a:xfrm>
                <a:off x="104775" y="171450"/>
                <a:ext cx="66600" cy="0"/>
              </a:xfrm>
              <a:prstGeom prst="straightConnector1">
                <a:avLst/>
              </a:prstGeom>
              <a:solidFill>
                <a:srgbClr val="FFFFFF"/>
              </a:solidFill>
              <a:ln w="11425" cap="flat" cmpd="sng">
                <a:solidFill>
                  <a:srgbClr val="007B7C"/>
                </a:solidFill>
                <a:prstDash val="solid"/>
                <a:round/>
                <a:headEnd type="none" w="sm" len="sm"/>
                <a:tailEnd type="none" w="sm" len="sm"/>
              </a:ln>
            </p:spPr>
          </p:cxnSp>
          <p:sp>
            <p:nvSpPr>
              <p:cNvPr id="434" name="Google Shape;434;p23"/>
              <p:cNvSpPr txBox="1"/>
              <p:nvPr/>
            </p:nvSpPr>
            <p:spPr>
              <a:xfrm>
                <a:off x="419100" y="0"/>
                <a:ext cx="2533800" cy="457200"/>
              </a:xfrm>
              <a:prstGeom prst="rect">
                <a:avLst/>
              </a:prstGeom>
              <a:solidFill>
                <a:srgbClr val="000000">
                  <a:alpha val="0"/>
                </a:srgbClr>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F172A"/>
                    </a:solidFill>
                    <a:latin typeface="Inter"/>
                    <a:ea typeface="Inter"/>
                    <a:cs typeface="Inter"/>
                    <a:sym typeface="Inter"/>
                  </a:rPr>
                  <a:t>Hoạt động (Activity): </a:t>
                </a:r>
                <a:r>
                  <a:rPr lang="en" sz="900" b="0" i="0" u="none" strike="noStrike" cap="none">
                    <a:solidFill>
                      <a:srgbClr val="475569"/>
                    </a:solidFill>
                    <a:latin typeface="Inter"/>
                    <a:ea typeface="Inter"/>
                    <a:cs typeface="Inter"/>
                    <a:sym typeface="Inter"/>
                  </a:rPr>
                  <a:t>Các bước thực thi công việc cụ thể và chuẩn hóa trong hệ thống.</a:t>
                </a:r>
                <a:endParaRPr sz="900" b="1" i="0" u="none" strike="noStrike" cap="none">
                  <a:solidFill>
                    <a:srgbClr val="0F172A"/>
                  </a:solidFill>
                  <a:latin typeface="Inter"/>
                  <a:ea typeface="Inter"/>
                  <a:cs typeface="Inter"/>
                  <a:sym typeface="Inter"/>
                </a:endParaRPr>
              </a:p>
            </p:txBody>
          </p:sp>
        </p:grpSp>
        <p:grpSp>
          <p:nvGrpSpPr>
            <p:cNvPr id="435" name="Google Shape;435;p23"/>
            <p:cNvGrpSpPr/>
            <p:nvPr/>
          </p:nvGrpSpPr>
          <p:grpSpPr>
            <a:xfrm>
              <a:off x="0" y="1857375"/>
              <a:ext cx="2952900" cy="457200"/>
              <a:chOff x="0" y="0"/>
              <a:chExt cx="2952900" cy="457200"/>
            </a:xfrm>
          </p:grpSpPr>
          <p:sp>
            <p:nvSpPr>
              <p:cNvPr id="436" name="Google Shape;436;p23"/>
              <p:cNvSpPr/>
              <p:nvPr/>
            </p:nvSpPr>
            <p:spPr>
              <a:xfrm>
                <a:off x="0" y="0"/>
                <a:ext cx="304800" cy="304800"/>
              </a:xfrm>
              <a:prstGeom prst="roundRect">
                <a:avLst>
                  <a:gd name="adj" fmla="val 18750"/>
                </a:avLst>
              </a:prstGeom>
              <a:solidFill>
                <a:srgbClr val="E0F2FE"/>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37" name="Google Shape;437;p23"/>
              <p:cNvSpPr/>
              <p:nvPr/>
            </p:nvSpPr>
            <p:spPr>
              <a:xfrm>
                <a:off x="66675" y="66675"/>
                <a:ext cx="171600" cy="171600"/>
              </a:xfrm>
              <a:custGeom>
                <a:avLst/>
                <a:gdLst/>
                <a:ahLst/>
                <a:cxnLst/>
                <a:rect l="l" t="t" r="r" b="b"/>
                <a:pathLst>
                  <a:path w="120000" h="120000" extrusionOk="0">
                    <a:moveTo>
                      <a:pt x="60000" y="0"/>
                    </a:moveTo>
                    <a:lnTo>
                      <a:pt x="120000" y="60000"/>
                    </a:lnTo>
                    <a:lnTo>
                      <a:pt x="60000" y="120000"/>
                    </a:lnTo>
                    <a:lnTo>
                      <a:pt x="0" y="60000"/>
                    </a:lnTo>
                    <a:close/>
                  </a:path>
                </a:pathLst>
              </a:custGeom>
              <a:solidFill>
                <a:srgbClr val="000000">
                  <a:alpha val="0"/>
                </a:srgbClr>
              </a:solidFill>
              <a:ln w="14300" cap="flat" cmpd="sng">
                <a:solidFill>
                  <a:srgbClr val="0284C7"/>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438" name="Google Shape;438;p23"/>
              <p:cNvCxnSpPr/>
              <p:nvPr/>
            </p:nvCxnSpPr>
            <p:spPr>
              <a:xfrm>
                <a:off x="123825" y="123825"/>
                <a:ext cx="57300" cy="57300"/>
              </a:xfrm>
              <a:prstGeom prst="straightConnector1">
                <a:avLst/>
              </a:prstGeom>
              <a:solidFill>
                <a:srgbClr val="FFFFFF"/>
              </a:solidFill>
              <a:ln w="14300" cap="flat" cmpd="sng">
                <a:solidFill>
                  <a:srgbClr val="0284C7"/>
                </a:solidFill>
                <a:prstDash val="solid"/>
                <a:round/>
                <a:headEnd type="none" w="sm" len="sm"/>
                <a:tailEnd type="none" w="sm" len="sm"/>
              </a:ln>
            </p:spPr>
          </p:cxnSp>
          <p:cxnSp>
            <p:nvCxnSpPr>
              <p:cNvPr id="439" name="Google Shape;439;p23"/>
              <p:cNvCxnSpPr/>
              <p:nvPr/>
            </p:nvCxnSpPr>
            <p:spPr>
              <a:xfrm flipH="1">
                <a:off x="123675" y="123825"/>
                <a:ext cx="57300" cy="57300"/>
              </a:xfrm>
              <a:prstGeom prst="straightConnector1">
                <a:avLst/>
              </a:prstGeom>
              <a:solidFill>
                <a:srgbClr val="FFFFFF"/>
              </a:solidFill>
              <a:ln w="14300" cap="flat" cmpd="sng">
                <a:solidFill>
                  <a:srgbClr val="0284C7"/>
                </a:solidFill>
                <a:prstDash val="solid"/>
                <a:round/>
                <a:headEnd type="none" w="sm" len="sm"/>
                <a:tailEnd type="none" w="sm" len="sm"/>
              </a:ln>
            </p:spPr>
          </p:cxnSp>
          <p:sp>
            <p:nvSpPr>
              <p:cNvPr id="440" name="Google Shape;440;p23"/>
              <p:cNvSpPr txBox="1"/>
              <p:nvPr/>
            </p:nvSpPr>
            <p:spPr>
              <a:xfrm>
                <a:off x="419100" y="0"/>
                <a:ext cx="2533800" cy="457200"/>
              </a:xfrm>
              <a:prstGeom prst="rect">
                <a:avLst/>
              </a:prstGeom>
              <a:solidFill>
                <a:srgbClr val="000000">
                  <a:alpha val="0"/>
                </a:srgbClr>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F172A"/>
                    </a:solidFill>
                    <a:latin typeface="Inter"/>
                    <a:ea typeface="Inter"/>
                    <a:cs typeface="Inter"/>
                    <a:sym typeface="Inter"/>
                  </a:rPr>
                  <a:t>Cổng điều kiện (Exclusive): </a:t>
                </a:r>
                <a:r>
                  <a:rPr lang="en" sz="900" b="0" i="0" u="none" strike="noStrike" cap="none">
                    <a:solidFill>
                      <a:srgbClr val="475569"/>
                    </a:solidFill>
                    <a:latin typeface="Inter"/>
                    <a:ea typeface="Inter"/>
                    <a:cs typeface="Inter"/>
                    <a:sym typeface="Inter"/>
                  </a:rPr>
                  <a:t>Dùng cho các điểm rẽ nhánh quyết định (chỉ chọn 1 luồng).</a:t>
                </a:r>
                <a:endParaRPr sz="900" b="1" i="0" u="none" strike="noStrike" cap="none">
                  <a:solidFill>
                    <a:srgbClr val="0F172A"/>
                  </a:solidFill>
                  <a:latin typeface="Inter"/>
                  <a:ea typeface="Inter"/>
                  <a:cs typeface="Inter"/>
                  <a:sym typeface="Inter"/>
                </a:endParaRPr>
              </a:p>
            </p:txBody>
          </p:sp>
        </p:grpSp>
        <p:grpSp>
          <p:nvGrpSpPr>
            <p:cNvPr id="441" name="Google Shape;441;p23"/>
            <p:cNvGrpSpPr/>
            <p:nvPr/>
          </p:nvGrpSpPr>
          <p:grpSpPr>
            <a:xfrm>
              <a:off x="0" y="2476500"/>
              <a:ext cx="2952900" cy="457200"/>
              <a:chOff x="0" y="0"/>
              <a:chExt cx="2952900" cy="457200"/>
            </a:xfrm>
          </p:grpSpPr>
          <p:sp>
            <p:nvSpPr>
              <p:cNvPr id="442" name="Google Shape;442;p23"/>
              <p:cNvSpPr/>
              <p:nvPr/>
            </p:nvSpPr>
            <p:spPr>
              <a:xfrm>
                <a:off x="0" y="0"/>
                <a:ext cx="304800" cy="304800"/>
              </a:xfrm>
              <a:prstGeom prst="roundRect">
                <a:avLst>
                  <a:gd name="adj" fmla="val 18750"/>
                </a:avLst>
              </a:prstGeom>
              <a:solidFill>
                <a:srgbClr val="E0F2FE"/>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43" name="Google Shape;443;p23"/>
              <p:cNvSpPr/>
              <p:nvPr/>
            </p:nvSpPr>
            <p:spPr>
              <a:xfrm>
                <a:off x="66675" y="66675"/>
                <a:ext cx="171600" cy="171600"/>
              </a:xfrm>
              <a:custGeom>
                <a:avLst/>
                <a:gdLst/>
                <a:ahLst/>
                <a:cxnLst/>
                <a:rect l="l" t="t" r="r" b="b"/>
                <a:pathLst>
                  <a:path w="120000" h="120000" extrusionOk="0">
                    <a:moveTo>
                      <a:pt x="60000" y="0"/>
                    </a:moveTo>
                    <a:lnTo>
                      <a:pt x="120000" y="60000"/>
                    </a:lnTo>
                    <a:lnTo>
                      <a:pt x="60000" y="120000"/>
                    </a:lnTo>
                    <a:lnTo>
                      <a:pt x="0" y="60000"/>
                    </a:lnTo>
                    <a:close/>
                  </a:path>
                </a:pathLst>
              </a:custGeom>
              <a:solidFill>
                <a:srgbClr val="000000">
                  <a:alpha val="0"/>
                </a:srgbClr>
              </a:solidFill>
              <a:ln w="14300" cap="flat" cmpd="sng">
                <a:solidFill>
                  <a:srgbClr val="0284C7"/>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cxnSp>
            <p:nvCxnSpPr>
              <p:cNvPr id="444" name="Google Shape;444;p23"/>
              <p:cNvCxnSpPr/>
              <p:nvPr/>
            </p:nvCxnSpPr>
            <p:spPr>
              <a:xfrm>
                <a:off x="114300" y="152400"/>
                <a:ext cx="76200" cy="0"/>
              </a:xfrm>
              <a:prstGeom prst="straightConnector1">
                <a:avLst/>
              </a:prstGeom>
              <a:solidFill>
                <a:srgbClr val="FFFFFF"/>
              </a:solidFill>
              <a:ln w="14300" cap="flat" cmpd="sng">
                <a:solidFill>
                  <a:srgbClr val="0284C7"/>
                </a:solidFill>
                <a:prstDash val="solid"/>
                <a:round/>
                <a:headEnd type="none" w="sm" len="sm"/>
                <a:tailEnd type="none" w="sm" len="sm"/>
              </a:ln>
            </p:spPr>
          </p:cxnSp>
          <p:cxnSp>
            <p:nvCxnSpPr>
              <p:cNvPr id="445" name="Google Shape;445;p23"/>
              <p:cNvCxnSpPr/>
              <p:nvPr/>
            </p:nvCxnSpPr>
            <p:spPr>
              <a:xfrm>
                <a:off x="152400" y="114300"/>
                <a:ext cx="0" cy="76200"/>
              </a:xfrm>
              <a:prstGeom prst="straightConnector1">
                <a:avLst/>
              </a:prstGeom>
              <a:solidFill>
                <a:srgbClr val="FFFFFF"/>
              </a:solidFill>
              <a:ln w="14300" cap="flat" cmpd="sng">
                <a:solidFill>
                  <a:srgbClr val="0284C7"/>
                </a:solidFill>
                <a:prstDash val="solid"/>
                <a:round/>
                <a:headEnd type="none" w="sm" len="sm"/>
                <a:tailEnd type="none" w="sm" len="sm"/>
              </a:ln>
            </p:spPr>
          </p:cxnSp>
          <p:sp>
            <p:nvSpPr>
              <p:cNvPr id="446" name="Google Shape;446;p23"/>
              <p:cNvSpPr txBox="1"/>
              <p:nvPr/>
            </p:nvSpPr>
            <p:spPr>
              <a:xfrm>
                <a:off x="419100" y="0"/>
                <a:ext cx="2533800" cy="457200"/>
              </a:xfrm>
              <a:prstGeom prst="rect">
                <a:avLst/>
              </a:prstGeom>
              <a:solidFill>
                <a:srgbClr val="000000">
                  <a:alpha val="0"/>
                </a:srgbClr>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1" i="0" u="none" strike="noStrike" cap="none">
                    <a:solidFill>
                      <a:srgbClr val="0F172A"/>
                    </a:solidFill>
                    <a:latin typeface="Inter"/>
                    <a:ea typeface="Inter"/>
                    <a:cs typeface="Inter"/>
                    <a:sym typeface="Inter"/>
                  </a:rPr>
                  <a:t>Cổng song song (Parallel): </a:t>
                </a:r>
                <a:r>
                  <a:rPr lang="en" sz="900" b="0" i="0" u="none" strike="noStrike" cap="none">
                    <a:solidFill>
                      <a:srgbClr val="475569"/>
                    </a:solidFill>
                    <a:latin typeface="Inter"/>
                    <a:ea typeface="Inter"/>
                    <a:cs typeface="Inter"/>
                    <a:sym typeface="Inter"/>
                  </a:rPr>
                  <a:t>Tách &amp; hợp các công việc diễn ra đồng thời trong quy trình.</a:t>
                </a:r>
                <a:endParaRPr sz="900" b="1" i="0" u="none" strike="noStrike" cap="none">
                  <a:solidFill>
                    <a:srgbClr val="0F172A"/>
                  </a:solidFill>
                  <a:latin typeface="Inter"/>
                  <a:ea typeface="Inter"/>
                  <a:cs typeface="Inter"/>
                  <a:sym typeface="Inter"/>
                </a:endParaRPr>
              </a:p>
            </p:txBody>
          </p:sp>
        </p:grpSp>
      </p:grpSp>
      <p:grpSp>
        <p:nvGrpSpPr>
          <p:cNvPr id="447" name="Google Shape;447;p23"/>
          <p:cNvGrpSpPr/>
          <p:nvPr/>
        </p:nvGrpSpPr>
        <p:grpSpPr>
          <a:xfrm>
            <a:off x="3714750" y="238125"/>
            <a:ext cx="5191200" cy="4667400"/>
            <a:chOff x="0" y="0"/>
            <a:chExt cx="5191200" cy="4667400"/>
          </a:xfrm>
        </p:grpSpPr>
        <p:sp>
          <p:nvSpPr>
            <p:cNvPr id="448" name="Google Shape;448;p23"/>
            <p:cNvSpPr/>
            <p:nvPr/>
          </p:nvSpPr>
          <p:spPr>
            <a:xfrm>
              <a:off x="0" y="0"/>
              <a:ext cx="5191200" cy="4667400"/>
            </a:xfrm>
            <a:prstGeom prst="roundRect">
              <a:avLst>
                <a:gd name="adj" fmla="val 2448"/>
              </a:avLst>
            </a:prstGeom>
            <a:solidFill>
              <a:srgbClr val="FFFFFF"/>
            </a:solidFill>
            <a:ln w="95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49" name="Google Shape;449;p23"/>
            <p:cNvSpPr/>
            <p:nvPr/>
          </p:nvSpPr>
          <p:spPr>
            <a:xfrm>
              <a:off x="0" y="0"/>
              <a:ext cx="5191200" cy="57300"/>
            </a:xfrm>
            <a:prstGeom prst="roundRect">
              <a:avLst>
                <a:gd name="adj" fmla="val 500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50" name="Google Shape;450;p23"/>
            <p:cNvSpPr txBox="1"/>
            <p:nvPr/>
          </p:nvSpPr>
          <p:spPr>
            <a:xfrm>
              <a:off x="228600" y="228600"/>
              <a:ext cx="4734000" cy="857400"/>
            </a:xfrm>
            <a:prstGeom prst="rect">
              <a:avLst/>
            </a:prstGeom>
            <a:solidFill>
              <a:srgbClr val="000000">
                <a:alpha val="0"/>
              </a:srgbClr>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850"/>
                <a:buFont typeface="Arial"/>
                <a:buNone/>
              </a:pPr>
              <a:r>
                <a:rPr lang="en" sz="850" b="1" i="0" u="none" strike="noStrike" cap="none">
                  <a:solidFill>
                    <a:srgbClr val="007B7C"/>
                  </a:solidFill>
                  <a:latin typeface="Inter"/>
                  <a:ea typeface="Inter"/>
                  <a:cs typeface="Inter"/>
                  <a:sym typeface="Inter"/>
                </a:rPr>
                <a:t>Phạm vi đánh giá</a:t>
              </a:r>
              <a:endParaRPr sz="850" b="1" i="0" u="none" strike="noStrike" cap="none">
                <a:solidFill>
                  <a:srgbClr val="007B7C"/>
                </a:solidFill>
                <a:latin typeface="Inter"/>
                <a:ea typeface="Inter"/>
                <a:cs typeface="Inter"/>
                <a:sym typeface="Inter"/>
              </a:endParaRPr>
            </a:p>
            <a:p>
              <a:pPr marL="0" marR="0" lvl="0" indent="0" algn="l" rtl="0">
                <a:lnSpc>
                  <a:spcPct val="100000"/>
                </a:lnSpc>
                <a:spcBef>
                  <a:spcPts val="150"/>
                </a:spcBef>
                <a:spcAft>
                  <a:spcPts val="0"/>
                </a:spcAft>
                <a:buClr>
                  <a:srgbClr val="000000"/>
                </a:buClr>
                <a:buSzPts val="1600"/>
                <a:buFont typeface="Arial"/>
                <a:buNone/>
              </a:pPr>
              <a:r>
                <a:rPr lang="en" sz="1600" b="0" i="0" u="none" strike="noStrike" cap="none">
                  <a:solidFill>
                    <a:srgbClr val="0F172A"/>
                  </a:solidFill>
                  <a:latin typeface="Inter ExtraBold"/>
                  <a:ea typeface="Inter ExtraBold"/>
                  <a:cs typeface="Inter ExtraBold"/>
                  <a:sym typeface="Inter ExtraBold"/>
                </a:rPr>
                <a:t>3 Quy Trình Tiêu Biểu Được Lựa Chọn</a:t>
              </a:r>
              <a:endParaRPr sz="1600" b="0" i="0" u="none" strike="noStrike" cap="none">
                <a:solidFill>
                  <a:srgbClr val="0F172A"/>
                </a:solidFill>
                <a:latin typeface="Inter ExtraBold"/>
                <a:ea typeface="Inter ExtraBold"/>
                <a:cs typeface="Inter ExtraBold"/>
                <a:sym typeface="Inter ExtraBold"/>
              </a:endParaRPr>
            </a:p>
            <a:p>
              <a:pPr marL="0" marR="0" lvl="0" indent="0" algn="l" rtl="0">
                <a:lnSpc>
                  <a:spcPct val="100000"/>
                </a:lnSpc>
                <a:spcBef>
                  <a:spcPts val="450"/>
                </a:spcBef>
                <a:spcAft>
                  <a:spcPts val="0"/>
                </a:spcAft>
                <a:buClr>
                  <a:srgbClr val="000000"/>
                </a:buClr>
                <a:buSzPts val="900"/>
                <a:buFont typeface="Arial"/>
                <a:buNone/>
              </a:pPr>
              <a:r>
                <a:rPr lang="en" sz="900" b="0" i="0" u="none" strike="noStrike" cap="none">
                  <a:solidFill>
                    <a:srgbClr val="475569"/>
                  </a:solidFill>
                  <a:latin typeface="Inter"/>
                  <a:ea typeface="Inter"/>
                  <a:cs typeface="Inter"/>
                  <a:sym typeface="Inter"/>
                </a:rPr>
                <a:t>Nhóm đã lựa chọn 3 quy trình tiêu biểu (từ các nhóm Quản lý, Cốt lõi, Hỗ trợ) để tiến hành vẽ sơ đồ chi tiết và đánh giá mức độ phức tạp thực tế.</a:t>
              </a:r>
              <a:endParaRPr sz="900" b="0" i="0" u="none" strike="noStrike" cap="none">
                <a:solidFill>
                  <a:srgbClr val="475569"/>
                </a:solidFill>
                <a:latin typeface="Inter"/>
                <a:ea typeface="Inter"/>
                <a:cs typeface="Inter"/>
                <a:sym typeface="Inter"/>
              </a:endParaRPr>
            </a:p>
          </p:txBody>
        </p:sp>
        <p:grpSp>
          <p:nvGrpSpPr>
            <p:cNvPr id="451" name="Google Shape;451;p23"/>
            <p:cNvGrpSpPr/>
            <p:nvPr/>
          </p:nvGrpSpPr>
          <p:grpSpPr>
            <a:xfrm>
              <a:off x="228600" y="1238250"/>
              <a:ext cx="4734000" cy="952500"/>
              <a:chOff x="0" y="0"/>
              <a:chExt cx="4734000" cy="952500"/>
            </a:xfrm>
          </p:grpSpPr>
          <p:sp>
            <p:nvSpPr>
              <p:cNvPr id="452" name="Google Shape;452;p23"/>
              <p:cNvSpPr/>
              <p:nvPr/>
            </p:nvSpPr>
            <p:spPr>
              <a:xfrm>
                <a:off x="0" y="0"/>
                <a:ext cx="4734000" cy="952500"/>
              </a:xfrm>
              <a:prstGeom prst="roundRect">
                <a:avLst>
                  <a:gd name="adj" fmla="val 8000"/>
                </a:avLst>
              </a:prstGeom>
              <a:solidFill>
                <a:srgbClr val="F8FAFC"/>
              </a:solidFill>
              <a:ln w="95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53" name="Google Shape;453;p23"/>
              <p:cNvSpPr/>
              <p:nvPr/>
            </p:nvSpPr>
            <p:spPr>
              <a:xfrm>
                <a:off x="0" y="0"/>
                <a:ext cx="1047900" cy="952500"/>
              </a:xfrm>
              <a:prstGeom prst="roundRect">
                <a:avLst>
                  <a:gd name="adj" fmla="val 8000"/>
                </a:avLst>
              </a:prstGeom>
              <a:solidFill>
                <a:srgbClr val="0F172A"/>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54" name="Google Shape;454;p23"/>
              <p:cNvSpPr/>
              <p:nvPr/>
            </p:nvSpPr>
            <p:spPr>
              <a:xfrm>
                <a:off x="952500" y="0"/>
                <a:ext cx="95400" cy="952500"/>
              </a:xfrm>
              <a:prstGeom prst="rect">
                <a:avLst/>
              </a:prstGeom>
              <a:solidFill>
                <a:srgbClr val="0F172A"/>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55" name="Google Shape;455;p23"/>
              <p:cNvSpPr txBox="1"/>
              <p:nvPr/>
            </p:nvSpPr>
            <p:spPr>
              <a:xfrm>
                <a:off x="0" y="0"/>
                <a:ext cx="1047900" cy="952500"/>
              </a:xfrm>
              <a:prstGeom prst="rect">
                <a:avLst/>
              </a:prstGeom>
              <a:solidFill>
                <a:srgbClr val="000000">
                  <a:alpha val="0"/>
                </a:srgbClr>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950"/>
                  <a:buFont typeface="Arial"/>
                  <a:buNone/>
                </a:pPr>
                <a:r>
                  <a:rPr lang="en" sz="950" b="0" i="0" u="none" strike="noStrike" cap="none">
                    <a:solidFill>
                      <a:srgbClr val="FFFFFF"/>
                    </a:solidFill>
                    <a:latin typeface="Inter ExtraBold"/>
                    <a:ea typeface="Inter ExtraBold"/>
                    <a:cs typeface="Inter ExtraBold"/>
                    <a:sym typeface="Inter ExtraBold"/>
                  </a:rPr>
                  <a:t>Quản lý</a:t>
                </a:r>
                <a:endParaRPr sz="950" b="0" i="0" u="none" strike="noStrike" cap="none">
                  <a:solidFill>
                    <a:srgbClr val="FFFFFF"/>
                  </a:solidFill>
                  <a:latin typeface="Inter ExtraBold"/>
                  <a:ea typeface="Inter ExtraBold"/>
                  <a:cs typeface="Inter ExtraBold"/>
                  <a:sym typeface="Inter ExtraBold"/>
                </a:endParaRPr>
              </a:p>
              <a:p>
                <a:pPr marL="0" marR="0" lvl="0" indent="0" algn="ctr" rtl="0">
                  <a:lnSpc>
                    <a:spcPct val="100000"/>
                  </a:lnSpc>
                  <a:spcBef>
                    <a:spcPts val="150"/>
                  </a:spcBef>
                  <a:spcAft>
                    <a:spcPts val="0"/>
                  </a:spcAft>
                  <a:buClr>
                    <a:srgbClr val="000000"/>
                  </a:buClr>
                  <a:buSzPts val="750"/>
                  <a:buFont typeface="Arial"/>
                  <a:buNone/>
                </a:pPr>
                <a:r>
                  <a:rPr lang="en" sz="750" b="0" i="0" u="none" strike="noStrike" cap="none">
                    <a:solidFill>
                      <a:srgbClr val="94A3B8"/>
                    </a:solidFill>
                    <a:latin typeface="Inter Medium"/>
                    <a:ea typeface="Inter Medium"/>
                    <a:cs typeface="Inter Medium"/>
                    <a:sym typeface="Inter Medium"/>
                  </a:rPr>
                  <a:t>Management</a:t>
                </a:r>
                <a:endParaRPr sz="750" b="0" i="0" u="none" strike="noStrike" cap="none">
                  <a:solidFill>
                    <a:srgbClr val="94A3B8"/>
                  </a:solidFill>
                  <a:latin typeface="Inter Medium"/>
                  <a:ea typeface="Inter Medium"/>
                  <a:cs typeface="Inter Medium"/>
                  <a:sym typeface="Inter Medium"/>
                </a:endParaRPr>
              </a:p>
            </p:txBody>
          </p:sp>
          <p:sp>
            <p:nvSpPr>
              <p:cNvPr id="456" name="Google Shape;456;p23"/>
              <p:cNvSpPr txBox="1"/>
              <p:nvPr/>
            </p:nvSpPr>
            <p:spPr>
              <a:xfrm>
                <a:off x="1238250" y="142875"/>
                <a:ext cx="3238500" cy="190500"/>
              </a:xfrm>
              <a:prstGeom prst="rect">
                <a:avLst/>
              </a:prstGeom>
              <a:solidFill>
                <a:srgbClr val="000000">
                  <a:alpha val="0"/>
                </a:srgbClr>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0" i="0" u="none" strike="noStrike" cap="none">
                    <a:solidFill>
                      <a:srgbClr val="64748B"/>
                    </a:solidFill>
                    <a:latin typeface="Inter SemiBold"/>
                    <a:ea typeface="Inter SemiBold"/>
                    <a:cs typeface="Inter SemiBold"/>
                    <a:sym typeface="Inter SemiBold"/>
                  </a:rPr>
                  <a:t>Phân tích &amp; Đánh giá độ phức tạp</a:t>
                </a:r>
                <a:endParaRPr sz="900" b="0" i="0" u="none" strike="noStrike" cap="none">
                  <a:solidFill>
                    <a:srgbClr val="64748B"/>
                  </a:solidFill>
                  <a:latin typeface="Inter SemiBold"/>
                  <a:ea typeface="Inter SemiBold"/>
                  <a:cs typeface="Inter SemiBold"/>
                  <a:sym typeface="Inter SemiBold"/>
                </a:endParaRPr>
              </a:p>
            </p:txBody>
          </p:sp>
          <p:grpSp>
            <p:nvGrpSpPr>
              <p:cNvPr id="457" name="Google Shape;457;p23"/>
              <p:cNvGrpSpPr/>
              <p:nvPr/>
            </p:nvGrpSpPr>
            <p:grpSpPr>
              <a:xfrm>
                <a:off x="1238250" y="381000"/>
                <a:ext cx="3238500" cy="419100"/>
                <a:chOff x="0" y="0"/>
                <a:chExt cx="3238500" cy="419100"/>
              </a:xfrm>
            </p:grpSpPr>
            <p:sp>
              <p:nvSpPr>
                <p:cNvPr id="458" name="Google Shape;458;p23"/>
                <p:cNvSpPr/>
                <p:nvPr/>
              </p:nvSpPr>
              <p:spPr>
                <a:xfrm>
                  <a:off x="0" y="0"/>
                  <a:ext cx="3238500" cy="419100"/>
                </a:xfrm>
                <a:prstGeom prst="roundRect">
                  <a:avLst>
                    <a:gd name="adj" fmla="val 13636"/>
                  </a:avLst>
                </a:prstGeom>
                <a:solidFill>
                  <a:srgbClr val="FFFFFF"/>
                </a:solidFill>
                <a:ln w="95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59" name="Google Shape;459;p23"/>
                <p:cNvSpPr/>
                <p:nvPr/>
              </p:nvSpPr>
              <p:spPr>
                <a:xfrm>
                  <a:off x="0" y="0"/>
                  <a:ext cx="342900" cy="419100"/>
                </a:xfrm>
                <a:prstGeom prst="roundRect">
                  <a:avLst>
                    <a:gd name="adj" fmla="val 16666"/>
                  </a:avLst>
                </a:prstGeom>
                <a:solidFill>
                  <a:srgbClr val="64748B"/>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60" name="Google Shape;460;p23"/>
                <p:cNvSpPr/>
                <p:nvPr/>
              </p:nvSpPr>
              <p:spPr>
                <a:xfrm>
                  <a:off x="304800" y="0"/>
                  <a:ext cx="38100" cy="419100"/>
                </a:xfrm>
                <a:prstGeom prst="rect">
                  <a:avLst/>
                </a:prstGeom>
                <a:solidFill>
                  <a:srgbClr val="64748B"/>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61" name="Google Shape;461;p23"/>
                <p:cNvSpPr txBox="1"/>
                <p:nvPr/>
              </p:nvSpPr>
              <p:spPr>
                <a:xfrm>
                  <a:off x="0" y="0"/>
                  <a:ext cx="342900" cy="419100"/>
                </a:xfrm>
                <a:prstGeom prst="rect">
                  <a:avLst/>
                </a:prstGeom>
                <a:solidFill>
                  <a:srgbClr val="000000">
                    <a:alpha val="0"/>
                  </a:srgbClr>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FFFF"/>
                      </a:solidFill>
                      <a:latin typeface="Inter ExtraBold"/>
                      <a:ea typeface="Inter ExtraBold"/>
                      <a:cs typeface="Inter ExtraBold"/>
                      <a:sym typeface="Inter ExtraBold"/>
                    </a:rPr>
                    <a:t>02</a:t>
                  </a:r>
                  <a:endParaRPr sz="1000" b="0" i="0" u="none" strike="noStrike" cap="none">
                    <a:solidFill>
                      <a:srgbClr val="FFFFFF"/>
                    </a:solidFill>
                    <a:latin typeface="Inter ExtraBold"/>
                    <a:ea typeface="Inter ExtraBold"/>
                    <a:cs typeface="Inter ExtraBold"/>
                    <a:sym typeface="Inter ExtraBold"/>
                  </a:endParaRPr>
                </a:p>
              </p:txBody>
            </p:sp>
            <p:sp>
              <p:nvSpPr>
                <p:cNvPr id="462" name="Google Shape;462;p23"/>
                <p:cNvSpPr txBox="1"/>
                <p:nvPr/>
              </p:nvSpPr>
              <p:spPr>
                <a:xfrm>
                  <a:off x="476250" y="0"/>
                  <a:ext cx="2667000" cy="419100"/>
                </a:xfrm>
                <a:prstGeom prst="rect">
                  <a:avLst/>
                </a:prstGeom>
                <a:solidFill>
                  <a:srgbClr val="000000">
                    <a:alpha val="0"/>
                  </a:srgbClr>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0F172A"/>
                      </a:solidFill>
                      <a:latin typeface="Inter ExtraBold"/>
                      <a:ea typeface="Inter ExtraBold"/>
                      <a:cs typeface="Inter ExtraBold"/>
                      <a:sym typeface="Inter ExtraBold"/>
                    </a:rPr>
                    <a:t>Quy trình Quản lý KTV</a:t>
                  </a:r>
                  <a:endParaRPr sz="1100" b="0" i="0" u="none" strike="noStrike" cap="none">
                    <a:solidFill>
                      <a:srgbClr val="0F172A"/>
                    </a:solidFill>
                    <a:latin typeface="Inter ExtraBold"/>
                    <a:ea typeface="Inter ExtraBold"/>
                    <a:cs typeface="Inter ExtraBold"/>
                    <a:sym typeface="Inter ExtraBold"/>
                  </a:endParaRPr>
                </a:p>
              </p:txBody>
            </p:sp>
          </p:grpSp>
        </p:grpSp>
        <p:grpSp>
          <p:nvGrpSpPr>
            <p:cNvPr id="463" name="Google Shape;463;p23"/>
            <p:cNvGrpSpPr/>
            <p:nvPr/>
          </p:nvGrpSpPr>
          <p:grpSpPr>
            <a:xfrm>
              <a:off x="228600" y="2333625"/>
              <a:ext cx="4734000" cy="952500"/>
              <a:chOff x="0" y="0"/>
              <a:chExt cx="4734000" cy="952500"/>
            </a:xfrm>
          </p:grpSpPr>
          <p:sp>
            <p:nvSpPr>
              <p:cNvPr id="464" name="Google Shape;464;p23"/>
              <p:cNvSpPr/>
              <p:nvPr/>
            </p:nvSpPr>
            <p:spPr>
              <a:xfrm>
                <a:off x="0" y="0"/>
                <a:ext cx="4734000" cy="952500"/>
              </a:xfrm>
              <a:prstGeom prst="roundRect">
                <a:avLst>
                  <a:gd name="adj" fmla="val 8000"/>
                </a:avLst>
              </a:prstGeom>
              <a:solidFill>
                <a:srgbClr val="F8FAFC"/>
              </a:solidFill>
              <a:ln w="95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65" name="Google Shape;465;p23"/>
              <p:cNvSpPr/>
              <p:nvPr/>
            </p:nvSpPr>
            <p:spPr>
              <a:xfrm>
                <a:off x="0" y="0"/>
                <a:ext cx="1047900" cy="952500"/>
              </a:xfrm>
              <a:prstGeom prst="roundRect">
                <a:avLst>
                  <a:gd name="adj" fmla="val 80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66" name="Google Shape;466;p23"/>
              <p:cNvSpPr/>
              <p:nvPr/>
            </p:nvSpPr>
            <p:spPr>
              <a:xfrm>
                <a:off x="952500" y="0"/>
                <a:ext cx="95400" cy="952500"/>
              </a:xfrm>
              <a:prstGeom prst="rect">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67" name="Google Shape;467;p23"/>
              <p:cNvSpPr txBox="1"/>
              <p:nvPr/>
            </p:nvSpPr>
            <p:spPr>
              <a:xfrm>
                <a:off x="0" y="0"/>
                <a:ext cx="1047900" cy="952500"/>
              </a:xfrm>
              <a:prstGeom prst="rect">
                <a:avLst/>
              </a:prstGeom>
              <a:solidFill>
                <a:srgbClr val="000000">
                  <a:alpha val="0"/>
                </a:srgbClr>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950"/>
                  <a:buFont typeface="Arial"/>
                  <a:buNone/>
                </a:pPr>
                <a:r>
                  <a:rPr lang="en" sz="950" b="0" i="0" u="none" strike="noStrike" cap="none">
                    <a:solidFill>
                      <a:srgbClr val="FFFFFF"/>
                    </a:solidFill>
                    <a:latin typeface="Inter ExtraBold"/>
                    <a:ea typeface="Inter ExtraBold"/>
                    <a:cs typeface="Inter ExtraBold"/>
                    <a:sym typeface="Inter ExtraBold"/>
                  </a:rPr>
                  <a:t>Cốt lõi</a:t>
                </a:r>
                <a:endParaRPr sz="950" b="0" i="0" u="none" strike="noStrike" cap="none">
                  <a:solidFill>
                    <a:srgbClr val="FFFFFF"/>
                  </a:solidFill>
                  <a:latin typeface="Inter ExtraBold"/>
                  <a:ea typeface="Inter ExtraBold"/>
                  <a:cs typeface="Inter ExtraBold"/>
                  <a:sym typeface="Inter ExtraBold"/>
                </a:endParaRPr>
              </a:p>
              <a:p>
                <a:pPr marL="0" marR="0" lvl="0" indent="0" algn="ctr" rtl="0">
                  <a:lnSpc>
                    <a:spcPct val="100000"/>
                  </a:lnSpc>
                  <a:spcBef>
                    <a:spcPts val="150"/>
                  </a:spcBef>
                  <a:spcAft>
                    <a:spcPts val="0"/>
                  </a:spcAft>
                  <a:buClr>
                    <a:srgbClr val="000000"/>
                  </a:buClr>
                  <a:buSzPts val="750"/>
                  <a:buFont typeface="Arial"/>
                  <a:buNone/>
                </a:pPr>
                <a:r>
                  <a:rPr lang="en" sz="750" b="0" i="0" u="none" strike="noStrike" cap="none">
                    <a:solidFill>
                      <a:srgbClr val="ECFDF5"/>
                    </a:solidFill>
                    <a:latin typeface="Inter Medium"/>
                    <a:ea typeface="Inter Medium"/>
                    <a:cs typeface="Inter Medium"/>
                    <a:sym typeface="Inter Medium"/>
                  </a:rPr>
                  <a:t>Core</a:t>
                </a:r>
                <a:endParaRPr sz="750" b="0" i="0" u="none" strike="noStrike" cap="none">
                  <a:solidFill>
                    <a:srgbClr val="ECFDF5"/>
                  </a:solidFill>
                  <a:latin typeface="Inter Medium"/>
                  <a:ea typeface="Inter Medium"/>
                  <a:cs typeface="Inter Medium"/>
                  <a:sym typeface="Inter Medium"/>
                </a:endParaRPr>
              </a:p>
            </p:txBody>
          </p:sp>
          <p:sp>
            <p:nvSpPr>
              <p:cNvPr id="468" name="Google Shape;468;p23"/>
              <p:cNvSpPr txBox="1"/>
              <p:nvPr/>
            </p:nvSpPr>
            <p:spPr>
              <a:xfrm>
                <a:off x="1238250" y="142875"/>
                <a:ext cx="3238500" cy="190500"/>
              </a:xfrm>
              <a:prstGeom prst="rect">
                <a:avLst/>
              </a:prstGeom>
              <a:solidFill>
                <a:srgbClr val="000000">
                  <a:alpha val="0"/>
                </a:srgbClr>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0" i="0" u="none" strike="noStrike" cap="none">
                    <a:solidFill>
                      <a:srgbClr val="64748B"/>
                    </a:solidFill>
                    <a:latin typeface="Inter SemiBold"/>
                    <a:ea typeface="Inter SemiBold"/>
                    <a:cs typeface="Inter SemiBold"/>
                    <a:sym typeface="Inter SemiBold"/>
                  </a:rPr>
                  <a:t>Phân tích &amp; Đánh giá độ phức tạp</a:t>
                </a:r>
                <a:endParaRPr sz="900" b="0" i="0" u="none" strike="noStrike" cap="none">
                  <a:solidFill>
                    <a:srgbClr val="64748B"/>
                  </a:solidFill>
                  <a:latin typeface="Inter SemiBold"/>
                  <a:ea typeface="Inter SemiBold"/>
                  <a:cs typeface="Inter SemiBold"/>
                  <a:sym typeface="Inter SemiBold"/>
                </a:endParaRPr>
              </a:p>
            </p:txBody>
          </p:sp>
          <p:grpSp>
            <p:nvGrpSpPr>
              <p:cNvPr id="469" name="Google Shape;469;p23"/>
              <p:cNvGrpSpPr/>
              <p:nvPr/>
            </p:nvGrpSpPr>
            <p:grpSpPr>
              <a:xfrm>
                <a:off x="1238250" y="381000"/>
                <a:ext cx="3238500" cy="419100"/>
                <a:chOff x="0" y="0"/>
                <a:chExt cx="3238500" cy="419100"/>
              </a:xfrm>
            </p:grpSpPr>
            <p:sp>
              <p:nvSpPr>
                <p:cNvPr id="470" name="Google Shape;470;p23"/>
                <p:cNvSpPr/>
                <p:nvPr/>
              </p:nvSpPr>
              <p:spPr>
                <a:xfrm>
                  <a:off x="0" y="0"/>
                  <a:ext cx="3238500" cy="419100"/>
                </a:xfrm>
                <a:prstGeom prst="roundRect">
                  <a:avLst>
                    <a:gd name="adj" fmla="val 13636"/>
                  </a:avLst>
                </a:prstGeom>
                <a:solidFill>
                  <a:srgbClr val="FFFFFF"/>
                </a:solidFill>
                <a:ln w="95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71" name="Google Shape;471;p23"/>
                <p:cNvSpPr/>
                <p:nvPr/>
              </p:nvSpPr>
              <p:spPr>
                <a:xfrm>
                  <a:off x="0" y="0"/>
                  <a:ext cx="342900" cy="419100"/>
                </a:xfrm>
                <a:prstGeom prst="roundRect">
                  <a:avLst>
                    <a:gd name="adj" fmla="val 16666"/>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72" name="Google Shape;472;p23"/>
                <p:cNvSpPr/>
                <p:nvPr/>
              </p:nvSpPr>
              <p:spPr>
                <a:xfrm>
                  <a:off x="304800" y="0"/>
                  <a:ext cx="38100" cy="419100"/>
                </a:xfrm>
                <a:prstGeom prst="rect">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73" name="Google Shape;473;p23"/>
                <p:cNvSpPr txBox="1"/>
                <p:nvPr/>
              </p:nvSpPr>
              <p:spPr>
                <a:xfrm>
                  <a:off x="0" y="0"/>
                  <a:ext cx="342900" cy="419100"/>
                </a:xfrm>
                <a:prstGeom prst="rect">
                  <a:avLst/>
                </a:prstGeom>
                <a:solidFill>
                  <a:srgbClr val="000000">
                    <a:alpha val="0"/>
                  </a:srgbClr>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FFFF"/>
                      </a:solidFill>
                      <a:latin typeface="Inter ExtraBold"/>
                      <a:ea typeface="Inter ExtraBold"/>
                      <a:cs typeface="Inter ExtraBold"/>
                      <a:sym typeface="Inter ExtraBold"/>
                    </a:rPr>
                    <a:t>02</a:t>
                  </a:r>
                  <a:endParaRPr sz="1000" b="0" i="0" u="none" strike="noStrike" cap="none">
                    <a:solidFill>
                      <a:srgbClr val="FFFFFF"/>
                    </a:solidFill>
                    <a:latin typeface="Inter ExtraBold"/>
                    <a:ea typeface="Inter ExtraBold"/>
                    <a:cs typeface="Inter ExtraBold"/>
                    <a:sym typeface="Inter ExtraBold"/>
                  </a:endParaRPr>
                </a:p>
              </p:txBody>
            </p:sp>
            <p:sp>
              <p:nvSpPr>
                <p:cNvPr id="474" name="Google Shape;474;p23"/>
                <p:cNvSpPr txBox="1"/>
                <p:nvPr/>
              </p:nvSpPr>
              <p:spPr>
                <a:xfrm>
                  <a:off x="476250" y="0"/>
                  <a:ext cx="2667000" cy="419100"/>
                </a:xfrm>
                <a:prstGeom prst="rect">
                  <a:avLst/>
                </a:prstGeom>
                <a:solidFill>
                  <a:srgbClr val="000000">
                    <a:alpha val="0"/>
                  </a:srgbClr>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0F172A"/>
                      </a:solidFill>
                      <a:latin typeface="Inter ExtraBold"/>
                      <a:ea typeface="Inter ExtraBold"/>
                      <a:cs typeface="Inter ExtraBold"/>
                      <a:sym typeface="Inter ExtraBold"/>
                    </a:rPr>
                    <a:t>Quy trình KTV Nhận &amp; Xử lý Booking</a:t>
                  </a:r>
                  <a:endParaRPr sz="1100" b="0" i="0" u="none" strike="noStrike" cap="none">
                    <a:solidFill>
                      <a:srgbClr val="0F172A"/>
                    </a:solidFill>
                    <a:latin typeface="Inter ExtraBold"/>
                    <a:ea typeface="Inter ExtraBold"/>
                    <a:cs typeface="Inter ExtraBold"/>
                    <a:sym typeface="Inter ExtraBold"/>
                  </a:endParaRPr>
                </a:p>
              </p:txBody>
            </p:sp>
          </p:grpSp>
        </p:grpSp>
        <p:grpSp>
          <p:nvGrpSpPr>
            <p:cNvPr id="475" name="Google Shape;475;p23"/>
            <p:cNvGrpSpPr/>
            <p:nvPr/>
          </p:nvGrpSpPr>
          <p:grpSpPr>
            <a:xfrm>
              <a:off x="228600" y="3429000"/>
              <a:ext cx="4734000" cy="952500"/>
              <a:chOff x="0" y="0"/>
              <a:chExt cx="4734000" cy="952500"/>
            </a:xfrm>
          </p:grpSpPr>
          <p:sp>
            <p:nvSpPr>
              <p:cNvPr id="476" name="Google Shape;476;p23"/>
              <p:cNvSpPr/>
              <p:nvPr/>
            </p:nvSpPr>
            <p:spPr>
              <a:xfrm>
                <a:off x="0" y="0"/>
                <a:ext cx="4734000" cy="952500"/>
              </a:xfrm>
              <a:prstGeom prst="roundRect">
                <a:avLst>
                  <a:gd name="adj" fmla="val 8000"/>
                </a:avLst>
              </a:prstGeom>
              <a:solidFill>
                <a:srgbClr val="F8FAFC"/>
              </a:solidFill>
              <a:ln w="95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77" name="Google Shape;477;p23"/>
              <p:cNvSpPr/>
              <p:nvPr/>
            </p:nvSpPr>
            <p:spPr>
              <a:xfrm>
                <a:off x="0" y="0"/>
                <a:ext cx="1047900" cy="952500"/>
              </a:xfrm>
              <a:prstGeom prst="roundRect">
                <a:avLst>
                  <a:gd name="adj" fmla="val 8000"/>
                </a:avLst>
              </a:prstGeom>
              <a:solidFill>
                <a:srgbClr val="0284C7"/>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78" name="Google Shape;478;p23"/>
              <p:cNvSpPr/>
              <p:nvPr/>
            </p:nvSpPr>
            <p:spPr>
              <a:xfrm>
                <a:off x="952500" y="0"/>
                <a:ext cx="95400" cy="952500"/>
              </a:xfrm>
              <a:prstGeom prst="rect">
                <a:avLst/>
              </a:prstGeom>
              <a:solidFill>
                <a:srgbClr val="0284C7"/>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79" name="Google Shape;479;p23"/>
              <p:cNvSpPr txBox="1"/>
              <p:nvPr/>
            </p:nvSpPr>
            <p:spPr>
              <a:xfrm>
                <a:off x="0" y="0"/>
                <a:ext cx="1047900" cy="952500"/>
              </a:xfrm>
              <a:prstGeom prst="rect">
                <a:avLst/>
              </a:prstGeom>
              <a:solidFill>
                <a:srgbClr val="000000">
                  <a:alpha val="0"/>
                </a:srgbClr>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950"/>
                  <a:buFont typeface="Arial"/>
                  <a:buNone/>
                </a:pPr>
                <a:r>
                  <a:rPr lang="en" sz="950" b="0" i="0" u="none" strike="noStrike" cap="none">
                    <a:solidFill>
                      <a:srgbClr val="FFFFFF"/>
                    </a:solidFill>
                    <a:latin typeface="Inter ExtraBold"/>
                    <a:ea typeface="Inter ExtraBold"/>
                    <a:cs typeface="Inter ExtraBold"/>
                    <a:sym typeface="Inter ExtraBold"/>
                  </a:rPr>
                  <a:t>Hỗ trợ</a:t>
                </a:r>
                <a:endParaRPr sz="950" b="0" i="0" u="none" strike="noStrike" cap="none">
                  <a:solidFill>
                    <a:srgbClr val="FFFFFF"/>
                  </a:solidFill>
                  <a:latin typeface="Inter ExtraBold"/>
                  <a:ea typeface="Inter ExtraBold"/>
                  <a:cs typeface="Inter ExtraBold"/>
                  <a:sym typeface="Inter ExtraBold"/>
                </a:endParaRPr>
              </a:p>
              <a:p>
                <a:pPr marL="0" marR="0" lvl="0" indent="0" algn="ctr" rtl="0">
                  <a:lnSpc>
                    <a:spcPct val="100000"/>
                  </a:lnSpc>
                  <a:spcBef>
                    <a:spcPts val="150"/>
                  </a:spcBef>
                  <a:spcAft>
                    <a:spcPts val="0"/>
                  </a:spcAft>
                  <a:buClr>
                    <a:srgbClr val="000000"/>
                  </a:buClr>
                  <a:buSzPts val="750"/>
                  <a:buFont typeface="Arial"/>
                  <a:buNone/>
                </a:pPr>
                <a:r>
                  <a:rPr lang="en" sz="750" b="0" i="0" u="none" strike="noStrike" cap="none">
                    <a:solidFill>
                      <a:srgbClr val="F0F9FF"/>
                    </a:solidFill>
                    <a:latin typeface="Inter Medium"/>
                    <a:ea typeface="Inter Medium"/>
                    <a:cs typeface="Inter Medium"/>
                    <a:sym typeface="Inter Medium"/>
                  </a:rPr>
                  <a:t>Support</a:t>
                </a:r>
                <a:endParaRPr sz="750" b="0" i="0" u="none" strike="noStrike" cap="none">
                  <a:solidFill>
                    <a:srgbClr val="F0F9FF"/>
                  </a:solidFill>
                  <a:latin typeface="Inter Medium"/>
                  <a:ea typeface="Inter Medium"/>
                  <a:cs typeface="Inter Medium"/>
                  <a:sym typeface="Inter Medium"/>
                </a:endParaRPr>
              </a:p>
            </p:txBody>
          </p:sp>
          <p:sp>
            <p:nvSpPr>
              <p:cNvPr id="480" name="Google Shape;480;p23"/>
              <p:cNvSpPr txBox="1"/>
              <p:nvPr/>
            </p:nvSpPr>
            <p:spPr>
              <a:xfrm>
                <a:off x="1238250" y="142875"/>
                <a:ext cx="3238500" cy="190500"/>
              </a:xfrm>
              <a:prstGeom prst="rect">
                <a:avLst/>
              </a:prstGeom>
              <a:solidFill>
                <a:srgbClr val="000000">
                  <a:alpha val="0"/>
                </a:srgbClr>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900"/>
                  <a:buFont typeface="Arial"/>
                  <a:buNone/>
                </a:pPr>
                <a:r>
                  <a:rPr lang="en" sz="900" b="0" i="0" u="none" strike="noStrike" cap="none">
                    <a:solidFill>
                      <a:srgbClr val="64748B"/>
                    </a:solidFill>
                    <a:latin typeface="Inter SemiBold"/>
                    <a:ea typeface="Inter SemiBold"/>
                    <a:cs typeface="Inter SemiBold"/>
                    <a:sym typeface="Inter SemiBold"/>
                  </a:rPr>
                  <a:t>Phân tích &amp; Đánh giá độ phức tạp</a:t>
                </a:r>
                <a:endParaRPr sz="900" b="0" i="0" u="none" strike="noStrike" cap="none">
                  <a:solidFill>
                    <a:srgbClr val="64748B"/>
                  </a:solidFill>
                  <a:latin typeface="Inter SemiBold"/>
                  <a:ea typeface="Inter SemiBold"/>
                  <a:cs typeface="Inter SemiBold"/>
                  <a:sym typeface="Inter SemiBold"/>
                </a:endParaRPr>
              </a:p>
            </p:txBody>
          </p:sp>
          <p:grpSp>
            <p:nvGrpSpPr>
              <p:cNvPr id="481" name="Google Shape;481;p23"/>
              <p:cNvGrpSpPr/>
              <p:nvPr/>
            </p:nvGrpSpPr>
            <p:grpSpPr>
              <a:xfrm>
                <a:off x="1238250" y="381000"/>
                <a:ext cx="3238500" cy="419100"/>
                <a:chOff x="0" y="0"/>
                <a:chExt cx="3238500" cy="419100"/>
              </a:xfrm>
            </p:grpSpPr>
            <p:sp>
              <p:nvSpPr>
                <p:cNvPr id="482" name="Google Shape;482;p23"/>
                <p:cNvSpPr/>
                <p:nvPr/>
              </p:nvSpPr>
              <p:spPr>
                <a:xfrm>
                  <a:off x="0" y="0"/>
                  <a:ext cx="3238500" cy="419100"/>
                </a:xfrm>
                <a:prstGeom prst="roundRect">
                  <a:avLst>
                    <a:gd name="adj" fmla="val 13636"/>
                  </a:avLst>
                </a:prstGeom>
                <a:solidFill>
                  <a:srgbClr val="FFFFFF"/>
                </a:solidFill>
                <a:ln w="9525"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83" name="Google Shape;483;p23"/>
                <p:cNvSpPr/>
                <p:nvPr/>
              </p:nvSpPr>
              <p:spPr>
                <a:xfrm>
                  <a:off x="0" y="0"/>
                  <a:ext cx="342900" cy="419100"/>
                </a:xfrm>
                <a:prstGeom prst="roundRect">
                  <a:avLst>
                    <a:gd name="adj" fmla="val 16666"/>
                  </a:avLst>
                </a:prstGeom>
                <a:solidFill>
                  <a:srgbClr val="0284C7"/>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84" name="Google Shape;484;p23"/>
                <p:cNvSpPr/>
                <p:nvPr/>
              </p:nvSpPr>
              <p:spPr>
                <a:xfrm>
                  <a:off x="304800" y="0"/>
                  <a:ext cx="38100" cy="419100"/>
                </a:xfrm>
                <a:prstGeom prst="rect">
                  <a:avLst/>
                </a:prstGeom>
                <a:solidFill>
                  <a:srgbClr val="0284C7"/>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85" name="Google Shape;485;p23"/>
                <p:cNvSpPr txBox="1"/>
                <p:nvPr/>
              </p:nvSpPr>
              <p:spPr>
                <a:xfrm>
                  <a:off x="0" y="0"/>
                  <a:ext cx="342900" cy="419100"/>
                </a:xfrm>
                <a:prstGeom prst="rect">
                  <a:avLst/>
                </a:prstGeom>
                <a:solidFill>
                  <a:srgbClr val="000000">
                    <a:alpha val="0"/>
                  </a:srgbClr>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rgbClr val="FFFFFF"/>
                      </a:solidFill>
                      <a:latin typeface="Inter ExtraBold"/>
                      <a:ea typeface="Inter ExtraBold"/>
                      <a:cs typeface="Inter ExtraBold"/>
                      <a:sym typeface="Inter ExtraBold"/>
                    </a:rPr>
                    <a:t>02</a:t>
                  </a:r>
                  <a:endParaRPr sz="1000" b="0" i="0" u="none" strike="noStrike" cap="none">
                    <a:solidFill>
                      <a:srgbClr val="FFFFFF"/>
                    </a:solidFill>
                    <a:latin typeface="Inter ExtraBold"/>
                    <a:ea typeface="Inter ExtraBold"/>
                    <a:cs typeface="Inter ExtraBold"/>
                    <a:sym typeface="Inter ExtraBold"/>
                  </a:endParaRPr>
                </a:p>
              </p:txBody>
            </p:sp>
            <p:sp>
              <p:nvSpPr>
                <p:cNvPr id="486" name="Google Shape;486;p23"/>
                <p:cNvSpPr txBox="1"/>
                <p:nvPr/>
              </p:nvSpPr>
              <p:spPr>
                <a:xfrm>
                  <a:off x="476250" y="0"/>
                  <a:ext cx="2667000" cy="419100"/>
                </a:xfrm>
                <a:prstGeom prst="rect">
                  <a:avLst/>
                </a:prstGeom>
                <a:solidFill>
                  <a:srgbClr val="000000">
                    <a:alpha val="0"/>
                  </a:srgbClr>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0F172A"/>
                      </a:solidFill>
                      <a:latin typeface="Inter ExtraBold"/>
                      <a:ea typeface="Inter ExtraBold"/>
                      <a:cs typeface="Inter ExtraBold"/>
                      <a:sym typeface="Inter ExtraBold"/>
                    </a:rPr>
                    <a:t>Báo cáo Linh kiện KTV</a:t>
                  </a:r>
                  <a:endParaRPr sz="1100" b="0" i="0" u="none" strike="noStrike" cap="none">
                    <a:solidFill>
                      <a:srgbClr val="0F172A"/>
                    </a:solidFill>
                    <a:latin typeface="Inter ExtraBold"/>
                    <a:ea typeface="Inter ExtraBold"/>
                    <a:cs typeface="Inter ExtraBold"/>
                    <a:sym typeface="Inter ExtraBold"/>
                  </a:endParaRPr>
                </a:p>
              </p:txBody>
            </p:sp>
          </p:grpSp>
        </p:gr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490"/>
        <p:cNvGrpSpPr/>
        <p:nvPr/>
      </p:nvGrpSpPr>
      <p:grpSpPr>
        <a:xfrm>
          <a:off x="0" y="0"/>
          <a:ext cx="0" cy="0"/>
          <a:chOff x="0" y="0"/>
          <a:chExt cx="0" cy="0"/>
        </a:xfrm>
      </p:grpSpPr>
      <p:sp>
        <p:nvSpPr>
          <p:cNvPr id="491" name="Google Shape;491;p24"/>
          <p:cNvSpPr txBox="1"/>
          <p:nvPr/>
        </p:nvSpPr>
        <p:spPr>
          <a:xfrm>
            <a:off x="571500" y="476250"/>
            <a:ext cx="4191000" cy="1143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800"/>
              <a:buFont typeface="Arial"/>
              <a:buNone/>
            </a:pPr>
            <a:r>
              <a:rPr lang="en" sz="2800" b="0" i="0" u="none" strike="noStrike" cap="none">
                <a:solidFill>
                  <a:srgbClr val="0F172A"/>
                </a:solidFill>
                <a:latin typeface="Inter ExtraBold"/>
                <a:ea typeface="Inter ExtraBold"/>
                <a:cs typeface="Inter ExtraBold"/>
                <a:sym typeface="Inter ExtraBold"/>
              </a:rPr>
              <a:t>Quy trình quản lý KTV</a:t>
            </a:r>
            <a:endParaRPr sz="2800" b="0" i="0" u="none" strike="noStrike" cap="none">
              <a:solidFill>
                <a:srgbClr val="0F172A"/>
              </a:solidFill>
              <a:latin typeface="Inter ExtraBold"/>
              <a:ea typeface="Inter ExtraBold"/>
              <a:cs typeface="Inter ExtraBold"/>
              <a:sym typeface="Inter ExtraBold"/>
            </a:endParaRPr>
          </a:p>
          <a:p>
            <a:pPr marL="0" marR="0" lvl="0" indent="0" algn="l" rtl="0">
              <a:lnSpc>
                <a:spcPct val="100000"/>
              </a:lnSpc>
              <a:spcBef>
                <a:spcPts val="375"/>
              </a:spcBef>
              <a:spcAft>
                <a:spcPts val="0"/>
              </a:spcAft>
              <a:buClr>
                <a:srgbClr val="000000"/>
              </a:buClr>
              <a:buSzPts val="1400"/>
              <a:buFont typeface="Arial"/>
              <a:buNone/>
            </a:pPr>
            <a:r>
              <a:rPr lang="en" sz="1400" b="0" i="0" u="none" strike="noStrike" cap="none">
                <a:solidFill>
                  <a:srgbClr val="0284C7"/>
                </a:solidFill>
                <a:latin typeface="Inter SemiBold"/>
                <a:ea typeface="Inter SemiBold"/>
                <a:cs typeface="Inter SemiBold"/>
                <a:sym typeface="Inter SemiBold"/>
              </a:rPr>
              <a:t>Quản lý vận hành (Operations Manager)</a:t>
            </a:r>
            <a:endParaRPr sz="1400" b="0" i="0" u="none" strike="noStrike" cap="none">
              <a:solidFill>
                <a:srgbClr val="0284C7"/>
              </a:solidFill>
              <a:latin typeface="Inter SemiBold"/>
              <a:ea typeface="Inter SemiBold"/>
              <a:cs typeface="Inter SemiBold"/>
              <a:sym typeface="Inter SemiBold"/>
            </a:endParaRPr>
          </a:p>
        </p:txBody>
      </p:sp>
      <p:sp>
        <p:nvSpPr>
          <p:cNvPr id="492" name="Google Shape;492;p24"/>
          <p:cNvSpPr txBox="1"/>
          <p:nvPr/>
        </p:nvSpPr>
        <p:spPr>
          <a:xfrm>
            <a:off x="571500" y="1714500"/>
            <a:ext cx="4000500" cy="2857500"/>
          </a:xfrm>
          <a:prstGeom prst="rect">
            <a:avLst/>
          </a:prstGeom>
          <a:noFill/>
          <a:ln>
            <a:noFill/>
          </a:ln>
        </p:spPr>
        <p:txBody>
          <a:bodyPr spcFirstLastPara="1" wrap="square" lIns="0" tIns="0" rIns="0" bIns="0" anchor="t" anchorCtr="0">
            <a:noAutofit/>
          </a:bodyPr>
          <a:lstStyle/>
          <a:p>
            <a:pPr marL="0" marR="0" lvl="0" indent="0" algn="l" rtl="0">
              <a:lnSpc>
                <a:spcPct val="115000"/>
              </a:lnSpc>
              <a:spcBef>
                <a:spcPts val="1200"/>
              </a:spcBef>
              <a:spcAft>
                <a:spcPts val="0"/>
              </a:spcAft>
              <a:buClr>
                <a:srgbClr val="000000"/>
              </a:buClr>
              <a:buSzPts val="1100"/>
              <a:buFont typeface="Arial"/>
              <a:buNone/>
            </a:pPr>
            <a:r>
              <a:rPr lang="en" sz="1100" b="1" i="0" u="none" strike="noStrike" cap="none">
                <a:solidFill>
                  <a:schemeClr val="dk1"/>
                </a:solidFill>
                <a:latin typeface="Inter"/>
                <a:ea typeface="Inter"/>
                <a:cs typeface="Inter"/>
                <a:sym typeface="Inter"/>
              </a:rPr>
              <a:t>Actor (tác nhân):</a:t>
            </a:r>
            <a:r>
              <a:rPr lang="en" sz="1100" i="0" u="none" strike="noStrike" cap="none">
                <a:solidFill>
                  <a:schemeClr val="dk1"/>
                </a:solidFill>
                <a:latin typeface="Inter"/>
                <a:ea typeface="Inter"/>
                <a:cs typeface="Inter"/>
                <a:sym typeface="Inter"/>
              </a:rPr>
              <a:t> Quản lý vận hành (Operations Manager)</a:t>
            </a:r>
            <a:endParaRPr sz="1100" i="0" u="none" strike="noStrike" cap="none">
              <a:solidFill>
                <a:schemeClr val="dk1"/>
              </a:solidFill>
              <a:latin typeface="Inter"/>
              <a:ea typeface="Inter"/>
              <a:cs typeface="Inter"/>
              <a:sym typeface="Inter"/>
            </a:endParaRPr>
          </a:p>
          <a:p>
            <a:pPr marL="0" marR="0" lvl="0" indent="0" algn="l" rtl="0">
              <a:lnSpc>
                <a:spcPct val="115000"/>
              </a:lnSpc>
              <a:spcBef>
                <a:spcPts val="1200"/>
              </a:spcBef>
              <a:spcAft>
                <a:spcPts val="0"/>
              </a:spcAft>
              <a:buClr>
                <a:srgbClr val="000000"/>
              </a:buClr>
              <a:buSzPts val="1100"/>
              <a:buFont typeface="Arial"/>
              <a:buNone/>
            </a:pPr>
            <a:r>
              <a:rPr lang="en" sz="1100" b="1" i="0" u="none" strike="noStrike" cap="none">
                <a:solidFill>
                  <a:schemeClr val="dk1"/>
                </a:solidFill>
                <a:latin typeface="Inter"/>
                <a:ea typeface="Inter"/>
                <a:cs typeface="Inter"/>
                <a:sym typeface="Inter"/>
              </a:rPr>
              <a:t>Đối tượng liên quan:</a:t>
            </a:r>
            <a:r>
              <a:rPr lang="en" sz="1100" i="0" u="none" strike="noStrike" cap="none">
                <a:solidFill>
                  <a:schemeClr val="dk1"/>
                </a:solidFill>
                <a:latin typeface="Inter"/>
                <a:ea typeface="Inter"/>
                <a:cs typeface="Inter"/>
                <a:sym typeface="Inter"/>
              </a:rPr>
              <a:t> Đội ngũ KTV theo từng khu vực/ca làm việc</a:t>
            </a:r>
            <a:endParaRPr sz="1100" i="0" u="none" strike="noStrike" cap="none">
              <a:solidFill>
                <a:schemeClr val="dk1"/>
              </a:solidFill>
              <a:latin typeface="Inter"/>
              <a:ea typeface="Inter"/>
              <a:cs typeface="Inter"/>
              <a:sym typeface="Inter"/>
            </a:endParaRPr>
          </a:p>
          <a:p>
            <a:pPr marL="0" marR="0" lvl="0" indent="0" algn="l" rtl="0">
              <a:lnSpc>
                <a:spcPct val="115000"/>
              </a:lnSpc>
              <a:spcBef>
                <a:spcPts val="1200"/>
              </a:spcBef>
              <a:spcAft>
                <a:spcPts val="0"/>
              </a:spcAft>
              <a:buClr>
                <a:srgbClr val="000000"/>
              </a:buClr>
              <a:buSzPts val="1100"/>
              <a:buFont typeface="Arial"/>
              <a:buNone/>
            </a:pPr>
            <a:r>
              <a:rPr lang="en" sz="1100" b="1" i="0" u="none" strike="noStrike" cap="none">
                <a:solidFill>
                  <a:schemeClr val="dk1"/>
                </a:solidFill>
                <a:latin typeface="Inter"/>
                <a:ea typeface="Inter"/>
                <a:cs typeface="Inter"/>
                <a:sym typeface="Inter"/>
              </a:rPr>
              <a:t>Các kết quả có thể xảy ra:</a:t>
            </a:r>
            <a:endParaRPr sz="1100" b="1" i="0" u="none" strike="noStrike" cap="none">
              <a:solidFill>
                <a:schemeClr val="dk1"/>
              </a:solidFill>
              <a:latin typeface="Inter"/>
              <a:ea typeface="Inter"/>
              <a:cs typeface="Inter"/>
              <a:sym typeface="Inter"/>
            </a:endParaRPr>
          </a:p>
          <a:p>
            <a:pPr marL="457200" marR="0" lvl="0" indent="-298450" algn="l" rtl="0">
              <a:lnSpc>
                <a:spcPct val="115000"/>
              </a:lnSpc>
              <a:spcBef>
                <a:spcPts val="1200"/>
              </a:spcBef>
              <a:spcAft>
                <a:spcPts val="0"/>
              </a:spcAft>
              <a:buClr>
                <a:schemeClr val="dk1"/>
              </a:buClr>
              <a:buSzPts val="1100"/>
              <a:buFont typeface="Arial"/>
              <a:buChar char="●"/>
            </a:pPr>
            <a:r>
              <a:rPr lang="en" sz="1100" b="1" i="0" u="none" strike="noStrike" cap="none">
                <a:solidFill>
                  <a:schemeClr val="dk1"/>
                </a:solidFill>
                <a:latin typeface="Inter"/>
                <a:ea typeface="Inter"/>
                <a:cs typeface="Inter"/>
                <a:sym typeface="Inter"/>
              </a:rPr>
              <a:t>Kế hoạch phân bổ được cập nhật</a:t>
            </a:r>
            <a:r>
              <a:rPr lang="en" sz="1100" i="0" u="none" strike="noStrike" cap="none">
                <a:solidFill>
                  <a:schemeClr val="dk1"/>
                </a:solidFill>
                <a:latin typeface="Inter"/>
                <a:ea typeface="Inter"/>
                <a:cs typeface="Inter"/>
                <a:sym typeface="Inter"/>
              </a:rPr>
              <a:t> → hiệu suất KTV đạt chuẩn, đủ nguồn lực theo khu vực</a:t>
            </a:r>
            <a:endParaRPr sz="1100" i="0" u="none" strike="noStrike" cap="none">
              <a:solidFill>
                <a:schemeClr val="dk1"/>
              </a:solidFill>
              <a:latin typeface="Inter"/>
              <a:ea typeface="Inter"/>
              <a:cs typeface="Inter"/>
              <a:sym typeface="Inter"/>
            </a:endParaRPr>
          </a:p>
          <a:p>
            <a:pPr marL="457200" marR="0" lvl="0" indent="-298450" algn="l" rtl="0">
              <a:lnSpc>
                <a:spcPct val="115000"/>
              </a:lnSpc>
              <a:spcBef>
                <a:spcPts val="0"/>
              </a:spcBef>
              <a:spcAft>
                <a:spcPts val="0"/>
              </a:spcAft>
              <a:buClr>
                <a:schemeClr val="dk1"/>
              </a:buClr>
              <a:buSzPts val="1100"/>
              <a:buFont typeface="Arial"/>
              <a:buChar char="●"/>
            </a:pPr>
            <a:r>
              <a:rPr lang="en" sz="1100" b="1" i="0" u="none" strike="noStrike" cap="none">
                <a:solidFill>
                  <a:schemeClr val="dk1"/>
                </a:solidFill>
                <a:latin typeface="Inter"/>
                <a:ea typeface="Inter"/>
                <a:cs typeface="Inter"/>
                <a:sym typeface="Inter"/>
              </a:rPr>
              <a:t>Đào tạo/điều chuyển nhân sự</a:t>
            </a:r>
            <a:r>
              <a:rPr lang="en" sz="1100" i="0" u="none" strike="noStrike" cap="none">
                <a:solidFill>
                  <a:schemeClr val="dk1"/>
                </a:solidFill>
                <a:latin typeface="Inter"/>
                <a:ea typeface="Inter"/>
                <a:cs typeface="Inter"/>
                <a:sym typeface="Inter"/>
              </a:rPr>
              <a:t> → hiệu suất không đạt do thiếu kỹ năng hoặc thiếu động lực</a:t>
            </a:r>
            <a:endParaRPr sz="1100" i="0" u="none" strike="noStrike" cap="none">
              <a:solidFill>
                <a:schemeClr val="dk1"/>
              </a:solidFill>
              <a:latin typeface="Inter"/>
              <a:ea typeface="Inter"/>
              <a:cs typeface="Inter"/>
              <a:sym typeface="Inter"/>
            </a:endParaRPr>
          </a:p>
          <a:p>
            <a:pPr marL="457200" marR="0" lvl="0" indent="-298450" algn="l" rtl="0">
              <a:lnSpc>
                <a:spcPct val="115000"/>
              </a:lnSpc>
              <a:spcBef>
                <a:spcPts val="0"/>
              </a:spcBef>
              <a:spcAft>
                <a:spcPts val="0"/>
              </a:spcAft>
              <a:buClr>
                <a:schemeClr val="dk1"/>
              </a:buClr>
              <a:buSzPts val="1100"/>
              <a:buFont typeface="Arial"/>
              <a:buChar char="●"/>
            </a:pPr>
            <a:r>
              <a:rPr lang="en" sz="1100" b="1" i="0" u="none" strike="noStrike" cap="none">
                <a:solidFill>
                  <a:schemeClr val="dk1"/>
                </a:solidFill>
                <a:latin typeface="Inter"/>
                <a:ea typeface="Inter"/>
                <a:cs typeface="Inter"/>
                <a:sym typeface="Inter"/>
              </a:rPr>
              <a:t>Đề xuất tuyển dụng thêm KTV</a:t>
            </a:r>
            <a:r>
              <a:rPr lang="en" sz="1100" i="0" u="none" strike="noStrike" cap="none">
                <a:solidFill>
                  <a:schemeClr val="dk1"/>
                </a:solidFill>
                <a:latin typeface="Inter"/>
                <a:ea typeface="Inter"/>
                <a:cs typeface="Inter"/>
                <a:sym typeface="Inter"/>
              </a:rPr>
              <a:t> → khu vực thiếu/quá tải và không đủ nguồn lực sau điều chỉnh</a:t>
            </a:r>
            <a:endParaRPr sz="1100" i="0" u="none" strike="noStrike" cap="none">
              <a:solidFill>
                <a:schemeClr val="dk1"/>
              </a:solidFill>
              <a:latin typeface="Inter"/>
              <a:ea typeface="Inter"/>
              <a:cs typeface="Inter"/>
              <a:sym typeface="Inter"/>
            </a:endParaRPr>
          </a:p>
          <a:p>
            <a:pPr marL="457200" marR="0" lvl="0" indent="-298450" algn="l" rtl="0">
              <a:lnSpc>
                <a:spcPct val="115000"/>
              </a:lnSpc>
              <a:spcBef>
                <a:spcPts val="0"/>
              </a:spcBef>
              <a:spcAft>
                <a:spcPts val="0"/>
              </a:spcAft>
              <a:buClr>
                <a:schemeClr val="dk1"/>
              </a:buClr>
              <a:buSzPts val="1100"/>
              <a:buFont typeface="Arial"/>
              <a:buChar char="●"/>
            </a:pPr>
            <a:r>
              <a:rPr lang="en" sz="1100" b="1" i="0" u="none" strike="noStrike" cap="none">
                <a:solidFill>
                  <a:schemeClr val="dk1"/>
                </a:solidFill>
                <a:latin typeface="Inter"/>
                <a:ea typeface="Inter"/>
                <a:cs typeface="Inter"/>
                <a:sym typeface="Inter"/>
              </a:rPr>
              <a:t>Báo cáo lên Quản lý cấp cao</a:t>
            </a:r>
            <a:r>
              <a:rPr lang="en" sz="1100" i="0" u="none" strike="noStrike" cap="none">
                <a:solidFill>
                  <a:schemeClr val="dk1"/>
                </a:solidFill>
                <a:latin typeface="Inter"/>
                <a:ea typeface="Inter"/>
                <a:cs typeface="Inter"/>
                <a:sym typeface="Inter"/>
              </a:rPr>
              <a:t> → ngân sách tuyển dụng không được duyệt</a:t>
            </a:r>
            <a:endParaRPr sz="1200" b="1" i="0" u="none" strike="noStrike" cap="none">
              <a:solidFill>
                <a:srgbClr val="0F172A"/>
              </a:solidFill>
              <a:latin typeface="Inter"/>
              <a:ea typeface="Inter"/>
              <a:cs typeface="Inter"/>
              <a:sym typeface="Inter"/>
            </a:endParaRPr>
          </a:p>
        </p:txBody>
      </p:sp>
      <p:pic>
        <p:nvPicPr>
          <p:cNvPr id="493" name="Google Shape;493;p24" title="Quy trình quản lý KTV.drawio.png"/>
          <p:cNvPicPr preferRelativeResize="0"/>
          <p:nvPr/>
        </p:nvPicPr>
        <p:blipFill rotWithShape="1">
          <a:blip r:embed="rId4">
            <a:alphaModFix/>
          </a:blip>
          <a:srcRect/>
          <a:stretch/>
        </p:blipFill>
        <p:spPr>
          <a:xfrm>
            <a:off x="5615175" y="57863"/>
            <a:ext cx="2879725" cy="502777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497"/>
        <p:cNvGrpSpPr/>
        <p:nvPr/>
      </p:nvGrpSpPr>
      <p:grpSpPr>
        <a:xfrm>
          <a:off x="0" y="0"/>
          <a:ext cx="0" cy="0"/>
          <a:chOff x="0" y="0"/>
          <a:chExt cx="0" cy="0"/>
        </a:xfrm>
      </p:grpSpPr>
      <p:sp>
        <p:nvSpPr>
          <p:cNvPr id="498" name="Google Shape;498;p25"/>
          <p:cNvSpPr/>
          <p:nvPr/>
        </p:nvSpPr>
        <p:spPr>
          <a:xfrm>
            <a:off x="-101425" y="-72425"/>
            <a:ext cx="9144000" cy="5143500"/>
          </a:xfrm>
          <a:prstGeom prst="rect">
            <a:avLst/>
          </a:pr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499" name="Google Shape;499;p25"/>
          <p:cNvGrpSpPr/>
          <p:nvPr/>
        </p:nvGrpSpPr>
        <p:grpSpPr>
          <a:xfrm>
            <a:off x="8458200" y="381000"/>
            <a:ext cx="304800" cy="304800"/>
            <a:chOff x="0" y="0"/>
            <a:chExt cx="304800" cy="304800"/>
          </a:xfrm>
        </p:grpSpPr>
        <p:sp>
          <p:nvSpPr>
            <p:cNvPr id="500" name="Google Shape;500;p25"/>
            <p:cNvSpPr/>
            <p:nvPr/>
          </p:nvSpPr>
          <p:spPr>
            <a:xfrm>
              <a:off x="0" y="0"/>
              <a:ext cx="304800" cy="304800"/>
            </a:xfrm>
            <a:prstGeom prst="roundRect">
              <a:avLst>
                <a:gd name="adj" fmla="val 125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01" name="Google Shape;501;p25"/>
            <p:cNvSpPr/>
            <p:nvPr/>
          </p:nvSpPr>
          <p:spPr>
            <a:xfrm>
              <a:off x="95250" y="95250"/>
              <a:ext cx="114300" cy="114300"/>
            </a:xfrm>
            <a:custGeom>
              <a:avLst/>
              <a:gdLst/>
              <a:ahLst/>
              <a:cxnLst/>
              <a:rect l="l" t="t" r="r" b="b"/>
              <a:pathLst>
                <a:path w="120000" h="120000" extrusionOk="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02" name="Google Shape;502;p25"/>
            <p:cNvSpPr/>
            <p:nvPr/>
          </p:nvSpPr>
          <p:spPr>
            <a:xfrm>
              <a:off x="123825" y="123825"/>
              <a:ext cx="57300" cy="57300"/>
            </a:xfrm>
            <a:prstGeom prst="ellipse">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cxnSp>
        <p:nvCxnSpPr>
          <p:cNvPr id="503" name="Google Shape;503;p25"/>
          <p:cNvCxnSpPr/>
          <p:nvPr/>
        </p:nvCxnSpPr>
        <p:spPr>
          <a:xfrm>
            <a:off x="381000" y="1143000"/>
            <a:ext cx="8382000" cy="0"/>
          </a:xfrm>
          <a:prstGeom prst="straightConnector1">
            <a:avLst/>
          </a:prstGeom>
          <a:solidFill>
            <a:srgbClr val="FFFFFF"/>
          </a:solidFill>
          <a:ln w="14300" cap="flat" cmpd="sng">
            <a:solidFill>
              <a:srgbClr val="E2E8F0"/>
            </a:solidFill>
            <a:prstDash val="solid"/>
            <a:round/>
            <a:headEnd type="none" w="sm" len="sm"/>
            <a:tailEnd type="none" w="sm" len="sm"/>
          </a:ln>
        </p:spPr>
      </p:cxnSp>
      <p:sp>
        <p:nvSpPr>
          <p:cNvPr id="504" name="Google Shape;504;p25"/>
          <p:cNvSpPr txBox="1"/>
          <p:nvPr/>
        </p:nvSpPr>
        <p:spPr>
          <a:xfrm>
            <a:off x="381000" y="333375"/>
            <a:ext cx="7620000" cy="762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 sz="2000" b="0" i="0" u="none" strike="noStrike" cap="none">
                <a:solidFill>
                  <a:srgbClr val="0F172A"/>
                </a:solidFill>
                <a:latin typeface="Inter ExtraBold"/>
                <a:ea typeface="Inter ExtraBold"/>
                <a:cs typeface="Inter ExtraBold"/>
                <a:sym typeface="Inter ExtraBold"/>
              </a:rPr>
              <a:t>Đánh giá độ phức tạp Quy trình Quản lý KTV</a:t>
            </a:r>
            <a:endParaRPr sz="2000" b="0" i="0" u="none" strike="noStrike" cap="none">
              <a:solidFill>
                <a:srgbClr val="0F172A"/>
              </a:solidFill>
              <a:latin typeface="Inter ExtraBold"/>
              <a:ea typeface="Inter ExtraBold"/>
              <a:cs typeface="Inter ExtraBold"/>
              <a:sym typeface="Inter ExtraBold"/>
            </a:endParaRPr>
          </a:p>
          <a:p>
            <a:pPr marL="0" marR="0" lvl="0" indent="0" algn="l" rtl="0">
              <a:lnSpc>
                <a:spcPct val="100000"/>
              </a:lnSpc>
              <a:spcBef>
                <a:spcPts val="375"/>
              </a:spcBef>
              <a:spcAft>
                <a:spcPts val="0"/>
              </a:spcAft>
              <a:buClr>
                <a:srgbClr val="000000"/>
              </a:buClr>
              <a:buSzPts val="1100"/>
              <a:buFont typeface="Arial"/>
              <a:buNone/>
            </a:pPr>
            <a:r>
              <a:rPr lang="en" sz="1100" b="0" i="0" u="none" strike="noStrike" cap="none">
                <a:solidFill>
                  <a:srgbClr val="007B7C"/>
                </a:solidFill>
                <a:latin typeface="Inter SemiBold"/>
                <a:ea typeface="Inter SemiBold"/>
                <a:cs typeface="Inter SemiBold"/>
                <a:sym typeface="Inter SemiBold"/>
              </a:rPr>
              <a:t>Phân tích kỹ thuật cấu trúc quy trình vận hành dựa trên các thành phần BPMN</a:t>
            </a:r>
            <a:endParaRPr sz="1100" b="0" i="0" u="none" strike="noStrike" cap="none">
              <a:solidFill>
                <a:srgbClr val="007B7C"/>
              </a:solidFill>
              <a:latin typeface="Inter SemiBold"/>
              <a:ea typeface="Inter SemiBold"/>
              <a:cs typeface="Inter SemiBold"/>
              <a:sym typeface="Inter SemiBold"/>
            </a:endParaRPr>
          </a:p>
        </p:txBody>
      </p:sp>
      <p:grpSp>
        <p:nvGrpSpPr>
          <p:cNvPr id="505" name="Google Shape;505;p25"/>
          <p:cNvGrpSpPr/>
          <p:nvPr/>
        </p:nvGrpSpPr>
        <p:grpSpPr>
          <a:xfrm>
            <a:off x="381000" y="1333500"/>
            <a:ext cx="2762400" cy="1524000"/>
            <a:chOff x="0" y="0"/>
            <a:chExt cx="2762400" cy="1524000"/>
          </a:xfrm>
        </p:grpSpPr>
        <p:sp>
          <p:nvSpPr>
            <p:cNvPr id="506" name="Google Shape;506;p25"/>
            <p:cNvSpPr/>
            <p:nvPr/>
          </p:nvSpPr>
          <p:spPr>
            <a:xfrm>
              <a:off x="0" y="0"/>
              <a:ext cx="2762400" cy="1524000"/>
            </a:xfrm>
            <a:prstGeom prst="roundRect">
              <a:avLst>
                <a:gd name="adj" fmla="val 3750"/>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07" name="Google Shape;507;p25"/>
            <p:cNvSpPr/>
            <p:nvPr/>
          </p:nvSpPr>
          <p:spPr>
            <a:xfrm>
              <a:off x="0" y="0"/>
              <a:ext cx="57300" cy="1524000"/>
            </a:xfrm>
            <a:prstGeom prst="roundRect">
              <a:avLst>
                <a:gd name="adj" fmla="val 500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08" name="Google Shape;508;p25"/>
            <p:cNvSpPr txBox="1"/>
            <p:nvPr/>
          </p:nvSpPr>
          <p:spPr>
            <a:xfrm>
              <a:off x="190500" y="152400"/>
              <a:ext cx="2381400" cy="12192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 sz="1000" b="0">
                  <a:solidFill>
                    <a:srgbClr val="475569"/>
                  </a:solidFill>
                  <a:latin typeface="Inter SemiBold"/>
                  <a:ea typeface="Inter SemiBold"/>
                  <a:cs typeface="Inter SemiBold"/>
                  <a:sym typeface="Inter SemiBold"/>
                </a:rPr>
                <a:t>Cổng điều kiện (Exclusive Gateways)</a:t>
              </a:r>
              <a:endParaRPr sz="1000" b="0">
                <a:solidFill>
                  <a:srgbClr val="475569"/>
                </a:solidFill>
                <a:latin typeface="Inter SemiBold"/>
                <a:ea typeface="Inter SemiBold"/>
                <a:cs typeface="Inter SemiBold"/>
                <a:sym typeface="Inter SemiBold"/>
              </a:endParaRPr>
            </a:p>
            <a:p>
              <a:pPr marL="0" lvl="0" indent="0" algn="l" rtl="0">
                <a:spcBef>
                  <a:spcPts val="0"/>
                </a:spcBef>
                <a:spcAft>
                  <a:spcPts val="0"/>
                </a:spcAft>
                <a:buNone/>
              </a:pPr>
              <a:r>
                <a:rPr lang="en" sz="2200" b="1">
                  <a:solidFill>
                    <a:srgbClr val="007B7C"/>
                  </a:solidFill>
                  <a:latin typeface="Inter"/>
                  <a:ea typeface="Inter"/>
                  <a:cs typeface="Inter"/>
                  <a:sym typeface="Inter"/>
                </a:rPr>
                <a:t>06 cổng</a:t>
              </a:r>
              <a:endParaRPr sz="1000" b="0">
                <a:solidFill>
                  <a:srgbClr val="475569"/>
                </a:solidFill>
                <a:latin typeface="Inter SemiBold"/>
                <a:ea typeface="Inter SemiBold"/>
                <a:cs typeface="Inter SemiBold"/>
                <a:sym typeface="Inter SemiBold"/>
              </a:endParaRPr>
            </a:p>
            <a:p>
              <a:pPr marL="0" lvl="0" indent="0" algn="l" rtl="0">
                <a:spcBef>
                  <a:spcPts val="0"/>
                </a:spcBef>
                <a:spcAft>
                  <a:spcPts val="0"/>
                </a:spcAft>
                <a:buNone/>
              </a:pPr>
              <a:r>
                <a:rPr lang="en" sz="950" b="0">
                  <a:solidFill>
                    <a:srgbClr val="64748B"/>
                  </a:solidFill>
                  <a:latin typeface="Inter"/>
                  <a:ea typeface="Inter"/>
                  <a:cs typeface="Inter"/>
                  <a:sym typeface="Inter"/>
                </a:rPr>
                <a:t>Đánh giá hiệu suất, xác định nguyên nhân, xác định khu vực thiếu/quá tải, kiểm tra nguồn lực sau điều chỉnh, duyệt ngân sách tuyển dụng.</a:t>
              </a:r>
              <a:endParaRPr sz="950" b="0">
                <a:solidFill>
                  <a:srgbClr val="475569"/>
                </a:solidFill>
                <a:latin typeface="Inter SemiBold"/>
                <a:ea typeface="Inter SemiBold"/>
                <a:cs typeface="Inter SemiBold"/>
                <a:sym typeface="Inter SemiBold"/>
              </a:endParaRPr>
            </a:p>
          </p:txBody>
        </p:sp>
      </p:grpSp>
      <p:grpSp>
        <p:nvGrpSpPr>
          <p:cNvPr id="509" name="Google Shape;509;p25"/>
          <p:cNvGrpSpPr/>
          <p:nvPr/>
        </p:nvGrpSpPr>
        <p:grpSpPr>
          <a:xfrm>
            <a:off x="381000" y="3048000"/>
            <a:ext cx="2762400" cy="1524000"/>
            <a:chOff x="0" y="0"/>
            <a:chExt cx="2762400" cy="1524000"/>
          </a:xfrm>
        </p:grpSpPr>
        <p:sp>
          <p:nvSpPr>
            <p:cNvPr id="510" name="Google Shape;510;p25"/>
            <p:cNvSpPr/>
            <p:nvPr/>
          </p:nvSpPr>
          <p:spPr>
            <a:xfrm>
              <a:off x="0" y="0"/>
              <a:ext cx="2762400" cy="1524000"/>
            </a:xfrm>
            <a:prstGeom prst="roundRect">
              <a:avLst>
                <a:gd name="adj" fmla="val 3750"/>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1" name="Google Shape;511;p25"/>
            <p:cNvSpPr/>
            <p:nvPr/>
          </p:nvSpPr>
          <p:spPr>
            <a:xfrm>
              <a:off x="0" y="0"/>
              <a:ext cx="57300" cy="1524000"/>
            </a:xfrm>
            <a:prstGeom prst="roundRect">
              <a:avLst>
                <a:gd name="adj" fmla="val 50000"/>
              </a:avLst>
            </a:prstGeom>
            <a:solidFill>
              <a:srgbClr val="0284C7"/>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2" name="Google Shape;512;p25"/>
            <p:cNvSpPr txBox="1"/>
            <p:nvPr/>
          </p:nvSpPr>
          <p:spPr>
            <a:xfrm>
              <a:off x="190500" y="152400"/>
              <a:ext cx="2381400" cy="1219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0284C7"/>
                  </a:solidFill>
                  <a:latin typeface="Inter SemiBold"/>
                  <a:ea typeface="Inter SemiBold"/>
                  <a:cs typeface="Inter SemiBold"/>
                  <a:sym typeface="Inter SemiBold"/>
                </a:rPr>
                <a:t>Cổng song song (Parallel Gateways)</a:t>
              </a:r>
              <a:endParaRPr sz="1000" b="0" i="0" u="none" strike="noStrike" cap="none">
                <a:solidFill>
                  <a:srgbClr val="0284C7"/>
                </a:solidFill>
                <a:latin typeface="Inter SemiBold"/>
                <a:ea typeface="Inter SemiBold"/>
                <a:cs typeface="Inter SemiBold"/>
                <a:sym typeface="Inter SemiBold"/>
              </a:endParaRPr>
            </a:p>
            <a:p>
              <a:pPr marL="0" marR="0" lvl="0" indent="0" algn="l" rtl="0">
                <a:lnSpc>
                  <a:spcPct val="100000"/>
                </a:lnSpc>
                <a:spcBef>
                  <a:spcPts val="375"/>
                </a:spcBef>
                <a:spcAft>
                  <a:spcPts val="0"/>
                </a:spcAft>
                <a:buClr>
                  <a:srgbClr val="000000"/>
                </a:buClr>
                <a:buSzPts val="2200"/>
                <a:buFont typeface="Arial"/>
                <a:buNone/>
              </a:pPr>
              <a:r>
                <a:rPr lang="en" sz="2200" b="1" i="0" u="none" strike="noStrike" cap="none">
                  <a:solidFill>
                    <a:srgbClr val="0284C7"/>
                  </a:solidFill>
                  <a:latin typeface="Inter"/>
                  <a:ea typeface="Inter"/>
                  <a:cs typeface="Inter"/>
                  <a:sym typeface="Inter"/>
                </a:rPr>
                <a:t>01 cặp</a:t>
              </a:r>
              <a:endParaRPr sz="2200" b="1" i="0" u="none" strike="noStrike" cap="none">
                <a:solidFill>
                  <a:srgbClr val="0284C7"/>
                </a:solidFill>
                <a:latin typeface="Inter"/>
                <a:ea typeface="Inter"/>
                <a:cs typeface="Inter"/>
                <a:sym typeface="Inter"/>
              </a:endParaRPr>
            </a:p>
            <a:p>
              <a:pPr marL="0" marR="0" lvl="0" indent="0" algn="l" rtl="0">
                <a:lnSpc>
                  <a:spcPct val="100000"/>
                </a:lnSpc>
                <a:spcBef>
                  <a:spcPts val="375"/>
                </a:spcBef>
                <a:spcAft>
                  <a:spcPts val="0"/>
                </a:spcAft>
                <a:buClr>
                  <a:srgbClr val="000000"/>
                </a:buClr>
                <a:buSzPts val="950"/>
                <a:buFont typeface="Arial"/>
                <a:buNone/>
              </a:pPr>
              <a:r>
                <a:rPr lang="en" sz="950" b="0" i="0" u="none" strike="noStrike" cap="none">
                  <a:solidFill>
                    <a:srgbClr val="64748B"/>
                  </a:solidFill>
                  <a:latin typeface="Inter"/>
                  <a:ea typeface="Inter"/>
                  <a:cs typeface="Inter"/>
                  <a:sym typeface="Inter"/>
                </a:rPr>
                <a:t>Sử dụng cặp cổng Split &amp; Join để đồng thời theo dõi hiệu suất và tải trọng phân bổ theo khu vực.</a:t>
              </a:r>
              <a:endParaRPr sz="950" b="0" i="0" u="none" strike="noStrike" cap="none">
                <a:solidFill>
                  <a:srgbClr val="64748B"/>
                </a:solidFill>
                <a:latin typeface="Inter"/>
                <a:ea typeface="Inter"/>
                <a:cs typeface="Inter"/>
                <a:sym typeface="Inter"/>
              </a:endParaRPr>
            </a:p>
          </p:txBody>
        </p:sp>
      </p:grpSp>
      <p:grpSp>
        <p:nvGrpSpPr>
          <p:cNvPr id="513" name="Google Shape;513;p25"/>
          <p:cNvGrpSpPr/>
          <p:nvPr/>
        </p:nvGrpSpPr>
        <p:grpSpPr>
          <a:xfrm>
            <a:off x="3429000" y="1333500"/>
            <a:ext cx="5334000" cy="2095500"/>
            <a:chOff x="0" y="0"/>
            <a:chExt cx="5334000" cy="2095500"/>
          </a:xfrm>
        </p:grpSpPr>
        <p:sp>
          <p:nvSpPr>
            <p:cNvPr id="514" name="Google Shape;514;p25"/>
            <p:cNvSpPr/>
            <p:nvPr/>
          </p:nvSpPr>
          <p:spPr>
            <a:xfrm>
              <a:off x="0" y="0"/>
              <a:ext cx="5334000" cy="2095500"/>
            </a:xfrm>
            <a:prstGeom prst="roundRect">
              <a:avLst>
                <a:gd name="adj" fmla="val 3636"/>
              </a:avLst>
            </a:prstGeom>
            <a:solidFill>
              <a:srgbClr val="FFFFFF"/>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5" name="Google Shape;515;p25"/>
            <p:cNvSpPr/>
            <p:nvPr/>
          </p:nvSpPr>
          <p:spPr>
            <a:xfrm>
              <a:off x="0" y="0"/>
              <a:ext cx="5334000" cy="57300"/>
            </a:xfrm>
            <a:prstGeom prst="roundRect">
              <a:avLst>
                <a:gd name="adj" fmla="val 500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16" name="Google Shape;516;p25"/>
            <p:cNvSpPr txBox="1"/>
            <p:nvPr/>
          </p:nvSpPr>
          <p:spPr>
            <a:xfrm>
              <a:off x="228600" y="190500"/>
              <a:ext cx="4876800" cy="17145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 sz="1300" b="1">
                  <a:solidFill>
                    <a:srgbClr val="0F172A"/>
                  </a:solidFill>
                  <a:latin typeface="Inter"/>
                  <a:ea typeface="Inter"/>
                  <a:cs typeface="Inter"/>
                  <a:sym typeface="Inter"/>
                </a:rPr>
                <a:t>Chi tiết các nút quyết định &amp; Tác vụ song song</a:t>
              </a:r>
              <a:endParaRPr sz="1300" b="1">
                <a:solidFill>
                  <a:srgbClr val="0F172A"/>
                </a:solidFill>
                <a:latin typeface="Inter"/>
                <a:ea typeface="Inter"/>
                <a:cs typeface="Inter"/>
                <a:sym typeface="Inter"/>
              </a:endParaRPr>
            </a:p>
            <a:p>
              <a:pPr marL="0" lvl="0" indent="0" algn="l" rtl="0">
                <a:spcBef>
                  <a:spcPts val="500"/>
                </a:spcBef>
                <a:spcAft>
                  <a:spcPts val="0"/>
                </a:spcAft>
                <a:buNone/>
              </a:pPr>
              <a:r>
                <a:rPr lang="en" sz="950" b="1">
                  <a:solidFill>
                    <a:srgbClr val="007B7C"/>
                  </a:solidFill>
                  <a:latin typeface="Inter"/>
                  <a:ea typeface="Inter"/>
                  <a:cs typeface="Inter"/>
                  <a:sym typeface="Inter"/>
                </a:rPr>
                <a:t>Phân luồng quyết định (Exclusive Gateways)</a:t>
              </a:r>
              <a:endParaRPr sz="950" b="1">
                <a:solidFill>
                  <a:srgbClr val="0F172A"/>
                </a:solidFill>
                <a:latin typeface="Inter"/>
                <a:ea typeface="Inter"/>
                <a:cs typeface="Inter"/>
                <a:sym typeface="Inter"/>
              </a:endParaRPr>
            </a:p>
            <a:p>
              <a:pPr marL="457200" lvl="0" indent="-288925" algn="l" rtl="0">
                <a:spcBef>
                  <a:spcPts val="300"/>
                </a:spcBef>
                <a:spcAft>
                  <a:spcPts val="0"/>
                </a:spcAft>
                <a:buClr>
                  <a:srgbClr val="475569"/>
                </a:buClr>
                <a:buSzPts val="950"/>
                <a:buFont typeface="Inter"/>
                <a:buChar char="●"/>
              </a:pPr>
              <a:r>
                <a:rPr lang="en" sz="950" b="0">
                  <a:solidFill>
                    <a:srgbClr val="475569"/>
                  </a:solidFill>
                  <a:latin typeface="Inter"/>
                  <a:ea typeface="Inter"/>
                  <a:cs typeface="Inter"/>
                  <a:sym typeface="Inter"/>
                </a:rPr>
                <a:t>Đánh giá hiệu suất &amp; Xác định nguyên nhân.</a:t>
              </a:r>
              <a:endParaRPr sz="950" b="0">
                <a:solidFill>
                  <a:srgbClr val="475569"/>
                </a:solidFill>
                <a:latin typeface="Inter"/>
                <a:ea typeface="Inter"/>
                <a:cs typeface="Inter"/>
                <a:sym typeface="Inter"/>
              </a:endParaRPr>
            </a:p>
            <a:p>
              <a:pPr marL="457200" lvl="0" indent="-288925" algn="l" rtl="0">
                <a:spcBef>
                  <a:spcPts val="300"/>
                </a:spcBef>
                <a:spcAft>
                  <a:spcPts val="0"/>
                </a:spcAft>
                <a:buClr>
                  <a:srgbClr val="475569"/>
                </a:buClr>
                <a:buSzPts val="950"/>
                <a:buFont typeface="Inter"/>
                <a:buChar char="●"/>
              </a:pPr>
              <a:r>
                <a:rPr lang="en" sz="950" b="0">
                  <a:solidFill>
                    <a:srgbClr val="475569"/>
                  </a:solidFill>
                  <a:latin typeface="Inter"/>
                  <a:ea typeface="Inter"/>
                  <a:cs typeface="Inter"/>
                  <a:sym typeface="Inter"/>
                </a:rPr>
                <a:t>Xác định khu vực thiếu/quá tải &amp; Kiểm tra nguồn lực sau điều chỉnh.</a:t>
              </a:r>
              <a:endParaRPr sz="950" b="0">
                <a:solidFill>
                  <a:srgbClr val="475569"/>
                </a:solidFill>
                <a:latin typeface="Inter"/>
                <a:ea typeface="Inter"/>
                <a:cs typeface="Inter"/>
                <a:sym typeface="Inter"/>
              </a:endParaRPr>
            </a:p>
            <a:p>
              <a:pPr marL="457200" lvl="0" indent="-288925" algn="l" rtl="0">
                <a:spcBef>
                  <a:spcPts val="300"/>
                </a:spcBef>
                <a:spcAft>
                  <a:spcPts val="0"/>
                </a:spcAft>
                <a:buClr>
                  <a:srgbClr val="475569"/>
                </a:buClr>
                <a:buSzPts val="950"/>
                <a:buFont typeface="Inter"/>
                <a:buChar char="●"/>
              </a:pPr>
              <a:r>
                <a:rPr lang="en" sz="950" b="0">
                  <a:solidFill>
                    <a:srgbClr val="475569"/>
                  </a:solidFill>
                  <a:latin typeface="Inter"/>
                  <a:ea typeface="Inter"/>
                  <a:cs typeface="Inter"/>
                  <a:sym typeface="Inter"/>
                </a:rPr>
                <a:t>Duyệt ngân sách tuyển dụng.</a:t>
              </a:r>
              <a:endParaRPr sz="950" b="0">
                <a:solidFill>
                  <a:srgbClr val="475569"/>
                </a:solidFill>
                <a:latin typeface="Inter"/>
                <a:ea typeface="Inter"/>
                <a:cs typeface="Inter"/>
                <a:sym typeface="Inter"/>
              </a:endParaRPr>
            </a:p>
            <a:p>
              <a:pPr marL="0" lvl="0" indent="0" algn="l" rtl="0">
                <a:spcBef>
                  <a:spcPts val="500"/>
                </a:spcBef>
                <a:spcAft>
                  <a:spcPts val="0"/>
                </a:spcAft>
                <a:buNone/>
              </a:pPr>
              <a:r>
                <a:rPr lang="en" sz="950" b="1">
                  <a:solidFill>
                    <a:srgbClr val="0284C7"/>
                  </a:solidFill>
                  <a:latin typeface="Inter"/>
                  <a:ea typeface="Inter"/>
                  <a:cs typeface="Inter"/>
                  <a:sym typeface="Inter"/>
                </a:rPr>
                <a:t>Xử lý song song (Parallel Gateways)</a:t>
              </a:r>
              <a:endParaRPr sz="950" b="1">
                <a:solidFill>
                  <a:srgbClr val="0F172A"/>
                </a:solidFill>
                <a:latin typeface="Inter"/>
                <a:ea typeface="Inter"/>
                <a:cs typeface="Inter"/>
                <a:sym typeface="Inter"/>
              </a:endParaRPr>
            </a:p>
            <a:p>
              <a:pPr marL="457200" lvl="0" indent="-288925" algn="l" rtl="0">
                <a:spcBef>
                  <a:spcPts val="300"/>
                </a:spcBef>
                <a:spcAft>
                  <a:spcPts val="0"/>
                </a:spcAft>
                <a:buClr>
                  <a:srgbClr val="475569"/>
                </a:buClr>
                <a:buSzPts val="950"/>
                <a:buFont typeface="Inter"/>
                <a:buChar char="●"/>
              </a:pPr>
              <a:r>
                <a:rPr lang="en" sz="950" b="0">
                  <a:solidFill>
                    <a:srgbClr val="475569"/>
                  </a:solidFill>
                  <a:latin typeface="Inter"/>
                  <a:ea typeface="Inter"/>
                  <a:cs typeface="Inter"/>
                  <a:sym typeface="Inter"/>
                </a:rPr>
                <a:t>Đồng thời theo dõi hiệu suất của từng KTV và tải công việc theo từng khu vực qua cặp cổng Split/Join.</a:t>
              </a:r>
              <a:endParaRPr sz="950" b="0">
                <a:solidFill>
                  <a:srgbClr val="475569"/>
                </a:solidFill>
                <a:latin typeface="Inter"/>
                <a:ea typeface="Inter"/>
                <a:cs typeface="Inter"/>
                <a:sym typeface="Inter"/>
              </a:endParaRPr>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520"/>
        <p:cNvGrpSpPr/>
        <p:nvPr/>
      </p:nvGrpSpPr>
      <p:grpSpPr>
        <a:xfrm>
          <a:off x="0" y="0"/>
          <a:ext cx="0" cy="0"/>
          <a:chOff x="0" y="0"/>
          <a:chExt cx="0" cy="0"/>
        </a:xfrm>
      </p:grpSpPr>
      <p:sp>
        <p:nvSpPr>
          <p:cNvPr id="521" name="Google Shape;521;p26"/>
          <p:cNvSpPr txBox="1"/>
          <p:nvPr/>
        </p:nvSpPr>
        <p:spPr>
          <a:xfrm>
            <a:off x="571500" y="476250"/>
            <a:ext cx="4759200" cy="1143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 sz="2000" b="0" i="0" u="none" strike="noStrike" cap="none">
                <a:solidFill>
                  <a:srgbClr val="0F172A"/>
                </a:solidFill>
                <a:latin typeface="Inter ExtraBold"/>
                <a:ea typeface="Inter ExtraBold"/>
                <a:cs typeface="Inter ExtraBold"/>
                <a:sym typeface="Inter ExtraBold"/>
              </a:rPr>
              <a:t>Quy trình KTV Nhận &amp; Xử lý Booking</a:t>
            </a:r>
            <a:endParaRPr sz="2800" b="0" i="0" u="none" strike="noStrike" cap="none">
              <a:solidFill>
                <a:srgbClr val="0F172A"/>
              </a:solidFill>
              <a:latin typeface="Inter ExtraBold"/>
              <a:ea typeface="Inter ExtraBold"/>
              <a:cs typeface="Inter ExtraBold"/>
              <a:sym typeface="Inter ExtraBold"/>
            </a:endParaRPr>
          </a:p>
          <a:p>
            <a:pPr marL="0" marR="0" lvl="0" indent="0" algn="l" rtl="0">
              <a:lnSpc>
                <a:spcPct val="100000"/>
              </a:lnSpc>
              <a:spcBef>
                <a:spcPts val="225"/>
              </a:spcBef>
              <a:spcAft>
                <a:spcPts val="0"/>
              </a:spcAft>
              <a:buClr>
                <a:schemeClr val="dk1"/>
              </a:buClr>
              <a:buSzPts val="1100"/>
              <a:buFont typeface="Arial"/>
              <a:buNone/>
            </a:pPr>
            <a:r>
              <a:rPr lang="en" sz="1100" b="0" i="0" u="none" strike="noStrike" cap="none">
                <a:solidFill>
                  <a:srgbClr val="007B7C"/>
                </a:solidFill>
                <a:latin typeface="Inter SemiBold"/>
                <a:ea typeface="Inter SemiBold"/>
                <a:cs typeface="Inter SemiBold"/>
                <a:sym typeface="Inter SemiBold"/>
              </a:rPr>
              <a:t>Chuỗi tác vụ hiện trường của KTV kết hợp chẩn đoán, kiểm tra hệ thống và xử lý linh kiện</a:t>
            </a:r>
            <a:endParaRPr sz="1400" b="0" i="0" u="none" strike="noStrike" cap="none">
              <a:solidFill>
                <a:srgbClr val="0284C7"/>
              </a:solidFill>
              <a:latin typeface="Inter SemiBold"/>
              <a:ea typeface="Inter SemiBold"/>
              <a:cs typeface="Inter SemiBold"/>
              <a:sym typeface="Inter SemiBold"/>
            </a:endParaRPr>
          </a:p>
        </p:txBody>
      </p:sp>
      <p:sp>
        <p:nvSpPr>
          <p:cNvPr id="522" name="Google Shape;522;p26"/>
          <p:cNvSpPr txBox="1"/>
          <p:nvPr/>
        </p:nvSpPr>
        <p:spPr>
          <a:xfrm>
            <a:off x="571500" y="1714500"/>
            <a:ext cx="4000500" cy="2857500"/>
          </a:xfrm>
          <a:prstGeom prst="rect">
            <a:avLst/>
          </a:prstGeom>
          <a:noFill/>
          <a:ln>
            <a:noFill/>
          </a:ln>
        </p:spPr>
        <p:txBody>
          <a:bodyPr spcFirstLastPara="1" wrap="square" lIns="0" tIns="0" rIns="0" bIns="0" anchor="t" anchorCtr="0">
            <a:noAutofit/>
          </a:bodyPr>
          <a:lstStyle/>
          <a:p>
            <a:pPr marL="0" marR="0" lvl="0" indent="0" algn="l" rtl="0">
              <a:lnSpc>
                <a:spcPct val="115000"/>
              </a:lnSpc>
              <a:spcBef>
                <a:spcPts val="1200"/>
              </a:spcBef>
              <a:spcAft>
                <a:spcPts val="0"/>
              </a:spcAft>
              <a:buClr>
                <a:srgbClr val="000000"/>
              </a:buClr>
              <a:buSzPts val="1100"/>
              <a:buFont typeface="Arial"/>
              <a:buNone/>
            </a:pPr>
            <a:r>
              <a:rPr lang="en" sz="1100" b="1" i="0" u="none" strike="noStrike" cap="none">
                <a:solidFill>
                  <a:schemeClr val="dk1"/>
                </a:solidFill>
                <a:latin typeface="Inter"/>
                <a:ea typeface="Inter"/>
                <a:cs typeface="Inter"/>
                <a:sym typeface="Inter"/>
              </a:rPr>
              <a:t>Actor (tác nhân):</a:t>
            </a:r>
            <a:r>
              <a:rPr lang="en" sz="1100" i="0" u="none" strike="noStrike" cap="none">
                <a:solidFill>
                  <a:schemeClr val="dk1"/>
                </a:solidFill>
                <a:latin typeface="Inter"/>
                <a:ea typeface="Inter"/>
                <a:cs typeface="Inter"/>
                <a:sym typeface="Inter"/>
              </a:rPr>
              <a:t> Kỹ thuật viên (KTV)</a:t>
            </a:r>
            <a:endParaRPr sz="1100" i="0" u="none" strike="noStrike" cap="none">
              <a:solidFill>
                <a:schemeClr val="dk1"/>
              </a:solidFill>
              <a:latin typeface="Inter"/>
              <a:ea typeface="Inter"/>
              <a:cs typeface="Inter"/>
              <a:sym typeface="Inter"/>
            </a:endParaRPr>
          </a:p>
          <a:p>
            <a:pPr marL="0" marR="0" lvl="0" indent="0" algn="l" rtl="0">
              <a:lnSpc>
                <a:spcPct val="115000"/>
              </a:lnSpc>
              <a:spcBef>
                <a:spcPts val="1200"/>
              </a:spcBef>
              <a:spcAft>
                <a:spcPts val="0"/>
              </a:spcAft>
              <a:buClr>
                <a:srgbClr val="000000"/>
              </a:buClr>
              <a:buSzPts val="1100"/>
              <a:buFont typeface="Arial"/>
              <a:buNone/>
            </a:pPr>
            <a:r>
              <a:rPr lang="en" sz="1100" b="1" i="0" u="none" strike="noStrike" cap="none">
                <a:solidFill>
                  <a:schemeClr val="dk1"/>
                </a:solidFill>
                <a:latin typeface="Inter"/>
                <a:ea typeface="Inter"/>
                <a:cs typeface="Inter"/>
                <a:sym typeface="Inter"/>
              </a:rPr>
              <a:t>Đối tượng liên quan:</a:t>
            </a:r>
            <a:r>
              <a:rPr lang="en" sz="1100" i="0" u="none" strike="noStrike" cap="none">
                <a:solidFill>
                  <a:schemeClr val="dk1"/>
                </a:solidFill>
                <a:latin typeface="Inter"/>
                <a:ea typeface="Inter"/>
                <a:cs typeface="Inter"/>
                <a:sym typeface="Inter"/>
              </a:rPr>
              <a:t> Khách hàng đang có booking sửa chữa/bảo dưỡng thiết bị</a:t>
            </a:r>
            <a:endParaRPr sz="1100" i="0" u="none" strike="noStrike" cap="none">
              <a:solidFill>
                <a:schemeClr val="dk1"/>
              </a:solidFill>
              <a:latin typeface="Inter"/>
              <a:ea typeface="Inter"/>
              <a:cs typeface="Inter"/>
              <a:sym typeface="Inter"/>
            </a:endParaRPr>
          </a:p>
          <a:p>
            <a:pPr marL="0" marR="0" lvl="0" indent="0" algn="l" rtl="0">
              <a:lnSpc>
                <a:spcPct val="115000"/>
              </a:lnSpc>
              <a:spcBef>
                <a:spcPts val="1200"/>
              </a:spcBef>
              <a:spcAft>
                <a:spcPts val="0"/>
              </a:spcAft>
              <a:buClr>
                <a:srgbClr val="000000"/>
              </a:buClr>
              <a:buSzPts val="1100"/>
              <a:buFont typeface="Arial"/>
              <a:buNone/>
            </a:pPr>
            <a:r>
              <a:rPr lang="en" sz="1100" b="1" i="0" u="none" strike="noStrike" cap="none">
                <a:solidFill>
                  <a:schemeClr val="dk1"/>
                </a:solidFill>
                <a:latin typeface="Inter"/>
                <a:ea typeface="Inter"/>
                <a:cs typeface="Inter"/>
                <a:sym typeface="Inter"/>
              </a:rPr>
              <a:t>Các kết quả có thể xảy ra:</a:t>
            </a:r>
            <a:endParaRPr sz="1100" b="1" i="0" u="none" strike="noStrike" cap="none">
              <a:solidFill>
                <a:schemeClr val="dk1"/>
              </a:solidFill>
              <a:latin typeface="Inter"/>
              <a:ea typeface="Inter"/>
              <a:cs typeface="Inter"/>
              <a:sym typeface="Inter"/>
            </a:endParaRPr>
          </a:p>
          <a:p>
            <a:pPr marL="457200" marR="0" lvl="0" indent="-298450" algn="l" rtl="0">
              <a:lnSpc>
                <a:spcPct val="115000"/>
              </a:lnSpc>
              <a:spcBef>
                <a:spcPts val="1200"/>
              </a:spcBef>
              <a:spcAft>
                <a:spcPts val="0"/>
              </a:spcAft>
              <a:buClr>
                <a:schemeClr val="dk1"/>
              </a:buClr>
              <a:buSzPts val="1100"/>
              <a:buFont typeface="Arial"/>
              <a:buChar char="●"/>
            </a:pPr>
            <a:r>
              <a:rPr lang="en" sz="1100" b="1" i="0" u="none" strike="noStrike" cap="none">
                <a:solidFill>
                  <a:schemeClr val="dk1"/>
                </a:solidFill>
                <a:latin typeface="Inter"/>
                <a:ea typeface="Inter"/>
                <a:cs typeface="Inter"/>
                <a:sym typeface="Inter"/>
              </a:rPr>
              <a:t>Hoàn tất xử lý</a:t>
            </a:r>
            <a:r>
              <a:rPr lang="en" sz="1100" i="0" u="none" strike="noStrike" cap="none">
                <a:solidFill>
                  <a:schemeClr val="dk1"/>
                </a:solidFill>
                <a:latin typeface="Inter"/>
                <a:ea typeface="Inter"/>
                <a:cs typeface="Inter"/>
                <a:sym typeface="Inter"/>
              </a:rPr>
              <a:t> → chuyển sang bước thanh toán (booking được sửa chữa thành công, khách đồng ý chi phí)</a:t>
            </a:r>
            <a:endParaRPr sz="1100" i="0" u="none" strike="noStrike" cap="none">
              <a:solidFill>
                <a:schemeClr val="dk1"/>
              </a:solidFill>
              <a:latin typeface="Inter"/>
              <a:ea typeface="Inter"/>
              <a:cs typeface="Inter"/>
              <a:sym typeface="Inter"/>
            </a:endParaRPr>
          </a:p>
          <a:p>
            <a:pPr marL="457200" marR="0" lvl="0" indent="-298450" algn="l" rtl="0">
              <a:lnSpc>
                <a:spcPct val="115000"/>
              </a:lnSpc>
              <a:spcBef>
                <a:spcPts val="0"/>
              </a:spcBef>
              <a:spcAft>
                <a:spcPts val="0"/>
              </a:spcAft>
              <a:buClr>
                <a:schemeClr val="dk1"/>
              </a:buClr>
              <a:buSzPts val="1100"/>
              <a:buFont typeface="Arial"/>
              <a:buChar char="●"/>
            </a:pPr>
            <a:r>
              <a:rPr lang="en" sz="1100" b="1" i="0" u="none" strike="noStrike" cap="none">
                <a:solidFill>
                  <a:schemeClr val="dk1"/>
                </a:solidFill>
                <a:latin typeface="Inter"/>
                <a:ea typeface="Inter"/>
                <a:cs typeface="Inter"/>
                <a:sym typeface="Inter"/>
              </a:rPr>
              <a:t>Tạm dừng, hẹn ca sau</a:t>
            </a:r>
            <a:r>
              <a:rPr lang="en" sz="1100" i="0" u="none" strike="noStrike" cap="none">
                <a:solidFill>
                  <a:schemeClr val="dk1"/>
                </a:solidFill>
                <a:latin typeface="Inter"/>
                <a:ea typeface="Inter"/>
                <a:cs typeface="Inter"/>
                <a:sym typeface="Inter"/>
              </a:rPr>
              <a:t> → do thiếu linh kiện và mức độ phức tạp cần đi lại lần 2</a:t>
            </a:r>
            <a:endParaRPr sz="1100" i="0" u="none" strike="noStrike" cap="none">
              <a:solidFill>
                <a:schemeClr val="dk1"/>
              </a:solidFill>
              <a:latin typeface="Inter"/>
              <a:ea typeface="Inter"/>
              <a:cs typeface="Inter"/>
              <a:sym typeface="Inter"/>
            </a:endParaRPr>
          </a:p>
          <a:p>
            <a:pPr marL="457200" marR="0" lvl="0" indent="-298450" algn="l" rtl="0">
              <a:lnSpc>
                <a:spcPct val="115000"/>
              </a:lnSpc>
              <a:spcBef>
                <a:spcPts val="0"/>
              </a:spcBef>
              <a:spcAft>
                <a:spcPts val="0"/>
              </a:spcAft>
              <a:buClr>
                <a:schemeClr val="dk1"/>
              </a:buClr>
              <a:buSzPts val="1100"/>
              <a:buFont typeface="Arial"/>
              <a:buChar char="●"/>
            </a:pPr>
            <a:r>
              <a:rPr lang="en" sz="1100" b="1" i="0" u="none" strike="noStrike" cap="none">
                <a:solidFill>
                  <a:schemeClr val="dk1"/>
                </a:solidFill>
                <a:latin typeface="Inter"/>
                <a:ea typeface="Inter"/>
                <a:cs typeface="Inter"/>
                <a:sym typeface="Inter"/>
              </a:rPr>
              <a:t>Khiếu nại/điều chỉnh chi phí</a:t>
            </a:r>
            <a:r>
              <a:rPr lang="en" sz="1100" i="0" u="none" strike="noStrike" cap="none">
                <a:solidFill>
                  <a:schemeClr val="dk1"/>
                </a:solidFill>
                <a:latin typeface="Inter"/>
                <a:ea typeface="Inter"/>
                <a:cs typeface="Inter"/>
                <a:sym typeface="Inter"/>
              </a:rPr>
              <a:t> → khách hàng không đồng ý mức phí sửa chữa, yêu cầu KTV điều chỉnh trước khi tiếp tục</a:t>
            </a:r>
            <a:endParaRPr sz="1100" i="0" u="none" strike="noStrike" cap="none">
              <a:solidFill>
                <a:schemeClr val="dk1"/>
              </a:solidFill>
              <a:latin typeface="Inter"/>
              <a:ea typeface="Inter"/>
              <a:cs typeface="Inter"/>
              <a:sym typeface="Inter"/>
            </a:endParaRPr>
          </a:p>
          <a:p>
            <a:pPr marL="0" marR="0" lvl="0" indent="0" algn="l" rtl="0">
              <a:lnSpc>
                <a:spcPct val="115000"/>
              </a:lnSpc>
              <a:spcBef>
                <a:spcPts val="1200"/>
              </a:spcBef>
              <a:spcAft>
                <a:spcPts val="1200"/>
              </a:spcAft>
              <a:buClr>
                <a:srgbClr val="000000"/>
              </a:buClr>
              <a:buSzPts val="1100"/>
              <a:buFont typeface="Arial"/>
              <a:buNone/>
            </a:pPr>
            <a:endParaRPr sz="1100" b="1" i="0" u="none" strike="noStrike" cap="none">
              <a:solidFill>
                <a:schemeClr val="dk1"/>
              </a:solidFill>
              <a:latin typeface="Inter"/>
              <a:ea typeface="Inter"/>
              <a:cs typeface="Inter"/>
              <a:sym typeface="Inter"/>
            </a:endParaRPr>
          </a:p>
        </p:txBody>
      </p:sp>
      <p:pic>
        <p:nvPicPr>
          <p:cNvPr id="523" name="Google Shape;523;p26" title="KTV nhận và xử lý booking.drawio.png"/>
          <p:cNvPicPr preferRelativeResize="0"/>
          <p:nvPr/>
        </p:nvPicPr>
        <p:blipFill rotWithShape="1">
          <a:blip r:embed="rId4">
            <a:alphaModFix/>
          </a:blip>
          <a:srcRect/>
          <a:stretch/>
        </p:blipFill>
        <p:spPr>
          <a:xfrm>
            <a:off x="5128523" y="55070"/>
            <a:ext cx="3893025" cy="4921077"/>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527"/>
        <p:cNvGrpSpPr/>
        <p:nvPr/>
      </p:nvGrpSpPr>
      <p:grpSpPr>
        <a:xfrm>
          <a:off x="0" y="0"/>
          <a:ext cx="0" cy="0"/>
          <a:chOff x="0" y="0"/>
          <a:chExt cx="0" cy="0"/>
        </a:xfrm>
      </p:grpSpPr>
      <p:sp>
        <p:nvSpPr>
          <p:cNvPr id="528" name="Google Shape;528;p27"/>
          <p:cNvSpPr/>
          <p:nvPr/>
        </p:nvSpPr>
        <p:spPr>
          <a:xfrm>
            <a:off x="0" y="0"/>
            <a:ext cx="9144000" cy="5143500"/>
          </a:xfrm>
          <a:prstGeom prst="rect">
            <a:avLst/>
          </a:pr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529" name="Google Shape;529;p27"/>
          <p:cNvGrpSpPr/>
          <p:nvPr/>
        </p:nvGrpSpPr>
        <p:grpSpPr>
          <a:xfrm>
            <a:off x="381000" y="333375"/>
            <a:ext cx="8382000" cy="809625"/>
            <a:chOff x="381000" y="333375"/>
            <a:chExt cx="8382000" cy="809625"/>
          </a:xfrm>
        </p:grpSpPr>
        <p:cxnSp>
          <p:nvCxnSpPr>
            <p:cNvPr id="530" name="Google Shape;530;p27"/>
            <p:cNvCxnSpPr/>
            <p:nvPr/>
          </p:nvCxnSpPr>
          <p:spPr>
            <a:xfrm>
              <a:off x="381000" y="1143000"/>
              <a:ext cx="8382000" cy="0"/>
            </a:xfrm>
            <a:prstGeom prst="straightConnector1">
              <a:avLst/>
            </a:prstGeom>
            <a:solidFill>
              <a:srgbClr val="FFFFFF"/>
            </a:solidFill>
            <a:ln w="14300" cap="flat" cmpd="sng">
              <a:solidFill>
                <a:srgbClr val="E2E8F0"/>
              </a:solidFill>
              <a:prstDash val="solid"/>
              <a:round/>
              <a:headEnd type="none" w="sm" len="sm"/>
              <a:tailEnd type="none" w="sm" len="sm"/>
            </a:ln>
          </p:spPr>
        </p:cxnSp>
        <p:sp>
          <p:nvSpPr>
            <p:cNvPr id="531" name="Google Shape;531;p27"/>
            <p:cNvSpPr txBox="1"/>
            <p:nvPr/>
          </p:nvSpPr>
          <p:spPr>
            <a:xfrm>
              <a:off x="381000" y="333375"/>
              <a:ext cx="7620000" cy="762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 sz="2000" b="0" i="0" u="none" strike="noStrike" cap="none">
                  <a:solidFill>
                    <a:srgbClr val="0F172A"/>
                  </a:solidFill>
                  <a:latin typeface="Inter ExtraBold"/>
                  <a:ea typeface="Inter ExtraBold"/>
                  <a:cs typeface="Inter ExtraBold"/>
                  <a:sym typeface="Inter ExtraBold"/>
                </a:rPr>
                <a:t>Đánh giá độ phức tạp Quy trình</a:t>
              </a:r>
              <a:endParaRPr sz="2000" b="0" i="0" u="none" strike="noStrike" cap="none">
                <a:solidFill>
                  <a:srgbClr val="0F172A"/>
                </a:solidFill>
                <a:latin typeface="Inter ExtraBold"/>
                <a:ea typeface="Inter ExtraBold"/>
                <a:cs typeface="Inter ExtraBold"/>
                <a:sym typeface="Inter ExtraBold"/>
              </a:endParaRPr>
            </a:p>
            <a:p>
              <a:pPr marL="0" marR="0" lvl="0" indent="0" algn="l" rtl="0">
                <a:lnSpc>
                  <a:spcPct val="100000"/>
                </a:lnSpc>
                <a:spcBef>
                  <a:spcPts val="300"/>
                </a:spcBef>
                <a:spcAft>
                  <a:spcPts val="0"/>
                </a:spcAft>
                <a:buClr>
                  <a:srgbClr val="000000"/>
                </a:buClr>
                <a:buSzPts val="1100"/>
                <a:buFont typeface="Arial"/>
                <a:buNone/>
              </a:pPr>
              <a:r>
                <a:rPr lang="en" sz="1100" b="0" i="0" u="none" strike="noStrike" cap="none">
                  <a:solidFill>
                    <a:srgbClr val="007B7C"/>
                  </a:solidFill>
                  <a:latin typeface="Inter SemiBold"/>
                  <a:ea typeface="Inter SemiBold"/>
                  <a:cs typeface="Inter SemiBold"/>
                  <a:sym typeface="Inter SemiBold"/>
                </a:rPr>
                <a:t>KTV nhận &amp; xử lý booking — Quy trình cốt lõi mang tính biến động cao</a:t>
              </a:r>
              <a:endParaRPr sz="1100" b="0" i="0" u="none" strike="noStrike" cap="none">
                <a:solidFill>
                  <a:srgbClr val="007B7C"/>
                </a:solidFill>
                <a:latin typeface="Inter SemiBold"/>
                <a:ea typeface="Inter SemiBold"/>
                <a:cs typeface="Inter SemiBold"/>
                <a:sym typeface="Inter SemiBold"/>
              </a:endParaRPr>
            </a:p>
          </p:txBody>
        </p:sp>
        <p:grpSp>
          <p:nvGrpSpPr>
            <p:cNvPr id="532" name="Google Shape;532;p27"/>
            <p:cNvGrpSpPr/>
            <p:nvPr/>
          </p:nvGrpSpPr>
          <p:grpSpPr>
            <a:xfrm>
              <a:off x="8458200" y="381000"/>
              <a:ext cx="304800" cy="304800"/>
              <a:chOff x="0" y="0"/>
              <a:chExt cx="304800" cy="304800"/>
            </a:xfrm>
          </p:grpSpPr>
          <p:sp>
            <p:nvSpPr>
              <p:cNvPr id="533" name="Google Shape;533;p27"/>
              <p:cNvSpPr/>
              <p:nvPr/>
            </p:nvSpPr>
            <p:spPr>
              <a:xfrm>
                <a:off x="0" y="0"/>
                <a:ext cx="304800" cy="304800"/>
              </a:xfrm>
              <a:prstGeom prst="roundRect">
                <a:avLst>
                  <a:gd name="adj" fmla="val 125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34" name="Google Shape;534;p27"/>
              <p:cNvSpPr/>
              <p:nvPr/>
            </p:nvSpPr>
            <p:spPr>
              <a:xfrm>
                <a:off x="95250" y="95250"/>
                <a:ext cx="114300" cy="114300"/>
              </a:xfrm>
              <a:custGeom>
                <a:avLst/>
                <a:gdLst/>
                <a:ahLst/>
                <a:cxnLst/>
                <a:rect l="l" t="t" r="r" b="b"/>
                <a:pathLst>
                  <a:path w="120000" h="120000" extrusionOk="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35" name="Google Shape;535;p27"/>
              <p:cNvSpPr/>
              <p:nvPr/>
            </p:nvSpPr>
            <p:spPr>
              <a:xfrm>
                <a:off x="123825" y="123825"/>
                <a:ext cx="57300" cy="57300"/>
              </a:xfrm>
              <a:prstGeom prst="ellipse">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grpSp>
      <p:grpSp>
        <p:nvGrpSpPr>
          <p:cNvPr id="536" name="Google Shape;536;p27"/>
          <p:cNvGrpSpPr/>
          <p:nvPr/>
        </p:nvGrpSpPr>
        <p:grpSpPr>
          <a:xfrm>
            <a:off x="495300" y="1333500"/>
            <a:ext cx="2667000" cy="3381225"/>
            <a:chOff x="0" y="0"/>
            <a:chExt cx="2667000" cy="3381225"/>
          </a:xfrm>
        </p:grpSpPr>
        <p:grpSp>
          <p:nvGrpSpPr>
            <p:cNvPr id="537" name="Google Shape;537;p27"/>
            <p:cNvGrpSpPr/>
            <p:nvPr/>
          </p:nvGrpSpPr>
          <p:grpSpPr>
            <a:xfrm>
              <a:off x="0" y="0"/>
              <a:ext cx="2667000" cy="1619100"/>
              <a:chOff x="0" y="0"/>
              <a:chExt cx="2667000" cy="1619100"/>
            </a:xfrm>
          </p:grpSpPr>
          <p:sp>
            <p:nvSpPr>
              <p:cNvPr id="538" name="Google Shape;538;p27"/>
              <p:cNvSpPr/>
              <p:nvPr/>
            </p:nvSpPr>
            <p:spPr>
              <a:xfrm>
                <a:off x="0" y="0"/>
                <a:ext cx="2667000" cy="1619100"/>
              </a:xfrm>
              <a:prstGeom prst="roundRect">
                <a:avLst>
                  <a:gd name="adj" fmla="val 4705"/>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39" name="Google Shape;539;p27"/>
              <p:cNvSpPr/>
              <p:nvPr/>
            </p:nvSpPr>
            <p:spPr>
              <a:xfrm>
                <a:off x="0" y="0"/>
                <a:ext cx="57300" cy="1619100"/>
              </a:xfrm>
              <a:prstGeom prst="roundRect">
                <a:avLst>
                  <a:gd name="adj" fmla="val 500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40" name="Google Shape;540;p27"/>
              <p:cNvSpPr txBox="1"/>
              <p:nvPr/>
            </p:nvSpPr>
            <p:spPr>
              <a:xfrm>
                <a:off x="190500" y="152400"/>
                <a:ext cx="2286000" cy="13146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 sz="950" b="0">
                    <a:solidFill>
                      <a:srgbClr val="007B7C"/>
                    </a:solidFill>
                    <a:latin typeface="Inter SemiBold"/>
                    <a:ea typeface="Inter SemiBold"/>
                    <a:cs typeface="Inter SemiBold"/>
                    <a:sym typeface="Inter SemiBold"/>
                  </a:rPr>
                  <a:t>Cổng điều kiện (Exclusive Gateways)</a:t>
                </a:r>
                <a:endParaRPr sz="950" b="0">
                  <a:solidFill>
                    <a:srgbClr val="007B7C"/>
                  </a:solidFill>
                  <a:latin typeface="Inter SemiBold"/>
                  <a:ea typeface="Inter SemiBold"/>
                  <a:cs typeface="Inter SemiBold"/>
                  <a:sym typeface="Inter SemiBold"/>
                </a:endParaRPr>
              </a:p>
              <a:p>
                <a:pPr marL="0" lvl="0" indent="0" algn="l" rtl="0">
                  <a:spcBef>
                    <a:spcPts val="0"/>
                  </a:spcBef>
                  <a:spcAft>
                    <a:spcPts val="0"/>
                  </a:spcAft>
                  <a:buNone/>
                </a:pPr>
                <a:r>
                  <a:rPr lang="en" sz="2600" b="0">
                    <a:solidFill>
                      <a:srgbClr val="007B7C"/>
                    </a:solidFill>
                    <a:latin typeface="Inter ExtraBold"/>
                    <a:ea typeface="Inter ExtraBold"/>
                    <a:cs typeface="Inter ExtraBold"/>
                    <a:sym typeface="Inter ExtraBold"/>
                  </a:rPr>
                  <a:t>06 cổng</a:t>
                </a:r>
                <a:endParaRPr sz="950" b="0">
                  <a:solidFill>
                    <a:srgbClr val="007B7C"/>
                  </a:solidFill>
                  <a:latin typeface="Inter SemiBold"/>
                  <a:ea typeface="Inter SemiBold"/>
                  <a:cs typeface="Inter SemiBold"/>
                  <a:sym typeface="Inter SemiBold"/>
                </a:endParaRPr>
              </a:p>
              <a:p>
                <a:pPr marL="0" lvl="0" indent="0" algn="l" rtl="0">
                  <a:spcBef>
                    <a:spcPts val="0"/>
                  </a:spcBef>
                  <a:spcAft>
                    <a:spcPts val="0"/>
                  </a:spcAft>
                  <a:buNone/>
                </a:pPr>
                <a:r>
                  <a:rPr lang="en" sz="950" b="0">
                    <a:solidFill>
                      <a:srgbClr val="475569"/>
                    </a:solidFill>
                    <a:latin typeface="Inter"/>
                    <a:ea typeface="Inter"/>
                    <a:cs typeface="Inter"/>
                    <a:sym typeface="Inter"/>
                  </a:rPr>
                  <a:t>Kiểm tra bảo hành, kiểm tra mã lỗi, kiểm tra đủ linh kiện, kiểm tra cần đi lại lần 2, và khách hàng đồng ý chi phí.</a:t>
                </a:r>
                <a:endParaRPr sz="950" b="0">
                  <a:solidFill>
                    <a:srgbClr val="007B7C"/>
                  </a:solidFill>
                  <a:latin typeface="Inter SemiBold"/>
                  <a:ea typeface="Inter SemiBold"/>
                  <a:cs typeface="Inter SemiBold"/>
                  <a:sym typeface="Inter SemiBold"/>
                </a:endParaRPr>
              </a:p>
            </p:txBody>
          </p:sp>
        </p:grpSp>
        <p:grpSp>
          <p:nvGrpSpPr>
            <p:cNvPr id="541" name="Google Shape;541;p27"/>
            <p:cNvGrpSpPr/>
            <p:nvPr/>
          </p:nvGrpSpPr>
          <p:grpSpPr>
            <a:xfrm>
              <a:off x="0" y="1762125"/>
              <a:ext cx="2667000" cy="1619100"/>
              <a:chOff x="0" y="0"/>
              <a:chExt cx="2667000" cy="1619100"/>
            </a:xfrm>
          </p:grpSpPr>
          <p:sp>
            <p:nvSpPr>
              <p:cNvPr id="542" name="Google Shape;542;p27"/>
              <p:cNvSpPr/>
              <p:nvPr/>
            </p:nvSpPr>
            <p:spPr>
              <a:xfrm>
                <a:off x="0" y="0"/>
                <a:ext cx="2667000" cy="1619100"/>
              </a:xfrm>
              <a:prstGeom prst="roundRect">
                <a:avLst>
                  <a:gd name="adj" fmla="val 4705"/>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43" name="Google Shape;543;p27"/>
              <p:cNvSpPr/>
              <p:nvPr/>
            </p:nvSpPr>
            <p:spPr>
              <a:xfrm>
                <a:off x="0" y="0"/>
                <a:ext cx="57300" cy="1619100"/>
              </a:xfrm>
              <a:prstGeom prst="roundRect">
                <a:avLst>
                  <a:gd name="adj" fmla="val 50000"/>
                </a:avLst>
              </a:prstGeom>
              <a:solidFill>
                <a:srgbClr val="0284C7"/>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44" name="Google Shape;544;p27"/>
              <p:cNvSpPr txBox="1"/>
              <p:nvPr/>
            </p:nvSpPr>
            <p:spPr>
              <a:xfrm>
                <a:off x="190500" y="152400"/>
                <a:ext cx="2286000" cy="13146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 sz="950" b="0">
                    <a:solidFill>
                      <a:srgbClr val="0284C7"/>
                    </a:solidFill>
                    <a:latin typeface="Inter SemiBold"/>
                    <a:ea typeface="Inter SemiBold"/>
                    <a:cs typeface="Inter SemiBold"/>
                    <a:sym typeface="Inter SemiBold"/>
                  </a:rPr>
                  <a:t>Cổng song song (Parallel Gateways)</a:t>
                </a:r>
                <a:endParaRPr sz="950" b="0">
                  <a:solidFill>
                    <a:srgbClr val="0284C7"/>
                  </a:solidFill>
                  <a:latin typeface="Inter SemiBold"/>
                  <a:ea typeface="Inter SemiBold"/>
                  <a:cs typeface="Inter SemiBold"/>
                  <a:sym typeface="Inter SemiBold"/>
                </a:endParaRPr>
              </a:p>
              <a:p>
                <a:pPr marL="0" lvl="0" indent="0" algn="l" rtl="0">
                  <a:spcBef>
                    <a:spcPts val="0"/>
                  </a:spcBef>
                  <a:spcAft>
                    <a:spcPts val="0"/>
                  </a:spcAft>
                  <a:buNone/>
                </a:pPr>
                <a:r>
                  <a:rPr lang="en" sz="2600" b="0">
                    <a:solidFill>
                      <a:srgbClr val="0284C7"/>
                    </a:solidFill>
                    <a:latin typeface="Inter ExtraBold"/>
                    <a:ea typeface="Inter ExtraBold"/>
                    <a:cs typeface="Inter ExtraBold"/>
                    <a:sym typeface="Inter ExtraBold"/>
                  </a:rPr>
                  <a:t>01 cặp</a:t>
                </a:r>
                <a:endParaRPr sz="950" b="0">
                  <a:solidFill>
                    <a:srgbClr val="0284C7"/>
                  </a:solidFill>
                  <a:latin typeface="Inter SemiBold"/>
                  <a:ea typeface="Inter SemiBold"/>
                  <a:cs typeface="Inter SemiBold"/>
                  <a:sym typeface="Inter SemiBold"/>
                </a:endParaRPr>
              </a:p>
              <a:p>
                <a:pPr marL="0" lvl="0" indent="0" algn="l" rtl="0">
                  <a:spcBef>
                    <a:spcPts val="0"/>
                  </a:spcBef>
                  <a:spcAft>
                    <a:spcPts val="0"/>
                  </a:spcAft>
                  <a:buNone/>
                </a:pPr>
                <a:r>
                  <a:rPr lang="en" sz="950" b="0">
                    <a:solidFill>
                      <a:srgbClr val="0F172A"/>
                    </a:solidFill>
                    <a:latin typeface="Inter SemiBold"/>
                    <a:ea typeface="Inter SemiBold"/>
                    <a:cs typeface="Inter SemiBold"/>
                    <a:sym typeface="Inter SemiBold"/>
                  </a:rPr>
                  <a:t>(Split / Join)</a:t>
                </a:r>
                <a:r>
                  <a:rPr lang="en" sz="950" b="0">
                    <a:solidFill>
                      <a:srgbClr val="475569"/>
                    </a:solidFill>
                    <a:latin typeface="Inter"/>
                    <a:ea typeface="Inter"/>
                    <a:cs typeface="Inter"/>
                    <a:sym typeface="Inter"/>
                  </a:rPr>
                  <a:t> KTV thực hiện đồng thời tác vụ: lập hóa đơn chi phí và kiểm tra tồn kho linh kiện.</a:t>
                </a:r>
                <a:endParaRPr sz="950" b="0">
                  <a:solidFill>
                    <a:srgbClr val="0284C7"/>
                  </a:solidFill>
                  <a:latin typeface="Inter SemiBold"/>
                  <a:ea typeface="Inter SemiBold"/>
                  <a:cs typeface="Inter SemiBold"/>
                  <a:sym typeface="Inter SemiBold"/>
                </a:endParaRPr>
              </a:p>
            </p:txBody>
          </p:sp>
        </p:grpSp>
      </p:grpSp>
      <p:grpSp>
        <p:nvGrpSpPr>
          <p:cNvPr id="545" name="Google Shape;545;p27"/>
          <p:cNvGrpSpPr/>
          <p:nvPr/>
        </p:nvGrpSpPr>
        <p:grpSpPr>
          <a:xfrm>
            <a:off x="3390900" y="1333500"/>
            <a:ext cx="5372100" cy="3381300"/>
            <a:chOff x="0" y="0"/>
            <a:chExt cx="5372100" cy="3381300"/>
          </a:xfrm>
        </p:grpSpPr>
        <p:sp>
          <p:nvSpPr>
            <p:cNvPr id="546" name="Google Shape;546;p27"/>
            <p:cNvSpPr/>
            <p:nvPr/>
          </p:nvSpPr>
          <p:spPr>
            <a:xfrm>
              <a:off x="0" y="0"/>
              <a:ext cx="5372100" cy="3381300"/>
            </a:xfrm>
            <a:prstGeom prst="roundRect">
              <a:avLst>
                <a:gd name="adj" fmla="val 2253"/>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47" name="Google Shape;547;p27"/>
            <p:cNvSpPr/>
            <p:nvPr/>
          </p:nvSpPr>
          <p:spPr>
            <a:xfrm>
              <a:off x="0" y="0"/>
              <a:ext cx="5372100" cy="57300"/>
            </a:xfrm>
            <a:prstGeom prst="roundRect">
              <a:avLst>
                <a:gd name="adj" fmla="val 500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48" name="Google Shape;548;p27"/>
            <p:cNvSpPr txBox="1"/>
            <p:nvPr/>
          </p:nvSpPr>
          <p:spPr>
            <a:xfrm>
              <a:off x="228600" y="228600"/>
              <a:ext cx="4914900" cy="29241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 sz="1400" b="0">
                  <a:solidFill>
                    <a:srgbClr val="0F172A"/>
                  </a:solidFill>
                  <a:latin typeface="Inter ExtraBold"/>
                  <a:ea typeface="Inter ExtraBold"/>
                  <a:cs typeface="Inter ExtraBold"/>
                  <a:sym typeface="Inter ExtraBold"/>
                </a:rPr>
                <a:t>Đặc tính Vận hành &amp; Thách thức</a:t>
              </a:r>
              <a:endParaRPr sz="1400" b="0">
                <a:solidFill>
                  <a:srgbClr val="0F172A"/>
                </a:solidFill>
                <a:latin typeface="Inter ExtraBold"/>
                <a:ea typeface="Inter ExtraBold"/>
                <a:cs typeface="Inter ExtraBold"/>
                <a:sym typeface="Inter ExtraBold"/>
              </a:endParaRPr>
            </a:p>
            <a:p>
              <a:pPr marL="0" lvl="0" indent="0" algn="l" rtl="0">
                <a:spcBef>
                  <a:spcPts val="0"/>
                </a:spcBef>
                <a:spcAft>
                  <a:spcPts val="0"/>
                </a:spcAft>
                <a:buNone/>
              </a:pPr>
              <a:r>
                <a:rPr lang="en" sz="1000" b="0">
                  <a:solidFill>
                    <a:srgbClr val="475569"/>
                  </a:solidFill>
                  <a:latin typeface="Inter"/>
                  <a:ea typeface="Inter"/>
                  <a:cs typeface="Inter"/>
                  <a:sym typeface="Inter"/>
                </a:rPr>
                <a:t>Đây là quy trình phức tạp nhất trong nhóm cốt lõi với 6 cổng điều kiện (kiểm tra bảo hành, kiểm tra mã lỗi, kiểm tra đủ linh kiện, kiểm tra cần đi lại lần 2, khách hàng đồng ý chi phí) và 1 cặp cổng song song giữa lập hóa đơn chi phí và kiểm tra tồn kho linh kiện.</a:t>
              </a:r>
              <a:endParaRPr sz="1000" b="0">
                <a:solidFill>
                  <a:srgbClr val="0F172A"/>
                </a:solidFill>
                <a:latin typeface="Inter ExtraBold"/>
                <a:ea typeface="Inter ExtraBold"/>
                <a:cs typeface="Inter ExtraBold"/>
                <a:sym typeface="Inter ExtraBold"/>
              </a:endParaRPr>
            </a:p>
            <a:p>
              <a:pPr marL="0" lvl="0" indent="0" algn="l" rtl="0">
                <a:spcBef>
                  <a:spcPts val="0"/>
                </a:spcBef>
                <a:spcAft>
                  <a:spcPts val="0"/>
                </a:spcAft>
                <a:buNone/>
              </a:pPr>
              <a:r>
                <a:rPr lang="en" sz="1000" b="1">
                  <a:solidFill>
                    <a:srgbClr val="0F172A"/>
                  </a:solidFill>
                  <a:latin typeface="Inter"/>
                  <a:ea typeface="Inter"/>
                  <a:cs typeface="Inter"/>
                  <a:sym typeface="Inter"/>
                </a:rPr>
                <a:t>⚡ Điểm mấu chốt kỹ thuật:</a:t>
              </a:r>
              <a:endParaRPr sz="1000" b="0">
                <a:solidFill>
                  <a:srgbClr val="0F172A"/>
                </a:solidFill>
                <a:latin typeface="Inter ExtraBold"/>
                <a:ea typeface="Inter ExtraBold"/>
                <a:cs typeface="Inter ExtraBold"/>
                <a:sym typeface="Inter ExtraBold"/>
              </a:endParaRPr>
            </a:p>
            <a:p>
              <a:pPr marL="457200" lvl="0" indent="-317500" algn="l" rtl="0">
                <a:spcBef>
                  <a:spcPts val="450"/>
                </a:spcBef>
                <a:spcAft>
                  <a:spcPts val="0"/>
                </a:spcAft>
                <a:buClr>
                  <a:srgbClr val="0F172A"/>
                </a:buClr>
                <a:buSzPts val="1400"/>
                <a:buFont typeface="Inter"/>
                <a:buChar char="●"/>
              </a:pPr>
              <a:r>
                <a:rPr lang="en" sz="950" b="0">
                  <a:solidFill>
                    <a:srgbClr val="475569"/>
                  </a:solidFill>
                  <a:latin typeface="Inter"/>
                  <a:ea typeface="Inter"/>
                  <a:cs typeface="Inter"/>
                  <a:sym typeface="Inter"/>
                </a:rPr>
                <a:t>Đòi hỏi khả năng xử lý song song thông tin nghiệp vụ và dữ liệu hệ thống ngay tại thực địa.</a:t>
              </a:r>
              <a:endParaRPr sz="1400" b="0">
                <a:solidFill>
                  <a:srgbClr val="0F172A"/>
                </a:solidFill>
                <a:latin typeface="Inter ExtraBold"/>
                <a:ea typeface="Inter ExtraBold"/>
                <a:cs typeface="Inter ExtraBold"/>
                <a:sym typeface="Inter ExtraBold"/>
              </a:endParaRPr>
            </a:p>
            <a:p>
              <a:pPr marL="457200" lvl="0" indent="-317500" algn="l" rtl="0">
                <a:spcBef>
                  <a:spcPts val="450"/>
                </a:spcBef>
                <a:spcAft>
                  <a:spcPts val="0"/>
                </a:spcAft>
                <a:buClr>
                  <a:srgbClr val="0F172A"/>
                </a:buClr>
                <a:buSzPts val="1400"/>
                <a:buFont typeface="Inter"/>
                <a:buChar char="●"/>
              </a:pPr>
              <a:r>
                <a:rPr lang="en" sz="950" b="0">
                  <a:solidFill>
                    <a:srgbClr val="475569"/>
                  </a:solidFill>
                  <a:latin typeface="Inter"/>
                  <a:ea typeface="Inter"/>
                  <a:cs typeface="Inter"/>
                  <a:sym typeface="Inter"/>
                </a:rPr>
                <a:t>Nhiều chốt chặn kiểm soát làm gián đoạn dòng chảy nếu thông tin đầu vào thiếu nhất quán.</a:t>
              </a:r>
              <a:endParaRPr sz="1400" b="0">
                <a:solidFill>
                  <a:srgbClr val="0F172A"/>
                </a:solidFill>
                <a:latin typeface="Inter ExtraBold"/>
                <a:ea typeface="Inter ExtraBold"/>
                <a:cs typeface="Inter ExtraBold"/>
                <a:sym typeface="Inter ExtraBold"/>
              </a:endParaRPr>
            </a:p>
            <a:p>
              <a:pPr marL="0" lvl="0" indent="0" algn="l" rtl="0">
                <a:spcBef>
                  <a:spcPts val="0"/>
                </a:spcBef>
                <a:spcAft>
                  <a:spcPts val="0"/>
                </a:spcAft>
                <a:buNone/>
              </a:pPr>
              <a:r>
                <a:rPr lang="en" sz="950" b="0">
                  <a:solidFill>
                    <a:srgbClr val="991B1B"/>
                  </a:solidFill>
                  <a:highlight>
                    <a:srgbClr val="FEF2F2"/>
                  </a:highlight>
                  <a:latin typeface="Inter ExtraBold"/>
                  <a:ea typeface="Inter ExtraBold"/>
                  <a:cs typeface="Inter ExtraBold"/>
                  <a:sym typeface="Inter ExtraBold"/>
                </a:rPr>
                <a:t>CẢNH BÁO RỦI RO THAO TÁC</a:t>
              </a:r>
              <a:endParaRPr sz="950" b="0">
                <a:solidFill>
                  <a:srgbClr val="0F172A"/>
                </a:solidFill>
                <a:latin typeface="Inter ExtraBold"/>
                <a:ea typeface="Inter ExtraBold"/>
                <a:cs typeface="Inter ExtraBold"/>
                <a:sym typeface="Inter ExtraBold"/>
              </a:endParaRPr>
            </a:p>
            <a:p>
              <a:pPr marL="0" lvl="0" indent="0" algn="l" rtl="0">
                <a:spcBef>
                  <a:spcPts val="0"/>
                </a:spcBef>
                <a:spcAft>
                  <a:spcPts val="0"/>
                </a:spcAft>
                <a:buNone/>
              </a:pPr>
              <a:r>
                <a:rPr lang="en" sz="920" b="0">
                  <a:solidFill>
                    <a:srgbClr val="7F1D1D"/>
                  </a:solidFill>
                  <a:highlight>
                    <a:srgbClr val="FEF2F2"/>
                  </a:highlight>
                  <a:latin typeface="Inter"/>
                  <a:ea typeface="Inter"/>
                  <a:cs typeface="Inter"/>
                  <a:sym typeface="Inter"/>
                </a:rPr>
                <a:t>Độ phức tạp quy trình cực kỳ cao làm </a:t>
              </a:r>
              <a:r>
                <a:rPr lang="en" sz="920" b="1">
                  <a:solidFill>
                    <a:srgbClr val="991B1B"/>
                  </a:solidFill>
                  <a:highlight>
                    <a:srgbClr val="FEF2F2"/>
                  </a:highlight>
                  <a:latin typeface="Inter"/>
                  <a:ea typeface="Inter"/>
                  <a:cs typeface="Inter"/>
                  <a:sym typeface="Inter"/>
                </a:rPr>
                <a:t>tăng nghiêm trọng rủi ro sai sót trong thao tác nhập liệu của KTV</a:t>
              </a:r>
              <a:r>
                <a:rPr lang="en" sz="920" b="0">
                  <a:solidFill>
                    <a:srgbClr val="7F1D1D"/>
                  </a:solidFill>
                  <a:highlight>
                    <a:srgbClr val="FEF2F2"/>
                  </a:highlight>
                  <a:latin typeface="Inter"/>
                  <a:ea typeface="Inter"/>
                  <a:cs typeface="Inter"/>
                  <a:sym typeface="Inter"/>
                </a:rPr>
                <a:t> khi họ phải xử lý một khối lượng lớn thông tin tại hiện trường.</a:t>
              </a:r>
              <a:endParaRPr sz="920" b="0">
                <a:solidFill>
                  <a:srgbClr val="0F172A"/>
                </a:solidFill>
                <a:latin typeface="Inter ExtraBold"/>
                <a:ea typeface="Inter ExtraBold"/>
                <a:cs typeface="Inter ExtraBold"/>
                <a:sym typeface="Inter ExtraBold"/>
              </a:endParaRP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552"/>
        <p:cNvGrpSpPr/>
        <p:nvPr/>
      </p:nvGrpSpPr>
      <p:grpSpPr>
        <a:xfrm>
          <a:off x="0" y="0"/>
          <a:ext cx="0" cy="0"/>
          <a:chOff x="0" y="0"/>
          <a:chExt cx="0" cy="0"/>
        </a:xfrm>
      </p:grpSpPr>
      <p:sp>
        <p:nvSpPr>
          <p:cNvPr id="553" name="Google Shape;553;p28"/>
          <p:cNvSpPr txBox="1"/>
          <p:nvPr/>
        </p:nvSpPr>
        <p:spPr>
          <a:xfrm>
            <a:off x="571500" y="476250"/>
            <a:ext cx="4197600" cy="1143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 sz="2000" b="0" i="0" u="none" strike="noStrike" cap="none">
                <a:solidFill>
                  <a:srgbClr val="0F172A"/>
                </a:solidFill>
                <a:latin typeface="Inter ExtraBold"/>
                <a:ea typeface="Inter ExtraBold"/>
                <a:cs typeface="Inter ExtraBold"/>
                <a:sym typeface="Inter ExtraBold"/>
              </a:rPr>
              <a:t>Quy trình Báo cáo linh kiện KTV</a:t>
            </a:r>
            <a:endParaRPr sz="2800" b="0" i="0" u="none" strike="noStrike" cap="none">
              <a:solidFill>
                <a:srgbClr val="0F172A"/>
              </a:solidFill>
              <a:latin typeface="Inter ExtraBold"/>
              <a:ea typeface="Inter ExtraBold"/>
              <a:cs typeface="Inter ExtraBold"/>
              <a:sym typeface="Inter ExtraBold"/>
            </a:endParaRPr>
          </a:p>
          <a:p>
            <a:pPr marL="0" marR="0" lvl="0" indent="0" algn="l" rtl="0">
              <a:lnSpc>
                <a:spcPct val="100000"/>
              </a:lnSpc>
              <a:spcBef>
                <a:spcPts val="300"/>
              </a:spcBef>
              <a:spcAft>
                <a:spcPts val="0"/>
              </a:spcAft>
              <a:buClr>
                <a:srgbClr val="000000"/>
              </a:buClr>
              <a:buSzPts val="1100"/>
              <a:buFont typeface="Arial"/>
              <a:buNone/>
            </a:pPr>
            <a:r>
              <a:rPr lang="en" sz="1100" b="0" i="0" u="none" strike="noStrike" cap="none">
                <a:solidFill>
                  <a:srgbClr val="007B7C"/>
                </a:solidFill>
                <a:latin typeface="Inter SemiBold"/>
                <a:ea typeface="Inter SemiBold"/>
                <a:cs typeface="Inter SemiBold"/>
                <a:sym typeface="Inter SemiBold"/>
              </a:rPr>
              <a:t>Phân phối tương tác giữa Kỹ thuật viên (KTV) và Hệ thống / Kho linh kiện</a:t>
            </a:r>
            <a:endParaRPr sz="1100" b="0" i="0" u="none" strike="noStrike" cap="none">
              <a:solidFill>
                <a:srgbClr val="007B7C"/>
              </a:solidFill>
              <a:latin typeface="Inter SemiBold"/>
              <a:ea typeface="Inter SemiBold"/>
              <a:cs typeface="Inter SemiBold"/>
              <a:sym typeface="Inter SemiBold"/>
            </a:endParaRPr>
          </a:p>
          <a:p>
            <a:pPr marL="0" marR="0" lvl="0" indent="0" algn="l" rtl="0">
              <a:lnSpc>
                <a:spcPct val="100000"/>
              </a:lnSpc>
              <a:spcBef>
                <a:spcPts val="225"/>
              </a:spcBef>
              <a:spcAft>
                <a:spcPts val="0"/>
              </a:spcAft>
              <a:buClr>
                <a:srgbClr val="000000"/>
              </a:buClr>
              <a:buSzPts val="1100"/>
              <a:buFont typeface="Arial"/>
              <a:buNone/>
            </a:pPr>
            <a:endParaRPr sz="1100" b="0" i="0" u="none" strike="noStrike" cap="none">
              <a:solidFill>
                <a:srgbClr val="007B7C"/>
              </a:solidFill>
              <a:latin typeface="Inter SemiBold"/>
              <a:ea typeface="Inter SemiBold"/>
              <a:cs typeface="Inter SemiBold"/>
              <a:sym typeface="Inter SemiBold"/>
            </a:endParaRPr>
          </a:p>
        </p:txBody>
      </p:sp>
      <p:sp>
        <p:nvSpPr>
          <p:cNvPr id="554" name="Google Shape;554;p28"/>
          <p:cNvSpPr txBox="1"/>
          <p:nvPr/>
        </p:nvSpPr>
        <p:spPr>
          <a:xfrm>
            <a:off x="571500" y="1714500"/>
            <a:ext cx="4000500" cy="3144600"/>
          </a:xfrm>
          <a:prstGeom prst="rect">
            <a:avLst/>
          </a:prstGeom>
          <a:noFill/>
          <a:ln>
            <a:noFill/>
          </a:ln>
        </p:spPr>
        <p:txBody>
          <a:bodyPr spcFirstLastPara="1" wrap="square" lIns="0" tIns="0" rIns="0" bIns="0" anchor="t" anchorCtr="0">
            <a:noAutofit/>
          </a:bodyPr>
          <a:lstStyle/>
          <a:p>
            <a:pPr marL="0" marR="0" lvl="0" indent="0" algn="l" rtl="0">
              <a:lnSpc>
                <a:spcPct val="115000"/>
              </a:lnSpc>
              <a:spcBef>
                <a:spcPts val="1200"/>
              </a:spcBef>
              <a:spcAft>
                <a:spcPts val="0"/>
              </a:spcAft>
              <a:buClr>
                <a:srgbClr val="000000"/>
              </a:buClr>
              <a:buSzPts val="1100"/>
              <a:buFont typeface="Arial"/>
              <a:buNone/>
            </a:pPr>
            <a:r>
              <a:rPr lang="en" sz="1100" b="1" i="0" u="none" strike="noStrike" cap="none">
                <a:solidFill>
                  <a:schemeClr val="dk1"/>
                </a:solidFill>
                <a:latin typeface="Inter"/>
                <a:ea typeface="Inter"/>
                <a:cs typeface="Inter"/>
                <a:sym typeface="Inter"/>
              </a:rPr>
              <a:t>Actor (tác nhân):</a:t>
            </a:r>
            <a:r>
              <a:rPr lang="en" sz="1100" i="0" u="none" strike="noStrike" cap="none">
                <a:solidFill>
                  <a:schemeClr val="dk1"/>
                </a:solidFill>
                <a:latin typeface="Inter"/>
                <a:ea typeface="Inter"/>
                <a:cs typeface="Inter"/>
                <a:sym typeface="Inter"/>
              </a:rPr>
              <a:t> Kỹ thuật viên (KTV), phối hợp với Kho linh kiện và Hệ thống</a:t>
            </a:r>
            <a:endParaRPr sz="1100" i="0" u="none" strike="noStrike" cap="none">
              <a:solidFill>
                <a:schemeClr val="dk1"/>
              </a:solidFill>
              <a:latin typeface="Inter"/>
              <a:ea typeface="Inter"/>
              <a:cs typeface="Inter"/>
              <a:sym typeface="Inter"/>
            </a:endParaRPr>
          </a:p>
          <a:p>
            <a:pPr marL="0" marR="0" lvl="0" indent="0" algn="l" rtl="0">
              <a:lnSpc>
                <a:spcPct val="115000"/>
              </a:lnSpc>
              <a:spcBef>
                <a:spcPts val="1200"/>
              </a:spcBef>
              <a:spcAft>
                <a:spcPts val="0"/>
              </a:spcAft>
              <a:buClr>
                <a:srgbClr val="000000"/>
              </a:buClr>
              <a:buSzPts val="1100"/>
              <a:buFont typeface="Arial"/>
              <a:buNone/>
            </a:pPr>
            <a:r>
              <a:rPr lang="en" sz="1100" b="1" i="0" u="none" strike="noStrike" cap="none">
                <a:solidFill>
                  <a:schemeClr val="dk1"/>
                </a:solidFill>
                <a:latin typeface="Inter"/>
                <a:ea typeface="Inter"/>
                <a:cs typeface="Inter"/>
                <a:sym typeface="Inter"/>
              </a:rPr>
              <a:t>Đối tượng liên quan:</a:t>
            </a:r>
            <a:r>
              <a:rPr lang="en" sz="1100" i="0" u="none" strike="noStrike" cap="none">
                <a:solidFill>
                  <a:schemeClr val="dk1"/>
                </a:solidFill>
                <a:latin typeface="Inter"/>
                <a:ea typeface="Inter"/>
                <a:cs typeface="Inter"/>
                <a:sym typeface="Inter"/>
              </a:rPr>
              <a:t> Bộ phận Kho linh kiện / đội ngũ App hỗ trợ</a:t>
            </a:r>
            <a:endParaRPr sz="1100" i="0" u="none" strike="noStrike" cap="none">
              <a:solidFill>
                <a:schemeClr val="dk1"/>
              </a:solidFill>
              <a:latin typeface="Inter"/>
              <a:ea typeface="Inter"/>
              <a:cs typeface="Inter"/>
              <a:sym typeface="Inter"/>
            </a:endParaRPr>
          </a:p>
          <a:p>
            <a:pPr marL="0" marR="0" lvl="0" indent="0" algn="l" rtl="0">
              <a:lnSpc>
                <a:spcPct val="115000"/>
              </a:lnSpc>
              <a:spcBef>
                <a:spcPts val="1200"/>
              </a:spcBef>
              <a:spcAft>
                <a:spcPts val="0"/>
              </a:spcAft>
              <a:buClr>
                <a:srgbClr val="000000"/>
              </a:buClr>
              <a:buSzPts val="1100"/>
              <a:buFont typeface="Arial"/>
              <a:buNone/>
            </a:pPr>
            <a:r>
              <a:rPr lang="en" sz="1100" b="1" i="0" u="none" strike="noStrike" cap="none">
                <a:solidFill>
                  <a:schemeClr val="dk1"/>
                </a:solidFill>
                <a:latin typeface="Inter"/>
                <a:ea typeface="Inter"/>
                <a:cs typeface="Inter"/>
                <a:sym typeface="Inter"/>
              </a:rPr>
              <a:t>Các kết quả có thể xảy ra:</a:t>
            </a:r>
            <a:endParaRPr sz="1100" b="1" i="0" u="none" strike="noStrike" cap="none">
              <a:solidFill>
                <a:schemeClr val="dk1"/>
              </a:solidFill>
              <a:latin typeface="Inter"/>
              <a:ea typeface="Inter"/>
              <a:cs typeface="Inter"/>
              <a:sym typeface="Inter"/>
            </a:endParaRPr>
          </a:p>
          <a:p>
            <a:pPr marL="457200" marR="0" lvl="0" indent="-298450" algn="l" rtl="0">
              <a:lnSpc>
                <a:spcPct val="115000"/>
              </a:lnSpc>
              <a:spcBef>
                <a:spcPts val="1200"/>
              </a:spcBef>
              <a:spcAft>
                <a:spcPts val="0"/>
              </a:spcAft>
              <a:buClr>
                <a:schemeClr val="dk1"/>
              </a:buClr>
              <a:buSzPts val="1100"/>
              <a:buFont typeface="Arial"/>
              <a:buChar char="●"/>
            </a:pPr>
            <a:r>
              <a:rPr lang="en" sz="1100" b="1" i="0" u="none" strike="noStrike" cap="none">
                <a:solidFill>
                  <a:schemeClr val="dk1"/>
                </a:solidFill>
                <a:latin typeface="Inter"/>
                <a:ea typeface="Inter"/>
                <a:cs typeface="Inter"/>
                <a:sym typeface="Inter"/>
              </a:rPr>
              <a:t>Đóng phiếu nhận/sử dụng linh kiện</a:t>
            </a:r>
            <a:r>
              <a:rPr lang="en" sz="1100" i="0" u="none" strike="noStrike" cap="none">
                <a:solidFill>
                  <a:schemeClr val="dk1"/>
                </a:solidFill>
                <a:latin typeface="Inter"/>
                <a:ea typeface="Inter"/>
                <a:cs typeface="Inter"/>
                <a:sym typeface="Inter"/>
              </a:rPr>
              <a:t> → số liệu đối soát khớp giữa KTV và kho</a:t>
            </a:r>
            <a:endParaRPr sz="1100" i="0" u="none" strike="noStrike" cap="none">
              <a:solidFill>
                <a:schemeClr val="dk1"/>
              </a:solidFill>
              <a:latin typeface="Inter"/>
              <a:ea typeface="Inter"/>
              <a:cs typeface="Inter"/>
              <a:sym typeface="Inter"/>
            </a:endParaRPr>
          </a:p>
          <a:p>
            <a:pPr marL="457200" marR="0" lvl="0" indent="-298450" algn="l" rtl="0">
              <a:lnSpc>
                <a:spcPct val="115000"/>
              </a:lnSpc>
              <a:spcBef>
                <a:spcPts val="0"/>
              </a:spcBef>
              <a:spcAft>
                <a:spcPts val="0"/>
              </a:spcAft>
              <a:buClr>
                <a:schemeClr val="dk1"/>
              </a:buClr>
              <a:buSzPts val="1100"/>
              <a:buFont typeface="Arial"/>
              <a:buChar char="●"/>
            </a:pPr>
            <a:r>
              <a:rPr lang="en" sz="1100" b="1" i="0" u="none" strike="noStrike" cap="none">
                <a:solidFill>
                  <a:schemeClr val="dk1"/>
                </a:solidFill>
                <a:latin typeface="Inter"/>
                <a:ea typeface="Inter"/>
                <a:cs typeface="Inter"/>
                <a:sym typeface="Inter"/>
              </a:rPr>
              <a:t>Điều tra chênh lệch kho – KTV</a:t>
            </a:r>
            <a:r>
              <a:rPr lang="en" sz="1100" i="0" u="none" strike="noStrike" cap="none">
                <a:solidFill>
                  <a:schemeClr val="dk1"/>
                </a:solidFill>
                <a:latin typeface="Inter"/>
                <a:ea typeface="Inter"/>
                <a:cs typeface="Inter"/>
                <a:sym typeface="Inter"/>
              </a:rPr>
              <a:t> → số liệu không khớp, cần rà soát lại</a:t>
            </a:r>
            <a:endParaRPr sz="1100" i="0" u="none" strike="noStrike" cap="none">
              <a:solidFill>
                <a:schemeClr val="dk1"/>
              </a:solidFill>
              <a:latin typeface="Inter"/>
              <a:ea typeface="Inter"/>
              <a:cs typeface="Inter"/>
              <a:sym typeface="Inter"/>
            </a:endParaRPr>
          </a:p>
          <a:p>
            <a:pPr marL="457200" marR="0" lvl="0" indent="-298450" algn="l" rtl="0">
              <a:lnSpc>
                <a:spcPct val="115000"/>
              </a:lnSpc>
              <a:spcBef>
                <a:spcPts val="0"/>
              </a:spcBef>
              <a:spcAft>
                <a:spcPts val="0"/>
              </a:spcAft>
              <a:buClr>
                <a:schemeClr val="dk1"/>
              </a:buClr>
              <a:buSzPts val="1100"/>
              <a:buFont typeface="Arial"/>
              <a:buChar char="●"/>
            </a:pPr>
            <a:r>
              <a:rPr lang="en" sz="1100" b="1" i="0" u="none" strike="noStrike" cap="none">
                <a:solidFill>
                  <a:schemeClr val="dk1"/>
                </a:solidFill>
                <a:latin typeface="Inter"/>
                <a:ea typeface="Inter"/>
                <a:cs typeface="Inter"/>
                <a:sym typeface="Inter"/>
              </a:rPr>
              <a:t>Yêu cầu đổi/bảo hành linh kiện lỗi</a:t>
            </a:r>
            <a:r>
              <a:rPr lang="en" sz="1100" i="0" u="none" strike="noStrike" cap="none">
                <a:solidFill>
                  <a:schemeClr val="dk1"/>
                </a:solidFill>
                <a:latin typeface="Inter"/>
                <a:ea typeface="Inter"/>
                <a:cs typeface="Inter"/>
                <a:sym typeface="Inter"/>
              </a:rPr>
              <a:t> hoặc </a:t>
            </a:r>
            <a:r>
              <a:rPr lang="en" sz="1100" b="1" i="0" u="none" strike="noStrike" cap="none">
                <a:solidFill>
                  <a:schemeClr val="dk1"/>
                </a:solidFill>
                <a:latin typeface="Inter"/>
                <a:ea typeface="Inter"/>
                <a:cs typeface="Inter"/>
                <a:sym typeface="Inter"/>
              </a:rPr>
              <a:t>yêu cầu bồi hoàn linh kiện mất</a:t>
            </a:r>
            <a:r>
              <a:rPr lang="en" sz="1100" i="0" u="none" strike="noStrike" cap="none">
                <a:solidFill>
                  <a:schemeClr val="dk1"/>
                </a:solidFill>
                <a:latin typeface="Inter"/>
                <a:ea typeface="Inter"/>
                <a:cs typeface="Inter"/>
                <a:sym typeface="Inter"/>
              </a:rPr>
              <a:t> → linh kiện bị lỗi hoặc thất lạc trong quá trình sử dụng</a:t>
            </a:r>
            <a:endParaRPr sz="1100" i="0" u="none" strike="noStrike" cap="none">
              <a:solidFill>
                <a:schemeClr val="dk1"/>
              </a:solidFill>
              <a:latin typeface="Inter"/>
              <a:ea typeface="Inter"/>
              <a:cs typeface="Inter"/>
              <a:sym typeface="Inter"/>
            </a:endParaRPr>
          </a:p>
          <a:p>
            <a:pPr marL="457200" marR="0" lvl="0" indent="-298450" algn="l" rtl="0">
              <a:lnSpc>
                <a:spcPct val="115000"/>
              </a:lnSpc>
              <a:spcBef>
                <a:spcPts val="0"/>
              </a:spcBef>
              <a:spcAft>
                <a:spcPts val="0"/>
              </a:spcAft>
              <a:buClr>
                <a:schemeClr val="dk1"/>
              </a:buClr>
              <a:buSzPts val="1100"/>
              <a:buFont typeface="Arial"/>
              <a:buChar char="●"/>
            </a:pPr>
            <a:r>
              <a:rPr lang="en" sz="1100" b="1" i="0" u="none" strike="noStrike" cap="none">
                <a:solidFill>
                  <a:schemeClr val="dk1"/>
                </a:solidFill>
                <a:latin typeface="Inter"/>
                <a:ea typeface="Inter"/>
                <a:cs typeface="Inter"/>
                <a:sym typeface="Inter"/>
              </a:rPr>
              <a:t>Kho đối soát thủ công</a:t>
            </a:r>
            <a:r>
              <a:rPr lang="en" sz="1100" i="0" u="none" strike="noStrike" cap="none">
                <a:solidFill>
                  <a:schemeClr val="dk1"/>
                </a:solidFill>
                <a:latin typeface="Inter"/>
                <a:ea typeface="Inter"/>
                <a:cs typeface="Inter"/>
                <a:sym typeface="Inter"/>
              </a:rPr>
              <a:t> → linh kiện quét không thành công và team App không xử lý được</a:t>
            </a:r>
            <a:endParaRPr sz="1100" i="0" u="none" strike="noStrike" cap="none">
              <a:solidFill>
                <a:schemeClr val="dk1"/>
              </a:solidFill>
              <a:latin typeface="Inter"/>
              <a:ea typeface="Inter"/>
              <a:cs typeface="Inter"/>
              <a:sym typeface="Inter"/>
            </a:endParaRPr>
          </a:p>
          <a:p>
            <a:pPr marL="0" marR="0" lvl="0" indent="0" algn="l" rtl="0">
              <a:lnSpc>
                <a:spcPct val="115000"/>
              </a:lnSpc>
              <a:spcBef>
                <a:spcPts val="1200"/>
              </a:spcBef>
              <a:spcAft>
                <a:spcPts val="0"/>
              </a:spcAft>
              <a:buClr>
                <a:srgbClr val="000000"/>
              </a:buClr>
              <a:buSzPts val="1100"/>
              <a:buFont typeface="Arial"/>
              <a:buNone/>
            </a:pPr>
            <a:endParaRPr sz="1100" b="1" i="0" u="none" strike="noStrike" cap="none">
              <a:solidFill>
                <a:schemeClr val="dk1"/>
              </a:solidFill>
              <a:latin typeface="Inter"/>
              <a:ea typeface="Inter"/>
              <a:cs typeface="Inter"/>
              <a:sym typeface="Inter"/>
            </a:endParaRPr>
          </a:p>
          <a:p>
            <a:pPr marL="0" marR="0" lvl="0" indent="0" algn="l" rtl="0">
              <a:lnSpc>
                <a:spcPct val="115000"/>
              </a:lnSpc>
              <a:spcBef>
                <a:spcPts val="1200"/>
              </a:spcBef>
              <a:spcAft>
                <a:spcPts val="1200"/>
              </a:spcAft>
              <a:buClr>
                <a:srgbClr val="000000"/>
              </a:buClr>
              <a:buSzPts val="1100"/>
              <a:buFont typeface="Arial"/>
              <a:buNone/>
            </a:pPr>
            <a:endParaRPr sz="1100" b="1" i="0" u="none" strike="noStrike" cap="none">
              <a:solidFill>
                <a:schemeClr val="dk1"/>
              </a:solidFill>
              <a:latin typeface="Inter"/>
              <a:ea typeface="Inter"/>
              <a:cs typeface="Inter"/>
              <a:sym typeface="Inter"/>
            </a:endParaRPr>
          </a:p>
        </p:txBody>
      </p:sp>
      <p:pic>
        <p:nvPicPr>
          <p:cNvPr id="555" name="Google Shape;555;p28" title="Báo Cáo Linh Kiện KTV.drawio.png"/>
          <p:cNvPicPr preferRelativeResize="0"/>
          <p:nvPr/>
        </p:nvPicPr>
        <p:blipFill rotWithShape="1">
          <a:blip r:embed="rId4">
            <a:alphaModFix/>
          </a:blip>
          <a:srcRect/>
          <a:stretch/>
        </p:blipFill>
        <p:spPr>
          <a:xfrm>
            <a:off x="4769100" y="573749"/>
            <a:ext cx="4163148" cy="373122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559"/>
        <p:cNvGrpSpPr/>
        <p:nvPr/>
      </p:nvGrpSpPr>
      <p:grpSpPr>
        <a:xfrm>
          <a:off x="0" y="0"/>
          <a:ext cx="0" cy="0"/>
          <a:chOff x="0" y="0"/>
          <a:chExt cx="0" cy="0"/>
        </a:xfrm>
      </p:grpSpPr>
      <p:grpSp>
        <p:nvGrpSpPr>
          <p:cNvPr id="560" name="Google Shape;560;p29"/>
          <p:cNvGrpSpPr/>
          <p:nvPr/>
        </p:nvGrpSpPr>
        <p:grpSpPr>
          <a:xfrm>
            <a:off x="0" y="0"/>
            <a:ext cx="9144000" cy="5143500"/>
            <a:chOff x="0" y="0"/>
            <a:chExt cx="9144000" cy="5143500"/>
          </a:xfrm>
        </p:grpSpPr>
        <p:sp>
          <p:nvSpPr>
            <p:cNvPr id="561" name="Google Shape;561;p29"/>
            <p:cNvSpPr/>
            <p:nvPr/>
          </p:nvSpPr>
          <p:spPr>
            <a:xfrm>
              <a:off x="0" y="0"/>
              <a:ext cx="9144000" cy="5143500"/>
            </a:xfrm>
            <a:prstGeom prst="rect">
              <a:avLst/>
            </a:pr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562" name="Google Shape;562;p29"/>
            <p:cNvGrpSpPr/>
            <p:nvPr/>
          </p:nvGrpSpPr>
          <p:grpSpPr>
            <a:xfrm>
              <a:off x="8458200" y="381000"/>
              <a:ext cx="304800" cy="304800"/>
              <a:chOff x="0" y="0"/>
              <a:chExt cx="304800" cy="304800"/>
            </a:xfrm>
          </p:grpSpPr>
          <p:sp>
            <p:nvSpPr>
              <p:cNvPr id="563" name="Google Shape;563;p29"/>
              <p:cNvSpPr/>
              <p:nvPr/>
            </p:nvSpPr>
            <p:spPr>
              <a:xfrm>
                <a:off x="0" y="0"/>
                <a:ext cx="304800" cy="304800"/>
              </a:xfrm>
              <a:prstGeom prst="roundRect">
                <a:avLst>
                  <a:gd name="adj" fmla="val 125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64" name="Google Shape;564;p29"/>
              <p:cNvSpPr/>
              <p:nvPr/>
            </p:nvSpPr>
            <p:spPr>
              <a:xfrm>
                <a:off x="95250" y="95250"/>
                <a:ext cx="114300" cy="114300"/>
              </a:xfrm>
              <a:custGeom>
                <a:avLst/>
                <a:gdLst/>
                <a:ahLst/>
                <a:cxnLst/>
                <a:rect l="l" t="t" r="r" b="b"/>
                <a:pathLst>
                  <a:path w="120000" h="120000" extrusionOk="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65" name="Google Shape;565;p29"/>
              <p:cNvSpPr/>
              <p:nvPr/>
            </p:nvSpPr>
            <p:spPr>
              <a:xfrm>
                <a:off x="123825" y="123825"/>
                <a:ext cx="57300" cy="57300"/>
              </a:xfrm>
              <a:prstGeom prst="ellipse">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grpSp>
      <p:cxnSp>
        <p:nvCxnSpPr>
          <p:cNvPr id="566" name="Google Shape;566;p29"/>
          <p:cNvCxnSpPr/>
          <p:nvPr/>
        </p:nvCxnSpPr>
        <p:spPr>
          <a:xfrm>
            <a:off x="381000" y="1143000"/>
            <a:ext cx="8382000" cy="0"/>
          </a:xfrm>
          <a:prstGeom prst="straightConnector1">
            <a:avLst/>
          </a:prstGeom>
          <a:solidFill>
            <a:srgbClr val="FFFFFF"/>
          </a:solidFill>
          <a:ln w="14300" cap="flat" cmpd="sng">
            <a:solidFill>
              <a:srgbClr val="E2E8F0"/>
            </a:solidFill>
            <a:prstDash val="solid"/>
            <a:round/>
            <a:headEnd type="none" w="sm" len="sm"/>
            <a:tailEnd type="none" w="sm" len="sm"/>
          </a:ln>
        </p:spPr>
      </p:cxnSp>
      <p:grpSp>
        <p:nvGrpSpPr>
          <p:cNvPr id="567" name="Google Shape;567;p29"/>
          <p:cNvGrpSpPr/>
          <p:nvPr/>
        </p:nvGrpSpPr>
        <p:grpSpPr>
          <a:xfrm>
            <a:off x="381000" y="333375"/>
            <a:ext cx="7620000" cy="762000"/>
            <a:chOff x="0" y="0"/>
            <a:chExt cx="7620000" cy="762000"/>
          </a:xfrm>
        </p:grpSpPr>
        <p:sp>
          <p:nvSpPr>
            <p:cNvPr id="568" name="Google Shape;568;p29"/>
            <p:cNvSpPr/>
            <p:nvPr/>
          </p:nvSpPr>
          <p:spPr>
            <a:xfrm>
              <a:off x="0" y="0"/>
              <a:ext cx="7620000" cy="762000"/>
            </a:xfrm>
            <a:prstGeom prst="rect">
              <a:avLst/>
            </a:prstGeom>
            <a:solidFill>
              <a:srgbClr val="000000">
                <a:alpha val="0"/>
              </a:srgbClr>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69" name="Google Shape;569;p29"/>
            <p:cNvSpPr txBox="1"/>
            <p:nvPr/>
          </p:nvSpPr>
          <p:spPr>
            <a:xfrm>
              <a:off x="0" y="0"/>
              <a:ext cx="7620000" cy="762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 sz="2000" b="0" i="0" u="none" strike="noStrike" cap="none">
                  <a:solidFill>
                    <a:srgbClr val="0F172A"/>
                  </a:solidFill>
                  <a:latin typeface="Inter ExtraBold"/>
                  <a:ea typeface="Inter ExtraBold"/>
                  <a:cs typeface="Inter ExtraBold"/>
                  <a:sym typeface="Inter ExtraBold"/>
                </a:rPr>
                <a:t>Đánh giá độ phức tạp Quy trình Báo cáo linh kiện KTV</a:t>
              </a:r>
              <a:endParaRPr sz="2000" b="0" i="0" u="none" strike="noStrike" cap="none">
                <a:solidFill>
                  <a:srgbClr val="0F172A"/>
                </a:solidFill>
                <a:latin typeface="Inter ExtraBold"/>
                <a:ea typeface="Inter ExtraBold"/>
                <a:cs typeface="Inter ExtraBold"/>
                <a:sym typeface="Inter ExtraBold"/>
              </a:endParaRPr>
            </a:p>
            <a:p>
              <a:pPr marL="0" marR="0" lvl="0" indent="0" algn="l" rtl="0">
                <a:lnSpc>
                  <a:spcPct val="100000"/>
                </a:lnSpc>
                <a:spcBef>
                  <a:spcPts val="225"/>
                </a:spcBef>
                <a:spcAft>
                  <a:spcPts val="0"/>
                </a:spcAft>
                <a:buClr>
                  <a:srgbClr val="000000"/>
                </a:buClr>
                <a:buSzPts val="1100"/>
                <a:buFont typeface="Arial"/>
                <a:buNone/>
              </a:pPr>
              <a:r>
                <a:rPr lang="en" sz="1100" b="0" i="0" u="none" strike="noStrike" cap="none">
                  <a:solidFill>
                    <a:srgbClr val="007B7C"/>
                  </a:solidFill>
                  <a:latin typeface="Inter SemiBold"/>
                  <a:ea typeface="Inter SemiBold"/>
                  <a:cs typeface="Inter SemiBold"/>
                  <a:sym typeface="Inter SemiBold"/>
                </a:rPr>
                <a:t>Phân tích kỹ thuật cấu trúc vận hành đối soát giữa Kỹ thuật viên (KTV) và Kho hệ thống.</a:t>
              </a:r>
              <a:endParaRPr sz="1100" b="0" i="0" u="none" strike="noStrike" cap="none">
                <a:solidFill>
                  <a:srgbClr val="007B7C"/>
                </a:solidFill>
                <a:latin typeface="Inter SemiBold"/>
                <a:ea typeface="Inter SemiBold"/>
                <a:cs typeface="Inter SemiBold"/>
                <a:sym typeface="Inter SemiBold"/>
              </a:endParaRPr>
            </a:p>
          </p:txBody>
        </p:sp>
      </p:grpSp>
      <p:grpSp>
        <p:nvGrpSpPr>
          <p:cNvPr id="570" name="Google Shape;570;p29"/>
          <p:cNvGrpSpPr/>
          <p:nvPr/>
        </p:nvGrpSpPr>
        <p:grpSpPr>
          <a:xfrm>
            <a:off x="495300" y="1333500"/>
            <a:ext cx="2667000" cy="3381225"/>
            <a:chOff x="0" y="0"/>
            <a:chExt cx="2667000" cy="3381225"/>
          </a:xfrm>
        </p:grpSpPr>
        <p:grpSp>
          <p:nvGrpSpPr>
            <p:cNvPr id="571" name="Google Shape;571;p29"/>
            <p:cNvGrpSpPr/>
            <p:nvPr/>
          </p:nvGrpSpPr>
          <p:grpSpPr>
            <a:xfrm>
              <a:off x="0" y="0"/>
              <a:ext cx="2667000" cy="1619100"/>
              <a:chOff x="0" y="0"/>
              <a:chExt cx="2667000" cy="1619100"/>
            </a:xfrm>
          </p:grpSpPr>
          <p:sp>
            <p:nvSpPr>
              <p:cNvPr id="572" name="Google Shape;572;p29"/>
              <p:cNvSpPr/>
              <p:nvPr/>
            </p:nvSpPr>
            <p:spPr>
              <a:xfrm>
                <a:off x="0" y="0"/>
                <a:ext cx="2667000" cy="1619100"/>
              </a:xfrm>
              <a:prstGeom prst="roundRect">
                <a:avLst>
                  <a:gd name="adj" fmla="val 4705"/>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73" name="Google Shape;573;p29"/>
              <p:cNvSpPr/>
              <p:nvPr/>
            </p:nvSpPr>
            <p:spPr>
              <a:xfrm>
                <a:off x="0" y="0"/>
                <a:ext cx="57300" cy="1619100"/>
              </a:xfrm>
              <a:prstGeom prst="roundRect">
                <a:avLst>
                  <a:gd name="adj" fmla="val 500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74" name="Google Shape;574;p29"/>
              <p:cNvSpPr txBox="1"/>
              <p:nvPr/>
            </p:nvSpPr>
            <p:spPr>
              <a:xfrm>
                <a:off x="190500" y="152400"/>
                <a:ext cx="2286000" cy="13146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 sz="879" b="0">
                    <a:solidFill>
                      <a:srgbClr val="007B7C"/>
                    </a:solidFill>
                    <a:latin typeface="Inter SemiBold"/>
                    <a:ea typeface="Inter SemiBold"/>
                    <a:cs typeface="Inter SemiBold"/>
                    <a:sym typeface="Inter SemiBold"/>
                  </a:rPr>
                  <a:t>Cổng điều kiện (Exclusive Gateways)</a:t>
                </a:r>
                <a:endParaRPr sz="879" b="0">
                  <a:solidFill>
                    <a:srgbClr val="007B7C"/>
                  </a:solidFill>
                  <a:latin typeface="Inter SemiBold"/>
                  <a:ea typeface="Inter SemiBold"/>
                  <a:cs typeface="Inter SemiBold"/>
                  <a:sym typeface="Inter SemiBold"/>
                </a:endParaRPr>
              </a:p>
              <a:p>
                <a:pPr marL="0" lvl="0" indent="0" algn="l" rtl="0">
                  <a:spcBef>
                    <a:spcPts val="0"/>
                  </a:spcBef>
                  <a:spcAft>
                    <a:spcPts val="0"/>
                  </a:spcAft>
                  <a:buNone/>
                </a:pPr>
                <a:r>
                  <a:rPr lang="en" sz="2405" b="0">
                    <a:solidFill>
                      <a:srgbClr val="007B7C"/>
                    </a:solidFill>
                    <a:latin typeface="Inter ExtraBold"/>
                    <a:ea typeface="Inter ExtraBold"/>
                    <a:cs typeface="Inter ExtraBold"/>
                    <a:sym typeface="Inter ExtraBold"/>
                  </a:rPr>
                  <a:t>05 cổng</a:t>
                </a:r>
                <a:endParaRPr sz="879" b="0">
                  <a:solidFill>
                    <a:srgbClr val="007B7C"/>
                  </a:solidFill>
                  <a:latin typeface="Inter SemiBold"/>
                  <a:ea typeface="Inter SemiBold"/>
                  <a:cs typeface="Inter SemiBold"/>
                  <a:sym typeface="Inter SemiBold"/>
                </a:endParaRPr>
              </a:p>
              <a:p>
                <a:pPr marL="0" lvl="0" indent="0" algn="l" rtl="0">
                  <a:spcBef>
                    <a:spcPts val="0"/>
                  </a:spcBef>
                  <a:spcAft>
                    <a:spcPts val="0"/>
                  </a:spcAft>
                  <a:buNone/>
                </a:pPr>
                <a:r>
                  <a:rPr lang="en" sz="879" b="0">
                    <a:solidFill>
                      <a:srgbClr val="475569"/>
                    </a:solidFill>
                    <a:latin typeface="Inter"/>
                    <a:ea typeface="Inter"/>
                    <a:cs typeface="Inter"/>
                    <a:sym typeface="Inter"/>
                  </a:rPr>
                  <a:t>Kiểm soát rẽ nhánh quyết định then chốt: kiểm tra quét thành công, team App xử lý được, tình trạng linh kiện, lỗi hay mất, đối soát khớp số liệu.</a:t>
                </a:r>
                <a:endParaRPr sz="879" b="0">
                  <a:solidFill>
                    <a:srgbClr val="007B7C"/>
                  </a:solidFill>
                  <a:latin typeface="Inter SemiBold"/>
                  <a:ea typeface="Inter SemiBold"/>
                  <a:cs typeface="Inter SemiBold"/>
                  <a:sym typeface="Inter SemiBold"/>
                </a:endParaRPr>
              </a:p>
            </p:txBody>
          </p:sp>
        </p:grpSp>
        <p:grpSp>
          <p:nvGrpSpPr>
            <p:cNvPr id="575" name="Google Shape;575;p29"/>
            <p:cNvGrpSpPr/>
            <p:nvPr/>
          </p:nvGrpSpPr>
          <p:grpSpPr>
            <a:xfrm>
              <a:off x="0" y="1762125"/>
              <a:ext cx="2667000" cy="1619100"/>
              <a:chOff x="0" y="0"/>
              <a:chExt cx="2667000" cy="1619100"/>
            </a:xfrm>
          </p:grpSpPr>
          <p:sp>
            <p:nvSpPr>
              <p:cNvPr id="576" name="Google Shape;576;p29"/>
              <p:cNvSpPr/>
              <p:nvPr/>
            </p:nvSpPr>
            <p:spPr>
              <a:xfrm>
                <a:off x="0" y="0"/>
                <a:ext cx="2667000" cy="1619100"/>
              </a:xfrm>
              <a:prstGeom prst="roundRect">
                <a:avLst>
                  <a:gd name="adj" fmla="val 4705"/>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77" name="Google Shape;577;p29"/>
              <p:cNvSpPr/>
              <p:nvPr/>
            </p:nvSpPr>
            <p:spPr>
              <a:xfrm>
                <a:off x="0" y="0"/>
                <a:ext cx="57300" cy="1619100"/>
              </a:xfrm>
              <a:prstGeom prst="roundRect">
                <a:avLst>
                  <a:gd name="adj" fmla="val 50000"/>
                </a:avLst>
              </a:prstGeom>
              <a:solidFill>
                <a:srgbClr val="0284C7"/>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78" name="Google Shape;578;p29"/>
              <p:cNvSpPr txBox="1"/>
              <p:nvPr/>
            </p:nvSpPr>
            <p:spPr>
              <a:xfrm>
                <a:off x="190500" y="152400"/>
                <a:ext cx="2286000" cy="1314600"/>
              </a:xfrm>
              <a:prstGeom prst="rect">
                <a:avLst/>
              </a:prstGeom>
              <a:solidFill>
                <a:srgbClr val="000000">
                  <a:alpha val="0"/>
                </a:srgbClr>
              </a:solidFill>
              <a:ln>
                <a:noFill/>
              </a:ln>
            </p:spPr>
            <p:txBody>
              <a:bodyPr spcFirstLastPara="1" wrap="square" lIns="0" tIns="0" rIns="0" bIns="0" anchor="t" anchorCtr="0">
                <a:noAutofit/>
              </a:bodyPr>
              <a:lstStyle/>
              <a:p>
                <a:pPr marL="0" lvl="0" indent="0" algn="l" rtl="0">
                  <a:spcBef>
                    <a:spcPts val="0"/>
                  </a:spcBef>
                  <a:spcAft>
                    <a:spcPts val="0"/>
                  </a:spcAft>
                  <a:buNone/>
                </a:pPr>
                <a:r>
                  <a:rPr lang="en" sz="950" b="0">
                    <a:solidFill>
                      <a:srgbClr val="0284C7"/>
                    </a:solidFill>
                    <a:latin typeface="Inter SemiBold"/>
                    <a:ea typeface="Inter SemiBold"/>
                    <a:cs typeface="Inter SemiBold"/>
                    <a:sym typeface="Inter SemiBold"/>
                  </a:rPr>
                  <a:t>Cổng song song (Parallel Gateways)</a:t>
                </a:r>
                <a:endParaRPr sz="950" b="0">
                  <a:solidFill>
                    <a:srgbClr val="0284C7"/>
                  </a:solidFill>
                  <a:latin typeface="Inter SemiBold"/>
                  <a:ea typeface="Inter SemiBold"/>
                  <a:cs typeface="Inter SemiBold"/>
                  <a:sym typeface="Inter SemiBold"/>
                </a:endParaRPr>
              </a:p>
              <a:p>
                <a:pPr marL="0" lvl="0" indent="0" algn="l" rtl="0">
                  <a:spcBef>
                    <a:spcPts val="0"/>
                  </a:spcBef>
                  <a:spcAft>
                    <a:spcPts val="0"/>
                  </a:spcAft>
                  <a:buNone/>
                </a:pPr>
                <a:r>
                  <a:rPr lang="en" sz="2600" b="0">
                    <a:solidFill>
                      <a:srgbClr val="0284C7"/>
                    </a:solidFill>
                    <a:latin typeface="Inter ExtraBold"/>
                    <a:ea typeface="Inter ExtraBold"/>
                    <a:cs typeface="Inter ExtraBold"/>
                    <a:sym typeface="Inter ExtraBold"/>
                  </a:rPr>
                  <a:t>01 cặp</a:t>
                </a:r>
                <a:endParaRPr sz="950" b="0">
                  <a:solidFill>
                    <a:srgbClr val="0284C7"/>
                  </a:solidFill>
                  <a:latin typeface="Inter SemiBold"/>
                  <a:ea typeface="Inter SemiBold"/>
                  <a:cs typeface="Inter SemiBold"/>
                  <a:sym typeface="Inter SemiBold"/>
                </a:endParaRPr>
              </a:p>
              <a:p>
                <a:pPr marL="0" lvl="0" indent="0" algn="l" rtl="0">
                  <a:spcBef>
                    <a:spcPts val="0"/>
                  </a:spcBef>
                  <a:spcAft>
                    <a:spcPts val="0"/>
                  </a:spcAft>
                  <a:buNone/>
                </a:pPr>
                <a:r>
                  <a:rPr lang="en" sz="950" b="0">
                    <a:solidFill>
                      <a:srgbClr val="475569"/>
                    </a:solidFill>
                    <a:latin typeface="Inter"/>
                    <a:ea typeface="Inter"/>
                    <a:cs typeface="Inter"/>
                    <a:sym typeface="Inter"/>
                  </a:rPr>
                  <a:t>Sử dụng để đồng bộ hóa: Vừa quét bill sử dụng vừa cập nhật tồn kho thực tế.</a:t>
                </a:r>
                <a:endParaRPr sz="950" b="0">
                  <a:solidFill>
                    <a:srgbClr val="0284C7"/>
                  </a:solidFill>
                  <a:latin typeface="Inter SemiBold"/>
                  <a:ea typeface="Inter SemiBold"/>
                  <a:cs typeface="Inter SemiBold"/>
                  <a:sym typeface="Inter SemiBold"/>
                </a:endParaRPr>
              </a:p>
            </p:txBody>
          </p:sp>
        </p:grpSp>
      </p:grpSp>
      <p:grpSp>
        <p:nvGrpSpPr>
          <p:cNvPr id="579" name="Google Shape;579;p29"/>
          <p:cNvGrpSpPr/>
          <p:nvPr/>
        </p:nvGrpSpPr>
        <p:grpSpPr>
          <a:xfrm>
            <a:off x="3390900" y="1333500"/>
            <a:ext cx="5372100" cy="3381300"/>
            <a:chOff x="0" y="0"/>
            <a:chExt cx="5372100" cy="3381300"/>
          </a:xfrm>
        </p:grpSpPr>
        <p:sp>
          <p:nvSpPr>
            <p:cNvPr id="580" name="Google Shape;580;p29"/>
            <p:cNvSpPr/>
            <p:nvPr/>
          </p:nvSpPr>
          <p:spPr>
            <a:xfrm>
              <a:off x="0" y="0"/>
              <a:ext cx="5372100" cy="3381300"/>
            </a:xfrm>
            <a:prstGeom prst="roundRect">
              <a:avLst>
                <a:gd name="adj" fmla="val 2253"/>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81" name="Google Shape;581;p29"/>
            <p:cNvSpPr/>
            <p:nvPr/>
          </p:nvSpPr>
          <p:spPr>
            <a:xfrm>
              <a:off x="0" y="0"/>
              <a:ext cx="5372100" cy="57300"/>
            </a:xfrm>
            <a:prstGeom prst="roundRect">
              <a:avLst>
                <a:gd name="adj" fmla="val 500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82" name="Google Shape;582;p29"/>
            <p:cNvSpPr txBox="1"/>
            <p:nvPr/>
          </p:nvSpPr>
          <p:spPr>
            <a:xfrm>
              <a:off x="228600" y="228600"/>
              <a:ext cx="4914900" cy="29241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0F172A"/>
                  </a:solidFill>
                  <a:latin typeface="Inter ExtraBold"/>
                  <a:ea typeface="Inter ExtraBold"/>
                  <a:cs typeface="Inter ExtraBold"/>
                  <a:sym typeface="Inter ExtraBold"/>
                </a:rPr>
                <a:t>Đặc tính Vận hành &amp; Thách thức</a:t>
              </a:r>
              <a:endParaRPr sz="1400" b="0" i="0" u="none" strike="noStrike" cap="none">
                <a:solidFill>
                  <a:srgbClr val="0F172A"/>
                </a:solidFill>
                <a:latin typeface="Inter ExtraBold"/>
                <a:ea typeface="Inter ExtraBold"/>
                <a:cs typeface="Inter ExtraBold"/>
                <a:sym typeface="Inter ExtraBold"/>
              </a:endParaRPr>
            </a:p>
            <a:p>
              <a:pPr marL="0" marR="0" lvl="0" indent="0" algn="l" rtl="0">
                <a:lnSpc>
                  <a:spcPct val="100000"/>
                </a:lnSpc>
                <a:spcBef>
                  <a:spcPts val="788"/>
                </a:spcBef>
                <a:spcAft>
                  <a:spcPts val="0"/>
                </a:spcAft>
                <a:buClr>
                  <a:srgbClr val="000000"/>
                </a:buClr>
                <a:buSzPts val="1000"/>
                <a:buFont typeface="Arial"/>
                <a:buNone/>
              </a:pPr>
              <a:r>
                <a:rPr lang="en" sz="1000" b="0" i="0" u="none" strike="noStrike" cap="none">
                  <a:solidFill>
                    <a:srgbClr val="475569"/>
                  </a:solidFill>
                  <a:latin typeface="Inter"/>
                  <a:ea typeface="Inter"/>
                  <a:cs typeface="Inter"/>
                  <a:sym typeface="Inter"/>
                </a:rPr>
                <a:t>Đây là quy trình kiểm soát tài sản trọng yếu, yêu cầu sự chính xác tuyệt đối trong việc ghi nhận luân chuyển vật tư. Quy trình phải xử lý liên tục các luồng ngoại lệ (exception handling) khi xảy ra sự cố kỹ thuật hoặc mất mát linh kiện.</a:t>
              </a:r>
              <a:endParaRPr sz="1000" b="0" i="0" u="none" strike="noStrike" cap="none">
                <a:solidFill>
                  <a:srgbClr val="475569"/>
                </a:solidFill>
                <a:latin typeface="Inter"/>
                <a:ea typeface="Inter"/>
                <a:cs typeface="Inter"/>
                <a:sym typeface="Inter"/>
              </a:endParaRPr>
            </a:p>
            <a:p>
              <a:pPr marL="0" marR="0" lvl="0" indent="0" algn="l" rtl="0">
                <a:lnSpc>
                  <a:spcPct val="100000"/>
                </a:lnSpc>
                <a:spcBef>
                  <a:spcPts val="788"/>
                </a:spcBef>
                <a:spcAft>
                  <a:spcPts val="0"/>
                </a:spcAft>
                <a:buClr>
                  <a:srgbClr val="000000"/>
                </a:buClr>
                <a:buSzPts val="1000"/>
                <a:buFont typeface="Arial"/>
                <a:buNone/>
              </a:pPr>
              <a:r>
                <a:rPr lang="en" sz="1000" b="1" i="0" u="none" strike="noStrike" cap="none">
                  <a:solidFill>
                    <a:srgbClr val="0F172A"/>
                  </a:solidFill>
                  <a:latin typeface="Inter"/>
                  <a:ea typeface="Inter"/>
                  <a:cs typeface="Inter"/>
                  <a:sym typeface="Inter"/>
                </a:rPr>
                <a:t>⚡ Điểm mấu chốt kỹ thuật:</a:t>
              </a:r>
              <a:endParaRPr sz="1000" b="1" i="0" u="none" strike="noStrike" cap="none">
                <a:solidFill>
                  <a:srgbClr val="0F172A"/>
                </a:solidFill>
                <a:latin typeface="Inter"/>
                <a:ea typeface="Inter"/>
                <a:cs typeface="Inter"/>
                <a:sym typeface="Inter"/>
              </a:endParaRPr>
            </a:p>
            <a:p>
              <a:pPr marL="457200" marR="0" lvl="0" indent="-288925" algn="l" rtl="0">
                <a:lnSpc>
                  <a:spcPct val="100000"/>
                </a:lnSpc>
                <a:spcBef>
                  <a:spcPts val="338"/>
                </a:spcBef>
                <a:spcAft>
                  <a:spcPts val="0"/>
                </a:spcAft>
                <a:buClr>
                  <a:srgbClr val="475569"/>
                </a:buClr>
                <a:buSzPts val="950"/>
                <a:buFont typeface="Inter"/>
                <a:buChar char="●"/>
              </a:pPr>
              <a:r>
                <a:rPr lang="en" sz="950" b="0" i="0" u="none" strike="noStrike" cap="none">
                  <a:solidFill>
                    <a:srgbClr val="475569"/>
                  </a:solidFill>
                  <a:latin typeface="Inter"/>
                  <a:ea typeface="Inter"/>
                  <a:cs typeface="Inter"/>
                  <a:sym typeface="Inter"/>
                </a:rPr>
                <a:t>Đòi hỏi sự đồng bộ hóa cao giữa dữ liệu thực địa (KTV) và dữ liệu quản trị kho (Hệ thống). Mọi sự không khớp số liệu đều kích hoạt quy trình điều tra chênh lệch.</a:t>
              </a:r>
              <a:endParaRPr sz="950" b="0" i="0" u="none" strike="noStrike" cap="none">
                <a:solidFill>
                  <a:srgbClr val="475569"/>
                </a:solidFill>
                <a:latin typeface="Inter"/>
                <a:ea typeface="Inter"/>
                <a:cs typeface="Inter"/>
                <a:sym typeface="Inter"/>
              </a:endParaRPr>
            </a:p>
            <a:p>
              <a:pPr marL="0" marR="0" lvl="0" indent="0" algn="l" rtl="0">
                <a:lnSpc>
                  <a:spcPct val="100000"/>
                </a:lnSpc>
                <a:spcBef>
                  <a:spcPts val="900"/>
                </a:spcBef>
                <a:spcAft>
                  <a:spcPts val="0"/>
                </a:spcAft>
                <a:buClr>
                  <a:srgbClr val="000000"/>
                </a:buClr>
                <a:buSzPts val="950"/>
                <a:buFont typeface="Arial"/>
                <a:buNone/>
              </a:pPr>
              <a:r>
                <a:rPr lang="en" sz="950" b="0" i="0" u="none" strike="noStrike" cap="none">
                  <a:solidFill>
                    <a:srgbClr val="991B1B"/>
                  </a:solidFill>
                  <a:highlight>
                    <a:srgbClr val="FEF2F2"/>
                  </a:highlight>
                  <a:latin typeface="Inter ExtraBold"/>
                  <a:ea typeface="Inter ExtraBold"/>
                  <a:cs typeface="Inter ExtraBold"/>
                  <a:sym typeface="Inter ExtraBold"/>
                </a:rPr>
                <a:t>CẢNH BÁO RỦI RO THAO TÁC</a:t>
              </a:r>
              <a:endParaRPr sz="950" b="0" i="0" u="none" strike="noStrike" cap="none">
                <a:solidFill>
                  <a:srgbClr val="991B1B"/>
                </a:solidFill>
                <a:highlight>
                  <a:srgbClr val="FEF2F2"/>
                </a:highlight>
                <a:latin typeface="Inter ExtraBold"/>
                <a:ea typeface="Inter ExtraBold"/>
                <a:cs typeface="Inter ExtraBold"/>
                <a:sym typeface="Inter ExtraBold"/>
              </a:endParaRPr>
            </a:p>
            <a:p>
              <a:pPr marL="0" marR="0" lvl="0" indent="0" algn="l" rtl="0">
                <a:lnSpc>
                  <a:spcPct val="100000"/>
                </a:lnSpc>
                <a:spcBef>
                  <a:spcPts val="225"/>
                </a:spcBef>
                <a:spcAft>
                  <a:spcPts val="0"/>
                </a:spcAft>
                <a:buClr>
                  <a:srgbClr val="000000"/>
                </a:buClr>
                <a:buSzPts val="920"/>
                <a:buFont typeface="Arial"/>
                <a:buNone/>
              </a:pPr>
              <a:r>
                <a:rPr lang="en" sz="920" b="1" i="0" u="none" strike="noStrike" cap="none">
                  <a:solidFill>
                    <a:srgbClr val="991B1B"/>
                  </a:solidFill>
                  <a:highlight>
                    <a:srgbClr val="FEF2F2"/>
                  </a:highlight>
                  <a:latin typeface="Inter"/>
                  <a:ea typeface="Inter"/>
                  <a:cs typeface="Inter"/>
                  <a:sym typeface="Inter"/>
                </a:rPr>
                <a:t>Rủi rỏ sai sót tập trung</a:t>
              </a:r>
              <a:r>
                <a:rPr lang="en" sz="920" b="0" i="0" u="none" strike="noStrike" cap="none">
                  <a:solidFill>
                    <a:srgbClr val="7F1D1D"/>
                  </a:solidFill>
                  <a:highlight>
                    <a:srgbClr val="FEF2F2"/>
                  </a:highlight>
                  <a:latin typeface="Inter"/>
                  <a:ea typeface="Inter"/>
                  <a:cs typeface="Inter"/>
                  <a:sym typeface="Inter"/>
                </a:rPr>
                <a:t> ở khâu phân loại trạng thái linh kiện (nhầm lẫn giữa Hỏng/Mất) và thao tác quét mã thủ công, dễ dẫn đến lệch kho nghiêm trọng nếu thiếu đối soát chặt chẽ.</a:t>
              </a:r>
              <a:endParaRPr sz="920" b="0" i="0" u="none" strike="noStrike" cap="none">
                <a:solidFill>
                  <a:srgbClr val="7F1D1D"/>
                </a:solidFill>
                <a:highlight>
                  <a:srgbClr val="FEF2F2"/>
                </a:highlight>
                <a:latin typeface="Inter"/>
                <a:ea typeface="Inter"/>
                <a:cs typeface="Inter"/>
                <a:sym typeface="Inter"/>
              </a:endParaRP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586"/>
        <p:cNvGrpSpPr/>
        <p:nvPr/>
      </p:nvGrpSpPr>
      <p:grpSpPr>
        <a:xfrm>
          <a:off x="0" y="0"/>
          <a:ext cx="0" cy="0"/>
          <a:chOff x="0" y="0"/>
          <a:chExt cx="0" cy="0"/>
        </a:xfrm>
      </p:grpSpPr>
      <p:sp>
        <p:nvSpPr>
          <p:cNvPr id="587" name="Google Shape;587;p30"/>
          <p:cNvSpPr/>
          <p:nvPr/>
        </p:nvSpPr>
        <p:spPr>
          <a:xfrm>
            <a:off x="0" y="0"/>
            <a:ext cx="9144000" cy="5143500"/>
          </a:xfrm>
          <a:prstGeom prst="rect">
            <a:avLst/>
          </a:pr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grpSp>
        <p:nvGrpSpPr>
          <p:cNvPr id="588" name="Google Shape;588;p30"/>
          <p:cNvGrpSpPr/>
          <p:nvPr/>
        </p:nvGrpSpPr>
        <p:grpSpPr>
          <a:xfrm>
            <a:off x="8458200" y="381000"/>
            <a:ext cx="304800" cy="304800"/>
            <a:chOff x="0" y="0"/>
            <a:chExt cx="304800" cy="304800"/>
          </a:xfrm>
        </p:grpSpPr>
        <p:sp>
          <p:nvSpPr>
            <p:cNvPr id="589" name="Google Shape;589;p30"/>
            <p:cNvSpPr/>
            <p:nvPr/>
          </p:nvSpPr>
          <p:spPr>
            <a:xfrm>
              <a:off x="0" y="0"/>
              <a:ext cx="304800" cy="304800"/>
            </a:xfrm>
            <a:prstGeom prst="roundRect">
              <a:avLst>
                <a:gd name="adj" fmla="val 125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90" name="Google Shape;590;p30"/>
            <p:cNvSpPr/>
            <p:nvPr/>
          </p:nvSpPr>
          <p:spPr>
            <a:xfrm>
              <a:off x="95250" y="95250"/>
              <a:ext cx="114300" cy="114300"/>
            </a:xfrm>
            <a:custGeom>
              <a:avLst/>
              <a:gdLst/>
              <a:ahLst/>
              <a:cxnLst/>
              <a:rect l="l" t="t" r="r" b="b"/>
              <a:pathLst>
                <a:path w="120000" h="120000" extrusionOk="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91" name="Google Shape;591;p30"/>
            <p:cNvSpPr/>
            <p:nvPr/>
          </p:nvSpPr>
          <p:spPr>
            <a:xfrm>
              <a:off x="123825" y="123825"/>
              <a:ext cx="57300" cy="57300"/>
            </a:xfrm>
            <a:prstGeom prst="ellipse">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cxnSp>
        <p:nvCxnSpPr>
          <p:cNvPr id="592" name="Google Shape;592;p30"/>
          <p:cNvCxnSpPr/>
          <p:nvPr/>
        </p:nvCxnSpPr>
        <p:spPr>
          <a:xfrm>
            <a:off x="381000" y="1143000"/>
            <a:ext cx="8382000" cy="0"/>
          </a:xfrm>
          <a:prstGeom prst="straightConnector1">
            <a:avLst/>
          </a:prstGeom>
          <a:solidFill>
            <a:srgbClr val="FFFFFF"/>
          </a:solidFill>
          <a:ln w="14300" cap="flat" cmpd="sng">
            <a:solidFill>
              <a:srgbClr val="E2E8F0"/>
            </a:solidFill>
            <a:prstDash val="solid"/>
            <a:round/>
            <a:headEnd type="none" w="sm" len="sm"/>
            <a:tailEnd type="none" w="sm" len="sm"/>
          </a:ln>
        </p:spPr>
      </p:cxnSp>
      <p:sp>
        <p:nvSpPr>
          <p:cNvPr id="593" name="Google Shape;593;p30"/>
          <p:cNvSpPr txBox="1"/>
          <p:nvPr/>
        </p:nvSpPr>
        <p:spPr>
          <a:xfrm>
            <a:off x="381000" y="333375"/>
            <a:ext cx="7620000" cy="762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 sz="2000" b="0" i="0" u="none" strike="noStrike" cap="none" dirty="0">
                <a:solidFill>
                  <a:srgbClr val="0F172A"/>
                </a:solidFill>
                <a:latin typeface="Inter ExtraBold"/>
                <a:ea typeface="Inter ExtraBold"/>
                <a:cs typeface="Inter ExtraBold"/>
                <a:sym typeface="Inter ExtraBold"/>
              </a:rPr>
              <a:t>Phương pháp dựa trên bằng chứng (Evidence-based)</a:t>
            </a:r>
            <a:endParaRPr lang="vi-VN" sz="1100" b="0" i="0" u="none" strike="noStrike" cap="none" dirty="0">
              <a:solidFill>
                <a:srgbClr val="007B7C"/>
              </a:solidFill>
              <a:latin typeface="Inter SemiBold"/>
              <a:ea typeface="Inter SemiBold"/>
              <a:cs typeface="Inter SemiBold"/>
              <a:sym typeface="Inter SemiBold"/>
            </a:endParaRPr>
          </a:p>
          <a:p>
            <a:pPr lvl="0">
              <a:spcBef>
                <a:spcPts val="375"/>
              </a:spcBef>
              <a:buSzPts val="1100"/>
            </a:pPr>
            <a:r>
              <a:rPr lang="en-US" sz="1100" dirty="0" err="1">
                <a:solidFill>
                  <a:srgbClr val="007B7C"/>
                </a:solidFill>
                <a:latin typeface="Inter SemiBold"/>
                <a:ea typeface="Inter SemiBold"/>
              </a:rPr>
              <a:t>Sử</a:t>
            </a:r>
            <a:r>
              <a:rPr lang="en-US" sz="1100" dirty="0">
                <a:solidFill>
                  <a:srgbClr val="007B7C"/>
                </a:solidFill>
                <a:latin typeface="Inter SemiBold"/>
                <a:ea typeface="Inter SemiBold"/>
              </a:rPr>
              <a:t> </a:t>
            </a:r>
            <a:r>
              <a:rPr lang="en-US" sz="1100" dirty="0" err="1">
                <a:solidFill>
                  <a:srgbClr val="007B7C"/>
                </a:solidFill>
                <a:latin typeface="Inter SemiBold"/>
                <a:ea typeface="Inter SemiBold"/>
              </a:rPr>
              <a:t>dụng</a:t>
            </a:r>
            <a:r>
              <a:rPr lang="en-US" sz="1100" dirty="0">
                <a:solidFill>
                  <a:srgbClr val="007B7C"/>
                </a:solidFill>
                <a:latin typeface="Inter SemiBold"/>
                <a:ea typeface="Inter SemiBold"/>
              </a:rPr>
              <a:t> </a:t>
            </a:r>
            <a:r>
              <a:rPr lang="en-US" sz="1100" dirty="0" err="1">
                <a:solidFill>
                  <a:srgbClr val="007B7C"/>
                </a:solidFill>
                <a:latin typeface="Inter SemiBold"/>
                <a:ea typeface="Inter SemiBold"/>
              </a:rPr>
              <a:t>các</a:t>
            </a:r>
            <a:r>
              <a:rPr lang="en-US" sz="1100" dirty="0">
                <a:solidFill>
                  <a:srgbClr val="007B7C"/>
                </a:solidFill>
                <a:latin typeface="Inter SemiBold"/>
                <a:ea typeface="Inter SemiBold"/>
              </a:rPr>
              <a:t> </a:t>
            </a:r>
            <a:r>
              <a:rPr lang="en-US" sz="1100" dirty="0" err="1">
                <a:solidFill>
                  <a:srgbClr val="007B7C"/>
                </a:solidFill>
                <a:latin typeface="Inter SemiBold"/>
                <a:ea typeface="Inter SemiBold"/>
              </a:rPr>
              <a:t>thông</a:t>
            </a:r>
            <a:r>
              <a:rPr lang="en-US" sz="1100" dirty="0">
                <a:solidFill>
                  <a:srgbClr val="007B7C"/>
                </a:solidFill>
                <a:latin typeface="Inter SemiBold"/>
                <a:ea typeface="Inter SemiBold"/>
              </a:rPr>
              <a:t> tin, </a:t>
            </a:r>
            <a:r>
              <a:rPr lang="en-US" sz="1100" dirty="0" err="1">
                <a:solidFill>
                  <a:srgbClr val="007B7C"/>
                </a:solidFill>
                <a:latin typeface="Inter SemiBold"/>
                <a:ea typeface="Inter SemiBold"/>
              </a:rPr>
              <a:t>tài</a:t>
            </a:r>
            <a:r>
              <a:rPr lang="en-US" sz="1100" dirty="0">
                <a:solidFill>
                  <a:srgbClr val="007B7C"/>
                </a:solidFill>
                <a:latin typeface="Inter SemiBold"/>
                <a:ea typeface="Inter SemiBold"/>
              </a:rPr>
              <a:t> </a:t>
            </a:r>
            <a:r>
              <a:rPr lang="en-US" sz="1100" dirty="0" err="1">
                <a:solidFill>
                  <a:srgbClr val="007B7C"/>
                </a:solidFill>
                <a:latin typeface="Inter SemiBold"/>
                <a:ea typeface="Inter SemiBold"/>
              </a:rPr>
              <a:t>liệu</a:t>
            </a:r>
            <a:r>
              <a:rPr lang="en-US" sz="1100" dirty="0">
                <a:solidFill>
                  <a:srgbClr val="007B7C"/>
                </a:solidFill>
                <a:latin typeface="Inter SemiBold"/>
                <a:ea typeface="Inter SemiBold"/>
              </a:rPr>
              <a:t> </a:t>
            </a:r>
            <a:r>
              <a:rPr lang="en-US" sz="1100" dirty="0" err="1">
                <a:solidFill>
                  <a:srgbClr val="007B7C"/>
                </a:solidFill>
                <a:latin typeface="Inter SemiBold"/>
                <a:ea typeface="Inter SemiBold"/>
              </a:rPr>
              <a:t>sẵn</a:t>
            </a:r>
            <a:r>
              <a:rPr lang="en-US" sz="1100" dirty="0">
                <a:solidFill>
                  <a:srgbClr val="007B7C"/>
                </a:solidFill>
                <a:latin typeface="Inter SemiBold"/>
                <a:ea typeface="Inter SemiBold"/>
              </a:rPr>
              <a:t> </a:t>
            </a:r>
            <a:r>
              <a:rPr lang="en-US" sz="1100" dirty="0" err="1">
                <a:solidFill>
                  <a:srgbClr val="007B7C"/>
                </a:solidFill>
                <a:latin typeface="Inter SemiBold"/>
                <a:ea typeface="Inter SemiBold"/>
              </a:rPr>
              <a:t>có</a:t>
            </a:r>
            <a:r>
              <a:rPr lang="en-US" sz="1100" dirty="0">
                <a:solidFill>
                  <a:srgbClr val="007B7C"/>
                </a:solidFill>
                <a:latin typeface="Inter SemiBold"/>
                <a:ea typeface="Inter SemiBold"/>
              </a:rPr>
              <a:t> </a:t>
            </a:r>
            <a:r>
              <a:rPr lang="en-US" sz="1100" dirty="0" err="1">
                <a:solidFill>
                  <a:srgbClr val="007B7C"/>
                </a:solidFill>
                <a:latin typeface="Inter SemiBold"/>
                <a:ea typeface="Inter SemiBold"/>
              </a:rPr>
              <a:t>để</a:t>
            </a:r>
            <a:r>
              <a:rPr lang="en-US" sz="1100" dirty="0">
                <a:solidFill>
                  <a:srgbClr val="007B7C"/>
                </a:solidFill>
                <a:latin typeface="Inter SemiBold"/>
                <a:ea typeface="Inter SemiBold"/>
              </a:rPr>
              <a:t> </a:t>
            </a:r>
            <a:r>
              <a:rPr lang="en-US" sz="1100" dirty="0" err="1">
                <a:solidFill>
                  <a:srgbClr val="007B7C"/>
                </a:solidFill>
                <a:latin typeface="Inter SemiBold"/>
                <a:ea typeface="Inter SemiBold"/>
              </a:rPr>
              <a:t>tìm</a:t>
            </a:r>
            <a:r>
              <a:rPr lang="en-US" sz="1100" dirty="0">
                <a:solidFill>
                  <a:srgbClr val="007B7C"/>
                </a:solidFill>
                <a:latin typeface="Inter SemiBold"/>
                <a:ea typeface="Inter SemiBold"/>
              </a:rPr>
              <a:t> </a:t>
            </a:r>
            <a:r>
              <a:rPr lang="en-US" sz="1100" dirty="0" err="1">
                <a:solidFill>
                  <a:srgbClr val="007B7C"/>
                </a:solidFill>
                <a:latin typeface="Inter SemiBold"/>
                <a:ea typeface="Inter SemiBold"/>
              </a:rPr>
              <a:t>hiểu</a:t>
            </a:r>
            <a:r>
              <a:rPr lang="en-US" sz="1100" dirty="0">
                <a:solidFill>
                  <a:srgbClr val="007B7C"/>
                </a:solidFill>
                <a:latin typeface="Inter SemiBold"/>
                <a:ea typeface="Inter SemiBold"/>
              </a:rPr>
              <a:t> </a:t>
            </a:r>
            <a:r>
              <a:rPr lang="en-US" sz="1100" dirty="0" err="1">
                <a:solidFill>
                  <a:srgbClr val="007B7C"/>
                </a:solidFill>
                <a:latin typeface="Inter SemiBold"/>
                <a:ea typeface="Inter SemiBold"/>
              </a:rPr>
              <a:t>và</a:t>
            </a:r>
            <a:r>
              <a:rPr lang="en-US" sz="1100" dirty="0">
                <a:solidFill>
                  <a:srgbClr val="007B7C"/>
                </a:solidFill>
                <a:latin typeface="Inter SemiBold"/>
                <a:ea typeface="Inter SemiBold"/>
              </a:rPr>
              <a:t> </a:t>
            </a:r>
            <a:r>
              <a:rPr lang="en-US" sz="1100" dirty="0" err="1">
                <a:solidFill>
                  <a:srgbClr val="007B7C"/>
                </a:solidFill>
                <a:latin typeface="Inter SemiBold"/>
                <a:ea typeface="Inter SemiBold"/>
              </a:rPr>
              <a:t>kiểm</a:t>
            </a:r>
            <a:r>
              <a:rPr lang="en-US" sz="1100" dirty="0">
                <a:solidFill>
                  <a:srgbClr val="007B7C"/>
                </a:solidFill>
                <a:latin typeface="Inter SemiBold"/>
                <a:ea typeface="Inter SemiBold"/>
              </a:rPr>
              <a:t> </a:t>
            </a:r>
            <a:r>
              <a:rPr lang="en-US" sz="1100" dirty="0" err="1">
                <a:solidFill>
                  <a:srgbClr val="007B7C"/>
                </a:solidFill>
                <a:latin typeface="Inter SemiBold"/>
                <a:ea typeface="Inter SemiBold"/>
              </a:rPr>
              <a:t>chứng</a:t>
            </a:r>
            <a:r>
              <a:rPr lang="en-US" sz="1100" dirty="0">
                <a:solidFill>
                  <a:srgbClr val="007B7C"/>
                </a:solidFill>
                <a:latin typeface="Inter SemiBold"/>
                <a:ea typeface="Inter SemiBold"/>
              </a:rPr>
              <a:t> </a:t>
            </a:r>
            <a:r>
              <a:rPr lang="en-US" sz="1100" dirty="0" err="1">
                <a:solidFill>
                  <a:srgbClr val="007B7C"/>
                </a:solidFill>
                <a:latin typeface="Inter SemiBold"/>
                <a:ea typeface="Inter SemiBold"/>
              </a:rPr>
              <a:t>quy</a:t>
            </a:r>
            <a:r>
              <a:rPr lang="en-US" sz="1100" dirty="0">
                <a:solidFill>
                  <a:srgbClr val="007B7C"/>
                </a:solidFill>
                <a:latin typeface="Inter SemiBold"/>
                <a:ea typeface="Inter SemiBold"/>
              </a:rPr>
              <a:t> </a:t>
            </a:r>
            <a:r>
              <a:rPr lang="en-US" sz="1100" dirty="0" err="1">
                <a:solidFill>
                  <a:srgbClr val="007B7C"/>
                </a:solidFill>
                <a:latin typeface="Inter SemiBold"/>
                <a:ea typeface="Inter SemiBold"/>
              </a:rPr>
              <a:t>trình</a:t>
            </a:r>
            <a:r>
              <a:rPr lang="en-US" sz="1100" dirty="0">
                <a:solidFill>
                  <a:srgbClr val="007B7C"/>
                </a:solidFill>
                <a:latin typeface="Inter SemiBold"/>
                <a:ea typeface="Inter SemiBold"/>
              </a:rPr>
              <a:t> </a:t>
            </a:r>
            <a:r>
              <a:rPr lang="en-US" sz="1100" dirty="0" err="1">
                <a:solidFill>
                  <a:srgbClr val="007B7C"/>
                </a:solidFill>
                <a:latin typeface="Inter SemiBold"/>
                <a:ea typeface="Inter SemiBold"/>
              </a:rPr>
              <a:t>hiện</a:t>
            </a:r>
            <a:r>
              <a:rPr lang="en-US" sz="1100" dirty="0">
                <a:solidFill>
                  <a:srgbClr val="007B7C"/>
                </a:solidFill>
                <a:latin typeface="Inter SemiBold"/>
                <a:ea typeface="Inter SemiBold"/>
              </a:rPr>
              <a:t> </a:t>
            </a:r>
            <a:r>
              <a:rPr lang="en-US" sz="1100" dirty="0" err="1">
                <a:solidFill>
                  <a:srgbClr val="007B7C"/>
                </a:solidFill>
                <a:latin typeface="Inter SemiBold"/>
                <a:ea typeface="Inter SemiBold"/>
              </a:rPr>
              <a:t>tại</a:t>
            </a:r>
            <a:endParaRPr sz="1100" dirty="0">
              <a:solidFill>
                <a:srgbClr val="007B7C"/>
              </a:solidFill>
              <a:latin typeface="Inter SemiBold"/>
              <a:ea typeface="Inter SemiBold"/>
              <a:sym typeface="Inter SemiBold"/>
            </a:endParaRPr>
          </a:p>
        </p:txBody>
      </p:sp>
      <p:sp>
        <p:nvSpPr>
          <p:cNvPr id="594" name="Google Shape;594;p30"/>
          <p:cNvSpPr/>
          <p:nvPr/>
        </p:nvSpPr>
        <p:spPr>
          <a:xfrm>
            <a:off x="384048" y="1335024"/>
            <a:ext cx="2609088" cy="1417320"/>
          </a:xfrm>
          <a:prstGeom prst="rect">
            <a:avLst/>
          </a:prstGeom>
          <a:solidFill>
            <a:srgbClr val="FFFFFF"/>
          </a:solidFill>
          <a:ln w="12700"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595" name="Google Shape;595;p30"/>
          <p:cNvSpPr/>
          <p:nvPr/>
        </p:nvSpPr>
        <p:spPr>
          <a:xfrm>
            <a:off x="384048" y="1335024"/>
            <a:ext cx="2609088" cy="54864"/>
          </a:xfrm>
          <a:prstGeom prst="rect">
            <a:avLst/>
          </a:prstGeom>
          <a:solidFill>
            <a:srgbClr val="007B7C"/>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596" name="Google Shape;596;p30"/>
          <p:cNvSpPr txBox="1"/>
          <p:nvPr/>
        </p:nvSpPr>
        <p:spPr>
          <a:xfrm>
            <a:off x="548640" y="1499616"/>
            <a:ext cx="2279904" cy="1124712"/>
          </a:xfrm>
          <a:prstGeom prst="rect">
            <a:avLst/>
          </a:prstGeom>
          <a:noFill/>
          <a:ln>
            <a:noFill/>
          </a:ln>
        </p:spPr>
        <p:txBody>
          <a:bodyPr spcFirstLastPara="1" wrap="square" lIns="0" tIns="0" rIns="0" bIns="0" anchor="t" anchorCtr="0">
            <a:spAutoFit/>
          </a:bodyPr>
          <a:lstStyle/>
          <a:p>
            <a:pPr marL="0" marR="0" lvl="0" indent="0" algn="l" rtl="0">
              <a:lnSpc>
                <a:spcPct val="112000"/>
              </a:lnSpc>
              <a:spcBef>
                <a:spcPts val="0"/>
              </a:spcBef>
              <a:spcAft>
                <a:spcPts val="0"/>
              </a:spcAft>
              <a:buNone/>
            </a:pPr>
            <a:r>
              <a:rPr lang="en" sz="1100" b="1" i="0" u="none" strike="noStrike" cap="none" dirty="0">
                <a:solidFill>
                  <a:srgbClr val="0F172A"/>
                </a:solidFill>
                <a:latin typeface="Inter ExtraBold"/>
                <a:ea typeface="Inter ExtraBold"/>
                <a:cs typeface="Inter ExtraBold"/>
                <a:sym typeface="Inter ExtraBold"/>
              </a:rPr>
              <a:t>Mô tả quy trình hiện có</a:t>
            </a:r>
            <a:endParaRPr dirty="0"/>
          </a:p>
          <a:p>
            <a:pPr marL="0" marR="0" lvl="0" indent="0" algn="l" rtl="0">
              <a:lnSpc>
                <a:spcPct val="112000"/>
              </a:lnSpc>
              <a:spcBef>
                <a:spcPts val="600"/>
              </a:spcBef>
              <a:spcAft>
                <a:spcPts val="0"/>
              </a:spcAft>
              <a:buNone/>
            </a:pPr>
            <a:r>
              <a:rPr lang="en" sz="900" b="0" i="0" u="none" strike="noStrike" cap="none" dirty="0">
                <a:solidFill>
                  <a:srgbClr val="475569"/>
                </a:solidFill>
                <a:latin typeface="Inter"/>
                <a:ea typeface="Inter"/>
                <a:cs typeface="Inter"/>
                <a:sym typeface="Inter"/>
              </a:rPr>
              <a:t>Tài liệu vận hành nội bộ, hướng dẫn sử dụng app/portal của CS và KTV mô tả các bước thao tác trên hệ thống booking.</a:t>
            </a:r>
            <a:endParaRPr dirty="0"/>
          </a:p>
        </p:txBody>
      </p:sp>
      <p:sp>
        <p:nvSpPr>
          <p:cNvPr id="597" name="Google Shape;597;p30"/>
          <p:cNvSpPr/>
          <p:nvPr/>
        </p:nvSpPr>
        <p:spPr>
          <a:xfrm>
            <a:off x="3267456" y="1335024"/>
            <a:ext cx="2609088" cy="1417320"/>
          </a:xfrm>
          <a:prstGeom prst="rect">
            <a:avLst/>
          </a:prstGeom>
          <a:solidFill>
            <a:srgbClr val="FFFFFF"/>
          </a:solidFill>
          <a:ln w="12700"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598" name="Google Shape;598;p30"/>
          <p:cNvSpPr/>
          <p:nvPr/>
        </p:nvSpPr>
        <p:spPr>
          <a:xfrm>
            <a:off x="3267456" y="1335024"/>
            <a:ext cx="2609088" cy="54864"/>
          </a:xfrm>
          <a:prstGeom prst="rect">
            <a:avLst/>
          </a:prstGeom>
          <a:solidFill>
            <a:srgbClr val="0284C7"/>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599" name="Google Shape;599;p30"/>
          <p:cNvSpPr txBox="1"/>
          <p:nvPr/>
        </p:nvSpPr>
        <p:spPr>
          <a:xfrm>
            <a:off x="3432048" y="1499616"/>
            <a:ext cx="2279904" cy="682046"/>
          </a:xfrm>
          <a:prstGeom prst="rect">
            <a:avLst/>
          </a:prstGeom>
          <a:noFill/>
          <a:ln>
            <a:noFill/>
          </a:ln>
        </p:spPr>
        <p:txBody>
          <a:bodyPr spcFirstLastPara="1" wrap="square" lIns="0" tIns="0" rIns="0" bIns="0" anchor="t" anchorCtr="0">
            <a:spAutoFit/>
          </a:bodyPr>
          <a:lstStyle/>
          <a:p>
            <a:pPr marL="0" marR="0" lvl="0" indent="0" algn="l" rtl="0">
              <a:lnSpc>
                <a:spcPct val="112000"/>
              </a:lnSpc>
              <a:spcBef>
                <a:spcPts val="0"/>
              </a:spcBef>
              <a:spcAft>
                <a:spcPts val="0"/>
              </a:spcAft>
              <a:buNone/>
            </a:pPr>
            <a:r>
              <a:rPr lang="en" sz="1100" b="1" i="0" u="none" strike="noStrike" cap="none" dirty="0">
                <a:solidFill>
                  <a:srgbClr val="0F172A"/>
                </a:solidFill>
                <a:latin typeface="Inter ExtraBold"/>
                <a:ea typeface="Inter ExtraBold"/>
                <a:cs typeface="Inter ExtraBold"/>
                <a:sym typeface="Inter ExtraBold"/>
              </a:rPr>
              <a:t>Sơ đồ tổ chức</a:t>
            </a:r>
            <a:endParaRPr dirty="0"/>
          </a:p>
          <a:p>
            <a:pPr lvl="0">
              <a:spcBef>
                <a:spcPts val="600"/>
              </a:spcBef>
            </a:pPr>
            <a:r>
              <a:rPr lang="en-US" sz="900" dirty="0" err="1">
                <a:solidFill>
                  <a:srgbClr val="475569"/>
                </a:solidFill>
                <a:latin typeface="Inter"/>
                <a:ea typeface="Inter"/>
              </a:rPr>
              <a:t>Xác</a:t>
            </a:r>
            <a:r>
              <a:rPr lang="en-US" sz="900" dirty="0">
                <a:solidFill>
                  <a:srgbClr val="475569"/>
                </a:solidFill>
                <a:latin typeface="Inter"/>
                <a:ea typeface="Inter"/>
              </a:rPr>
              <a:t> </a:t>
            </a:r>
            <a:r>
              <a:rPr lang="en-US" sz="900" dirty="0" err="1">
                <a:solidFill>
                  <a:srgbClr val="475569"/>
                </a:solidFill>
                <a:latin typeface="Inter"/>
                <a:ea typeface="Inter"/>
              </a:rPr>
              <a:t>định</a:t>
            </a:r>
            <a:r>
              <a:rPr lang="en-US" sz="900" dirty="0">
                <a:solidFill>
                  <a:srgbClr val="475569"/>
                </a:solidFill>
                <a:latin typeface="Inter"/>
                <a:ea typeface="Inter"/>
              </a:rPr>
              <a:t> </a:t>
            </a:r>
            <a:r>
              <a:rPr lang="en-US" sz="900" dirty="0" err="1">
                <a:solidFill>
                  <a:srgbClr val="475569"/>
                </a:solidFill>
                <a:latin typeface="Inter"/>
                <a:ea typeface="Inter"/>
              </a:rPr>
              <a:t>các</a:t>
            </a:r>
            <a:r>
              <a:rPr lang="en-US" sz="900" dirty="0">
                <a:solidFill>
                  <a:srgbClr val="475569"/>
                </a:solidFill>
                <a:latin typeface="Inter"/>
                <a:ea typeface="Inter"/>
              </a:rPr>
              <a:t> </a:t>
            </a:r>
            <a:r>
              <a:rPr lang="vi-VN" sz="900" dirty="0" err="1">
                <a:solidFill>
                  <a:srgbClr val="475569"/>
                </a:solidFill>
                <a:latin typeface="Inter"/>
                <a:ea typeface="Inter"/>
              </a:rPr>
              <a:t>actor</a:t>
            </a:r>
            <a:r>
              <a:rPr lang="vi-VN" sz="900" dirty="0">
                <a:solidFill>
                  <a:srgbClr val="475569"/>
                </a:solidFill>
                <a:latin typeface="Inter"/>
                <a:ea typeface="Inter"/>
              </a:rPr>
              <a:t> </a:t>
            </a:r>
            <a:r>
              <a:rPr lang="en-US" sz="900" dirty="0" err="1">
                <a:solidFill>
                  <a:srgbClr val="475569"/>
                </a:solidFill>
                <a:latin typeface="Inter"/>
                <a:ea typeface="Inter"/>
              </a:rPr>
              <a:t>tham</a:t>
            </a:r>
            <a:r>
              <a:rPr lang="en-US" sz="900" dirty="0">
                <a:solidFill>
                  <a:srgbClr val="475569"/>
                </a:solidFill>
                <a:latin typeface="Inter"/>
                <a:ea typeface="Inter"/>
              </a:rPr>
              <a:t> </a:t>
            </a:r>
            <a:r>
              <a:rPr lang="en-US" sz="900" dirty="0" err="1">
                <a:solidFill>
                  <a:srgbClr val="475569"/>
                </a:solidFill>
                <a:latin typeface="Inter"/>
                <a:ea typeface="Inter"/>
              </a:rPr>
              <a:t>gia</a:t>
            </a:r>
            <a:r>
              <a:rPr lang="vi-VN" sz="900" dirty="0">
                <a:solidFill>
                  <a:srgbClr val="475569"/>
                </a:solidFill>
                <a:latin typeface="Inter"/>
                <a:ea typeface="Inter"/>
              </a:rPr>
              <a:t> vào từng quy trình</a:t>
            </a:r>
            <a:r>
              <a:rPr lang="en-US" sz="900" dirty="0">
                <a:solidFill>
                  <a:srgbClr val="475569"/>
                </a:solidFill>
                <a:latin typeface="Inter"/>
                <a:ea typeface="Inter"/>
              </a:rPr>
              <a:t>: Operations, CS/Call Center, KTV </a:t>
            </a:r>
            <a:r>
              <a:rPr lang="en-US" sz="900" dirty="0" err="1">
                <a:solidFill>
                  <a:srgbClr val="475569"/>
                </a:solidFill>
                <a:latin typeface="Inter"/>
                <a:ea typeface="Inter"/>
              </a:rPr>
              <a:t>và</a:t>
            </a:r>
            <a:r>
              <a:rPr lang="en-US" sz="900" dirty="0">
                <a:solidFill>
                  <a:srgbClr val="475569"/>
                </a:solidFill>
                <a:latin typeface="Inter"/>
                <a:ea typeface="Inter"/>
              </a:rPr>
              <a:t> </a:t>
            </a:r>
            <a:r>
              <a:rPr lang="en-US" sz="900" dirty="0" err="1">
                <a:solidFill>
                  <a:srgbClr val="475569"/>
                </a:solidFill>
                <a:latin typeface="Inter"/>
                <a:ea typeface="Inter"/>
              </a:rPr>
              <a:t>kho</a:t>
            </a:r>
            <a:r>
              <a:rPr lang="en-US" sz="900" dirty="0">
                <a:solidFill>
                  <a:srgbClr val="475569"/>
                </a:solidFill>
                <a:latin typeface="Inter"/>
                <a:ea typeface="Inter"/>
              </a:rPr>
              <a:t> </a:t>
            </a:r>
            <a:r>
              <a:rPr lang="en-US" sz="900" dirty="0" err="1">
                <a:solidFill>
                  <a:srgbClr val="475569"/>
                </a:solidFill>
                <a:latin typeface="Inter"/>
                <a:ea typeface="Inter"/>
              </a:rPr>
              <a:t>linh</a:t>
            </a:r>
            <a:r>
              <a:rPr lang="en-US" sz="900" dirty="0">
                <a:solidFill>
                  <a:srgbClr val="475569"/>
                </a:solidFill>
                <a:latin typeface="Inter"/>
                <a:ea typeface="Inter"/>
              </a:rPr>
              <a:t> </a:t>
            </a:r>
            <a:r>
              <a:rPr lang="en-US" sz="900" dirty="0" err="1">
                <a:solidFill>
                  <a:srgbClr val="475569"/>
                </a:solidFill>
                <a:latin typeface="Inter"/>
                <a:ea typeface="Inter"/>
              </a:rPr>
              <a:t>kiện</a:t>
            </a:r>
            <a:r>
              <a:rPr lang="en-US" sz="900" dirty="0">
                <a:solidFill>
                  <a:srgbClr val="475569"/>
                </a:solidFill>
                <a:latin typeface="Inter"/>
                <a:ea typeface="Inter"/>
              </a:rPr>
              <a:t>.</a:t>
            </a:r>
            <a:endParaRPr sz="900" dirty="0">
              <a:solidFill>
                <a:srgbClr val="475569"/>
              </a:solidFill>
              <a:latin typeface="Inter"/>
              <a:ea typeface="Inter"/>
            </a:endParaRPr>
          </a:p>
        </p:txBody>
      </p:sp>
      <p:sp>
        <p:nvSpPr>
          <p:cNvPr id="600" name="Google Shape;600;p30"/>
          <p:cNvSpPr/>
          <p:nvPr/>
        </p:nvSpPr>
        <p:spPr>
          <a:xfrm>
            <a:off x="6150864" y="1335024"/>
            <a:ext cx="2609088" cy="1417320"/>
          </a:xfrm>
          <a:prstGeom prst="rect">
            <a:avLst/>
          </a:prstGeom>
          <a:solidFill>
            <a:srgbClr val="FFFFFF"/>
          </a:solidFill>
          <a:ln w="12700"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601" name="Google Shape;601;p30"/>
          <p:cNvSpPr/>
          <p:nvPr/>
        </p:nvSpPr>
        <p:spPr>
          <a:xfrm>
            <a:off x="6150864" y="1335024"/>
            <a:ext cx="2609088" cy="54864"/>
          </a:xfrm>
          <a:prstGeom prst="rect">
            <a:avLst/>
          </a:prstGeom>
          <a:solidFill>
            <a:srgbClr val="007B7C"/>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602" name="Google Shape;602;p30"/>
          <p:cNvSpPr txBox="1"/>
          <p:nvPr/>
        </p:nvSpPr>
        <p:spPr>
          <a:xfrm>
            <a:off x="6315456" y="1499616"/>
            <a:ext cx="2279904" cy="1124712"/>
          </a:xfrm>
          <a:prstGeom prst="rect">
            <a:avLst/>
          </a:prstGeom>
          <a:noFill/>
          <a:ln>
            <a:noFill/>
          </a:ln>
        </p:spPr>
        <p:txBody>
          <a:bodyPr spcFirstLastPara="1" wrap="square" lIns="0" tIns="0" rIns="0" bIns="0" anchor="t" anchorCtr="0">
            <a:spAutoFit/>
          </a:bodyPr>
          <a:lstStyle/>
          <a:p>
            <a:pPr marL="0" marR="0" lvl="0" indent="0" algn="l" rtl="0">
              <a:lnSpc>
                <a:spcPct val="112000"/>
              </a:lnSpc>
              <a:spcBef>
                <a:spcPts val="0"/>
              </a:spcBef>
              <a:spcAft>
                <a:spcPts val="0"/>
              </a:spcAft>
              <a:buNone/>
            </a:pPr>
            <a:r>
              <a:rPr lang="en" sz="1100" b="1" i="0" u="none" strike="noStrike" cap="none" dirty="0">
                <a:solidFill>
                  <a:srgbClr val="0F172A"/>
                </a:solidFill>
                <a:latin typeface="Inter ExtraBold"/>
                <a:ea typeface="Inter ExtraBold"/>
                <a:cs typeface="Inter ExtraBold"/>
                <a:sym typeface="Inter ExtraBold"/>
              </a:rPr>
              <a:t>Kế hoạch làm việc</a:t>
            </a:r>
            <a:endParaRPr dirty="0"/>
          </a:p>
          <a:p>
            <a:pPr marL="0" marR="0" lvl="0" indent="0" algn="l" rtl="0">
              <a:lnSpc>
                <a:spcPct val="112000"/>
              </a:lnSpc>
              <a:spcBef>
                <a:spcPts val="600"/>
              </a:spcBef>
              <a:spcAft>
                <a:spcPts val="0"/>
              </a:spcAft>
              <a:buNone/>
            </a:pPr>
            <a:r>
              <a:rPr lang="en" sz="900" b="0" i="0" u="none" strike="noStrike" cap="none" dirty="0">
                <a:solidFill>
                  <a:srgbClr val="475569"/>
                </a:solidFill>
                <a:latin typeface="Inter"/>
                <a:ea typeface="Inter"/>
                <a:cs typeface="Inter"/>
                <a:sym typeface="Inter"/>
              </a:rPr>
              <a:t>Lịch phân ca của KTV theo khu vực, kế hoạch KPI theo quý của bộ phận vận hành và QA.</a:t>
            </a:r>
            <a:endParaRPr dirty="0"/>
          </a:p>
        </p:txBody>
      </p:sp>
      <p:sp>
        <p:nvSpPr>
          <p:cNvPr id="603" name="Google Shape;603;p30"/>
          <p:cNvSpPr/>
          <p:nvPr/>
        </p:nvSpPr>
        <p:spPr>
          <a:xfrm>
            <a:off x="384048" y="3008376"/>
            <a:ext cx="2609088" cy="1417320"/>
          </a:xfrm>
          <a:prstGeom prst="rect">
            <a:avLst/>
          </a:prstGeom>
          <a:solidFill>
            <a:srgbClr val="FFFFFF"/>
          </a:solidFill>
          <a:ln w="12700"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604" name="Google Shape;604;p30"/>
          <p:cNvSpPr/>
          <p:nvPr/>
        </p:nvSpPr>
        <p:spPr>
          <a:xfrm>
            <a:off x="384048" y="3008376"/>
            <a:ext cx="2609088" cy="54864"/>
          </a:xfrm>
          <a:prstGeom prst="rect">
            <a:avLst/>
          </a:prstGeom>
          <a:solidFill>
            <a:srgbClr val="0284C7"/>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605" name="Google Shape;605;p30"/>
          <p:cNvSpPr txBox="1"/>
          <p:nvPr/>
        </p:nvSpPr>
        <p:spPr>
          <a:xfrm>
            <a:off x="548640" y="3172968"/>
            <a:ext cx="2279904" cy="682046"/>
          </a:xfrm>
          <a:prstGeom prst="rect">
            <a:avLst/>
          </a:prstGeom>
          <a:noFill/>
          <a:ln>
            <a:noFill/>
          </a:ln>
        </p:spPr>
        <p:txBody>
          <a:bodyPr spcFirstLastPara="1" wrap="square" lIns="0" tIns="0" rIns="0" bIns="0" anchor="t" anchorCtr="0">
            <a:spAutoFit/>
          </a:bodyPr>
          <a:lstStyle/>
          <a:p>
            <a:pPr marL="0" marR="0" lvl="0" indent="0" algn="l" rtl="0">
              <a:lnSpc>
                <a:spcPct val="112000"/>
              </a:lnSpc>
              <a:spcBef>
                <a:spcPts val="0"/>
              </a:spcBef>
              <a:spcAft>
                <a:spcPts val="0"/>
              </a:spcAft>
              <a:buNone/>
            </a:pPr>
            <a:r>
              <a:rPr lang="en" sz="1100" b="1" i="0" u="none" strike="noStrike" cap="none" dirty="0">
                <a:solidFill>
                  <a:srgbClr val="0F172A"/>
                </a:solidFill>
                <a:latin typeface="Inter ExtraBold"/>
                <a:ea typeface="Inter ExtraBold"/>
                <a:cs typeface="Inter ExtraBold"/>
                <a:sym typeface="Inter ExtraBold"/>
              </a:rPr>
              <a:t>Thuật ngữ và sổ tay</a:t>
            </a:r>
            <a:endParaRPr dirty="0"/>
          </a:p>
          <a:p>
            <a:pPr lvl="0">
              <a:spcBef>
                <a:spcPts val="600"/>
              </a:spcBef>
            </a:pPr>
            <a:r>
              <a:rPr lang="vi-VN" sz="900" b="0" i="0" u="none" strike="noStrike" cap="none" dirty="0">
                <a:solidFill>
                  <a:srgbClr val="475569"/>
                </a:solidFill>
                <a:latin typeface="Inter"/>
                <a:ea typeface="Inter"/>
                <a:cs typeface="Inter"/>
                <a:sym typeface="Inter"/>
              </a:rPr>
              <a:t>Các </a:t>
            </a:r>
            <a:r>
              <a:rPr lang="en" sz="900" b="0" i="0" u="none" strike="noStrike" cap="none" dirty="0">
                <a:solidFill>
                  <a:srgbClr val="475569"/>
                </a:solidFill>
                <a:latin typeface="Inter"/>
                <a:ea typeface="Inter"/>
                <a:cs typeface="Inter"/>
                <a:sym typeface="Inter"/>
              </a:rPr>
              <a:t>trạng thái booking (New, Accepted, On The Way, </a:t>
            </a:r>
            <a:r>
              <a:rPr lang="vi-VN" sz="900" dirty="0" err="1">
                <a:solidFill>
                  <a:srgbClr val="475569"/>
                </a:solidFill>
                <a:latin typeface="Inter"/>
                <a:ea typeface="Inter"/>
              </a:rPr>
              <a:t>Completed</a:t>
            </a:r>
            <a:r>
              <a:rPr lang="en" sz="900" dirty="0">
                <a:solidFill>
                  <a:srgbClr val="475569"/>
                </a:solidFill>
                <a:latin typeface="Inter"/>
                <a:ea typeface="Inter"/>
                <a:sym typeface="Inter"/>
              </a:rPr>
              <a:t>...) </a:t>
            </a:r>
            <a:r>
              <a:rPr lang="en" sz="900" b="0" i="0" u="none" strike="noStrike" cap="none" dirty="0">
                <a:solidFill>
                  <a:srgbClr val="475569"/>
                </a:solidFill>
                <a:latin typeface="Inter"/>
                <a:ea typeface="Inter"/>
                <a:cs typeface="Inter"/>
                <a:sym typeface="Inter"/>
              </a:rPr>
              <a:t>và mã lỗi thiết bị (A5, U4...).</a:t>
            </a:r>
            <a:endParaRPr dirty="0"/>
          </a:p>
        </p:txBody>
      </p:sp>
      <p:sp>
        <p:nvSpPr>
          <p:cNvPr id="606" name="Google Shape;606;p30"/>
          <p:cNvSpPr/>
          <p:nvPr/>
        </p:nvSpPr>
        <p:spPr>
          <a:xfrm>
            <a:off x="3267456" y="3008376"/>
            <a:ext cx="2609088" cy="1417320"/>
          </a:xfrm>
          <a:prstGeom prst="rect">
            <a:avLst/>
          </a:prstGeom>
          <a:solidFill>
            <a:srgbClr val="FFFFFF"/>
          </a:solidFill>
          <a:ln w="12700"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607" name="Google Shape;607;p30"/>
          <p:cNvSpPr/>
          <p:nvPr/>
        </p:nvSpPr>
        <p:spPr>
          <a:xfrm>
            <a:off x="3267456" y="3008376"/>
            <a:ext cx="2609088" cy="54864"/>
          </a:xfrm>
          <a:prstGeom prst="rect">
            <a:avLst/>
          </a:prstGeom>
          <a:solidFill>
            <a:srgbClr val="007B7C"/>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608" name="Google Shape;608;p30"/>
          <p:cNvSpPr txBox="1"/>
          <p:nvPr/>
        </p:nvSpPr>
        <p:spPr>
          <a:xfrm>
            <a:off x="3432048" y="3172968"/>
            <a:ext cx="2279904" cy="1124712"/>
          </a:xfrm>
          <a:prstGeom prst="rect">
            <a:avLst/>
          </a:prstGeom>
          <a:noFill/>
          <a:ln>
            <a:noFill/>
          </a:ln>
        </p:spPr>
        <p:txBody>
          <a:bodyPr spcFirstLastPara="1" wrap="square" lIns="0" tIns="0" rIns="0" bIns="0" anchor="t" anchorCtr="0">
            <a:spAutoFit/>
          </a:bodyPr>
          <a:lstStyle/>
          <a:p>
            <a:pPr marL="0" marR="0" lvl="0" indent="0" algn="l" rtl="0">
              <a:lnSpc>
                <a:spcPct val="112000"/>
              </a:lnSpc>
              <a:spcBef>
                <a:spcPts val="0"/>
              </a:spcBef>
              <a:spcAft>
                <a:spcPts val="0"/>
              </a:spcAft>
              <a:buNone/>
            </a:pPr>
            <a:r>
              <a:rPr lang="en" sz="1100" b="1" i="0" u="none" strike="noStrike" cap="none" dirty="0">
                <a:solidFill>
                  <a:srgbClr val="0F172A"/>
                </a:solidFill>
                <a:latin typeface="Inter ExtraBold"/>
                <a:ea typeface="Inter ExtraBold"/>
                <a:cs typeface="Inter ExtraBold"/>
                <a:sym typeface="Inter ExtraBold"/>
              </a:rPr>
              <a:t>Biểu mẫu workshop / kịch bản họp</a:t>
            </a:r>
            <a:endParaRPr dirty="0"/>
          </a:p>
          <a:p>
            <a:pPr marL="0" marR="0" lvl="0" indent="0" algn="l" rtl="0">
              <a:lnSpc>
                <a:spcPct val="112000"/>
              </a:lnSpc>
              <a:spcBef>
                <a:spcPts val="600"/>
              </a:spcBef>
              <a:spcAft>
                <a:spcPts val="0"/>
              </a:spcAft>
              <a:buNone/>
            </a:pPr>
            <a:r>
              <a:rPr lang="en" sz="900" b="0" i="0" u="none" strike="noStrike" cap="none" dirty="0">
                <a:solidFill>
                  <a:srgbClr val="475569"/>
                </a:solidFill>
                <a:latin typeface="Inter"/>
                <a:ea typeface="Inter"/>
                <a:cs typeface="Inter"/>
                <a:sym typeface="Inter"/>
              </a:rPr>
              <a:t>Biên bản họp nhóm giả lập vai trò CS, KTV, QA Manager để rà soát luồng xử lý booking thực tế.</a:t>
            </a:r>
            <a:endParaRPr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612"/>
        <p:cNvGrpSpPr/>
        <p:nvPr/>
      </p:nvGrpSpPr>
      <p:grpSpPr>
        <a:xfrm>
          <a:off x="0" y="0"/>
          <a:ext cx="0" cy="0"/>
          <a:chOff x="0" y="0"/>
          <a:chExt cx="0" cy="0"/>
        </a:xfrm>
      </p:grpSpPr>
      <p:sp>
        <p:nvSpPr>
          <p:cNvPr id="613" name="Google Shape;613;p31"/>
          <p:cNvSpPr/>
          <p:nvPr/>
        </p:nvSpPr>
        <p:spPr>
          <a:xfrm>
            <a:off x="0" y="0"/>
            <a:ext cx="9144000" cy="5143500"/>
          </a:xfrm>
          <a:prstGeom prst="rect">
            <a:avLst/>
          </a:pr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614" name="Google Shape;614;p31"/>
          <p:cNvGrpSpPr/>
          <p:nvPr/>
        </p:nvGrpSpPr>
        <p:grpSpPr>
          <a:xfrm>
            <a:off x="8458200" y="381000"/>
            <a:ext cx="304800" cy="304800"/>
            <a:chOff x="0" y="0"/>
            <a:chExt cx="304800" cy="304800"/>
          </a:xfrm>
        </p:grpSpPr>
        <p:sp>
          <p:nvSpPr>
            <p:cNvPr id="615" name="Google Shape;615;p31"/>
            <p:cNvSpPr/>
            <p:nvPr/>
          </p:nvSpPr>
          <p:spPr>
            <a:xfrm>
              <a:off x="0" y="0"/>
              <a:ext cx="304800" cy="304800"/>
            </a:xfrm>
            <a:prstGeom prst="roundRect">
              <a:avLst>
                <a:gd name="adj" fmla="val 125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16" name="Google Shape;616;p31"/>
            <p:cNvSpPr/>
            <p:nvPr/>
          </p:nvSpPr>
          <p:spPr>
            <a:xfrm>
              <a:off x="95250" y="95250"/>
              <a:ext cx="114300" cy="114300"/>
            </a:xfrm>
            <a:custGeom>
              <a:avLst/>
              <a:gdLst/>
              <a:ahLst/>
              <a:cxnLst/>
              <a:rect l="l" t="t" r="r" b="b"/>
              <a:pathLst>
                <a:path w="120000" h="120000" extrusionOk="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17" name="Google Shape;617;p31"/>
            <p:cNvSpPr/>
            <p:nvPr/>
          </p:nvSpPr>
          <p:spPr>
            <a:xfrm>
              <a:off x="123825" y="123825"/>
              <a:ext cx="57300" cy="57300"/>
            </a:xfrm>
            <a:prstGeom prst="ellipse">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cxnSp>
        <p:nvCxnSpPr>
          <p:cNvPr id="618" name="Google Shape;618;p31"/>
          <p:cNvCxnSpPr/>
          <p:nvPr/>
        </p:nvCxnSpPr>
        <p:spPr>
          <a:xfrm>
            <a:off x="381000" y="1143000"/>
            <a:ext cx="8382000" cy="0"/>
          </a:xfrm>
          <a:prstGeom prst="straightConnector1">
            <a:avLst/>
          </a:prstGeom>
          <a:solidFill>
            <a:srgbClr val="FFFFFF"/>
          </a:solidFill>
          <a:ln w="14300" cap="flat" cmpd="sng">
            <a:solidFill>
              <a:srgbClr val="E2E8F0"/>
            </a:solidFill>
            <a:prstDash val="solid"/>
            <a:round/>
            <a:headEnd type="none" w="sm" len="sm"/>
            <a:tailEnd type="none" w="sm" len="sm"/>
          </a:ln>
        </p:spPr>
      </p:cxnSp>
      <p:sp>
        <p:nvSpPr>
          <p:cNvPr id="619" name="Google Shape;619;p31"/>
          <p:cNvSpPr txBox="1"/>
          <p:nvPr/>
        </p:nvSpPr>
        <p:spPr>
          <a:xfrm>
            <a:off x="381000" y="333375"/>
            <a:ext cx="7620000" cy="762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 sz="2000" b="0" i="0" u="none" strike="noStrike" cap="none" dirty="0">
                <a:solidFill>
                  <a:srgbClr val="0F172A"/>
                </a:solidFill>
                <a:latin typeface="Inter ExtraBold"/>
                <a:ea typeface="Inter ExtraBold"/>
                <a:cs typeface="Inter ExtraBold"/>
                <a:sym typeface="Inter ExtraBold"/>
              </a:rPr>
              <a:t>Phương pháp phỏng vấn</a:t>
            </a:r>
            <a:endParaRPr lang="vi-VN" sz="1100" b="0" i="0" u="none" strike="noStrike" cap="none" dirty="0">
              <a:solidFill>
                <a:srgbClr val="007B7C"/>
              </a:solidFill>
              <a:latin typeface="Inter SemiBold"/>
              <a:ea typeface="Inter SemiBold"/>
              <a:cs typeface="Inter SemiBold"/>
              <a:sym typeface="Inter SemiBold"/>
            </a:endParaRPr>
          </a:p>
          <a:p>
            <a:pPr lvl="0">
              <a:spcBef>
                <a:spcPts val="375"/>
              </a:spcBef>
              <a:buSzPts val="1100"/>
            </a:pPr>
            <a:r>
              <a:rPr lang="en-US" sz="1100" dirty="0">
                <a:solidFill>
                  <a:srgbClr val="007B7C"/>
                </a:solidFill>
                <a:latin typeface="Inter SemiBold"/>
                <a:ea typeface="Inter SemiBold"/>
              </a:rPr>
              <a:t>20 </a:t>
            </a:r>
            <a:r>
              <a:rPr lang="en-US" sz="1100" dirty="0" err="1">
                <a:solidFill>
                  <a:srgbClr val="007B7C"/>
                </a:solidFill>
                <a:latin typeface="Inter SemiBold"/>
                <a:ea typeface="Inter SemiBold"/>
              </a:rPr>
              <a:t>câu</a:t>
            </a:r>
            <a:r>
              <a:rPr lang="en-US" sz="1100" dirty="0">
                <a:solidFill>
                  <a:srgbClr val="007B7C"/>
                </a:solidFill>
                <a:latin typeface="Inter SemiBold"/>
                <a:ea typeface="Inter SemiBold"/>
              </a:rPr>
              <a:t> </a:t>
            </a:r>
            <a:r>
              <a:rPr lang="en-US" sz="1100" dirty="0" err="1">
                <a:solidFill>
                  <a:srgbClr val="007B7C"/>
                </a:solidFill>
                <a:latin typeface="Inter SemiBold"/>
                <a:ea typeface="Inter SemiBold"/>
              </a:rPr>
              <a:t>hỏi</a:t>
            </a:r>
            <a:r>
              <a:rPr lang="vi-VN" sz="1100" dirty="0">
                <a:solidFill>
                  <a:srgbClr val="007B7C"/>
                </a:solidFill>
                <a:latin typeface="Inter SemiBold"/>
                <a:ea typeface="Inter SemiBold"/>
              </a:rPr>
              <a:t> phỏng vấn</a:t>
            </a:r>
            <a:r>
              <a:rPr lang="en-US" sz="1100" dirty="0">
                <a:solidFill>
                  <a:srgbClr val="007B7C"/>
                </a:solidFill>
                <a:latin typeface="Inter SemiBold"/>
                <a:ea typeface="Inter SemiBold"/>
              </a:rPr>
              <a:t>, </a:t>
            </a:r>
            <a:r>
              <a:rPr lang="en-US" sz="1100" dirty="0" err="1">
                <a:solidFill>
                  <a:srgbClr val="007B7C"/>
                </a:solidFill>
                <a:latin typeface="Inter SemiBold"/>
                <a:ea typeface="Inter SemiBold"/>
              </a:rPr>
              <a:t>gồm</a:t>
            </a:r>
            <a:r>
              <a:rPr lang="en-US" sz="1100" dirty="0">
                <a:solidFill>
                  <a:srgbClr val="007B7C"/>
                </a:solidFill>
                <a:latin typeface="Inter SemiBold"/>
                <a:ea typeface="Inter SemiBold"/>
              </a:rPr>
              <a:t> 10 </a:t>
            </a:r>
            <a:r>
              <a:rPr lang="en-US" sz="1100" dirty="0" err="1">
                <a:solidFill>
                  <a:srgbClr val="007B7C"/>
                </a:solidFill>
                <a:latin typeface="Inter SemiBold"/>
                <a:ea typeface="Inter SemiBold"/>
              </a:rPr>
              <a:t>câu</a:t>
            </a:r>
            <a:r>
              <a:rPr lang="en-US" sz="1100" dirty="0">
                <a:solidFill>
                  <a:srgbClr val="007B7C"/>
                </a:solidFill>
                <a:latin typeface="Inter SemiBold"/>
                <a:ea typeface="Inter SemiBold"/>
              </a:rPr>
              <a:t> </a:t>
            </a:r>
            <a:r>
              <a:rPr lang="en-US" sz="1100" dirty="0" err="1">
                <a:solidFill>
                  <a:srgbClr val="007B7C"/>
                </a:solidFill>
                <a:latin typeface="Inter SemiBold"/>
                <a:ea typeface="Inter SemiBold"/>
              </a:rPr>
              <a:t>định</a:t>
            </a:r>
            <a:r>
              <a:rPr lang="en-US" sz="1100" dirty="0">
                <a:solidFill>
                  <a:srgbClr val="007B7C"/>
                </a:solidFill>
                <a:latin typeface="Inter SemiBold"/>
                <a:ea typeface="Inter SemiBold"/>
              </a:rPr>
              <a:t> </a:t>
            </a:r>
            <a:r>
              <a:rPr lang="en-US" sz="1100" dirty="0" err="1">
                <a:solidFill>
                  <a:srgbClr val="007B7C"/>
                </a:solidFill>
                <a:latin typeface="Inter SemiBold"/>
                <a:ea typeface="Inter SemiBold"/>
              </a:rPr>
              <a:t>tính</a:t>
            </a:r>
            <a:r>
              <a:rPr lang="en-US" sz="1100" dirty="0">
                <a:solidFill>
                  <a:srgbClr val="007B7C"/>
                </a:solidFill>
                <a:latin typeface="Inter SemiBold"/>
                <a:ea typeface="Inter SemiBold"/>
              </a:rPr>
              <a:t> </a:t>
            </a:r>
            <a:r>
              <a:rPr lang="en-US" sz="1100" dirty="0" err="1">
                <a:solidFill>
                  <a:srgbClr val="007B7C"/>
                </a:solidFill>
                <a:latin typeface="Inter SemiBold"/>
                <a:ea typeface="Inter SemiBold"/>
              </a:rPr>
              <a:t>và</a:t>
            </a:r>
            <a:r>
              <a:rPr lang="en-US" sz="1100" dirty="0">
                <a:solidFill>
                  <a:srgbClr val="007B7C"/>
                </a:solidFill>
                <a:latin typeface="Inter SemiBold"/>
                <a:ea typeface="Inter SemiBold"/>
              </a:rPr>
              <a:t> 10 </a:t>
            </a:r>
            <a:r>
              <a:rPr lang="en-US" sz="1100" dirty="0" err="1">
                <a:solidFill>
                  <a:srgbClr val="007B7C"/>
                </a:solidFill>
                <a:latin typeface="Inter SemiBold"/>
                <a:ea typeface="Inter SemiBold"/>
              </a:rPr>
              <a:t>câu</a:t>
            </a:r>
            <a:r>
              <a:rPr lang="en-US" sz="1100" dirty="0">
                <a:solidFill>
                  <a:srgbClr val="007B7C"/>
                </a:solidFill>
                <a:latin typeface="Inter SemiBold"/>
                <a:ea typeface="Inter SemiBold"/>
              </a:rPr>
              <a:t> </a:t>
            </a:r>
            <a:r>
              <a:rPr lang="en-US" sz="1100" dirty="0" err="1">
                <a:solidFill>
                  <a:srgbClr val="007B7C"/>
                </a:solidFill>
                <a:latin typeface="Inter SemiBold"/>
                <a:ea typeface="Inter SemiBold"/>
              </a:rPr>
              <a:t>định</a:t>
            </a:r>
            <a:r>
              <a:rPr lang="en-US" sz="1100" dirty="0">
                <a:solidFill>
                  <a:srgbClr val="007B7C"/>
                </a:solidFill>
                <a:latin typeface="Inter SemiBold"/>
                <a:ea typeface="Inter SemiBold"/>
              </a:rPr>
              <a:t> </a:t>
            </a:r>
            <a:r>
              <a:rPr lang="en-US" sz="1100" dirty="0" err="1">
                <a:solidFill>
                  <a:srgbClr val="007B7C"/>
                </a:solidFill>
                <a:latin typeface="Inter SemiBold"/>
                <a:ea typeface="Inter SemiBold"/>
              </a:rPr>
              <a:t>lượng</a:t>
            </a:r>
            <a:endParaRPr sz="1100" dirty="0">
              <a:solidFill>
                <a:srgbClr val="007B7C"/>
              </a:solidFill>
              <a:latin typeface="Inter SemiBold"/>
              <a:ea typeface="Inter SemiBold"/>
              <a:sym typeface="Inter SemiBold"/>
            </a:endParaRPr>
          </a:p>
        </p:txBody>
      </p:sp>
      <p:sp>
        <p:nvSpPr>
          <p:cNvPr id="620" name="Google Shape;620;p31"/>
          <p:cNvSpPr/>
          <p:nvPr/>
        </p:nvSpPr>
        <p:spPr>
          <a:xfrm>
            <a:off x="384048" y="1335024"/>
            <a:ext cx="2761488" cy="1527048"/>
          </a:xfrm>
          <a:prstGeom prst="rect">
            <a:avLst/>
          </a:prstGeom>
          <a:solidFill>
            <a:srgbClr val="FFFFFF"/>
          </a:solidFill>
          <a:ln w="12700"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621" name="Google Shape;621;p31"/>
          <p:cNvSpPr/>
          <p:nvPr/>
        </p:nvSpPr>
        <p:spPr>
          <a:xfrm>
            <a:off x="384048" y="1335024"/>
            <a:ext cx="54864" cy="1527048"/>
          </a:xfrm>
          <a:prstGeom prst="rect">
            <a:avLst/>
          </a:prstGeom>
          <a:solidFill>
            <a:srgbClr val="007B7C"/>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622" name="Google Shape;622;p31"/>
          <p:cNvSpPr txBox="1"/>
          <p:nvPr/>
        </p:nvSpPr>
        <p:spPr>
          <a:xfrm>
            <a:off x="548640" y="1453895"/>
            <a:ext cx="2468880" cy="798424"/>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 sz="950" b="0" i="0" u="none" strike="noStrike" cap="none" dirty="0">
                <a:solidFill>
                  <a:srgbClr val="475569"/>
                </a:solidFill>
                <a:latin typeface="Inter SemiBold"/>
                <a:ea typeface="Inter SemiBold"/>
                <a:cs typeface="Inter SemiBold"/>
                <a:sym typeface="Inter SemiBold"/>
              </a:rPr>
              <a:t>Câu hỏi định tính</a:t>
            </a:r>
            <a:endParaRPr dirty="0"/>
          </a:p>
          <a:p>
            <a:pPr marL="0" marR="0" lvl="0" indent="0" algn="l" rtl="0">
              <a:lnSpc>
                <a:spcPct val="100000"/>
              </a:lnSpc>
              <a:spcBef>
                <a:spcPts val="300"/>
              </a:spcBef>
              <a:spcAft>
                <a:spcPts val="0"/>
              </a:spcAft>
              <a:buNone/>
            </a:pPr>
            <a:r>
              <a:rPr lang="en" sz="2000" b="0" i="0" u="none" strike="noStrike" cap="none" dirty="0">
                <a:solidFill>
                  <a:srgbClr val="007B7C"/>
                </a:solidFill>
                <a:latin typeface="Inter"/>
                <a:ea typeface="Inter"/>
                <a:cs typeface="Inter"/>
                <a:sym typeface="Inter"/>
              </a:rPr>
              <a:t>10 câu</a:t>
            </a:r>
            <a:endParaRPr dirty="0"/>
          </a:p>
          <a:p>
            <a:pPr marL="0" marR="0" lvl="0" indent="0" algn="l" rtl="0">
              <a:lnSpc>
                <a:spcPct val="100000"/>
              </a:lnSpc>
              <a:spcBef>
                <a:spcPts val="300"/>
              </a:spcBef>
              <a:spcAft>
                <a:spcPts val="0"/>
              </a:spcAft>
              <a:buNone/>
            </a:pPr>
            <a:r>
              <a:rPr lang="en" sz="869" b="0" i="0" u="none" strike="noStrike" cap="none" dirty="0">
                <a:solidFill>
                  <a:srgbClr val="64748B"/>
                </a:solidFill>
                <a:latin typeface="Inter"/>
                <a:ea typeface="Inter"/>
                <a:cs typeface="Inter"/>
                <a:sym typeface="Inter"/>
              </a:rPr>
              <a:t>Tìm hiểu cách </a:t>
            </a:r>
            <a:r>
              <a:rPr lang="vi-VN" sz="869" b="0" i="0" u="none" strike="noStrike" cap="none" dirty="0">
                <a:solidFill>
                  <a:srgbClr val="64748B"/>
                </a:solidFill>
                <a:latin typeface="Inter"/>
                <a:ea typeface="Inter"/>
                <a:cs typeface="Inter"/>
                <a:sym typeface="Inter"/>
              </a:rPr>
              <a:t>thực hiện</a:t>
            </a:r>
            <a:r>
              <a:rPr lang="en" sz="869" b="0" i="0" u="none" strike="noStrike" cap="none" dirty="0">
                <a:solidFill>
                  <a:srgbClr val="64748B"/>
                </a:solidFill>
                <a:latin typeface="Inter"/>
                <a:ea typeface="Inter"/>
                <a:cs typeface="Inter"/>
                <a:sym typeface="Inter"/>
              </a:rPr>
              <a:t>, nguyên nhân, cảm nhận của người tham gia quy trình.</a:t>
            </a:r>
            <a:endParaRPr dirty="0"/>
          </a:p>
        </p:txBody>
      </p:sp>
      <p:sp>
        <p:nvSpPr>
          <p:cNvPr id="623" name="Google Shape;623;p31"/>
          <p:cNvSpPr/>
          <p:nvPr/>
        </p:nvSpPr>
        <p:spPr>
          <a:xfrm>
            <a:off x="384048" y="3044952"/>
            <a:ext cx="2761488" cy="1527048"/>
          </a:xfrm>
          <a:prstGeom prst="rect">
            <a:avLst/>
          </a:prstGeom>
          <a:solidFill>
            <a:srgbClr val="FFFFFF"/>
          </a:solidFill>
          <a:ln w="12700"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624" name="Google Shape;624;p31"/>
          <p:cNvSpPr/>
          <p:nvPr/>
        </p:nvSpPr>
        <p:spPr>
          <a:xfrm>
            <a:off x="384048" y="3044952"/>
            <a:ext cx="54864" cy="1527048"/>
          </a:xfrm>
          <a:prstGeom prst="rect">
            <a:avLst/>
          </a:prstGeom>
          <a:solidFill>
            <a:srgbClr val="0284C7"/>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625" name="Google Shape;625;p31"/>
          <p:cNvSpPr txBox="1"/>
          <p:nvPr/>
        </p:nvSpPr>
        <p:spPr>
          <a:xfrm>
            <a:off x="548640" y="3163824"/>
            <a:ext cx="2468880" cy="798424"/>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 sz="950" b="0" i="0" u="none" strike="noStrike" cap="none" dirty="0">
                <a:solidFill>
                  <a:srgbClr val="475569"/>
                </a:solidFill>
                <a:latin typeface="Inter SemiBold"/>
                <a:ea typeface="Inter SemiBold"/>
                <a:cs typeface="Inter SemiBold"/>
                <a:sym typeface="Inter SemiBold"/>
              </a:rPr>
              <a:t>Câu hỏi định lượng</a:t>
            </a:r>
            <a:endParaRPr dirty="0"/>
          </a:p>
          <a:p>
            <a:pPr marL="0" marR="0" lvl="0" indent="0" algn="l" rtl="0">
              <a:lnSpc>
                <a:spcPct val="100000"/>
              </a:lnSpc>
              <a:spcBef>
                <a:spcPts val="300"/>
              </a:spcBef>
              <a:spcAft>
                <a:spcPts val="0"/>
              </a:spcAft>
              <a:buNone/>
            </a:pPr>
            <a:r>
              <a:rPr lang="en" sz="2000" b="0" i="0" u="none" strike="noStrike" cap="none" dirty="0">
                <a:solidFill>
                  <a:srgbClr val="0284C7"/>
                </a:solidFill>
                <a:latin typeface="Inter"/>
                <a:ea typeface="Inter"/>
                <a:cs typeface="Inter"/>
                <a:sym typeface="Inter"/>
              </a:rPr>
              <a:t>10 câu</a:t>
            </a:r>
            <a:endParaRPr dirty="0"/>
          </a:p>
          <a:p>
            <a:pPr lvl="0">
              <a:spcBef>
                <a:spcPts val="300"/>
              </a:spcBef>
            </a:pPr>
            <a:r>
              <a:rPr lang="en-US" sz="869" dirty="0">
                <a:solidFill>
                  <a:srgbClr val="64748B"/>
                </a:solidFill>
                <a:latin typeface="Inter"/>
                <a:ea typeface="Inter"/>
              </a:rPr>
              <a:t>Thu </a:t>
            </a:r>
            <a:r>
              <a:rPr lang="en-US" sz="869" dirty="0" err="1">
                <a:solidFill>
                  <a:srgbClr val="64748B"/>
                </a:solidFill>
                <a:latin typeface="Inter"/>
                <a:ea typeface="Inter"/>
              </a:rPr>
              <a:t>thập</a:t>
            </a:r>
            <a:r>
              <a:rPr lang="en-US" sz="869" dirty="0">
                <a:solidFill>
                  <a:srgbClr val="64748B"/>
                </a:solidFill>
                <a:latin typeface="Inter"/>
                <a:ea typeface="Inter"/>
              </a:rPr>
              <a:t> </a:t>
            </a:r>
            <a:r>
              <a:rPr lang="en-US" sz="869" dirty="0" err="1">
                <a:solidFill>
                  <a:srgbClr val="64748B"/>
                </a:solidFill>
                <a:latin typeface="Inter"/>
                <a:ea typeface="Inter"/>
              </a:rPr>
              <a:t>các</a:t>
            </a:r>
            <a:r>
              <a:rPr lang="en-US" sz="869" dirty="0">
                <a:solidFill>
                  <a:srgbClr val="64748B"/>
                </a:solidFill>
                <a:latin typeface="Inter"/>
                <a:ea typeface="Inter"/>
              </a:rPr>
              <a:t> </a:t>
            </a:r>
            <a:r>
              <a:rPr lang="en-US" sz="869" dirty="0" err="1">
                <a:solidFill>
                  <a:srgbClr val="64748B"/>
                </a:solidFill>
                <a:latin typeface="Inter"/>
                <a:ea typeface="Inter"/>
              </a:rPr>
              <a:t>số</a:t>
            </a:r>
            <a:r>
              <a:rPr lang="en-US" sz="869" dirty="0">
                <a:solidFill>
                  <a:srgbClr val="64748B"/>
                </a:solidFill>
                <a:latin typeface="Inter"/>
                <a:ea typeface="Inter"/>
              </a:rPr>
              <a:t> </a:t>
            </a:r>
            <a:r>
              <a:rPr lang="en-US" sz="869" dirty="0" err="1">
                <a:solidFill>
                  <a:srgbClr val="64748B"/>
                </a:solidFill>
                <a:latin typeface="Inter"/>
                <a:ea typeface="Inter"/>
              </a:rPr>
              <a:t>liệu</a:t>
            </a:r>
            <a:r>
              <a:rPr lang="en-US" sz="869" dirty="0">
                <a:solidFill>
                  <a:srgbClr val="64748B"/>
                </a:solidFill>
                <a:latin typeface="Inter"/>
                <a:ea typeface="Inter"/>
              </a:rPr>
              <a:t> </a:t>
            </a:r>
            <a:r>
              <a:rPr lang="en-US" sz="869" dirty="0" err="1">
                <a:solidFill>
                  <a:srgbClr val="64748B"/>
                </a:solidFill>
                <a:latin typeface="Inter"/>
                <a:ea typeface="Inter"/>
              </a:rPr>
              <a:t>về</a:t>
            </a:r>
            <a:r>
              <a:rPr lang="en-US" sz="869" dirty="0">
                <a:solidFill>
                  <a:srgbClr val="64748B"/>
                </a:solidFill>
                <a:latin typeface="Inter"/>
                <a:ea typeface="Inter"/>
              </a:rPr>
              <a:t> </a:t>
            </a:r>
            <a:r>
              <a:rPr lang="en-US" sz="869" dirty="0" err="1">
                <a:solidFill>
                  <a:srgbClr val="64748B"/>
                </a:solidFill>
                <a:latin typeface="Inter"/>
                <a:ea typeface="Inter"/>
              </a:rPr>
              <a:t>thời</a:t>
            </a:r>
            <a:r>
              <a:rPr lang="en-US" sz="869" dirty="0">
                <a:solidFill>
                  <a:srgbClr val="64748B"/>
                </a:solidFill>
                <a:latin typeface="Inter"/>
                <a:ea typeface="Inter"/>
              </a:rPr>
              <a:t> </a:t>
            </a:r>
            <a:r>
              <a:rPr lang="en-US" sz="869" dirty="0" err="1">
                <a:solidFill>
                  <a:srgbClr val="64748B"/>
                </a:solidFill>
                <a:latin typeface="Inter"/>
                <a:ea typeface="Inter"/>
              </a:rPr>
              <a:t>gian</a:t>
            </a:r>
            <a:r>
              <a:rPr lang="en-US" sz="869" dirty="0">
                <a:solidFill>
                  <a:srgbClr val="64748B"/>
                </a:solidFill>
                <a:latin typeface="Inter"/>
                <a:ea typeface="Inter"/>
              </a:rPr>
              <a:t>, </a:t>
            </a:r>
            <a:r>
              <a:rPr lang="en-US" sz="869" dirty="0" err="1">
                <a:solidFill>
                  <a:srgbClr val="64748B"/>
                </a:solidFill>
                <a:latin typeface="Inter"/>
                <a:ea typeface="Inter"/>
              </a:rPr>
              <a:t>tỷ</a:t>
            </a:r>
            <a:r>
              <a:rPr lang="en-US" sz="869" dirty="0">
                <a:solidFill>
                  <a:srgbClr val="64748B"/>
                </a:solidFill>
                <a:latin typeface="Inter"/>
                <a:ea typeface="Inter"/>
              </a:rPr>
              <a:t> </a:t>
            </a:r>
            <a:r>
              <a:rPr lang="en-US" sz="869" dirty="0" err="1">
                <a:solidFill>
                  <a:srgbClr val="64748B"/>
                </a:solidFill>
                <a:latin typeface="Inter"/>
                <a:ea typeface="Inter"/>
              </a:rPr>
              <a:t>lệ</a:t>
            </a:r>
            <a:r>
              <a:rPr lang="en-US" sz="869" dirty="0">
                <a:solidFill>
                  <a:srgbClr val="64748B"/>
                </a:solidFill>
                <a:latin typeface="Inter"/>
                <a:ea typeface="Inter"/>
              </a:rPr>
              <a:t>, chi </a:t>
            </a:r>
            <a:r>
              <a:rPr lang="en-US" sz="869" dirty="0" err="1">
                <a:solidFill>
                  <a:srgbClr val="64748B"/>
                </a:solidFill>
                <a:latin typeface="Inter"/>
                <a:ea typeface="Inter"/>
              </a:rPr>
              <a:t>phí</a:t>
            </a:r>
            <a:r>
              <a:rPr lang="en-US" sz="869" dirty="0">
                <a:solidFill>
                  <a:srgbClr val="64748B"/>
                </a:solidFill>
                <a:latin typeface="Inter"/>
                <a:ea typeface="Inter"/>
              </a:rPr>
              <a:t> </a:t>
            </a:r>
            <a:r>
              <a:rPr lang="en-US" sz="869" dirty="0" err="1">
                <a:solidFill>
                  <a:srgbClr val="64748B"/>
                </a:solidFill>
                <a:latin typeface="Inter"/>
                <a:ea typeface="Inter"/>
              </a:rPr>
              <a:t>và</a:t>
            </a:r>
            <a:r>
              <a:rPr lang="en-US" sz="869" dirty="0">
                <a:solidFill>
                  <a:srgbClr val="64748B"/>
                </a:solidFill>
                <a:latin typeface="Inter"/>
                <a:ea typeface="Inter"/>
              </a:rPr>
              <a:t> </a:t>
            </a:r>
            <a:r>
              <a:rPr lang="en-US" sz="869" dirty="0" err="1">
                <a:solidFill>
                  <a:srgbClr val="64748B"/>
                </a:solidFill>
                <a:latin typeface="Inter"/>
                <a:ea typeface="Inter"/>
              </a:rPr>
              <a:t>đánh</a:t>
            </a:r>
            <a:r>
              <a:rPr lang="en-US" sz="869" dirty="0">
                <a:solidFill>
                  <a:srgbClr val="64748B"/>
                </a:solidFill>
                <a:latin typeface="Inter"/>
                <a:ea typeface="Inter"/>
              </a:rPr>
              <a:t> </a:t>
            </a:r>
            <a:r>
              <a:rPr lang="en-US" sz="869" dirty="0" err="1">
                <a:solidFill>
                  <a:srgbClr val="64748B"/>
                </a:solidFill>
                <a:latin typeface="Inter"/>
                <a:ea typeface="Inter"/>
              </a:rPr>
              <a:t>giá</a:t>
            </a:r>
            <a:endParaRPr sz="869" dirty="0">
              <a:solidFill>
                <a:srgbClr val="64748B"/>
              </a:solidFill>
              <a:latin typeface="Inter"/>
              <a:ea typeface="Inter"/>
            </a:endParaRPr>
          </a:p>
        </p:txBody>
      </p:sp>
      <p:sp>
        <p:nvSpPr>
          <p:cNvPr id="626" name="Google Shape;626;p31"/>
          <p:cNvSpPr/>
          <p:nvPr/>
        </p:nvSpPr>
        <p:spPr>
          <a:xfrm>
            <a:off x="3447288" y="1335024"/>
            <a:ext cx="5312664" cy="3236976"/>
          </a:xfrm>
          <a:prstGeom prst="rect">
            <a:avLst/>
          </a:prstGeom>
          <a:solidFill>
            <a:srgbClr val="FFFFFF"/>
          </a:solidFill>
          <a:ln w="12700"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627" name="Google Shape;627;p31"/>
          <p:cNvSpPr/>
          <p:nvPr/>
        </p:nvSpPr>
        <p:spPr>
          <a:xfrm>
            <a:off x="3447288" y="1335024"/>
            <a:ext cx="5312664" cy="54864"/>
          </a:xfrm>
          <a:prstGeom prst="rect">
            <a:avLst/>
          </a:prstGeom>
          <a:solidFill>
            <a:srgbClr val="0F172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628" name="Google Shape;628;p31"/>
          <p:cNvSpPr txBox="1"/>
          <p:nvPr/>
        </p:nvSpPr>
        <p:spPr>
          <a:xfrm>
            <a:off x="3675887" y="1527048"/>
            <a:ext cx="4855464" cy="1649169"/>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vi-VN" sz="1300" b="1" i="0" u="none" strike="noStrike" cap="none" dirty="0">
                <a:solidFill>
                  <a:srgbClr val="0F172A"/>
                </a:solidFill>
                <a:latin typeface="Inter"/>
                <a:ea typeface="Inter"/>
                <a:cs typeface="Inter"/>
                <a:sym typeface="Inter"/>
              </a:rPr>
              <a:t>Cấu trúc</a:t>
            </a:r>
            <a:r>
              <a:rPr lang="en" sz="1300" b="1" i="0" u="none" strike="noStrike" cap="none" dirty="0">
                <a:solidFill>
                  <a:srgbClr val="0F172A"/>
                </a:solidFill>
                <a:latin typeface="Inter"/>
                <a:ea typeface="Inter"/>
                <a:cs typeface="Inter"/>
                <a:sym typeface="Inter"/>
              </a:rPr>
              <a:t> bộ câu hỏi (20 câu)</a:t>
            </a:r>
            <a:endParaRPr dirty="0"/>
          </a:p>
          <a:p>
            <a:pPr marL="0" marR="0" lvl="0" indent="0" algn="l" rtl="0">
              <a:lnSpc>
                <a:spcPct val="115000"/>
              </a:lnSpc>
              <a:spcBef>
                <a:spcPts val="800"/>
              </a:spcBef>
              <a:spcAft>
                <a:spcPts val="0"/>
              </a:spcAft>
              <a:buNone/>
            </a:pPr>
            <a:r>
              <a:rPr lang="en" sz="950" b="0" i="0" u="none" strike="noStrike" cap="none" dirty="0">
                <a:solidFill>
                  <a:srgbClr val="475569"/>
                </a:solidFill>
                <a:latin typeface="Inter"/>
                <a:ea typeface="Inter"/>
                <a:cs typeface="Inter"/>
                <a:sym typeface="Inter"/>
              </a:rPr>
              <a:t>Mỗi nhóm (định tính/định lượng) </a:t>
            </a:r>
            <a:r>
              <a:rPr lang="vi-VN" sz="950" dirty="0">
                <a:solidFill>
                  <a:srgbClr val="475569"/>
                </a:solidFill>
                <a:latin typeface="Inter"/>
                <a:ea typeface="Inter"/>
                <a:cs typeface="Inter"/>
                <a:sym typeface="Inter"/>
              </a:rPr>
              <a:t>gồm 10 câu</a:t>
            </a:r>
            <a:r>
              <a:rPr lang="en" sz="950" b="0" i="0" u="none" strike="noStrike" cap="none" dirty="0">
                <a:solidFill>
                  <a:srgbClr val="475569"/>
                </a:solidFill>
                <a:latin typeface="Inter"/>
                <a:ea typeface="Inter"/>
                <a:cs typeface="Inter"/>
                <a:sym typeface="Inter"/>
              </a:rPr>
              <a:t>:</a:t>
            </a:r>
            <a:endParaRPr dirty="0"/>
          </a:p>
          <a:p>
            <a:pPr marL="0" marR="0" lvl="0" indent="0" algn="l" rtl="0">
              <a:lnSpc>
                <a:spcPct val="115000"/>
              </a:lnSpc>
              <a:spcBef>
                <a:spcPts val="800"/>
              </a:spcBef>
              <a:spcAft>
                <a:spcPts val="0"/>
              </a:spcAft>
              <a:buNone/>
            </a:pPr>
            <a:r>
              <a:rPr lang="en" sz="950" b="1" i="0" u="none" strike="noStrike" cap="none" dirty="0">
                <a:solidFill>
                  <a:srgbClr val="007B7C"/>
                </a:solidFill>
                <a:latin typeface="Inter"/>
                <a:ea typeface="Inter"/>
                <a:cs typeface="Inter"/>
                <a:sym typeface="Inter"/>
              </a:rPr>
              <a:t>•  5 câu có cấu trúc</a:t>
            </a:r>
            <a:r>
              <a:rPr lang="en" sz="950" b="0" i="0" u="none" strike="noStrike" cap="none" dirty="0">
                <a:solidFill>
                  <a:srgbClr val="475569"/>
                </a:solidFill>
                <a:latin typeface="Inter"/>
                <a:ea typeface="Inter"/>
                <a:cs typeface="Inter"/>
                <a:sym typeface="Inter"/>
              </a:rPr>
              <a:t> (structured) — có phương án trả lời rõ ràng, dễ tổng hợp, thống kê.</a:t>
            </a:r>
            <a:endParaRPr dirty="0"/>
          </a:p>
          <a:p>
            <a:pPr marL="0" marR="0" lvl="0" indent="0" algn="l" rtl="0">
              <a:lnSpc>
                <a:spcPct val="115000"/>
              </a:lnSpc>
              <a:spcBef>
                <a:spcPts val="800"/>
              </a:spcBef>
              <a:spcAft>
                <a:spcPts val="0"/>
              </a:spcAft>
              <a:buNone/>
            </a:pPr>
            <a:r>
              <a:rPr lang="en" sz="950" b="1" i="0" u="none" strike="noStrike" cap="none" dirty="0">
                <a:solidFill>
                  <a:srgbClr val="0284C7"/>
                </a:solidFill>
                <a:latin typeface="Inter"/>
                <a:ea typeface="Inter"/>
                <a:cs typeface="Inter"/>
                <a:sym typeface="Inter"/>
              </a:rPr>
              <a:t>•  5 câu không có cấu trúc</a:t>
            </a:r>
            <a:r>
              <a:rPr lang="en" sz="950" b="0" i="0" u="none" strike="noStrike" cap="none" dirty="0">
                <a:solidFill>
                  <a:srgbClr val="475569"/>
                </a:solidFill>
                <a:latin typeface="Inter"/>
                <a:ea typeface="Inter"/>
                <a:cs typeface="Inter"/>
                <a:sym typeface="Inter"/>
              </a:rPr>
              <a:t> (unstructured) — câu hỏi mở, khai thác sâu nguyên nhân và cảm nhận.</a:t>
            </a:r>
            <a:endParaRPr dirty="0"/>
          </a:p>
          <a:p>
            <a:pPr marL="0" marR="0" lvl="0" indent="0" algn="l" rtl="0">
              <a:lnSpc>
                <a:spcPct val="115000"/>
              </a:lnSpc>
              <a:spcBef>
                <a:spcPts val="800"/>
              </a:spcBef>
              <a:spcAft>
                <a:spcPts val="0"/>
              </a:spcAft>
              <a:buNone/>
            </a:pPr>
            <a:r>
              <a:rPr lang="en" sz="950" b="0" i="0" u="none" strike="noStrike" cap="none" dirty="0">
                <a:solidFill>
                  <a:srgbClr val="475569"/>
                </a:solidFill>
                <a:latin typeface="Inter"/>
                <a:ea typeface="Inter"/>
                <a:cs typeface="Inter"/>
                <a:sym typeface="Inter"/>
              </a:rPr>
              <a:t>Đối tượng phỏng vấn: CS/Call Center, KTV, QA Manager, </a:t>
            </a:r>
            <a:r>
              <a:rPr lang="vi-VN" sz="950" b="0" i="0" u="none" strike="noStrike" cap="none" dirty="0">
                <a:solidFill>
                  <a:srgbClr val="475569"/>
                </a:solidFill>
                <a:latin typeface="Inter"/>
                <a:ea typeface="Inter"/>
                <a:cs typeface="Inter"/>
                <a:sym typeface="Inter"/>
              </a:rPr>
              <a:t>N</a:t>
            </a:r>
            <a:r>
              <a:rPr lang="en" sz="950" b="0" i="0" u="none" strike="noStrike" cap="none" dirty="0">
                <a:solidFill>
                  <a:srgbClr val="475569"/>
                </a:solidFill>
                <a:latin typeface="Inter"/>
                <a:ea typeface="Inter"/>
                <a:cs typeface="Inter"/>
                <a:sym typeface="Inter"/>
              </a:rPr>
              <a:t>hân viên kho linh kiện.</a:t>
            </a:r>
            <a:endParaRPr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632"/>
        <p:cNvGrpSpPr/>
        <p:nvPr/>
      </p:nvGrpSpPr>
      <p:grpSpPr>
        <a:xfrm>
          <a:off x="0" y="0"/>
          <a:ext cx="0" cy="0"/>
          <a:chOff x="0" y="0"/>
          <a:chExt cx="0" cy="0"/>
        </a:xfrm>
      </p:grpSpPr>
      <p:sp>
        <p:nvSpPr>
          <p:cNvPr id="633" name="Google Shape;633;p32"/>
          <p:cNvSpPr/>
          <p:nvPr/>
        </p:nvSpPr>
        <p:spPr>
          <a:xfrm>
            <a:off x="0" y="0"/>
            <a:ext cx="9144000" cy="5143500"/>
          </a:xfrm>
          <a:prstGeom prst="rect">
            <a:avLst/>
          </a:pr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634" name="Google Shape;634;p32"/>
          <p:cNvGrpSpPr/>
          <p:nvPr/>
        </p:nvGrpSpPr>
        <p:grpSpPr>
          <a:xfrm>
            <a:off x="8458200" y="381000"/>
            <a:ext cx="304800" cy="304800"/>
            <a:chOff x="0" y="0"/>
            <a:chExt cx="304800" cy="304800"/>
          </a:xfrm>
        </p:grpSpPr>
        <p:sp>
          <p:nvSpPr>
            <p:cNvPr id="635" name="Google Shape;635;p32"/>
            <p:cNvSpPr/>
            <p:nvPr/>
          </p:nvSpPr>
          <p:spPr>
            <a:xfrm>
              <a:off x="0" y="0"/>
              <a:ext cx="304800" cy="304800"/>
            </a:xfrm>
            <a:prstGeom prst="roundRect">
              <a:avLst>
                <a:gd name="adj" fmla="val 125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36" name="Google Shape;636;p32"/>
            <p:cNvSpPr/>
            <p:nvPr/>
          </p:nvSpPr>
          <p:spPr>
            <a:xfrm>
              <a:off x="95250" y="95250"/>
              <a:ext cx="114300" cy="114300"/>
            </a:xfrm>
            <a:custGeom>
              <a:avLst/>
              <a:gdLst/>
              <a:ahLst/>
              <a:cxnLst/>
              <a:rect l="l" t="t" r="r" b="b"/>
              <a:pathLst>
                <a:path w="120000" h="120000" extrusionOk="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37" name="Google Shape;637;p32"/>
            <p:cNvSpPr/>
            <p:nvPr/>
          </p:nvSpPr>
          <p:spPr>
            <a:xfrm>
              <a:off x="123825" y="123825"/>
              <a:ext cx="57300" cy="57300"/>
            </a:xfrm>
            <a:prstGeom prst="ellipse">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cxnSp>
        <p:nvCxnSpPr>
          <p:cNvPr id="638" name="Google Shape;638;p32"/>
          <p:cNvCxnSpPr/>
          <p:nvPr/>
        </p:nvCxnSpPr>
        <p:spPr>
          <a:xfrm>
            <a:off x="381000" y="1143000"/>
            <a:ext cx="8382000" cy="0"/>
          </a:xfrm>
          <a:prstGeom prst="straightConnector1">
            <a:avLst/>
          </a:prstGeom>
          <a:solidFill>
            <a:srgbClr val="FFFFFF"/>
          </a:solidFill>
          <a:ln w="14300" cap="flat" cmpd="sng">
            <a:solidFill>
              <a:srgbClr val="E2E8F0"/>
            </a:solidFill>
            <a:prstDash val="solid"/>
            <a:round/>
            <a:headEnd type="none" w="sm" len="sm"/>
            <a:tailEnd type="none" w="sm" len="sm"/>
          </a:ln>
        </p:spPr>
      </p:cxnSp>
      <p:sp>
        <p:nvSpPr>
          <p:cNvPr id="639" name="Google Shape;639;p32"/>
          <p:cNvSpPr txBox="1"/>
          <p:nvPr/>
        </p:nvSpPr>
        <p:spPr>
          <a:xfrm>
            <a:off x="381000" y="333375"/>
            <a:ext cx="7620000" cy="762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 sz="2000" b="0" i="0" u="none" strike="noStrike" cap="none" dirty="0">
                <a:solidFill>
                  <a:srgbClr val="0F172A"/>
                </a:solidFill>
                <a:latin typeface="Inter ExtraBold"/>
                <a:ea typeface="Inter ExtraBold"/>
                <a:cs typeface="Inter ExtraBold"/>
                <a:sym typeface="Inter ExtraBold"/>
              </a:rPr>
              <a:t>5 câu hỏi định tính — Có cấu trúc</a:t>
            </a:r>
            <a:endParaRPr sz="2000" b="0" i="0" u="none" strike="noStrike" cap="none" dirty="0">
              <a:solidFill>
                <a:srgbClr val="0F172A"/>
              </a:solidFill>
              <a:latin typeface="Inter ExtraBold"/>
              <a:ea typeface="Inter ExtraBold"/>
              <a:cs typeface="Inter ExtraBold"/>
              <a:sym typeface="Inter ExtraBold"/>
            </a:endParaRPr>
          </a:p>
          <a:p>
            <a:pPr marL="0" marR="0" lvl="0" indent="0" algn="l" rtl="0">
              <a:lnSpc>
                <a:spcPct val="100000"/>
              </a:lnSpc>
              <a:spcBef>
                <a:spcPts val="375"/>
              </a:spcBef>
              <a:spcAft>
                <a:spcPts val="0"/>
              </a:spcAft>
              <a:buClr>
                <a:srgbClr val="000000"/>
              </a:buClr>
              <a:buSzPts val="1100"/>
              <a:buFont typeface="Arial"/>
              <a:buNone/>
            </a:pPr>
            <a:r>
              <a:rPr lang="en" sz="1100" b="0" i="0" u="none" strike="noStrike" cap="none" dirty="0">
                <a:solidFill>
                  <a:srgbClr val="007B7C"/>
                </a:solidFill>
                <a:latin typeface="Inter SemiBold"/>
                <a:ea typeface="Inter SemiBold"/>
                <a:cs typeface="Inter SemiBold"/>
                <a:sym typeface="Inter SemiBold"/>
              </a:rPr>
              <a:t>Structured — </a:t>
            </a:r>
            <a:r>
              <a:rPr lang="vi-VN" sz="1100" b="0" i="0" u="none" strike="noStrike" cap="none" dirty="0">
                <a:solidFill>
                  <a:srgbClr val="007B7C"/>
                </a:solidFill>
                <a:latin typeface="Inter SemiBold"/>
                <a:ea typeface="Inter SemiBold"/>
                <a:cs typeface="Inter SemiBold"/>
                <a:sym typeface="Inter SemiBold"/>
              </a:rPr>
              <a:t>C</a:t>
            </a:r>
            <a:r>
              <a:rPr lang="en" sz="1100" b="0" i="0" u="none" strike="noStrike" cap="none" dirty="0">
                <a:solidFill>
                  <a:srgbClr val="007B7C"/>
                </a:solidFill>
                <a:latin typeface="Inter SemiBold"/>
                <a:ea typeface="Inter SemiBold"/>
                <a:cs typeface="Inter SemiBold"/>
                <a:sym typeface="Inter SemiBold"/>
              </a:rPr>
              <a:t>ó phương án trả lời rõ ràng, dễ tổng hợp</a:t>
            </a:r>
            <a:endParaRPr sz="1100" b="0" i="0" u="none" strike="noStrike" cap="none" dirty="0">
              <a:solidFill>
                <a:srgbClr val="007B7C"/>
              </a:solidFill>
              <a:latin typeface="Inter SemiBold"/>
              <a:ea typeface="Inter SemiBold"/>
              <a:cs typeface="Inter SemiBold"/>
              <a:sym typeface="Inter SemiBold"/>
            </a:endParaRPr>
          </a:p>
        </p:txBody>
      </p:sp>
      <p:graphicFrame>
        <p:nvGraphicFramePr>
          <p:cNvPr id="640" name="Google Shape;640;p32"/>
          <p:cNvGraphicFramePr/>
          <p:nvPr>
            <p:extLst>
              <p:ext uri="{D42A27DB-BD31-4B8C-83A1-F6EECF244321}">
                <p14:modId xmlns:p14="http://schemas.microsoft.com/office/powerpoint/2010/main" val="532854613"/>
              </p:ext>
            </p:extLst>
          </p:nvPr>
        </p:nvGraphicFramePr>
        <p:xfrm>
          <a:off x="384048" y="1335024"/>
          <a:ext cx="8375900" cy="2999225"/>
        </p:xfrm>
        <a:graphic>
          <a:graphicData uri="http://schemas.openxmlformats.org/drawingml/2006/table">
            <a:tbl>
              <a:tblPr firstRow="1" bandRow="1">
                <a:noFill/>
                <a:tableStyleId>{C22CD621-9F64-4B2E-9631-1F7B959E530B}</a:tableStyleId>
              </a:tblPr>
              <a:tblGrid>
                <a:gridCol w="598275">
                  <a:extLst>
                    <a:ext uri="{9D8B030D-6E8A-4147-A177-3AD203B41FA5}">
                      <a16:colId xmlns:a16="http://schemas.microsoft.com/office/drawing/2014/main" val="20000"/>
                    </a:ext>
                  </a:extLst>
                </a:gridCol>
                <a:gridCol w="3828975">
                  <a:extLst>
                    <a:ext uri="{9D8B030D-6E8A-4147-A177-3AD203B41FA5}">
                      <a16:colId xmlns:a16="http://schemas.microsoft.com/office/drawing/2014/main" val="20001"/>
                    </a:ext>
                  </a:extLst>
                </a:gridCol>
                <a:gridCol w="3948650">
                  <a:extLst>
                    <a:ext uri="{9D8B030D-6E8A-4147-A177-3AD203B41FA5}">
                      <a16:colId xmlns:a16="http://schemas.microsoft.com/office/drawing/2014/main" val="20002"/>
                    </a:ext>
                  </a:extLst>
                </a:gridCol>
              </a:tblGrid>
              <a:tr h="347475">
                <a:tc>
                  <a:txBody>
                    <a:bodyPr/>
                    <a:lstStyle/>
                    <a:p>
                      <a:pPr marL="0" marR="0" lvl="0" indent="0" algn="l" rtl="0">
                        <a:lnSpc>
                          <a:spcPct val="100000"/>
                        </a:lnSpc>
                        <a:spcBef>
                          <a:spcPts val="0"/>
                        </a:spcBef>
                        <a:spcAft>
                          <a:spcPts val="0"/>
                        </a:spcAft>
                        <a:buNone/>
                      </a:pPr>
                      <a:r>
                        <a:rPr lang="en" sz="950" b="1" u="none" strike="noStrike" cap="none">
                          <a:solidFill>
                            <a:srgbClr val="FFFFFF"/>
                          </a:solidFill>
                          <a:latin typeface="Inter SemiBold"/>
                          <a:ea typeface="Inter SemiBold"/>
                          <a:cs typeface="Inter SemiBold"/>
                          <a:sym typeface="Inter SemiBold"/>
                        </a:rPr>
                        <a:t>STT</a:t>
                      </a:r>
                      <a:endParaRPr/>
                    </a:p>
                  </a:txBody>
                  <a:tcPr marL="73150" marR="73150" marT="18300" marB="18300" anchor="ctr">
                    <a:solidFill>
                      <a:srgbClr val="007B7C"/>
                    </a:solidFill>
                  </a:tcPr>
                </a:tc>
                <a:tc>
                  <a:txBody>
                    <a:bodyPr/>
                    <a:lstStyle/>
                    <a:p>
                      <a:pPr marL="0" marR="0" lvl="0" indent="0" algn="l" rtl="0">
                        <a:lnSpc>
                          <a:spcPct val="100000"/>
                        </a:lnSpc>
                        <a:spcBef>
                          <a:spcPts val="0"/>
                        </a:spcBef>
                        <a:spcAft>
                          <a:spcPts val="0"/>
                        </a:spcAft>
                        <a:buNone/>
                      </a:pPr>
                      <a:r>
                        <a:rPr lang="en" sz="950" b="1" u="none" strike="noStrike" cap="none">
                          <a:solidFill>
                            <a:srgbClr val="FFFFFF"/>
                          </a:solidFill>
                          <a:latin typeface="Inter SemiBold"/>
                          <a:ea typeface="Inter SemiBold"/>
                          <a:cs typeface="Inter SemiBold"/>
                          <a:sym typeface="Inter SemiBold"/>
                        </a:rPr>
                        <a:t>Câu hỏi</a:t>
                      </a:r>
                      <a:endParaRPr/>
                    </a:p>
                  </a:txBody>
                  <a:tcPr marL="73150" marR="73150" marT="18300" marB="18300" anchor="ctr">
                    <a:solidFill>
                      <a:srgbClr val="007B7C"/>
                    </a:solidFill>
                  </a:tcPr>
                </a:tc>
                <a:tc>
                  <a:txBody>
                    <a:bodyPr/>
                    <a:lstStyle/>
                    <a:p>
                      <a:pPr marL="0" marR="0" lvl="0" indent="0" algn="l" rtl="0">
                        <a:lnSpc>
                          <a:spcPct val="100000"/>
                        </a:lnSpc>
                        <a:spcBef>
                          <a:spcPts val="0"/>
                        </a:spcBef>
                        <a:spcAft>
                          <a:spcPts val="0"/>
                        </a:spcAft>
                        <a:buNone/>
                      </a:pPr>
                      <a:r>
                        <a:rPr lang="en" sz="950" b="1" u="none" strike="noStrike" cap="none">
                          <a:solidFill>
                            <a:srgbClr val="FFFFFF"/>
                          </a:solidFill>
                          <a:latin typeface="Inter SemiBold"/>
                          <a:ea typeface="Inter SemiBold"/>
                          <a:cs typeface="Inter SemiBold"/>
                          <a:sym typeface="Inter SemiBold"/>
                        </a:rPr>
                        <a:t>Phương án trả lời</a:t>
                      </a:r>
                      <a:endParaRPr/>
                    </a:p>
                  </a:txBody>
                  <a:tcPr marL="73150" marR="73150" marT="18300" marB="18300" anchor="ctr">
                    <a:solidFill>
                      <a:srgbClr val="007B7C"/>
                    </a:solidFill>
                  </a:tcPr>
                </a:tc>
                <a:extLst>
                  <a:ext uri="{0D108BD9-81ED-4DB2-BD59-A6C34878D82A}">
                    <a16:rowId xmlns:a16="http://schemas.microsoft.com/office/drawing/2014/main" val="10000"/>
                  </a:ext>
                </a:extLst>
              </a:tr>
              <a:tr h="530350">
                <a:tc>
                  <a:txBody>
                    <a:bodyPr/>
                    <a:lstStyle/>
                    <a:p>
                      <a:pPr marL="0" marR="0" lvl="0" indent="0" algn="l" rtl="0">
                        <a:lnSpc>
                          <a:spcPct val="100000"/>
                        </a:lnSpc>
                        <a:spcBef>
                          <a:spcPts val="0"/>
                        </a:spcBef>
                        <a:spcAft>
                          <a:spcPts val="0"/>
                        </a:spcAft>
                        <a:buNone/>
                      </a:pPr>
                      <a:r>
                        <a:rPr lang="en" sz="950" u="none" strike="noStrike" cap="none">
                          <a:solidFill>
                            <a:srgbClr val="475569"/>
                          </a:solidFill>
                          <a:latin typeface="Inter"/>
                          <a:ea typeface="Inter"/>
                          <a:cs typeface="Inter"/>
                          <a:sym typeface="Inter"/>
                        </a:rPr>
                        <a:t>1</a:t>
                      </a:r>
                      <a:endParaRPr/>
                    </a:p>
                  </a:txBody>
                  <a:tcPr marL="73150" marR="73150" marT="18300" marB="18300" anchor="ctr">
                    <a:solidFill>
                      <a:srgbClr val="FFFFFF"/>
                    </a:solidFill>
                  </a:tcPr>
                </a:tc>
                <a:tc>
                  <a:txBody>
                    <a:bodyPr/>
                    <a:lstStyle/>
                    <a:p>
                      <a:pPr marL="0" marR="0" lvl="0" indent="0" algn="l" rtl="0">
                        <a:lnSpc>
                          <a:spcPct val="100000"/>
                        </a:lnSpc>
                        <a:spcBef>
                          <a:spcPts val="0"/>
                        </a:spcBef>
                        <a:spcAft>
                          <a:spcPts val="0"/>
                        </a:spcAft>
                        <a:buNone/>
                      </a:pPr>
                      <a:r>
                        <a:rPr lang="vi-VN" sz="950" u="none" strike="noStrike" cap="none" dirty="0">
                          <a:solidFill>
                            <a:srgbClr val="475569"/>
                          </a:solidFill>
                          <a:latin typeface="Inter"/>
                          <a:ea typeface="Inter"/>
                          <a:cs typeface="Inter"/>
                          <a:sym typeface="Inter"/>
                        </a:rPr>
                        <a:t>M</a:t>
                      </a:r>
                      <a:r>
                        <a:rPr lang="en" sz="950" u="none" strike="noStrike" cap="none" dirty="0">
                          <a:solidFill>
                            <a:srgbClr val="475569"/>
                          </a:solidFill>
                          <a:latin typeface="Inter"/>
                          <a:ea typeface="Inter"/>
                          <a:cs typeface="Inter"/>
                          <a:sym typeface="Inter"/>
                        </a:rPr>
                        <a:t>ức độ rõ ràng của các bước trong quy trình </a:t>
                      </a:r>
                      <a:r>
                        <a:rPr lang="vi-VN" sz="950" u="none" strike="noStrike" cap="none" dirty="0">
                          <a:solidFill>
                            <a:srgbClr val="475569"/>
                          </a:solidFill>
                          <a:latin typeface="Inter"/>
                          <a:ea typeface="Inter"/>
                          <a:cs typeface="Inter"/>
                          <a:sym typeface="Inter"/>
                        </a:rPr>
                        <a:t>phân công</a:t>
                      </a:r>
                      <a:r>
                        <a:rPr lang="en" sz="950" u="none" strike="noStrike" cap="none" dirty="0">
                          <a:solidFill>
                            <a:srgbClr val="475569"/>
                          </a:solidFill>
                          <a:latin typeface="Inter"/>
                          <a:ea typeface="Inter"/>
                          <a:cs typeface="Inter"/>
                          <a:sym typeface="Inter"/>
                        </a:rPr>
                        <a:t> KTV?</a:t>
                      </a:r>
                      <a:endParaRPr dirty="0"/>
                    </a:p>
                  </a:txBody>
                  <a:tcPr marL="73150" marR="73150" marT="18300" marB="18300" anchor="ctr">
                    <a:solidFill>
                      <a:srgbClr val="FFFFFF"/>
                    </a:solidFill>
                  </a:tcPr>
                </a:tc>
                <a:tc>
                  <a:txBody>
                    <a:bodyPr/>
                    <a:lstStyle/>
                    <a:p>
                      <a:pPr marL="0" marR="0" lvl="0" indent="0" algn="l" rtl="0">
                        <a:lnSpc>
                          <a:spcPct val="100000"/>
                        </a:lnSpc>
                        <a:spcBef>
                          <a:spcPts val="0"/>
                        </a:spcBef>
                        <a:spcAft>
                          <a:spcPts val="0"/>
                        </a:spcAft>
                        <a:buNone/>
                      </a:pPr>
                      <a:r>
                        <a:rPr lang="en" sz="950" u="none" strike="noStrike" cap="none">
                          <a:solidFill>
                            <a:srgbClr val="475569"/>
                          </a:solidFill>
                          <a:latin typeface="Inter"/>
                          <a:ea typeface="Inter"/>
                          <a:cs typeface="Inter"/>
                          <a:sym typeface="Inter"/>
                        </a:rPr>
                        <a:t>Rất rõ ràng / Rõ ràng / Bình thường / Chưa rõ ràng / Rất mơ hồ</a:t>
                      </a:r>
                      <a:endParaRPr/>
                    </a:p>
                  </a:txBody>
                  <a:tcPr marL="73150" marR="73150" marT="18300" marB="18300" anchor="ctr">
                    <a:solidFill>
                      <a:srgbClr val="FFFFFF"/>
                    </a:solidFill>
                  </a:tcPr>
                </a:tc>
                <a:extLst>
                  <a:ext uri="{0D108BD9-81ED-4DB2-BD59-A6C34878D82A}">
                    <a16:rowId xmlns:a16="http://schemas.microsoft.com/office/drawing/2014/main" val="10001"/>
                  </a:ext>
                </a:extLst>
              </a:tr>
              <a:tr h="530350">
                <a:tc>
                  <a:txBody>
                    <a:bodyPr/>
                    <a:lstStyle/>
                    <a:p>
                      <a:pPr marL="0" marR="0" lvl="0" indent="0" algn="l" rtl="0">
                        <a:lnSpc>
                          <a:spcPct val="100000"/>
                        </a:lnSpc>
                        <a:spcBef>
                          <a:spcPts val="0"/>
                        </a:spcBef>
                        <a:spcAft>
                          <a:spcPts val="0"/>
                        </a:spcAft>
                        <a:buNone/>
                      </a:pPr>
                      <a:r>
                        <a:rPr lang="en" sz="950" u="none" strike="noStrike" cap="none">
                          <a:solidFill>
                            <a:srgbClr val="475569"/>
                          </a:solidFill>
                          <a:latin typeface="Inter"/>
                          <a:ea typeface="Inter"/>
                          <a:cs typeface="Inter"/>
                          <a:sym typeface="Inter"/>
                        </a:rPr>
                        <a:t>2</a:t>
                      </a:r>
                      <a:endParaRPr/>
                    </a:p>
                  </a:txBody>
                  <a:tcPr marL="73150" marR="73150" marT="18300" marB="18300" anchor="ctr">
                    <a:solidFill>
                      <a:srgbClr val="F8FAFC"/>
                    </a:solidFill>
                  </a:tcPr>
                </a:tc>
                <a:tc>
                  <a:txBody>
                    <a:bodyPr/>
                    <a:lstStyle/>
                    <a:p>
                      <a:pPr marL="0" marR="0" lvl="0" indent="0" algn="l" rtl="0">
                        <a:lnSpc>
                          <a:spcPct val="100000"/>
                        </a:lnSpc>
                        <a:spcBef>
                          <a:spcPts val="0"/>
                        </a:spcBef>
                        <a:spcAft>
                          <a:spcPts val="0"/>
                        </a:spcAft>
                        <a:buNone/>
                      </a:pPr>
                      <a:r>
                        <a:rPr lang="en" sz="950" u="none" strike="noStrike" cap="none" dirty="0">
                          <a:solidFill>
                            <a:srgbClr val="475569"/>
                          </a:solidFill>
                          <a:latin typeface="Inter"/>
                          <a:ea typeface="Inter"/>
                          <a:cs typeface="Inter"/>
                          <a:sym typeface="Inter"/>
                        </a:rPr>
                        <a:t>Tần suất xảy ra tình trạng “không có KTV phù hợp trong khu vực”?</a:t>
                      </a:r>
                      <a:endParaRPr dirty="0"/>
                    </a:p>
                  </a:txBody>
                  <a:tcPr marL="73150" marR="73150" marT="18300" marB="18300" anchor="ctr">
                    <a:solidFill>
                      <a:srgbClr val="F8FAFC"/>
                    </a:solidFill>
                  </a:tcPr>
                </a:tc>
                <a:tc>
                  <a:txBody>
                    <a:bodyPr/>
                    <a:lstStyle/>
                    <a:p>
                      <a:pPr marL="0" marR="0" lvl="0" indent="0" algn="l" rtl="0">
                        <a:lnSpc>
                          <a:spcPct val="100000"/>
                        </a:lnSpc>
                        <a:spcBef>
                          <a:spcPts val="0"/>
                        </a:spcBef>
                        <a:spcAft>
                          <a:spcPts val="0"/>
                        </a:spcAft>
                        <a:buNone/>
                      </a:pPr>
                      <a:r>
                        <a:rPr lang="en" sz="950" u="none" strike="noStrike" cap="none">
                          <a:solidFill>
                            <a:srgbClr val="475569"/>
                          </a:solidFill>
                          <a:latin typeface="Inter"/>
                          <a:ea typeface="Inter"/>
                          <a:cs typeface="Inter"/>
                          <a:sym typeface="Inter"/>
                        </a:rPr>
                        <a:t>Hằng ngày / Vài lần/tuần / Vài lần/tháng / Hiếm khi / Không bao giờ</a:t>
                      </a:r>
                      <a:endParaRPr/>
                    </a:p>
                  </a:txBody>
                  <a:tcPr marL="73150" marR="73150" marT="18300" marB="18300" anchor="ctr">
                    <a:solidFill>
                      <a:srgbClr val="F8FAFC"/>
                    </a:solidFill>
                  </a:tcPr>
                </a:tc>
                <a:extLst>
                  <a:ext uri="{0D108BD9-81ED-4DB2-BD59-A6C34878D82A}">
                    <a16:rowId xmlns:a16="http://schemas.microsoft.com/office/drawing/2014/main" val="10002"/>
                  </a:ext>
                </a:extLst>
              </a:tr>
              <a:tr h="530350">
                <a:tc>
                  <a:txBody>
                    <a:bodyPr/>
                    <a:lstStyle/>
                    <a:p>
                      <a:pPr marL="0" marR="0" lvl="0" indent="0" algn="l" rtl="0">
                        <a:lnSpc>
                          <a:spcPct val="100000"/>
                        </a:lnSpc>
                        <a:spcBef>
                          <a:spcPts val="0"/>
                        </a:spcBef>
                        <a:spcAft>
                          <a:spcPts val="0"/>
                        </a:spcAft>
                        <a:buNone/>
                      </a:pPr>
                      <a:r>
                        <a:rPr lang="en" sz="950" u="none" strike="noStrike" cap="none">
                          <a:solidFill>
                            <a:srgbClr val="475569"/>
                          </a:solidFill>
                          <a:latin typeface="Inter"/>
                          <a:ea typeface="Inter"/>
                          <a:cs typeface="Inter"/>
                          <a:sym typeface="Inter"/>
                        </a:rPr>
                        <a:t>3</a:t>
                      </a:r>
                      <a:endParaRPr/>
                    </a:p>
                  </a:txBody>
                  <a:tcPr marL="73150" marR="73150" marT="18300" marB="18300" anchor="ctr">
                    <a:solidFill>
                      <a:srgbClr val="FFFFFF"/>
                    </a:solidFill>
                  </a:tcPr>
                </a:tc>
                <a:tc>
                  <a:txBody>
                    <a:bodyPr/>
                    <a:lstStyle/>
                    <a:p>
                      <a:pPr marL="0" marR="0" lvl="0" indent="0" algn="l" rtl="0">
                        <a:lnSpc>
                          <a:spcPct val="100000"/>
                        </a:lnSpc>
                        <a:spcBef>
                          <a:spcPts val="0"/>
                        </a:spcBef>
                        <a:spcAft>
                          <a:spcPts val="0"/>
                        </a:spcAft>
                        <a:buNone/>
                      </a:pPr>
                      <a:r>
                        <a:rPr lang="en-US" sz="950" b="0" i="0" u="none" strike="noStrike" cap="none" spc="0" dirty="0">
                          <a:solidFill>
                            <a:srgbClr val="475569"/>
                          </a:solidFill>
                          <a:latin typeface="Inter"/>
                          <a:ea typeface="Inter"/>
                          <a:sym typeface="Arial"/>
                        </a:rPr>
                        <a:t>Nguyên </a:t>
                      </a:r>
                      <a:r>
                        <a:rPr lang="en-US" sz="950" b="0" i="0" u="none" strike="noStrike" cap="none" spc="0" dirty="0" err="1">
                          <a:solidFill>
                            <a:srgbClr val="475569"/>
                          </a:solidFill>
                          <a:latin typeface="Inter"/>
                          <a:ea typeface="Inter"/>
                          <a:sym typeface="Arial"/>
                        </a:rPr>
                        <a:t>nhân</a:t>
                      </a:r>
                      <a:r>
                        <a:rPr lang="en-US" sz="950" b="0" i="0" u="none" strike="noStrike" cap="none" spc="0" dirty="0">
                          <a:solidFill>
                            <a:srgbClr val="475569"/>
                          </a:solidFill>
                          <a:latin typeface="Inter"/>
                          <a:ea typeface="Inter"/>
                          <a:sym typeface="Arial"/>
                        </a:rPr>
                        <a:t> </a:t>
                      </a:r>
                      <a:r>
                        <a:rPr lang="en-US" sz="950" b="0" i="0" u="none" strike="noStrike" cap="none" spc="0" dirty="0" err="1">
                          <a:solidFill>
                            <a:srgbClr val="475569"/>
                          </a:solidFill>
                          <a:latin typeface="Inter"/>
                          <a:ea typeface="Inter"/>
                          <a:sym typeface="Arial"/>
                        </a:rPr>
                        <a:t>nào</a:t>
                      </a:r>
                      <a:r>
                        <a:rPr lang="en-US" sz="950" b="0" i="0" u="none" strike="noStrike" cap="none" spc="0" dirty="0">
                          <a:solidFill>
                            <a:srgbClr val="475569"/>
                          </a:solidFill>
                          <a:latin typeface="Inter"/>
                          <a:ea typeface="Inter"/>
                          <a:sym typeface="Arial"/>
                        </a:rPr>
                        <a:t> </a:t>
                      </a:r>
                      <a:r>
                        <a:rPr lang="en-US" sz="950" b="0" i="0" u="none" strike="noStrike" cap="none" spc="0" dirty="0" err="1">
                          <a:solidFill>
                            <a:srgbClr val="475569"/>
                          </a:solidFill>
                          <a:latin typeface="Inter"/>
                          <a:ea typeface="Inter"/>
                          <a:sym typeface="Arial"/>
                        </a:rPr>
                        <a:t>thường</a:t>
                      </a:r>
                      <a:r>
                        <a:rPr lang="en-US" sz="950" b="0" i="0" u="none" strike="noStrike" cap="none" spc="0" dirty="0">
                          <a:solidFill>
                            <a:srgbClr val="475569"/>
                          </a:solidFill>
                          <a:latin typeface="Inter"/>
                          <a:ea typeface="Inter"/>
                          <a:sym typeface="Arial"/>
                        </a:rPr>
                        <a:t> </a:t>
                      </a:r>
                      <a:r>
                        <a:rPr lang="en-US" sz="950" b="0" i="0" u="none" strike="noStrike" cap="none" spc="0" dirty="0" err="1">
                          <a:solidFill>
                            <a:srgbClr val="475569"/>
                          </a:solidFill>
                          <a:latin typeface="Inter"/>
                          <a:ea typeface="Inter"/>
                          <a:sym typeface="Arial"/>
                        </a:rPr>
                        <a:t>khiến</a:t>
                      </a:r>
                      <a:r>
                        <a:rPr lang="en-US" sz="950" b="0" i="0" u="none" strike="noStrike" cap="none" spc="0" dirty="0">
                          <a:solidFill>
                            <a:srgbClr val="475569"/>
                          </a:solidFill>
                          <a:latin typeface="Inter"/>
                          <a:ea typeface="Inter"/>
                          <a:sym typeface="Arial"/>
                        </a:rPr>
                        <a:t> KTV </a:t>
                      </a:r>
                      <a:r>
                        <a:rPr lang="en-US" sz="950" b="0" i="0" u="none" strike="noStrike" cap="none" spc="0" dirty="0" err="1">
                          <a:solidFill>
                            <a:srgbClr val="475569"/>
                          </a:solidFill>
                          <a:latin typeface="Inter"/>
                          <a:ea typeface="Inter"/>
                          <a:sym typeface="Arial"/>
                        </a:rPr>
                        <a:t>phải</a:t>
                      </a:r>
                      <a:r>
                        <a:rPr lang="en-US" sz="950" b="0" i="0" u="none" strike="noStrike" cap="none" spc="0" dirty="0">
                          <a:solidFill>
                            <a:srgbClr val="475569"/>
                          </a:solidFill>
                          <a:latin typeface="Inter"/>
                          <a:ea typeface="Inter"/>
                          <a:sym typeface="Arial"/>
                        </a:rPr>
                        <a:t> </a:t>
                      </a:r>
                      <a:r>
                        <a:rPr lang="en-US" sz="950" b="0" i="0" u="none" strike="noStrike" cap="none" spc="0" dirty="0" err="1">
                          <a:solidFill>
                            <a:srgbClr val="475569"/>
                          </a:solidFill>
                          <a:latin typeface="Inter"/>
                          <a:ea typeface="Inter"/>
                          <a:sym typeface="Arial"/>
                        </a:rPr>
                        <a:t>xử</a:t>
                      </a:r>
                      <a:r>
                        <a:rPr lang="en-US" sz="950" b="0" i="0" u="none" strike="noStrike" cap="none" spc="0" dirty="0">
                          <a:solidFill>
                            <a:srgbClr val="475569"/>
                          </a:solidFill>
                          <a:latin typeface="Inter"/>
                          <a:ea typeface="Inter"/>
                          <a:sym typeface="Arial"/>
                        </a:rPr>
                        <a:t> </a:t>
                      </a:r>
                      <a:r>
                        <a:rPr lang="en-US" sz="950" b="0" i="0" u="none" strike="noStrike" cap="none" spc="0" dirty="0" err="1">
                          <a:solidFill>
                            <a:srgbClr val="475569"/>
                          </a:solidFill>
                          <a:latin typeface="Inter"/>
                          <a:ea typeface="Inter"/>
                          <a:sym typeface="Arial"/>
                        </a:rPr>
                        <a:t>lý</a:t>
                      </a:r>
                      <a:r>
                        <a:rPr lang="en-US" sz="950" b="0" i="0" u="none" strike="noStrike" cap="none" spc="0" dirty="0">
                          <a:solidFill>
                            <a:srgbClr val="475569"/>
                          </a:solidFill>
                          <a:latin typeface="Inter"/>
                          <a:ea typeface="Inter"/>
                          <a:sym typeface="Arial"/>
                        </a:rPr>
                        <a:t> booking </a:t>
                      </a:r>
                      <a:r>
                        <a:rPr lang="en-US" sz="950" b="0" i="0" u="none" strike="noStrike" cap="none" spc="0" dirty="0" err="1">
                          <a:solidFill>
                            <a:srgbClr val="475569"/>
                          </a:solidFill>
                          <a:latin typeface="Inter"/>
                          <a:ea typeface="Inter"/>
                          <a:sym typeface="Arial"/>
                        </a:rPr>
                        <a:t>thêm</a:t>
                      </a:r>
                      <a:r>
                        <a:rPr lang="en-US" sz="950" b="0" i="0" u="none" strike="noStrike" cap="none" spc="0" dirty="0">
                          <a:solidFill>
                            <a:srgbClr val="475569"/>
                          </a:solidFill>
                          <a:latin typeface="Inter"/>
                          <a:ea typeface="Inter"/>
                          <a:sym typeface="Arial"/>
                        </a:rPr>
                        <a:t> </a:t>
                      </a:r>
                      <a:r>
                        <a:rPr lang="en-US" sz="950" b="0" i="0" u="none" strike="noStrike" cap="none" spc="0" dirty="0" err="1">
                          <a:solidFill>
                            <a:srgbClr val="475569"/>
                          </a:solidFill>
                          <a:latin typeface="Inter"/>
                          <a:ea typeface="Inter"/>
                          <a:sym typeface="Arial"/>
                        </a:rPr>
                        <a:t>lần</a:t>
                      </a:r>
                      <a:r>
                        <a:rPr lang="en-US" sz="950" b="0" i="0" u="none" strike="noStrike" cap="none" spc="0" dirty="0">
                          <a:solidFill>
                            <a:srgbClr val="475569"/>
                          </a:solidFill>
                          <a:latin typeface="Inter"/>
                          <a:ea typeface="Inter"/>
                          <a:sym typeface="Arial"/>
                        </a:rPr>
                        <a:t> </a:t>
                      </a:r>
                      <a:r>
                        <a:rPr lang="en-US" sz="950" b="0" i="0" u="none" strike="noStrike" cap="none" spc="0" dirty="0" err="1">
                          <a:solidFill>
                            <a:srgbClr val="475569"/>
                          </a:solidFill>
                          <a:latin typeface="Inter"/>
                          <a:ea typeface="Inter"/>
                          <a:sym typeface="Arial"/>
                        </a:rPr>
                        <a:t>nữa</a:t>
                      </a:r>
                      <a:r>
                        <a:rPr lang="en-US" sz="950" b="0" i="0" u="none" strike="noStrike" cap="none" spc="0" dirty="0">
                          <a:solidFill>
                            <a:srgbClr val="475569"/>
                          </a:solidFill>
                          <a:latin typeface="Inter"/>
                          <a:ea typeface="Inter"/>
                          <a:sym typeface="Arial"/>
                        </a:rPr>
                        <a:t>?</a:t>
                      </a:r>
                      <a:endParaRPr sz="950" b="0" i="0" u="none" strike="noStrike" cap="none" spc="0" dirty="0">
                        <a:solidFill>
                          <a:srgbClr val="475569"/>
                        </a:solidFill>
                        <a:latin typeface="Inter"/>
                        <a:ea typeface="Inter"/>
                        <a:sym typeface="Arial"/>
                      </a:endParaRPr>
                    </a:p>
                  </a:txBody>
                  <a:tcPr marL="73150" marR="73150" marT="18300" marB="18300" anchor="ctr">
                    <a:solidFill>
                      <a:srgbClr val="FFFFFF"/>
                    </a:solidFill>
                  </a:tcPr>
                </a:tc>
                <a:tc>
                  <a:txBody>
                    <a:bodyPr/>
                    <a:lstStyle/>
                    <a:p>
                      <a:pPr marL="0" marR="0" lvl="0" indent="0" algn="l" rtl="0">
                        <a:lnSpc>
                          <a:spcPct val="100000"/>
                        </a:lnSpc>
                        <a:spcBef>
                          <a:spcPts val="0"/>
                        </a:spcBef>
                        <a:spcAft>
                          <a:spcPts val="0"/>
                        </a:spcAft>
                        <a:buNone/>
                      </a:pPr>
                      <a:r>
                        <a:rPr lang="en" sz="950" u="none" strike="noStrike" cap="none">
                          <a:solidFill>
                            <a:srgbClr val="475569"/>
                          </a:solidFill>
                          <a:latin typeface="Inter"/>
                          <a:ea typeface="Inter"/>
                          <a:cs typeface="Inter"/>
                          <a:sym typeface="Inter"/>
                        </a:rPr>
                        <a:t>Thiếu linh kiện / Lỗi phức tạp / Khách hàng đổi lịch / Khác</a:t>
                      </a:r>
                      <a:endParaRPr/>
                    </a:p>
                  </a:txBody>
                  <a:tcPr marL="73150" marR="73150" marT="18300" marB="18300" anchor="ctr">
                    <a:solidFill>
                      <a:srgbClr val="FFFFFF"/>
                    </a:solidFill>
                  </a:tcPr>
                </a:tc>
                <a:extLst>
                  <a:ext uri="{0D108BD9-81ED-4DB2-BD59-A6C34878D82A}">
                    <a16:rowId xmlns:a16="http://schemas.microsoft.com/office/drawing/2014/main" val="10003"/>
                  </a:ext>
                </a:extLst>
              </a:tr>
              <a:tr h="530350">
                <a:tc>
                  <a:txBody>
                    <a:bodyPr/>
                    <a:lstStyle/>
                    <a:p>
                      <a:pPr marL="0" marR="0" lvl="0" indent="0" algn="l" rtl="0">
                        <a:lnSpc>
                          <a:spcPct val="100000"/>
                        </a:lnSpc>
                        <a:spcBef>
                          <a:spcPts val="0"/>
                        </a:spcBef>
                        <a:spcAft>
                          <a:spcPts val="0"/>
                        </a:spcAft>
                        <a:buNone/>
                      </a:pPr>
                      <a:r>
                        <a:rPr lang="en" sz="950" u="none" strike="noStrike" cap="none">
                          <a:solidFill>
                            <a:srgbClr val="475569"/>
                          </a:solidFill>
                          <a:latin typeface="Inter"/>
                          <a:ea typeface="Inter"/>
                          <a:cs typeface="Inter"/>
                          <a:sym typeface="Inter"/>
                        </a:rPr>
                        <a:t>4</a:t>
                      </a:r>
                      <a:endParaRPr/>
                    </a:p>
                  </a:txBody>
                  <a:tcPr marL="73150" marR="73150" marT="18300" marB="18300" anchor="ctr">
                    <a:solidFill>
                      <a:srgbClr val="F8FAFC"/>
                    </a:solidFill>
                  </a:tcPr>
                </a:tc>
                <a:tc>
                  <a:txBody>
                    <a:bodyPr/>
                    <a:lstStyle/>
                    <a:p>
                      <a:pPr marL="0" marR="0" lvl="0" indent="0" algn="l" rtl="0">
                        <a:lnSpc>
                          <a:spcPct val="100000"/>
                        </a:lnSpc>
                        <a:spcBef>
                          <a:spcPts val="0"/>
                        </a:spcBef>
                        <a:spcAft>
                          <a:spcPts val="0"/>
                        </a:spcAft>
                        <a:buNone/>
                      </a:pPr>
                      <a:r>
                        <a:rPr lang="en" sz="950" u="none" strike="noStrike" cap="none" dirty="0">
                          <a:solidFill>
                            <a:srgbClr val="475569"/>
                          </a:solidFill>
                          <a:latin typeface="Inter"/>
                          <a:ea typeface="Inter"/>
                          <a:cs typeface="Inter"/>
                          <a:sym typeface="Inter"/>
                        </a:rPr>
                        <a:t>Kênh khách hàng phản hồi/khiếu nại nhiều nhất?</a:t>
                      </a:r>
                      <a:endParaRPr dirty="0"/>
                    </a:p>
                  </a:txBody>
                  <a:tcPr marL="73150" marR="73150" marT="18300" marB="18300" anchor="ctr">
                    <a:solidFill>
                      <a:srgbClr val="F8FAFC"/>
                    </a:solidFill>
                  </a:tcPr>
                </a:tc>
                <a:tc>
                  <a:txBody>
                    <a:bodyPr/>
                    <a:lstStyle/>
                    <a:p>
                      <a:pPr marL="0" marR="0" lvl="0" indent="0" algn="l" rtl="0">
                        <a:lnSpc>
                          <a:spcPct val="100000"/>
                        </a:lnSpc>
                        <a:spcBef>
                          <a:spcPts val="0"/>
                        </a:spcBef>
                        <a:spcAft>
                          <a:spcPts val="0"/>
                        </a:spcAft>
                        <a:buNone/>
                      </a:pPr>
                      <a:r>
                        <a:rPr lang="en" sz="950" u="none" strike="noStrike" cap="none" dirty="0">
                          <a:solidFill>
                            <a:srgbClr val="475569"/>
                          </a:solidFill>
                          <a:latin typeface="Inter"/>
                          <a:ea typeface="Inter"/>
                          <a:cs typeface="Inter"/>
                          <a:sym typeface="Inter"/>
                        </a:rPr>
                        <a:t>Chat support / Gọi Call Center / Đánh giá / Khác</a:t>
                      </a:r>
                      <a:endParaRPr dirty="0"/>
                    </a:p>
                  </a:txBody>
                  <a:tcPr marL="73150" marR="73150" marT="18300" marB="18300" anchor="ctr">
                    <a:solidFill>
                      <a:srgbClr val="F8FAFC"/>
                    </a:solidFill>
                  </a:tcPr>
                </a:tc>
                <a:extLst>
                  <a:ext uri="{0D108BD9-81ED-4DB2-BD59-A6C34878D82A}">
                    <a16:rowId xmlns:a16="http://schemas.microsoft.com/office/drawing/2014/main" val="10004"/>
                  </a:ext>
                </a:extLst>
              </a:tr>
              <a:tr h="530350">
                <a:tc>
                  <a:txBody>
                    <a:bodyPr/>
                    <a:lstStyle/>
                    <a:p>
                      <a:pPr marL="0" marR="0" lvl="0" indent="0" algn="l" rtl="0">
                        <a:lnSpc>
                          <a:spcPct val="100000"/>
                        </a:lnSpc>
                        <a:spcBef>
                          <a:spcPts val="0"/>
                        </a:spcBef>
                        <a:spcAft>
                          <a:spcPts val="0"/>
                        </a:spcAft>
                        <a:buNone/>
                      </a:pPr>
                      <a:r>
                        <a:rPr lang="en" sz="950" u="none" strike="noStrike" cap="none">
                          <a:solidFill>
                            <a:srgbClr val="475569"/>
                          </a:solidFill>
                          <a:latin typeface="Inter"/>
                          <a:ea typeface="Inter"/>
                          <a:cs typeface="Inter"/>
                          <a:sym typeface="Inter"/>
                        </a:rPr>
                        <a:t>5</a:t>
                      </a:r>
                      <a:endParaRPr/>
                    </a:p>
                  </a:txBody>
                  <a:tcPr marL="73150" marR="73150" marT="18300" marB="18300" anchor="ctr">
                    <a:solidFill>
                      <a:srgbClr val="FFFFFF"/>
                    </a:solidFill>
                  </a:tcPr>
                </a:tc>
                <a:tc>
                  <a:txBody>
                    <a:bodyPr/>
                    <a:lstStyle/>
                    <a:p>
                      <a:pPr marL="0" marR="0" lvl="0" indent="0" algn="l" rtl="0">
                        <a:lnSpc>
                          <a:spcPct val="100000"/>
                        </a:lnSpc>
                        <a:spcBef>
                          <a:spcPts val="0"/>
                        </a:spcBef>
                        <a:spcAft>
                          <a:spcPts val="0"/>
                        </a:spcAft>
                        <a:buNone/>
                      </a:pPr>
                      <a:r>
                        <a:rPr lang="en" sz="950" u="none" strike="noStrike" cap="none">
                          <a:solidFill>
                            <a:srgbClr val="475569"/>
                          </a:solidFill>
                          <a:latin typeface="Inter"/>
                          <a:ea typeface="Inter"/>
                          <a:cs typeface="Inter"/>
                          <a:sym typeface="Inter"/>
                        </a:rPr>
                        <a:t>Mức độ hài lòng của KTV với công cụ hỗ trợ (app/portal) hiện tại?</a:t>
                      </a:r>
                      <a:endParaRPr/>
                    </a:p>
                  </a:txBody>
                  <a:tcPr marL="73150" marR="73150" marT="18300" marB="18300" anchor="ctr">
                    <a:solidFill>
                      <a:srgbClr val="FFFFFF"/>
                    </a:solidFill>
                  </a:tcPr>
                </a:tc>
                <a:tc>
                  <a:txBody>
                    <a:bodyPr/>
                    <a:lstStyle/>
                    <a:p>
                      <a:pPr marL="0" marR="0" lvl="0" indent="0" algn="l" rtl="0">
                        <a:lnSpc>
                          <a:spcPct val="100000"/>
                        </a:lnSpc>
                        <a:spcBef>
                          <a:spcPts val="0"/>
                        </a:spcBef>
                        <a:spcAft>
                          <a:spcPts val="0"/>
                        </a:spcAft>
                        <a:buNone/>
                      </a:pPr>
                      <a:r>
                        <a:rPr lang="en" sz="950" u="none" strike="noStrike" cap="none" dirty="0">
                          <a:solidFill>
                            <a:srgbClr val="475569"/>
                          </a:solidFill>
                          <a:latin typeface="Inter"/>
                          <a:ea typeface="Inter"/>
                          <a:cs typeface="Inter"/>
                          <a:sym typeface="Inter"/>
                        </a:rPr>
                        <a:t>Rất hài lòng / Hài lòng / Bình thường / Không hài lòng / Rất không hài lòng</a:t>
                      </a:r>
                      <a:endParaRPr dirty="0"/>
                    </a:p>
                  </a:txBody>
                  <a:tcPr marL="73150" marR="73150" marT="18300" marB="18300" anchor="ctr">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644"/>
        <p:cNvGrpSpPr/>
        <p:nvPr/>
      </p:nvGrpSpPr>
      <p:grpSpPr>
        <a:xfrm>
          <a:off x="0" y="0"/>
          <a:ext cx="0" cy="0"/>
          <a:chOff x="0" y="0"/>
          <a:chExt cx="0" cy="0"/>
        </a:xfrm>
      </p:grpSpPr>
      <p:sp>
        <p:nvSpPr>
          <p:cNvPr id="645" name="Google Shape;645;p33"/>
          <p:cNvSpPr/>
          <p:nvPr/>
        </p:nvSpPr>
        <p:spPr>
          <a:xfrm>
            <a:off x="-55705" y="0"/>
            <a:ext cx="9144000" cy="5143500"/>
          </a:xfrm>
          <a:prstGeom prst="rect">
            <a:avLst/>
          </a:pr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646" name="Google Shape;646;p33"/>
          <p:cNvGrpSpPr/>
          <p:nvPr/>
        </p:nvGrpSpPr>
        <p:grpSpPr>
          <a:xfrm>
            <a:off x="8458200" y="381000"/>
            <a:ext cx="304800" cy="304800"/>
            <a:chOff x="0" y="0"/>
            <a:chExt cx="304800" cy="304800"/>
          </a:xfrm>
        </p:grpSpPr>
        <p:sp>
          <p:nvSpPr>
            <p:cNvPr id="647" name="Google Shape;647;p33"/>
            <p:cNvSpPr/>
            <p:nvPr/>
          </p:nvSpPr>
          <p:spPr>
            <a:xfrm>
              <a:off x="0" y="0"/>
              <a:ext cx="304800" cy="304800"/>
            </a:xfrm>
            <a:prstGeom prst="roundRect">
              <a:avLst>
                <a:gd name="adj" fmla="val 125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48" name="Google Shape;648;p33"/>
            <p:cNvSpPr/>
            <p:nvPr/>
          </p:nvSpPr>
          <p:spPr>
            <a:xfrm>
              <a:off x="95250" y="95250"/>
              <a:ext cx="114300" cy="114300"/>
            </a:xfrm>
            <a:custGeom>
              <a:avLst/>
              <a:gdLst/>
              <a:ahLst/>
              <a:cxnLst/>
              <a:rect l="l" t="t" r="r" b="b"/>
              <a:pathLst>
                <a:path w="120000" h="120000" extrusionOk="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49" name="Google Shape;649;p33"/>
            <p:cNvSpPr/>
            <p:nvPr/>
          </p:nvSpPr>
          <p:spPr>
            <a:xfrm>
              <a:off x="123825" y="123825"/>
              <a:ext cx="57300" cy="57300"/>
            </a:xfrm>
            <a:prstGeom prst="ellipse">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cxnSp>
        <p:nvCxnSpPr>
          <p:cNvPr id="650" name="Google Shape;650;p33"/>
          <p:cNvCxnSpPr/>
          <p:nvPr/>
        </p:nvCxnSpPr>
        <p:spPr>
          <a:xfrm>
            <a:off x="381000" y="1143000"/>
            <a:ext cx="8382000" cy="0"/>
          </a:xfrm>
          <a:prstGeom prst="straightConnector1">
            <a:avLst/>
          </a:prstGeom>
          <a:solidFill>
            <a:srgbClr val="FFFFFF"/>
          </a:solidFill>
          <a:ln w="14300" cap="flat" cmpd="sng">
            <a:solidFill>
              <a:srgbClr val="E2E8F0"/>
            </a:solidFill>
            <a:prstDash val="solid"/>
            <a:round/>
            <a:headEnd type="none" w="sm" len="sm"/>
            <a:tailEnd type="none" w="sm" len="sm"/>
          </a:ln>
        </p:spPr>
      </p:cxnSp>
      <p:sp>
        <p:nvSpPr>
          <p:cNvPr id="651" name="Google Shape;651;p33"/>
          <p:cNvSpPr txBox="1"/>
          <p:nvPr/>
        </p:nvSpPr>
        <p:spPr>
          <a:xfrm>
            <a:off x="381000" y="333375"/>
            <a:ext cx="7620000" cy="762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 sz="2000" b="0" i="0" u="none" strike="noStrike" cap="none" dirty="0">
                <a:solidFill>
                  <a:srgbClr val="0F172A"/>
                </a:solidFill>
                <a:latin typeface="Inter ExtraBold"/>
                <a:ea typeface="Inter ExtraBold"/>
                <a:cs typeface="Inter ExtraBold"/>
                <a:sym typeface="Inter ExtraBold"/>
              </a:rPr>
              <a:t>5 câu hỏi định tính — Không có cấu trúc</a:t>
            </a:r>
            <a:endParaRPr sz="2000" b="0" i="0" u="none" strike="noStrike" cap="none" dirty="0">
              <a:solidFill>
                <a:srgbClr val="0F172A"/>
              </a:solidFill>
              <a:latin typeface="Inter ExtraBold"/>
              <a:ea typeface="Inter ExtraBold"/>
              <a:cs typeface="Inter ExtraBold"/>
              <a:sym typeface="Inter ExtraBold"/>
            </a:endParaRPr>
          </a:p>
          <a:p>
            <a:pPr lvl="0">
              <a:spcBef>
                <a:spcPts val="375"/>
              </a:spcBef>
              <a:buSzPts val="1100"/>
            </a:pPr>
            <a:r>
              <a:rPr lang="en" sz="1100" b="0" i="0" u="none" strike="noStrike" cap="none" dirty="0">
                <a:solidFill>
                  <a:srgbClr val="007B7C"/>
                </a:solidFill>
                <a:latin typeface="Inter SemiBold"/>
                <a:ea typeface="Inter SemiBold"/>
                <a:cs typeface="Inter SemiBold"/>
                <a:sym typeface="Inter SemiBold"/>
              </a:rPr>
              <a:t>Unstructured — </a:t>
            </a:r>
            <a:r>
              <a:rPr lang="vi-VN" sz="1100" b="0" i="0" u="none" strike="noStrike" cap="none" dirty="0">
                <a:solidFill>
                  <a:srgbClr val="007B7C"/>
                </a:solidFill>
                <a:latin typeface="Inter SemiBold"/>
                <a:ea typeface="Inter SemiBold"/>
                <a:cs typeface="Inter SemiBold"/>
                <a:sym typeface="Inter SemiBold"/>
              </a:rPr>
              <a:t>C</a:t>
            </a:r>
            <a:r>
              <a:rPr lang="en" sz="1100" b="0" i="0" u="none" strike="noStrike" cap="none" dirty="0">
                <a:solidFill>
                  <a:srgbClr val="007B7C"/>
                </a:solidFill>
                <a:latin typeface="Inter SemiBold"/>
                <a:ea typeface="Inter SemiBold"/>
                <a:cs typeface="Inter SemiBold"/>
                <a:sym typeface="Inter SemiBold"/>
              </a:rPr>
              <a:t>âu hỏi mở, khai thác sâu</a:t>
            </a:r>
            <a:r>
              <a:rPr lang="vi-VN" sz="1100" b="0" i="0" u="none" strike="noStrike" cap="none" dirty="0">
                <a:solidFill>
                  <a:srgbClr val="007B7C"/>
                </a:solidFill>
                <a:latin typeface="Inter SemiBold"/>
                <a:ea typeface="Inter SemiBold"/>
                <a:cs typeface="Inter SemiBold"/>
                <a:sym typeface="Inter SemiBold"/>
              </a:rPr>
              <a:t> </a:t>
            </a:r>
            <a:r>
              <a:rPr lang="en-US" sz="1100" dirty="0" err="1">
                <a:solidFill>
                  <a:srgbClr val="007B7C"/>
                </a:solidFill>
                <a:latin typeface="Inter SemiBold"/>
                <a:ea typeface="Inter SemiBold"/>
              </a:rPr>
              <a:t>nguyên</a:t>
            </a:r>
            <a:r>
              <a:rPr lang="en-US" sz="1100" dirty="0">
                <a:solidFill>
                  <a:srgbClr val="007B7C"/>
                </a:solidFill>
                <a:latin typeface="Inter SemiBold"/>
                <a:ea typeface="Inter SemiBold"/>
              </a:rPr>
              <a:t> </a:t>
            </a:r>
            <a:r>
              <a:rPr lang="en-US" sz="1100" dirty="0" err="1">
                <a:solidFill>
                  <a:srgbClr val="007B7C"/>
                </a:solidFill>
                <a:latin typeface="Inter SemiBold"/>
                <a:ea typeface="Inter SemiBold"/>
              </a:rPr>
              <a:t>nhân</a:t>
            </a:r>
            <a:r>
              <a:rPr lang="en-US" sz="1100" dirty="0">
                <a:solidFill>
                  <a:srgbClr val="007B7C"/>
                </a:solidFill>
                <a:latin typeface="Inter SemiBold"/>
                <a:ea typeface="Inter SemiBold"/>
              </a:rPr>
              <a:t> </a:t>
            </a:r>
            <a:r>
              <a:rPr lang="en-US" sz="1100" dirty="0" err="1">
                <a:solidFill>
                  <a:srgbClr val="007B7C"/>
                </a:solidFill>
                <a:latin typeface="Inter SemiBold"/>
                <a:ea typeface="Inter SemiBold"/>
              </a:rPr>
              <a:t>và</a:t>
            </a:r>
            <a:r>
              <a:rPr lang="en-US" sz="1100" dirty="0">
                <a:solidFill>
                  <a:srgbClr val="007B7C"/>
                </a:solidFill>
                <a:latin typeface="Inter SemiBold"/>
                <a:ea typeface="Inter SemiBold"/>
              </a:rPr>
              <a:t> </a:t>
            </a:r>
            <a:r>
              <a:rPr lang="en-US" sz="1100" dirty="0" err="1">
                <a:solidFill>
                  <a:srgbClr val="007B7C"/>
                </a:solidFill>
                <a:latin typeface="Inter SemiBold"/>
                <a:ea typeface="Inter SemiBold"/>
              </a:rPr>
              <a:t>kinh</a:t>
            </a:r>
            <a:r>
              <a:rPr lang="en-US" sz="1100" dirty="0">
                <a:solidFill>
                  <a:srgbClr val="007B7C"/>
                </a:solidFill>
                <a:latin typeface="Inter SemiBold"/>
                <a:ea typeface="Inter SemiBold"/>
              </a:rPr>
              <a:t> </a:t>
            </a:r>
            <a:r>
              <a:rPr lang="en-US" sz="1100" dirty="0" err="1">
                <a:solidFill>
                  <a:srgbClr val="007B7C"/>
                </a:solidFill>
                <a:latin typeface="Inter SemiBold"/>
                <a:ea typeface="Inter SemiBold"/>
              </a:rPr>
              <a:t>nghiệm</a:t>
            </a:r>
            <a:r>
              <a:rPr lang="en-US" sz="1100" dirty="0">
                <a:solidFill>
                  <a:srgbClr val="007B7C"/>
                </a:solidFill>
                <a:latin typeface="Inter SemiBold"/>
                <a:ea typeface="Inter SemiBold"/>
              </a:rPr>
              <a:t> </a:t>
            </a:r>
            <a:r>
              <a:rPr lang="en-US" sz="1100" dirty="0" err="1">
                <a:solidFill>
                  <a:srgbClr val="007B7C"/>
                </a:solidFill>
                <a:latin typeface="Inter SemiBold"/>
                <a:ea typeface="Inter SemiBold"/>
              </a:rPr>
              <a:t>thực</a:t>
            </a:r>
            <a:r>
              <a:rPr lang="en-US" sz="1100" dirty="0">
                <a:solidFill>
                  <a:srgbClr val="007B7C"/>
                </a:solidFill>
                <a:latin typeface="Inter SemiBold"/>
                <a:ea typeface="Inter SemiBold"/>
              </a:rPr>
              <a:t> </a:t>
            </a:r>
            <a:r>
              <a:rPr lang="en-US" sz="1100" dirty="0" err="1">
                <a:solidFill>
                  <a:srgbClr val="007B7C"/>
                </a:solidFill>
                <a:latin typeface="Inter SemiBold"/>
                <a:ea typeface="Inter SemiBold"/>
              </a:rPr>
              <a:t>tế</a:t>
            </a:r>
            <a:endParaRPr sz="1100" dirty="0">
              <a:solidFill>
                <a:srgbClr val="007B7C"/>
              </a:solidFill>
              <a:latin typeface="Inter SemiBold"/>
              <a:ea typeface="Inter SemiBold"/>
              <a:sym typeface="Inter SemiBold"/>
            </a:endParaRPr>
          </a:p>
        </p:txBody>
      </p:sp>
      <p:graphicFrame>
        <p:nvGraphicFramePr>
          <p:cNvPr id="652" name="Google Shape;652;p33"/>
          <p:cNvGraphicFramePr/>
          <p:nvPr>
            <p:extLst>
              <p:ext uri="{D42A27DB-BD31-4B8C-83A1-F6EECF244321}">
                <p14:modId xmlns:p14="http://schemas.microsoft.com/office/powerpoint/2010/main" val="2152521876"/>
              </p:ext>
            </p:extLst>
          </p:nvPr>
        </p:nvGraphicFramePr>
        <p:xfrm>
          <a:off x="384048" y="1335024"/>
          <a:ext cx="8375900" cy="2999225"/>
        </p:xfrm>
        <a:graphic>
          <a:graphicData uri="http://schemas.openxmlformats.org/drawingml/2006/table">
            <a:tbl>
              <a:tblPr firstRow="1" bandRow="1">
                <a:noFill/>
                <a:tableStyleId>{C22CD621-9F64-4B2E-9631-1F7B959E530B}</a:tableStyleId>
              </a:tblPr>
              <a:tblGrid>
                <a:gridCol w="598275">
                  <a:extLst>
                    <a:ext uri="{9D8B030D-6E8A-4147-A177-3AD203B41FA5}">
                      <a16:colId xmlns:a16="http://schemas.microsoft.com/office/drawing/2014/main" val="20000"/>
                    </a:ext>
                  </a:extLst>
                </a:gridCol>
                <a:gridCol w="7777625">
                  <a:extLst>
                    <a:ext uri="{9D8B030D-6E8A-4147-A177-3AD203B41FA5}">
                      <a16:colId xmlns:a16="http://schemas.microsoft.com/office/drawing/2014/main" val="20001"/>
                    </a:ext>
                  </a:extLst>
                </a:gridCol>
              </a:tblGrid>
              <a:tr h="347475">
                <a:tc>
                  <a:txBody>
                    <a:bodyPr/>
                    <a:lstStyle/>
                    <a:p>
                      <a:pPr marL="0" marR="0" lvl="0" indent="0" algn="l" rtl="0">
                        <a:lnSpc>
                          <a:spcPct val="100000"/>
                        </a:lnSpc>
                        <a:spcBef>
                          <a:spcPts val="0"/>
                        </a:spcBef>
                        <a:spcAft>
                          <a:spcPts val="0"/>
                        </a:spcAft>
                        <a:buNone/>
                      </a:pPr>
                      <a:r>
                        <a:rPr lang="en" sz="950" b="1" u="none" strike="noStrike" cap="none">
                          <a:solidFill>
                            <a:srgbClr val="FFFFFF"/>
                          </a:solidFill>
                          <a:latin typeface="Inter SemiBold"/>
                          <a:ea typeface="Inter SemiBold"/>
                          <a:cs typeface="Inter SemiBold"/>
                          <a:sym typeface="Inter SemiBold"/>
                        </a:rPr>
                        <a:t>STT</a:t>
                      </a:r>
                      <a:endParaRPr/>
                    </a:p>
                  </a:txBody>
                  <a:tcPr marL="73150" marR="73150" marT="18300" marB="18300" anchor="ctr">
                    <a:solidFill>
                      <a:srgbClr val="007B7C"/>
                    </a:solidFill>
                  </a:tcPr>
                </a:tc>
                <a:tc>
                  <a:txBody>
                    <a:bodyPr/>
                    <a:lstStyle/>
                    <a:p>
                      <a:pPr marL="0" marR="0" lvl="0" indent="0" algn="l" rtl="0">
                        <a:lnSpc>
                          <a:spcPct val="100000"/>
                        </a:lnSpc>
                        <a:spcBef>
                          <a:spcPts val="0"/>
                        </a:spcBef>
                        <a:spcAft>
                          <a:spcPts val="0"/>
                        </a:spcAft>
                        <a:buNone/>
                      </a:pPr>
                      <a:r>
                        <a:rPr lang="en" sz="950" b="1" u="none" strike="noStrike" cap="none">
                          <a:solidFill>
                            <a:srgbClr val="FFFFFF"/>
                          </a:solidFill>
                          <a:latin typeface="Inter SemiBold"/>
                          <a:ea typeface="Inter SemiBold"/>
                          <a:cs typeface="Inter SemiBold"/>
                          <a:sym typeface="Inter SemiBold"/>
                        </a:rPr>
                        <a:t>Câu hỏi</a:t>
                      </a:r>
                      <a:endParaRPr/>
                    </a:p>
                  </a:txBody>
                  <a:tcPr marL="73150" marR="73150" marT="18300" marB="18300" anchor="ctr">
                    <a:solidFill>
                      <a:srgbClr val="007B7C"/>
                    </a:solidFill>
                  </a:tcPr>
                </a:tc>
                <a:extLst>
                  <a:ext uri="{0D108BD9-81ED-4DB2-BD59-A6C34878D82A}">
                    <a16:rowId xmlns:a16="http://schemas.microsoft.com/office/drawing/2014/main" val="10000"/>
                  </a:ext>
                </a:extLst>
              </a:tr>
              <a:tr h="530350">
                <a:tc>
                  <a:txBody>
                    <a:bodyPr/>
                    <a:lstStyle/>
                    <a:p>
                      <a:pPr marL="0" marR="0" lvl="0" indent="0" algn="l" rtl="0">
                        <a:lnSpc>
                          <a:spcPct val="100000"/>
                        </a:lnSpc>
                        <a:spcBef>
                          <a:spcPts val="0"/>
                        </a:spcBef>
                        <a:spcAft>
                          <a:spcPts val="0"/>
                        </a:spcAft>
                        <a:buNone/>
                      </a:pPr>
                      <a:r>
                        <a:rPr lang="en" sz="950" u="none" strike="noStrike" cap="none">
                          <a:solidFill>
                            <a:srgbClr val="475569"/>
                          </a:solidFill>
                          <a:latin typeface="Inter"/>
                          <a:ea typeface="Inter"/>
                          <a:cs typeface="Inter"/>
                          <a:sym typeface="Inter"/>
                        </a:rPr>
                        <a:t>1</a:t>
                      </a:r>
                      <a:endParaRPr/>
                    </a:p>
                  </a:txBody>
                  <a:tcPr marL="73150" marR="73150" marT="18300" marB="18300" anchor="ctr">
                    <a:solidFill>
                      <a:srgbClr val="FFFFFF"/>
                    </a:solidFill>
                  </a:tcPr>
                </a:tc>
                <a:tc>
                  <a:txBody>
                    <a:bodyPr/>
                    <a:lstStyle/>
                    <a:p>
                      <a:pPr marL="0" marR="0" lvl="0" indent="0" algn="l" rtl="0">
                        <a:lnSpc>
                          <a:spcPct val="100000"/>
                        </a:lnSpc>
                        <a:spcBef>
                          <a:spcPts val="0"/>
                        </a:spcBef>
                        <a:spcAft>
                          <a:spcPts val="0"/>
                        </a:spcAft>
                        <a:buNone/>
                      </a:pPr>
                      <a:r>
                        <a:rPr lang="en" sz="950" u="none" strike="noStrike" cap="none" dirty="0">
                          <a:solidFill>
                            <a:srgbClr val="475569"/>
                          </a:solidFill>
                          <a:latin typeface="Inter"/>
                          <a:ea typeface="Inter"/>
                          <a:cs typeface="Inter"/>
                          <a:sym typeface="Inter"/>
                        </a:rPr>
                        <a:t>Bước nào trong quy trình xử lý booking gây khó khăn hoặc mất thời gian nhất? Vì sao?</a:t>
                      </a:r>
                      <a:endParaRPr dirty="0"/>
                    </a:p>
                  </a:txBody>
                  <a:tcPr marL="73150" marR="73150" marT="18300" marB="18300" anchor="ctr">
                    <a:solidFill>
                      <a:srgbClr val="FFFFFF"/>
                    </a:solidFill>
                  </a:tcPr>
                </a:tc>
                <a:extLst>
                  <a:ext uri="{0D108BD9-81ED-4DB2-BD59-A6C34878D82A}">
                    <a16:rowId xmlns:a16="http://schemas.microsoft.com/office/drawing/2014/main" val="10001"/>
                  </a:ext>
                </a:extLst>
              </a:tr>
              <a:tr h="530350">
                <a:tc>
                  <a:txBody>
                    <a:bodyPr/>
                    <a:lstStyle/>
                    <a:p>
                      <a:pPr marL="0" marR="0" lvl="0" indent="0" algn="l" rtl="0">
                        <a:lnSpc>
                          <a:spcPct val="100000"/>
                        </a:lnSpc>
                        <a:spcBef>
                          <a:spcPts val="0"/>
                        </a:spcBef>
                        <a:spcAft>
                          <a:spcPts val="0"/>
                        </a:spcAft>
                        <a:buNone/>
                      </a:pPr>
                      <a:r>
                        <a:rPr lang="en" sz="950" u="none" strike="noStrike" cap="none">
                          <a:solidFill>
                            <a:srgbClr val="475569"/>
                          </a:solidFill>
                          <a:latin typeface="Inter"/>
                          <a:ea typeface="Inter"/>
                          <a:cs typeface="Inter"/>
                          <a:sym typeface="Inter"/>
                        </a:rPr>
                        <a:t>2</a:t>
                      </a:r>
                      <a:endParaRPr/>
                    </a:p>
                  </a:txBody>
                  <a:tcPr marL="73150" marR="73150" marT="18300" marB="18300" anchor="ctr">
                    <a:solidFill>
                      <a:srgbClr val="F8FAFC"/>
                    </a:solidFill>
                  </a:tcPr>
                </a:tc>
                <a:tc>
                  <a:txBody>
                    <a:bodyPr/>
                    <a:lstStyle/>
                    <a:p>
                      <a:pPr marL="0" marR="0" lvl="0" indent="0" algn="l" rtl="0">
                        <a:lnSpc>
                          <a:spcPct val="100000"/>
                        </a:lnSpc>
                        <a:spcBef>
                          <a:spcPts val="0"/>
                        </a:spcBef>
                        <a:spcAft>
                          <a:spcPts val="0"/>
                        </a:spcAft>
                        <a:buNone/>
                      </a:pPr>
                      <a:r>
                        <a:rPr lang="en" sz="950" u="none" strike="noStrike" cap="none" dirty="0">
                          <a:solidFill>
                            <a:srgbClr val="475569"/>
                          </a:solidFill>
                          <a:latin typeface="Inter"/>
                          <a:ea typeface="Inter"/>
                          <a:cs typeface="Inter"/>
                          <a:sym typeface="Inter"/>
                        </a:rPr>
                        <a:t>Anh/chị có thể </a:t>
                      </a:r>
                      <a:r>
                        <a:rPr lang="vi-VN" sz="950" u="none" strike="noStrike" cap="none" dirty="0">
                          <a:solidFill>
                            <a:srgbClr val="475569"/>
                          </a:solidFill>
                          <a:latin typeface="Inter"/>
                          <a:ea typeface="Inter"/>
                          <a:cs typeface="Inter"/>
                          <a:sym typeface="Inter"/>
                        </a:rPr>
                        <a:t>chia sẻ </a:t>
                      </a:r>
                      <a:r>
                        <a:rPr lang="en" sz="950" u="none" strike="noStrike" cap="none" dirty="0">
                          <a:solidFill>
                            <a:srgbClr val="475569"/>
                          </a:solidFill>
                          <a:latin typeface="Inter"/>
                          <a:ea typeface="Inter"/>
                          <a:cs typeface="Inter"/>
                          <a:sym typeface="Inter"/>
                        </a:rPr>
                        <a:t>một </a:t>
                      </a:r>
                      <a:r>
                        <a:rPr lang="en-US" sz="950" b="0" i="0" u="none" strike="noStrike" cap="none" spc="0" dirty="0" err="1">
                          <a:solidFill>
                            <a:srgbClr val="475569"/>
                          </a:solidFill>
                          <a:latin typeface="Inter"/>
                          <a:ea typeface="Inter"/>
                          <a:sym typeface="Arial"/>
                        </a:rPr>
                        <a:t>trường</a:t>
                      </a:r>
                      <a:r>
                        <a:rPr lang="en-US" sz="950" b="0" i="0" u="none" strike="noStrike" cap="none" spc="0" dirty="0">
                          <a:solidFill>
                            <a:srgbClr val="475569"/>
                          </a:solidFill>
                          <a:latin typeface="Inter"/>
                          <a:ea typeface="Inter"/>
                          <a:sym typeface="Arial"/>
                        </a:rPr>
                        <a:t> </a:t>
                      </a:r>
                      <a:r>
                        <a:rPr lang="en-US" sz="950" b="0" i="0" u="none" strike="noStrike" cap="none" spc="0" dirty="0" err="1">
                          <a:solidFill>
                            <a:srgbClr val="475569"/>
                          </a:solidFill>
                          <a:latin typeface="Inter"/>
                          <a:ea typeface="Inter"/>
                          <a:sym typeface="Arial"/>
                        </a:rPr>
                        <a:t>hợp</a:t>
                      </a:r>
                      <a:r>
                        <a:rPr lang="vi-VN" sz="950" b="0" i="0" u="none" strike="noStrike" cap="none" spc="0" dirty="0">
                          <a:solidFill>
                            <a:srgbClr val="475569"/>
                          </a:solidFill>
                          <a:latin typeface="Inter"/>
                          <a:ea typeface="Inter"/>
                          <a:sym typeface="Arial"/>
                        </a:rPr>
                        <a:t> </a:t>
                      </a:r>
                      <a:r>
                        <a:rPr lang="en" sz="950" b="0" i="0" u="none" strike="noStrike" cap="none" spc="0" dirty="0">
                          <a:solidFill>
                            <a:srgbClr val="475569"/>
                          </a:solidFill>
                          <a:latin typeface="Inter"/>
                          <a:ea typeface="Inter"/>
                          <a:cs typeface="Inter"/>
                          <a:sym typeface="Inter"/>
                        </a:rPr>
                        <a:t>mà </a:t>
                      </a:r>
                      <a:r>
                        <a:rPr lang="en" sz="950" u="none" strike="noStrike" cap="none" dirty="0">
                          <a:solidFill>
                            <a:srgbClr val="475569"/>
                          </a:solidFill>
                          <a:latin typeface="Inter"/>
                          <a:ea typeface="Inter"/>
                          <a:cs typeface="Inter"/>
                          <a:sym typeface="Inter"/>
                        </a:rPr>
                        <a:t>booking bị trễ hoặc </a:t>
                      </a:r>
                      <a:r>
                        <a:rPr lang="en" sz="950" b="0" i="0" u="none" strike="noStrike" cap="none" spc="0" dirty="0">
                          <a:solidFill>
                            <a:srgbClr val="475569"/>
                          </a:solidFill>
                          <a:latin typeface="Inter"/>
                          <a:ea typeface="Inter"/>
                          <a:cs typeface="Inter"/>
                          <a:sym typeface="Inter"/>
                        </a:rPr>
                        <a:t>xử lý </a:t>
                      </a:r>
                      <a:r>
                        <a:rPr lang="en-US" sz="950" b="0" i="0" u="none" strike="noStrike" cap="none" spc="0" dirty="0" err="1">
                          <a:solidFill>
                            <a:srgbClr val="475569"/>
                          </a:solidFill>
                          <a:latin typeface="Inter"/>
                          <a:ea typeface="Inter"/>
                          <a:sym typeface="Arial"/>
                        </a:rPr>
                        <a:t>không</a:t>
                      </a:r>
                      <a:r>
                        <a:rPr lang="en-US" sz="950" b="0" i="0" u="none" strike="noStrike" cap="none" spc="0" dirty="0">
                          <a:solidFill>
                            <a:srgbClr val="475569"/>
                          </a:solidFill>
                          <a:latin typeface="Inter"/>
                          <a:ea typeface="Inter"/>
                          <a:sym typeface="Arial"/>
                        </a:rPr>
                        <a:t> </a:t>
                      </a:r>
                      <a:r>
                        <a:rPr lang="en-US" sz="950" b="0" i="0" u="none" strike="noStrike" cap="none" spc="0" dirty="0" err="1">
                          <a:solidFill>
                            <a:srgbClr val="475569"/>
                          </a:solidFill>
                          <a:latin typeface="Inter"/>
                          <a:ea typeface="Inter"/>
                          <a:sym typeface="Arial"/>
                        </a:rPr>
                        <a:t>thuận</a:t>
                      </a:r>
                      <a:r>
                        <a:rPr lang="en-US" sz="950" b="0" i="0" u="none" strike="noStrike" cap="none" spc="0" dirty="0">
                          <a:solidFill>
                            <a:srgbClr val="475569"/>
                          </a:solidFill>
                          <a:latin typeface="Inter"/>
                          <a:ea typeface="Inter"/>
                          <a:sym typeface="Arial"/>
                        </a:rPr>
                        <a:t> </a:t>
                      </a:r>
                      <a:r>
                        <a:rPr lang="en-US" sz="950" b="0" i="0" u="none" strike="noStrike" cap="none" spc="0" dirty="0" err="1">
                          <a:solidFill>
                            <a:srgbClr val="475569"/>
                          </a:solidFill>
                          <a:latin typeface="Inter"/>
                          <a:ea typeface="Inter"/>
                          <a:sym typeface="Arial"/>
                        </a:rPr>
                        <a:t>lợi</a:t>
                      </a:r>
                      <a:r>
                        <a:rPr lang="en-US" sz="950" b="0" i="0" u="none" strike="noStrike" cap="none" spc="0" dirty="0">
                          <a:solidFill>
                            <a:srgbClr val="475569"/>
                          </a:solidFill>
                          <a:latin typeface="Inter"/>
                          <a:ea typeface="Inter"/>
                          <a:sym typeface="Arial"/>
                        </a:rPr>
                        <a:t>? Nguyên </a:t>
                      </a:r>
                      <a:r>
                        <a:rPr lang="en-US" sz="950" b="0" i="0" u="none" strike="noStrike" cap="none" spc="0" dirty="0" err="1">
                          <a:solidFill>
                            <a:srgbClr val="475569"/>
                          </a:solidFill>
                          <a:latin typeface="Inter"/>
                          <a:ea typeface="Inter"/>
                          <a:sym typeface="Arial"/>
                        </a:rPr>
                        <a:t>nhân</a:t>
                      </a:r>
                      <a:r>
                        <a:rPr lang="en-US" sz="950" b="0" i="0" u="none" strike="noStrike" cap="none" spc="0" dirty="0">
                          <a:solidFill>
                            <a:srgbClr val="475569"/>
                          </a:solidFill>
                          <a:latin typeface="Inter"/>
                          <a:ea typeface="Inter"/>
                          <a:sym typeface="Arial"/>
                        </a:rPr>
                        <a:t> </a:t>
                      </a:r>
                      <a:r>
                        <a:rPr lang="en-US" sz="950" b="0" i="0" u="none" strike="noStrike" cap="none" spc="0" dirty="0" err="1">
                          <a:solidFill>
                            <a:srgbClr val="475569"/>
                          </a:solidFill>
                          <a:latin typeface="Inter"/>
                          <a:ea typeface="Inter"/>
                          <a:sym typeface="Arial"/>
                        </a:rPr>
                        <a:t>là</a:t>
                      </a:r>
                      <a:r>
                        <a:rPr lang="en-US" sz="950" b="0" i="0" u="none" strike="noStrike" cap="none" spc="0" dirty="0">
                          <a:solidFill>
                            <a:srgbClr val="475569"/>
                          </a:solidFill>
                          <a:latin typeface="Inter"/>
                          <a:ea typeface="Inter"/>
                          <a:sym typeface="Arial"/>
                        </a:rPr>
                        <a:t> </a:t>
                      </a:r>
                      <a:r>
                        <a:rPr lang="en-US" sz="950" b="0" i="0" u="none" strike="noStrike" cap="none" spc="0" dirty="0" err="1">
                          <a:solidFill>
                            <a:srgbClr val="475569"/>
                          </a:solidFill>
                          <a:latin typeface="Inter"/>
                          <a:ea typeface="Inter"/>
                          <a:sym typeface="Arial"/>
                        </a:rPr>
                        <a:t>gì</a:t>
                      </a:r>
                      <a:r>
                        <a:rPr lang="en-US" sz="950" b="0" i="0" u="none" strike="noStrike" cap="none" spc="0" dirty="0">
                          <a:solidFill>
                            <a:srgbClr val="475569"/>
                          </a:solidFill>
                          <a:latin typeface="Inter"/>
                          <a:ea typeface="Inter"/>
                          <a:sym typeface="Arial"/>
                        </a:rPr>
                        <a:t>?</a:t>
                      </a:r>
                      <a:endParaRPr sz="950" b="0" i="0" u="none" strike="noStrike" cap="none" spc="0" dirty="0">
                        <a:solidFill>
                          <a:srgbClr val="475569"/>
                        </a:solidFill>
                        <a:latin typeface="Inter"/>
                        <a:ea typeface="Inter"/>
                        <a:sym typeface="Arial"/>
                      </a:endParaRPr>
                    </a:p>
                  </a:txBody>
                  <a:tcPr marL="73150" marR="73150" marT="18300" marB="18300" anchor="ctr">
                    <a:solidFill>
                      <a:srgbClr val="F8FAFC"/>
                    </a:solidFill>
                  </a:tcPr>
                </a:tc>
                <a:extLst>
                  <a:ext uri="{0D108BD9-81ED-4DB2-BD59-A6C34878D82A}">
                    <a16:rowId xmlns:a16="http://schemas.microsoft.com/office/drawing/2014/main" val="10002"/>
                  </a:ext>
                </a:extLst>
              </a:tr>
              <a:tr h="530350">
                <a:tc>
                  <a:txBody>
                    <a:bodyPr/>
                    <a:lstStyle/>
                    <a:p>
                      <a:pPr marL="0" marR="0" lvl="0" indent="0" algn="l" rtl="0">
                        <a:lnSpc>
                          <a:spcPct val="100000"/>
                        </a:lnSpc>
                        <a:spcBef>
                          <a:spcPts val="0"/>
                        </a:spcBef>
                        <a:spcAft>
                          <a:spcPts val="0"/>
                        </a:spcAft>
                        <a:buNone/>
                      </a:pPr>
                      <a:r>
                        <a:rPr lang="en" sz="950" u="none" strike="noStrike" cap="none">
                          <a:solidFill>
                            <a:srgbClr val="475569"/>
                          </a:solidFill>
                          <a:latin typeface="Inter"/>
                          <a:ea typeface="Inter"/>
                          <a:cs typeface="Inter"/>
                          <a:sym typeface="Inter"/>
                        </a:rPr>
                        <a:t>3</a:t>
                      </a:r>
                      <a:endParaRPr/>
                    </a:p>
                  </a:txBody>
                  <a:tcPr marL="73150" marR="73150" marT="18300" marB="18300" anchor="ctr">
                    <a:solidFill>
                      <a:srgbClr val="FFFFFF"/>
                    </a:solidFill>
                  </a:tcPr>
                </a:tc>
                <a:tc>
                  <a:txBody>
                    <a:bodyPr/>
                    <a:lstStyle/>
                    <a:p>
                      <a:pPr marL="0" marR="0" lvl="0" indent="0" algn="l" rtl="0">
                        <a:lnSpc>
                          <a:spcPct val="100000"/>
                        </a:lnSpc>
                        <a:spcBef>
                          <a:spcPts val="0"/>
                        </a:spcBef>
                        <a:spcAft>
                          <a:spcPts val="0"/>
                        </a:spcAft>
                        <a:buNone/>
                      </a:pPr>
                      <a:r>
                        <a:rPr lang="en" sz="950" u="none" strike="noStrike" cap="none" dirty="0">
                          <a:solidFill>
                            <a:srgbClr val="475569"/>
                          </a:solidFill>
                          <a:latin typeface="Inter"/>
                          <a:ea typeface="Inter"/>
                          <a:cs typeface="Inter"/>
                          <a:sym typeface="Inter"/>
                        </a:rPr>
                        <a:t>Nếu được thay đổi một điều trong quy trình hiện tại, anh/chị sẽ thay đổi điều </a:t>
                      </a:r>
                      <a:r>
                        <a:rPr lang="vi-VN" sz="950" u="none" strike="noStrike" cap="none" dirty="0">
                          <a:solidFill>
                            <a:srgbClr val="475569"/>
                          </a:solidFill>
                          <a:latin typeface="Inter"/>
                          <a:ea typeface="Inter"/>
                          <a:cs typeface="Inter"/>
                          <a:sym typeface="Inter"/>
                        </a:rPr>
                        <a:t>gì? Vì</a:t>
                      </a:r>
                      <a:r>
                        <a:rPr lang="en" sz="950" u="none" strike="noStrike" cap="none" dirty="0">
                          <a:solidFill>
                            <a:srgbClr val="475569"/>
                          </a:solidFill>
                          <a:latin typeface="Inter"/>
                          <a:ea typeface="Inter"/>
                          <a:cs typeface="Inter"/>
                          <a:sym typeface="Inter"/>
                        </a:rPr>
                        <a:t> sao?</a:t>
                      </a:r>
                      <a:endParaRPr dirty="0"/>
                    </a:p>
                  </a:txBody>
                  <a:tcPr marL="73150" marR="73150" marT="18300" marB="18300" anchor="ctr">
                    <a:solidFill>
                      <a:srgbClr val="FFFFFF"/>
                    </a:solidFill>
                  </a:tcPr>
                </a:tc>
                <a:extLst>
                  <a:ext uri="{0D108BD9-81ED-4DB2-BD59-A6C34878D82A}">
                    <a16:rowId xmlns:a16="http://schemas.microsoft.com/office/drawing/2014/main" val="10003"/>
                  </a:ext>
                </a:extLst>
              </a:tr>
              <a:tr h="530350">
                <a:tc>
                  <a:txBody>
                    <a:bodyPr/>
                    <a:lstStyle/>
                    <a:p>
                      <a:pPr marL="0" marR="0" lvl="0" indent="0" algn="l" rtl="0">
                        <a:lnSpc>
                          <a:spcPct val="100000"/>
                        </a:lnSpc>
                        <a:spcBef>
                          <a:spcPts val="0"/>
                        </a:spcBef>
                        <a:spcAft>
                          <a:spcPts val="0"/>
                        </a:spcAft>
                        <a:buNone/>
                      </a:pPr>
                      <a:r>
                        <a:rPr lang="en" sz="950" u="none" strike="noStrike" cap="none">
                          <a:solidFill>
                            <a:srgbClr val="475569"/>
                          </a:solidFill>
                          <a:latin typeface="Inter"/>
                          <a:ea typeface="Inter"/>
                          <a:cs typeface="Inter"/>
                          <a:sym typeface="Inter"/>
                        </a:rPr>
                        <a:t>4</a:t>
                      </a:r>
                      <a:endParaRPr/>
                    </a:p>
                  </a:txBody>
                  <a:tcPr marL="73150" marR="73150" marT="18300" marB="18300" anchor="ctr">
                    <a:solidFill>
                      <a:srgbClr val="F8FAFC"/>
                    </a:solidFill>
                  </a:tcPr>
                </a:tc>
                <a:tc>
                  <a:txBody>
                    <a:bodyPr/>
                    <a:lstStyle/>
                    <a:p>
                      <a:pPr marL="0" marR="0" lvl="0" indent="0" algn="l" rtl="0">
                        <a:lnSpc>
                          <a:spcPct val="100000"/>
                        </a:lnSpc>
                        <a:spcBef>
                          <a:spcPts val="0"/>
                        </a:spcBef>
                        <a:spcAft>
                          <a:spcPts val="0"/>
                        </a:spcAft>
                        <a:buNone/>
                      </a:pPr>
                      <a:r>
                        <a:rPr lang="en" sz="950" u="none" strike="noStrike" cap="none" dirty="0">
                          <a:solidFill>
                            <a:srgbClr val="475569"/>
                          </a:solidFill>
                          <a:latin typeface="Inter"/>
                          <a:ea typeface="Inter"/>
                          <a:cs typeface="Inter"/>
                          <a:sym typeface="Inter"/>
                        </a:rPr>
                        <a:t>Sự phối hợp giữa các bộ phận (CS – KTV – Kho linh kiện) đang gặp trở ngại gì?</a:t>
                      </a:r>
                      <a:endParaRPr dirty="0"/>
                    </a:p>
                  </a:txBody>
                  <a:tcPr marL="73150" marR="73150" marT="18300" marB="18300" anchor="ctr">
                    <a:solidFill>
                      <a:srgbClr val="F8FAFC"/>
                    </a:solidFill>
                  </a:tcPr>
                </a:tc>
                <a:extLst>
                  <a:ext uri="{0D108BD9-81ED-4DB2-BD59-A6C34878D82A}">
                    <a16:rowId xmlns:a16="http://schemas.microsoft.com/office/drawing/2014/main" val="10004"/>
                  </a:ext>
                </a:extLst>
              </a:tr>
              <a:tr h="530350">
                <a:tc>
                  <a:txBody>
                    <a:bodyPr/>
                    <a:lstStyle/>
                    <a:p>
                      <a:pPr marL="0" marR="0" lvl="0" indent="0" algn="l" rtl="0">
                        <a:lnSpc>
                          <a:spcPct val="100000"/>
                        </a:lnSpc>
                        <a:spcBef>
                          <a:spcPts val="0"/>
                        </a:spcBef>
                        <a:spcAft>
                          <a:spcPts val="0"/>
                        </a:spcAft>
                        <a:buNone/>
                      </a:pPr>
                      <a:r>
                        <a:rPr lang="en" sz="950" u="none" strike="noStrike" cap="none">
                          <a:solidFill>
                            <a:srgbClr val="475569"/>
                          </a:solidFill>
                          <a:latin typeface="Inter"/>
                          <a:ea typeface="Inter"/>
                          <a:cs typeface="Inter"/>
                          <a:sym typeface="Inter"/>
                        </a:rPr>
                        <a:t>5</a:t>
                      </a:r>
                      <a:endParaRPr/>
                    </a:p>
                  </a:txBody>
                  <a:tcPr marL="73150" marR="73150" marT="18300" marB="18300" anchor="ctr">
                    <a:solidFill>
                      <a:srgbClr val="FFFFFF"/>
                    </a:solidFill>
                  </a:tcPr>
                </a:tc>
                <a:tc>
                  <a:txBody>
                    <a:bodyPr/>
                    <a:lstStyle/>
                    <a:p>
                      <a:pPr marL="0" marR="0" lvl="0" indent="0" algn="l" rtl="0">
                        <a:lnSpc>
                          <a:spcPct val="100000"/>
                        </a:lnSpc>
                        <a:spcBef>
                          <a:spcPts val="0"/>
                        </a:spcBef>
                        <a:spcAft>
                          <a:spcPts val="0"/>
                        </a:spcAft>
                        <a:buNone/>
                      </a:pPr>
                      <a:r>
                        <a:rPr lang="en" sz="950" u="none" strike="noStrike" cap="none" dirty="0">
                          <a:solidFill>
                            <a:srgbClr val="475569"/>
                          </a:solidFill>
                          <a:latin typeface="Inter"/>
                          <a:ea typeface="Inter"/>
                          <a:cs typeface="Inter"/>
                          <a:sym typeface="Inter"/>
                        </a:rPr>
                        <a:t>Theo kinh nghiệm của anh/chị, </a:t>
                      </a:r>
                      <a:r>
                        <a:rPr lang="en-US" sz="950" b="0" i="0" u="none" strike="noStrike" cap="none" spc="0" dirty="0" err="1">
                          <a:solidFill>
                            <a:srgbClr val="475569"/>
                          </a:solidFill>
                          <a:latin typeface="Inter"/>
                          <a:ea typeface="Inter"/>
                          <a:sym typeface="Arial"/>
                        </a:rPr>
                        <a:t>nguyên</a:t>
                      </a:r>
                      <a:r>
                        <a:rPr lang="en-US" sz="950" b="0" i="0" u="none" strike="noStrike" cap="none" spc="0" dirty="0">
                          <a:solidFill>
                            <a:srgbClr val="475569"/>
                          </a:solidFill>
                          <a:latin typeface="Inter"/>
                          <a:ea typeface="Inter"/>
                          <a:sym typeface="Arial"/>
                        </a:rPr>
                        <a:t> </a:t>
                      </a:r>
                      <a:r>
                        <a:rPr lang="en-US" sz="950" b="0" i="0" u="none" strike="noStrike" cap="none" spc="0" dirty="0" err="1">
                          <a:solidFill>
                            <a:srgbClr val="475569"/>
                          </a:solidFill>
                          <a:latin typeface="Inter"/>
                          <a:ea typeface="Inter"/>
                          <a:sym typeface="Arial"/>
                        </a:rPr>
                        <a:t>nhân</a:t>
                      </a:r>
                      <a:r>
                        <a:rPr lang="en-US" sz="950" b="0" i="0" u="none" strike="noStrike" cap="none" spc="0" dirty="0">
                          <a:solidFill>
                            <a:srgbClr val="475569"/>
                          </a:solidFill>
                          <a:latin typeface="Inter"/>
                          <a:ea typeface="Inter"/>
                          <a:sym typeface="Arial"/>
                        </a:rPr>
                        <a:t> </a:t>
                      </a:r>
                      <a:r>
                        <a:rPr lang="en-US" sz="950" b="0" i="0" u="none" strike="noStrike" cap="none" spc="0" dirty="0" err="1">
                          <a:solidFill>
                            <a:srgbClr val="475569"/>
                          </a:solidFill>
                          <a:latin typeface="Inter"/>
                          <a:ea typeface="Inter"/>
                          <a:sym typeface="Arial"/>
                        </a:rPr>
                        <a:t>nào</a:t>
                      </a:r>
                      <a:r>
                        <a:rPr lang="en-US" sz="950" b="0" i="0" u="none" strike="noStrike" cap="none" spc="0" dirty="0">
                          <a:solidFill>
                            <a:srgbClr val="475569"/>
                          </a:solidFill>
                          <a:latin typeface="Inter"/>
                          <a:ea typeface="Inter"/>
                          <a:sym typeface="Arial"/>
                        </a:rPr>
                        <a:t> </a:t>
                      </a:r>
                      <a:r>
                        <a:rPr lang="en" sz="950" b="0" i="0" u="none" strike="noStrike" cap="none" spc="0" dirty="0">
                          <a:solidFill>
                            <a:srgbClr val="475569"/>
                          </a:solidFill>
                          <a:latin typeface="Inter"/>
                          <a:ea typeface="Inter"/>
                          <a:cs typeface="Inter"/>
                          <a:sym typeface="Inter"/>
                        </a:rPr>
                        <a:t>khiến </a:t>
                      </a:r>
                      <a:r>
                        <a:rPr lang="en" sz="950" u="none" strike="noStrike" cap="none" dirty="0">
                          <a:solidFill>
                            <a:srgbClr val="475569"/>
                          </a:solidFill>
                          <a:latin typeface="Inter"/>
                          <a:ea typeface="Inter"/>
                          <a:cs typeface="Inter"/>
                          <a:sym typeface="Inter"/>
                        </a:rPr>
                        <a:t>khách hàng đánh giá thấp một số booking?</a:t>
                      </a:r>
                      <a:endParaRPr dirty="0"/>
                    </a:p>
                  </a:txBody>
                  <a:tcPr marL="73150" marR="73150" marT="18300" marB="18300" anchor="ctr">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656"/>
        <p:cNvGrpSpPr/>
        <p:nvPr/>
      </p:nvGrpSpPr>
      <p:grpSpPr>
        <a:xfrm>
          <a:off x="0" y="0"/>
          <a:ext cx="0" cy="0"/>
          <a:chOff x="0" y="0"/>
          <a:chExt cx="0" cy="0"/>
        </a:xfrm>
      </p:grpSpPr>
      <p:sp>
        <p:nvSpPr>
          <p:cNvPr id="657" name="Google Shape;657;p34"/>
          <p:cNvSpPr/>
          <p:nvPr/>
        </p:nvSpPr>
        <p:spPr>
          <a:xfrm>
            <a:off x="0" y="0"/>
            <a:ext cx="9144000" cy="5143500"/>
          </a:xfrm>
          <a:prstGeom prst="rect">
            <a:avLst/>
          </a:pr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658" name="Google Shape;658;p34"/>
          <p:cNvGrpSpPr/>
          <p:nvPr/>
        </p:nvGrpSpPr>
        <p:grpSpPr>
          <a:xfrm>
            <a:off x="8458200" y="381000"/>
            <a:ext cx="304800" cy="304800"/>
            <a:chOff x="0" y="0"/>
            <a:chExt cx="304800" cy="304800"/>
          </a:xfrm>
        </p:grpSpPr>
        <p:sp>
          <p:nvSpPr>
            <p:cNvPr id="659" name="Google Shape;659;p34"/>
            <p:cNvSpPr/>
            <p:nvPr/>
          </p:nvSpPr>
          <p:spPr>
            <a:xfrm>
              <a:off x="0" y="0"/>
              <a:ext cx="304800" cy="304800"/>
            </a:xfrm>
            <a:prstGeom prst="roundRect">
              <a:avLst>
                <a:gd name="adj" fmla="val 125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60" name="Google Shape;660;p34"/>
            <p:cNvSpPr/>
            <p:nvPr/>
          </p:nvSpPr>
          <p:spPr>
            <a:xfrm>
              <a:off x="95250" y="95250"/>
              <a:ext cx="114300" cy="114300"/>
            </a:xfrm>
            <a:custGeom>
              <a:avLst/>
              <a:gdLst/>
              <a:ahLst/>
              <a:cxnLst/>
              <a:rect l="l" t="t" r="r" b="b"/>
              <a:pathLst>
                <a:path w="120000" h="120000" extrusionOk="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61" name="Google Shape;661;p34"/>
            <p:cNvSpPr/>
            <p:nvPr/>
          </p:nvSpPr>
          <p:spPr>
            <a:xfrm>
              <a:off x="123825" y="123825"/>
              <a:ext cx="57300" cy="57300"/>
            </a:xfrm>
            <a:prstGeom prst="ellipse">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cxnSp>
        <p:nvCxnSpPr>
          <p:cNvPr id="662" name="Google Shape;662;p34"/>
          <p:cNvCxnSpPr/>
          <p:nvPr/>
        </p:nvCxnSpPr>
        <p:spPr>
          <a:xfrm>
            <a:off x="381000" y="1143000"/>
            <a:ext cx="8382000" cy="0"/>
          </a:xfrm>
          <a:prstGeom prst="straightConnector1">
            <a:avLst/>
          </a:prstGeom>
          <a:solidFill>
            <a:srgbClr val="FFFFFF"/>
          </a:solidFill>
          <a:ln w="14300" cap="flat" cmpd="sng">
            <a:solidFill>
              <a:srgbClr val="E2E8F0"/>
            </a:solidFill>
            <a:prstDash val="solid"/>
            <a:round/>
            <a:headEnd type="none" w="sm" len="sm"/>
            <a:tailEnd type="none" w="sm" len="sm"/>
          </a:ln>
        </p:spPr>
      </p:cxnSp>
      <p:sp>
        <p:nvSpPr>
          <p:cNvPr id="663" name="Google Shape;663;p34"/>
          <p:cNvSpPr txBox="1"/>
          <p:nvPr/>
        </p:nvSpPr>
        <p:spPr>
          <a:xfrm>
            <a:off x="381000" y="333375"/>
            <a:ext cx="7620000" cy="762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 sz="2000" b="0" i="0" u="none" strike="noStrike" cap="none" dirty="0">
                <a:solidFill>
                  <a:srgbClr val="0F172A"/>
                </a:solidFill>
                <a:latin typeface="Inter ExtraBold"/>
                <a:ea typeface="Inter ExtraBold"/>
                <a:cs typeface="Inter ExtraBold"/>
                <a:sym typeface="Inter ExtraBold"/>
              </a:rPr>
              <a:t>5 câu hỏi định lượng — Có cấu trúc</a:t>
            </a:r>
            <a:endParaRPr sz="2000" b="0" i="0" u="none" strike="noStrike" cap="none" dirty="0">
              <a:solidFill>
                <a:srgbClr val="0F172A"/>
              </a:solidFill>
              <a:latin typeface="Inter ExtraBold"/>
              <a:ea typeface="Inter ExtraBold"/>
              <a:cs typeface="Inter ExtraBold"/>
              <a:sym typeface="Inter ExtraBold"/>
            </a:endParaRPr>
          </a:p>
          <a:p>
            <a:pPr marL="0" marR="0" lvl="0" indent="0" algn="l" rtl="0">
              <a:lnSpc>
                <a:spcPct val="100000"/>
              </a:lnSpc>
              <a:spcBef>
                <a:spcPts val="375"/>
              </a:spcBef>
              <a:spcAft>
                <a:spcPts val="0"/>
              </a:spcAft>
              <a:buClr>
                <a:srgbClr val="000000"/>
              </a:buClr>
              <a:buSzPts val="1100"/>
              <a:buFont typeface="Arial"/>
              <a:buNone/>
            </a:pPr>
            <a:r>
              <a:rPr lang="en" sz="1100" b="0" i="0" u="none" strike="noStrike" cap="none" dirty="0">
                <a:solidFill>
                  <a:srgbClr val="007B7C"/>
                </a:solidFill>
                <a:latin typeface="Inter SemiBold"/>
                <a:ea typeface="Inter SemiBold"/>
                <a:cs typeface="Inter SemiBold"/>
                <a:sym typeface="Inter SemiBold"/>
              </a:rPr>
              <a:t>Structured — </a:t>
            </a:r>
            <a:r>
              <a:rPr lang="vi-VN" sz="1100" b="0" i="0" u="none" strike="noStrike" cap="none" dirty="0">
                <a:solidFill>
                  <a:srgbClr val="007B7C"/>
                </a:solidFill>
                <a:latin typeface="Inter SemiBold"/>
                <a:ea typeface="Inter SemiBold"/>
                <a:cs typeface="Inter SemiBold"/>
                <a:sym typeface="Inter SemiBold"/>
              </a:rPr>
              <a:t>T</a:t>
            </a:r>
            <a:r>
              <a:rPr lang="en" sz="1100" b="0" i="0" u="none" strike="noStrike" cap="none" dirty="0">
                <a:solidFill>
                  <a:srgbClr val="007B7C"/>
                </a:solidFill>
                <a:latin typeface="Inter SemiBold"/>
                <a:ea typeface="Inter SemiBold"/>
                <a:cs typeface="Inter SemiBold"/>
                <a:sym typeface="Inter SemiBold"/>
              </a:rPr>
              <a:t>hu thập số liệu</a:t>
            </a:r>
            <a:r>
              <a:rPr lang="vi-VN" sz="1100" b="0" i="0" u="none" strike="noStrike" cap="none" dirty="0">
                <a:solidFill>
                  <a:srgbClr val="007B7C"/>
                </a:solidFill>
                <a:latin typeface="Inter SemiBold"/>
                <a:ea typeface="Inter SemiBold"/>
                <a:cs typeface="Inter SemiBold"/>
                <a:sym typeface="Inter SemiBold"/>
              </a:rPr>
              <a:t> có thể</a:t>
            </a:r>
            <a:r>
              <a:rPr lang="en" sz="1100" b="0" i="0" u="none" strike="noStrike" cap="none" dirty="0">
                <a:solidFill>
                  <a:srgbClr val="007B7C"/>
                </a:solidFill>
                <a:latin typeface="Inter SemiBold"/>
                <a:ea typeface="Inter SemiBold"/>
                <a:cs typeface="Inter SemiBold"/>
                <a:sym typeface="Inter SemiBold"/>
              </a:rPr>
              <a:t> đo lường</a:t>
            </a:r>
            <a:endParaRPr sz="1100" b="0" i="0" u="none" strike="noStrike" cap="none" dirty="0">
              <a:solidFill>
                <a:srgbClr val="007B7C"/>
              </a:solidFill>
              <a:latin typeface="Inter SemiBold"/>
              <a:ea typeface="Inter SemiBold"/>
              <a:cs typeface="Inter SemiBold"/>
              <a:sym typeface="Inter SemiBold"/>
            </a:endParaRPr>
          </a:p>
        </p:txBody>
      </p:sp>
      <p:graphicFrame>
        <p:nvGraphicFramePr>
          <p:cNvPr id="664" name="Google Shape;664;p34"/>
          <p:cNvGraphicFramePr/>
          <p:nvPr>
            <p:extLst>
              <p:ext uri="{D42A27DB-BD31-4B8C-83A1-F6EECF244321}">
                <p14:modId xmlns:p14="http://schemas.microsoft.com/office/powerpoint/2010/main" val="1573768619"/>
              </p:ext>
            </p:extLst>
          </p:nvPr>
        </p:nvGraphicFramePr>
        <p:xfrm>
          <a:off x="384048" y="1335024"/>
          <a:ext cx="8375900" cy="2999225"/>
        </p:xfrm>
        <a:graphic>
          <a:graphicData uri="http://schemas.openxmlformats.org/drawingml/2006/table">
            <a:tbl>
              <a:tblPr firstRow="1" bandRow="1">
                <a:noFill/>
                <a:tableStyleId>{C22CD621-9F64-4B2E-9631-1F7B959E530B}</a:tableStyleId>
              </a:tblPr>
              <a:tblGrid>
                <a:gridCol w="598275">
                  <a:extLst>
                    <a:ext uri="{9D8B030D-6E8A-4147-A177-3AD203B41FA5}">
                      <a16:colId xmlns:a16="http://schemas.microsoft.com/office/drawing/2014/main" val="20000"/>
                    </a:ext>
                  </a:extLst>
                </a:gridCol>
                <a:gridCol w="7777625">
                  <a:extLst>
                    <a:ext uri="{9D8B030D-6E8A-4147-A177-3AD203B41FA5}">
                      <a16:colId xmlns:a16="http://schemas.microsoft.com/office/drawing/2014/main" val="20001"/>
                    </a:ext>
                  </a:extLst>
                </a:gridCol>
              </a:tblGrid>
              <a:tr h="347475">
                <a:tc>
                  <a:txBody>
                    <a:bodyPr/>
                    <a:lstStyle/>
                    <a:p>
                      <a:pPr marL="0" marR="0" lvl="0" indent="0" algn="l" rtl="0">
                        <a:lnSpc>
                          <a:spcPct val="100000"/>
                        </a:lnSpc>
                        <a:spcBef>
                          <a:spcPts val="0"/>
                        </a:spcBef>
                        <a:spcAft>
                          <a:spcPts val="0"/>
                        </a:spcAft>
                        <a:buNone/>
                      </a:pPr>
                      <a:r>
                        <a:rPr lang="en" sz="950" b="1" u="none" strike="noStrike" cap="none">
                          <a:solidFill>
                            <a:srgbClr val="FFFFFF"/>
                          </a:solidFill>
                          <a:latin typeface="Inter SemiBold"/>
                          <a:ea typeface="Inter SemiBold"/>
                          <a:cs typeface="Inter SemiBold"/>
                          <a:sym typeface="Inter SemiBold"/>
                        </a:rPr>
                        <a:t>STT</a:t>
                      </a:r>
                      <a:endParaRPr/>
                    </a:p>
                  </a:txBody>
                  <a:tcPr marL="73150" marR="73150" marT="18300" marB="18300" anchor="ctr">
                    <a:solidFill>
                      <a:srgbClr val="007B7C"/>
                    </a:solidFill>
                  </a:tcPr>
                </a:tc>
                <a:tc>
                  <a:txBody>
                    <a:bodyPr/>
                    <a:lstStyle/>
                    <a:p>
                      <a:pPr marL="0" marR="0" lvl="0" indent="0" algn="l" rtl="0">
                        <a:lnSpc>
                          <a:spcPct val="100000"/>
                        </a:lnSpc>
                        <a:spcBef>
                          <a:spcPts val="0"/>
                        </a:spcBef>
                        <a:spcAft>
                          <a:spcPts val="0"/>
                        </a:spcAft>
                        <a:buNone/>
                      </a:pPr>
                      <a:r>
                        <a:rPr lang="en" sz="950" b="1" u="none" strike="noStrike" cap="none">
                          <a:solidFill>
                            <a:srgbClr val="FFFFFF"/>
                          </a:solidFill>
                          <a:latin typeface="Inter SemiBold"/>
                          <a:ea typeface="Inter SemiBold"/>
                          <a:cs typeface="Inter SemiBold"/>
                          <a:sym typeface="Inter SemiBold"/>
                        </a:rPr>
                        <a:t>Câu hỏi</a:t>
                      </a:r>
                      <a:endParaRPr/>
                    </a:p>
                  </a:txBody>
                  <a:tcPr marL="73150" marR="73150" marT="18300" marB="18300" anchor="ctr">
                    <a:solidFill>
                      <a:srgbClr val="007B7C"/>
                    </a:solidFill>
                  </a:tcPr>
                </a:tc>
                <a:extLst>
                  <a:ext uri="{0D108BD9-81ED-4DB2-BD59-A6C34878D82A}">
                    <a16:rowId xmlns:a16="http://schemas.microsoft.com/office/drawing/2014/main" val="10000"/>
                  </a:ext>
                </a:extLst>
              </a:tr>
              <a:tr h="530350">
                <a:tc>
                  <a:txBody>
                    <a:bodyPr/>
                    <a:lstStyle/>
                    <a:p>
                      <a:pPr marL="0" marR="0" lvl="0" indent="0" algn="l" rtl="0">
                        <a:lnSpc>
                          <a:spcPct val="100000"/>
                        </a:lnSpc>
                        <a:spcBef>
                          <a:spcPts val="0"/>
                        </a:spcBef>
                        <a:spcAft>
                          <a:spcPts val="0"/>
                        </a:spcAft>
                        <a:buNone/>
                      </a:pPr>
                      <a:r>
                        <a:rPr lang="en" sz="950" u="none" strike="noStrike" cap="none">
                          <a:solidFill>
                            <a:srgbClr val="475569"/>
                          </a:solidFill>
                          <a:latin typeface="Inter"/>
                          <a:ea typeface="Inter"/>
                          <a:cs typeface="Inter"/>
                          <a:sym typeface="Inter"/>
                        </a:rPr>
                        <a:t>1</a:t>
                      </a:r>
                      <a:endParaRPr/>
                    </a:p>
                  </a:txBody>
                  <a:tcPr marL="73150" marR="73150" marT="18300" marB="18300" anchor="ctr">
                    <a:solidFill>
                      <a:srgbClr val="FFFFFF"/>
                    </a:solidFill>
                  </a:tcPr>
                </a:tc>
                <a:tc>
                  <a:txBody>
                    <a:bodyPr/>
                    <a:lstStyle/>
                    <a:p>
                      <a:pPr marL="0" marR="0" lvl="0" indent="0" algn="l" rtl="0">
                        <a:lnSpc>
                          <a:spcPct val="100000"/>
                        </a:lnSpc>
                        <a:spcBef>
                          <a:spcPts val="0"/>
                        </a:spcBef>
                        <a:spcAft>
                          <a:spcPts val="0"/>
                        </a:spcAft>
                        <a:buNone/>
                      </a:pPr>
                      <a:r>
                        <a:rPr lang="en" sz="950" u="none" strike="noStrike" cap="none" dirty="0">
                          <a:solidFill>
                            <a:srgbClr val="475569"/>
                          </a:solidFill>
                          <a:latin typeface="Inter"/>
                          <a:ea typeface="Inter"/>
                          <a:cs typeface="Inter"/>
                          <a:sym typeface="Inter"/>
                        </a:rPr>
                        <a:t>Thời gian trung bình từ khi </a:t>
                      </a:r>
                      <a:r>
                        <a:rPr lang="vi-VN" sz="950" u="none" strike="noStrike" cap="none" dirty="0">
                          <a:solidFill>
                            <a:srgbClr val="475569"/>
                          </a:solidFill>
                          <a:latin typeface="Inter"/>
                          <a:ea typeface="Inter"/>
                          <a:cs typeface="Inter"/>
                          <a:sym typeface="Inter"/>
                        </a:rPr>
                        <a:t>tạo </a:t>
                      </a:r>
                      <a:r>
                        <a:rPr lang="en" sz="950" u="none" strike="noStrike" cap="none" dirty="0">
                          <a:solidFill>
                            <a:srgbClr val="475569"/>
                          </a:solidFill>
                          <a:latin typeface="Inter"/>
                          <a:ea typeface="Inter"/>
                          <a:cs typeface="Inter"/>
                          <a:sym typeface="Inter"/>
                        </a:rPr>
                        <a:t>booking đến khi </a:t>
                      </a:r>
                      <a:r>
                        <a:rPr lang="vi-VN" sz="950" u="none" strike="noStrike" cap="none" dirty="0">
                          <a:solidFill>
                            <a:srgbClr val="475569"/>
                          </a:solidFill>
                          <a:latin typeface="Inter"/>
                          <a:ea typeface="Inter"/>
                          <a:cs typeface="Inter"/>
                          <a:sym typeface="Inter"/>
                        </a:rPr>
                        <a:t>phân công</a:t>
                      </a:r>
                      <a:r>
                        <a:rPr lang="en" sz="950" u="none" strike="noStrike" cap="none" dirty="0">
                          <a:solidFill>
                            <a:srgbClr val="475569"/>
                          </a:solidFill>
                          <a:latin typeface="Inter"/>
                          <a:ea typeface="Inter"/>
                          <a:cs typeface="Inter"/>
                          <a:sym typeface="Inter"/>
                        </a:rPr>
                        <a:t> KTV là bao nhiêu phút?</a:t>
                      </a:r>
                      <a:endParaRPr dirty="0"/>
                    </a:p>
                  </a:txBody>
                  <a:tcPr marL="73150" marR="73150" marT="18300" marB="18300" anchor="ctr">
                    <a:solidFill>
                      <a:srgbClr val="FFFFFF"/>
                    </a:solidFill>
                  </a:tcPr>
                </a:tc>
                <a:extLst>
                  <a:ext uri="{0D108BD9-81ED-4DB2-BD59-A6C34878D82A}">
                    <a16:rowId xmlns:a16="http://schemas.microsoft.com/office/drawing/2014/main" val="10001"/>
                  </a:ext>
                </a:extLst>
              </a:tr>
              <a:tr h="530350">
                <a:tc>
                  <a:txBody>
                    <a:bodyPr/>
                    <a:lstStyle/>
                    <a:p>
                      <a:pPr marL="0" marR="0" lvl="0" indent="0" algn="l" rtl="0">
                        <a:lnSpc>
                          <a:spcPct val="100000"/>
                        </a:lnSpc>
                        <a:spcBef>
                          <a:spcPts val="0"/>
                        </a:spcBef>
                        <a:spcAft>
                          <a:spcPts val="0"/>
                        </a:spcAft>
                        <a:buNone/>
                      </a:pPr>
                      <a:r>
                        <a:rPr lang="en" sz="950" u="none" strike="noStrike" cap="none">
                          <a:solidFill>
                            <a:srgbClr val="475569"/>
                          </a:solidFill>
                          <a:latin typeface="Inter"/>
                          <a:ea typeface="Inter"/>
                          <a:cs typeface="Inter"/>
                          <a:sym typeface="Inter"/>
                        </a:rPr>
                        <a:t>2</a:t>
                      </a:r>
                      <a:endParaRPr/>
                    </a:p>
                  </a:txBody>
                  <a:tcPr marL="73150" marR="73150" marT="18300" marB="18300" anchor="ctr">
                    <a:solidFill>
                      <a:srgbClr val="F8FAFC"/>
                    </a:solidFill>
                  </a:tcPr>
                </a:tc>
                <a:tc>
                  <a:txBody>
                    <a:bodyPr/>
                    <a:lstStyle/>
                    <a:p>
                      <a:pPr marL="0" marR="0" lvl="0" indent="0" algn="l" rtl="0">
                        <a:lnSpc>
                          <a:spcPct val="100000"/>
                        </a:lnSpc>
                        <a:spcBef>
                          <a:spcPts val="0"/>
                        </a:spcBef>
                        <a:spcAft>
                          <a:spcPts val="0"/>
                        </a:spcAft>
                        <a:buNone/>
                      </a:pPr>
                      <a:r>
                        <a:rPr lang="en" sz="950" u="none" strike="noStrike" cap="none" dirty="0">
                          <a:solidFill>
                            <a:srgbClr val="475569"/>
                          </a:solidFill>
                          <a:latin typeface="Inter"/>
                          <a:ea typeface="Inter"/>
                          <a:cs typeface="Inter"/>
                          <a:sym typeface="Inter"/>
                        </a:rPr>
                        <a:t>Thời gian trung bình KTV xử lý hoàn tất một booking (từ On The Way đến Completed) là bao nhiêu giờ?</a:t>
                      </a:r>
                      <a:endParaRPr dirty="0"/>
                    </a:p>
                  </a:txBody>
                  <a:tcPr marL="73150" marR="73150" marT="18300" marB="18300" anchor="ctr">
                    <a:solidFill>
                      <a:srgbClr val="F8FAFC"/>
                    </a:solidFill>
                  </a:tcPr>
                </a:tc>
                <a:extLst>
                  <a:ext uri="{0D108BD9-81ED-4DB2-BD59-A6C34878D82A}">
                    <a16:rowId xmlns:a16="http://schemas.microsoft.com/office/drawing/2014/main" val="10002"/>
                  </a:ext>
                </a:extLst>
              </a:tr>
              <a:tr h="530350">
                <a:tc>
                  <a:txBody>
                    <a:bodyPr/>
                    <a:lstStyle/>
                    <a:p>
                      <a:pPr marL="0" marR="0" lvl="0" indent="0" algn="l" rtl="0">
                        <a:lnSpc>
                          <a:spcPct val="100000"/>
                        </a:lnSpc>
                        <a:spcBef>
                          <a:spcPts val="0"/>
                        </a:spcBef>
                        <a:spcAft>
                          <a:spcPts val="0"/>
                        </a:spcAft>
                        <a:buNone/>
                      </a:pPr>
                      <a:r>
                        <a:rPr lang="en" sz="950" u="none" strike="noStrike" cap="none">
                          <a:solidFill>
                            <a:srgbClr val="475569"/>
                          </a:solidFill>
                          <a:latin typeface="Inter"/>
                          <a:ea typeface="Inter"/>
                          <a:cs typeface="Inter"/>
                          <a:sym typeface="Inter"/>
                        </a:rPr>
                        <a:t>3</a:t>
                      </a:r>
                      <a:endParaRPr/>
                    </a:p>
                  </a:txBody>
                  <a:tcPr marL="73150" marR="73150" marT="18300" marB="18300" anchor="ctr">
                    <a:solidFill>
                      <a:srgbClr val="FFFFFF"/>
                    </a:solidFill>
                  </a:tcPr>
                </a:tc>
                <a:tc>
                  <a:txBody>
                    <a:bodyPr/>
                    <a:lstStyle/>
                    <a:p>
                      <a:pPr marL="0" marR="0" lvl="0" indent="0" algn="l" rtl="0">
                        <a:lnSpc>
                          <a:spcPct val="100000"/>
                        </a:lnSpc>
                        <a:spcBef>
                          <a:spcPts val="0"/>
                        </a:spcBef>
                        <a:spcAft>
                          <a:spcPts val="0"/>
                        </a:spcAft>
                        <a:buNone/>
                      </a:pPr>
                      <a:r>
                        <a:rPr lang="en-US" sz="950" b="0" i="0" u="none" strike="noStrike" cap="none" spc="0" dirty="0">
                          <a:solidFill>
                            <a:srgbClr val="475569"/>
                          </a:solidFill>
                          <a:latin typeface="Inter"/>
                          <a:ea typeface="Inter"/>
                          <a:sym typeface="Arial"/>
                        </a:rPr>
                        <a:t>Trong </a:t>
                      </a:r>
                      <a:r>
                        <a:rPr lang="en-US" sz="950" b="0" i="0" u="none" strike="noStrike" cap="none" spc="0" dirty="0" err="1">
                          <a:solidFill>
                            <a:srgbClr val="475569"/>
                          </a:solidFill>
                          <a:latin typeface="Inter"/>
                          <a:ea typeface="Inter"/>
                          <a:sym typeface="Arial"/>
                        </a:rPr>
                        <a:t>một</a:t>
                      </a:r>
                      <a:r>
                        <a:rPr lang="en-US" sz="950" b="0" i="0" u="none" strike="noStrike" cap="none" spc="0" dirty="0">
                          <a:solidFill>
                            <a:srgbClr val="475569"/>
                          </a:solidFill>
                          <a:latin typeface="Inter"/>
                          <a:ea typeface="Inter"/>
                          <a:sym typeface="Arial"/>
                        </a:rPr>
                        <a:t> </a:t>
                      </a:r>
                      <a:r>
                        <a:rPr lang="en-US" sz="950" b="0" i="0" u="none" strike="noStrike" cap="none" spc="0" dirty="0" err="1">
                          <a:solidFill>
                            <a:srgbClr val="475569"/>
                          </a:solidFill>
                          <a:latin typeface="Inter"/>
                          <a:ea typeface="Inter"/>
                          <a:sym typeface="Arial"/>
                        </a:rPr>
                        <a:t>tháng</a:t>
                      </a:r>
                      <a:r>
                        <a:rPr lang="en-US" sz="950" b="0" i="0" u="none" strike="noStrike" cap="none" spc="0" dirty="0">
                          <a:solidFill>
                            <a:srgbClr val="475569"/>
                          </a:solidFill>
                          <a:latin typeface="Inter"/>
                          <a:ea typeface="Inter"/>
                          <a:sym typeface="Arial"/>
                        </a:rPr>
                        <a:t>, </a:t>
                      </a:r>
                      <a:r>
                        <a:rPr lang="en-US" sz="950" b="0" i="0" u="none" strike="noStrike" cap="none" spc="0" dirty="0" err="1">
                          <a:solidFill>
                            <a:srgbClr val="475569"/>
                          </a:solidFill>
                          <a:latin typeface="Inter"/>
                          <a:ea typeface="Inter"/>
                          <a:sym typeface="Arial"/>
                        </a:rPr>
                        <a:t>có</a:t>
                      </a:r>
                      <a:r>
                        <a:rPr lang="en-US" sz="950" b="0" i="0" u="none" strike="noStrike" cap="none" spc="0" dirty="0">
                          <a:solidFill>
                            <a:srgbClr val="475569"/>
                          </a:solidFill>
                          <a:latin typeface="Inter"/>
                          <a:ea typeface="Inter"/>
                          <a:sym typeface="Arial"/>
                        </a:rPr>
                        <a:t> bao </a:t>
                      </a:r>
                      <a:r>
                        <a:rPr lang="en-US" sz="950" b="0" i="0" u="none" strike="noStrike" cap="none" spc="0" dirty="0" err="1">
                          <a:solidFill>
                            <a:srgbClr val="475569"/>
                          </a:solidFill>
                          <a:latin typeface="Inter"/>
                          <a:ea typeface="Inter"/>
                          <a:sym typeface="Arial"/>
                        </a:rPr>
                        <a:t>nhiêu</a:t>
                      </a:r>
                      <a:r>
                        <a:rPr lang="en-US" sz="950" b="0" i="0" u="none" strike="noStrike" cap="none" spc="0" dirty="0">
                          <a:solidFill>
                            <a:srgbClr val="475569"/>
                          </a:solidFill>
                          <a:latin typeface="Inter"/>
                          <a:ea typeface="Inter"/>
                          <a:sym typeface="Arial"/>
                        </a:rPr>
                        <a:t> % booking </a:t>
                      </a:r>
                      <a:r>
                        <a:rPr lang="en-US" sz="950" b="0" i="0" u="none" strike="noStrike" cap="none" spc="0" dirty="0" err="1">
                          <a:solidFill>
                            <a:srgbClr val="475569"/>
                          </a:solidFill>
                          <a:latin typeface="Inter"/>
                          <a:ea typeface="Inter"/>
                          <a:sym typeface="Arial"/>
                        </a:rPr>
                        <a:t>phát</a:t>
                      </a:r>
                      <a:r>
                        <a:rPr lang="en-US" sz="950" b="0" i="0" u="none" strike="noStrike" cap="none" spc="0" dirty="0">
                          <a:solidFill>
                            <a:srgbClr val="475569"/>
                          </a:solidFill>
                          <a:latin typeface="Inter"/>
                          <a:ea typeface="Inter"/>
                          <a:sym typeface="Arial"/>
                        </a:rPr>
                        <a:t> </a:t>
                      </a:r>
                      <a:r>
                        <a:rPr lang="en-US" sz="950" b="0" i="0" u="none" strike="noStrike" cap="none" spc="0" dirty="0" err="1">
                          <a:solidFill>
                            <a:srgbClr val="475569"/>
                          </a:solidFill>
                          <a:latin typeface="Inter"/>
                          <a:ea typeface="Inter"/>
                          <a:sym typeface="Arial"/>
                        </a:rPr>
                        <a:t>sinh</a:t>
                      </a:r>
                      <a:r>
                        <a:rPr lang="en-US" sz="950" b="0" i="0" u="none" strike="noStrike" cap="none" spc="0" dirty="0">
                          <a:solidFill>
                            <a:srgbClr val="475569"/>
                          </a:solidFill>
                          <a:latin typeface="Inter"/>
                          <a:ea typeface="Inter"/>
                          <a:sym typeface="Arial"/>
                        </a:rPr>
                        <a:t> </a:t>
                      </a:r>
                      <a:r>
                        <a:rPr lang="en-US" sz="950" b="0" i="0" u="none" strike="noStrike" cap="none" spc="0" dirty="0" err="1">
                          <a:solidFill>
                            <a:srgbClr val="475569"/>
                          </a:solidFill>
                          <a:latin typeface="Inter"/>
                          <a:ea typeface="Inter"/>
                          <a:sym typeface="Arial"/>
                        </a:rPr>
                        <a:t>thêm</a:t>
                      </a:r>
                      <a:r>
                        <a:rPr lang="en-US" sz="950" b="0" i="0" u="none" strike="noStrike" cap="none" spc="0" dirty="0">
                          <a:solidFill>
                            <a:srgbClr val="475569"/>
                          </a:solidFill>
                          <a:latin typeface="Inter"/>
                          <a:ea typeface="Inter"/>
                          <a:sym typeface="Arial"/>
                        </a:rPr>
                        <a:t> </a:t>
                      </a:r>
                      <a:r>
                        <a:rPr lang="en-US" sz="950" b="0" i="0" u="none" strike="noStrike" cap="none" spc="0" dirty="0" err="1">
                          <a:solidFill>
                            <a:srgbClr val="475569"/>
                          </a:solidFill>
                          <a:latin typeface="Inter"/>
                          <a:ea typeface="Inter"/>
                          <a:sym typeface="Arial"/>
                        </a:rPr>
                        <a:t>một</a:t>
                      </a:r>
                      <a:r>
                        <a:rPr lang="en-US" sz="950" b="0" i="0" u="none" strike="noStrike" cap="none" spc="0" dirty="0">
                          <a:solidFill>
                            <a:srgbClr val="475569"/>
                          </a:solidFill>
                          <a:latin typeface="Inter"/>
                          <a:ea typeface="Inter"/>
                          <a:sym typeface="Arial"/>
                        </a:rPr>
                        <a:t> </a:t>
                      </a:r>
                      <a:r>
                        <a:rPr lang="en-US" sz="950" b="0" i="0" u="none" strike="noStrike" cap="none" spc="0" dirty="0" err="1">
                          <a:solidFill>
                            <a:srgbClr val="475569"/>
                          </a:solidFill>
                          <a:latin typeface="Inter"/>
                          <a:ea typeface="Inter"/>
                          <a:sym typeface="Arial"/>
                        </a:rPr>
                        <a:t>lần</a:t>
                      </a:r>
                      <a:r>
                        <a:rPr lang="en-US" sz="950" b="0" i="0" u="none" strike="noStrike" cap="none" spc="0" dirty="0">
                          <a:solidFill>
                            <a:srgbClr val="475569"/>
                          </a:solidFill>
                          <a:latin typeface="Inter"/>
                          <a:ea typeface="Inter"/>
                          <a:sym typeface="Arial"/>
                        </a:rPr>
                        <a:t> KTV </a:t>
                      </a:r>
                      <a:r>
                        <a:rPr lang="en-US" sz="950" b="0" i="0" u="none" strike="noStrike" cap="none" spc="0" dirty="0" err="1">
                          <a:solidFill>
                            <a:srgbClr val="475569"/>
                          </a:solidFill>
                          <a:latin typeface="Inter"/>
                          <a:ea typeface="Inter"/>
                          <a:sym typeface="Arial"/>
                        </a:rPr>
                        <a:t>đến</a:t>
                      </a:r>
                      <a:r>
                        <a:rPr lang="en-US" sz="950" b="0" i="0" u="none" strike="noStrike" cap="none" spc="0" dirty="0">
                          <a:solidFill>
                            <a:srgbClr val="475569"/>
                          </a:solidFill>
                          <a:latin typeface="Inter"/>
                          <a:ea typeface="Inter"/>
                          <a:sym typeface="Arial"/>
                        </a:rPr>
                        <a:t> </a:t>
                      </a:r>
                      <a:r>
                        <a:rPr lang="en-US" sz="950" b="0" i="0" u="none" strike="noStrike" cap="none" spc="0" dirty="0" err="1">
                          <a:solidFill>
                            <a:srgbClr val="475569"/>
                          </a:solidFill>
                          <a:latin typeface="Inter"/>
                          <a:ea typeface="Inter"/>
                          <a:sym typeface="Arial"/>
                        </a:rPr>
                        <a:t>xử</a:t>
                      </a:r>
                      <a:r>
                        <a:rPr lang="en-US" sz="950" b="0" i="0" u="none" strike="noStrike" cap="none" spc="0" dirty="0">
                          <a:solidFill>
                            <a:srgbClr val="475569"/>
                          </a:solidFill>
                          <a:latin typeface="Inter"/>
                          <a:ea typeface="Inter"/>
                          <a:sym typeface="Arial"/>
                        </a:rPr>
                        <a:t> </a:t>
                      </a:r>
                      <a:r>
                        <a:rPr lang="en-US" sz="950" b="0" i="0" u="none" strike="noStrike" cap="none" spc="0" dirty="0" err="1">
                          <a:solidFill>
                            <a:srgbClr val="475569"/>
                          </a:solidFill>
                          <a:latin typeface="Inter"/>
                          <a:ea typeface="Inter"/>
                          <a:sym typeface="Arial"/>
                        </a:rPr>
                        <a:t>lý</a:t>
                      </a:r>
                      <a:r>
                        <a:rPr lang="en-US" sz="950" b="0" i="0" u="none" strike="noStrike" cap="none" spc="0" dirty="0">
                          <a:solidFill>
                            <a:srgbClr val="475569"/>
                          </a:solidFill>
                          <a:latin typeface="Inter"/>
                          <a:ea typeface="Inter"/>
                          <a:sym typeface="Arial"/>
                        </a:rPr>
                        <a:t>?</a:t>
                      </a:r>
                      <a:endParaRPr sz="950" b="0" i="0" u="none" strike="noStrike" cap="none" spc="0" dirty="0">
                        <a:solidFill>
                          <a:srgbClr val="475569"/>
                        </a:solidFill>
                        <a:latin typeface="Inter"/>
                        <a:ea typeface="Inter"/>
                        <a:sym typeface="Arial"/>
                      </a:endParaRPr>
                    </a:p>
                  </a:txBody>
                  <a:tcPr marL="73150" marR="73150" marT="18300" marB="18300" anchor="ctr">
                    <a:solidFill>
                      <a:srgbClr val="FFFFFF"/>
                    </a:solidFill>
                  </a:tcPr>
                </a:tc>
                <a:extLst>
                  <a:ext uri="{0D108BD9-81ED-4DB2-BD59-A6C34878D82A}">
                    <a16:rowId xmlns:a16="http://schemas.microsoft.com/office/drawing/2014/main" val="10003"/>
                  </a:ext>
                </a:extLst>
              </a:tr>
              <a:tr h="530350">
                <a:tc>
                  <a:txBody>
                    <a:bodyPr/>
                    <a:lstStyle/>
                    <a:p>
                      <a:pPr marL="0" marR="0" lvl="0" indent="0" algn="l" rtl="0">
                        <a:lnSpc>
                          <a:spcPct val="100000"/>
                        </a:lnSpc>
                        <a:spcBef>
                          <a:spcPts val="0"/>
                        </a:spcBef>
                        <a:spcAft>
                          <a:spcPts val="0"/>
                        </a:spcAft>
                        <a:buNone/>
                      </a:pPr>
                      <a:r>
                        <a:rPr lang="en" sz="950" u="none" strike="noStrike" cap="none">
                          <a:solidFill>
                            <a:srgbClr val="475569"/>
                          </a:solidFill>
                          <a:latin typeface="Inter"/>
                          <a:ea typeface="Inter"/>
                          <a:cs typeface="Inter"/>
                          <a:sym typeface="Inter"/>
                        </a:rPr>
                        <a:t>4</a:t>
                      </a:r>
                      <a:endParaRPr/>
                    </a:p>
                  </a:txBody>
                  <a:tcPr marL="73150" marR="73150" marT="18300" marB="18300" anchor="ctr">
                    <a:solidFill>
                      <a:srgbClr val="F8FAFC"/>
                    </a:solidFill>
                  </a:tcPr>
                </a:tc>
                <a:tc>
                  <a:txBody>
                    <a:bodyPr/>
                    <a:lstStyle/>
                    <a:p>
                      <a:pPr marL="0" marR="0" lvl="0" indent="0" algn="l" rtl="0">
                        <a:lnSpc>
                          <a:spcPct val="100000"/>
                        </a:lnSpc>
                        <a:spcBef>
                          <a:spcPts val="0"/>
                        </a:spcBef>
                        <a:spcAft>
                          <a:spcPts val="0"/>
                        </a:spcAft>
                        <a:buNone/>
                      </a:pPr>
                      <a:r>
                        <a:rPr lang="en" sz="950" u="none" strike="noStrike" cap="none" dirty="0">
                          <a:solidFill>
                            <a:srgbClr val="475569"/>
                          </a:solidFill>
                          <a:latin typeface="Inter"/>
                          <a:ea typeface="Inter"/>
                          <a:cs typeface="Inter"/>
                          <a:sym typeface="Inter"/>
                        </a:rPr>
                        <a:t>Chi phí trung bình cho nhân công và linh kiện trên một booking là bao </a:t>
                      </a:r>
                      <a:r>
                        <a:rPr lang="vi-VN" sz="950" u="none" strike="noStrike" cap="none" dirty="0">
                          <a:solidFill>
                            <a:srgbClr val="475569"/>
                          </a:solidFill>
                          <a:latin typeface="Inter"/>
                          <a:ea typeface="Inter"/>
                          <a:cs typeface="Inter"/>
                          <a:sym typeface="Inter"/>
                        </a:rPr>
                        <a:t>nhiêu</a:t>
                      </a:r>
                      <a:r>
                        <a:rPr lang="en" sz="950" u="none" strike="noStrike" cap="none" dirty="0">
                          <a:solidFill>
                            <a:srgbClr val="475569"/>
                          </a:solidFill>
                          <a:latin typeface="Inter"/>
                          <a:ea typeface="Inter"/>
                          <a:cs typeface="Inter"/>
                          <a:sym typeface="Inter"/>
                        </a:rPr>
                        <a:t>?</a:t>
                      </a:r>
                      <a:endParaRPr dirty="0"/>
                    </a:p>
                  </a:txBody>
                  <a:tcPr marL="73150" marR="73150" marT="18300" marB="18300" anchor="ctr">
                    <a:solidFill>
                      <a:srgbClr val="F8FAFC"/>
                    </a:solidFill>
                  </a:tcPr>
                </a:tc>
                <a:extLst>
                  <a:ext uri="{0D108BD9-81ED-4DB2-BD59-A6C34878D82A}">
                    <a16:rowId xmlns:a16="http://schemas.microsoft.com/office/drawing/2014/main" val="10004"/>
                  </a:ext>
                </a:extLst>
              </a:tr>
              <a:tr h="530350">
                <a:tc>
                  <a:txBody>
                    <a:bodyPr/>
                    <a:lstStyle/>
                    <a:p>
                      <a:pPr marL="0" marR="0" lvl="0" indent="0" algn="l" rtl="0">
                        <a:lnSpc>
                          <a:spcPct val="100000"/>
                        </a:lnSpc>
                        <a:spcBef>
                          <a:spcPts val="0"/>
                        </a:spcBef>
                        <a:spcAft>
                          <a:spcPts val="0"/>
                        </a:spcAft>
                        <a:buNone/>
                      </a:pPr>
                      <a:r>
                        <a:rPr lang="en" sz="950" u="none" strike="noStrike" cap="none">
                          <a:solidFill>
                            <a:srgbClr val="475569"/>
                          </a:solidFill>
                          <a:latin typeface="Inter"/>
                          <a:ea typeface="Inter"/>
                          <a:cs typeface="Inter"/>
                          <a:sym typeface="Inter"/>
                        </a:rPr>
                        <a:t>5</a:t>
                      </a:r>
                      <a:endParaRPr/>
                    </a:p>
                  </a:txBody>
                  <a:tcPr marL="73150" marR="73150" marT="18300" marB="18300" anchor="ctr">
                    <a:solidFill>
                      <a:srgbClr val="FFFFFF"/>
                    </a:solidFill>
                  </a:tcPr>
                </a:tc>
                <a:tc>
                  <a:txBody>
                    <a:bodyPr/>
                    <a:lstStyle/>
                    <a:p>
                      <a:pPr marL="0" marR="0" lvl="0" indent="0" algn="l" rtl="0">
                        <a:lnSpc>
                          <a:spcPct val="100000"/>
                        </a:lnSpc>
                        <a:spcBef>
                          <a:spcPts val="0"/>
                        </a:spcBef>
                        <a:spcAft>
                          <a:spcPts val="0"/>
                        </a:spcAft>
                        <a:buNone/>
                      </a:pPr>
                      <a:r>
                        <a:rPr lang="en" sz="950" u="none" strike="noStrike" cap="none" dirty="0">
                          <a:solidFill>
                            <a:srgbClr val="475569"/>
                          </a:solidFill>
                          <a:latin typeface="Inter"/>
                          <a:ea typeface="Inter"/>
                          <a:cs typeface="Inter"/>
                          <a:sym typeface="Inter"/>
                        </a:rPr>
                        <a:t>Điểm đánh giá trung bình của khách hàng trên thang điểm 5 trong tháng gần nhất</a:t>
                      </a:r>
                      <a:r>
                        <a:rPr lang="vi-VN" sz="950" u="none" strike="noStrike" cap="none" dirty="0">
                          <a:solidFill>
                            <a:srgbClr val="475569"/>
                          </a:solidFill>
                          <a:latin typeface="Inter"/>
                          <a:ea typeface="Inter"/>
                          <a:cs typeface="Inter"/>
                          <a:sym typeface="Inter"/>
                        </a:rPr>
                        <a:t> là bao nhiêu</a:t>
                      </a:r>
                      <a:r>
                        <a:rPr lang="en" sz="950" u="none" strike="noStrike" cap="none" dirty="0">
                          <a:solidFill>
                            <a:srgbClr val="475569"/>
                          </a:solidFill>
                          <a:latin typeface="Inter"/>
                          <a:ea typeface="Inter"/>
                          <a:cs typeface="Inter"/>
                          <a:sym typeface="Inter"/>
                        </a:rPr>
                        <a:t>?</a:t>
                      </a:r>
                      <a:endParaRPr dirty="0"/>
                    </a:p>
                  </a:txBody>
                  <a:tcPr marL="73150" marR="73150" marT="18300" marB="18300" anchor="ctr">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668"/>
        <p:cNvGrpSpPr/>
        <p:nvPr/>
      </p:nvGrpSpPr>
      <p:grpSpPr>
        <a:xfrm>
          <a:off x="0" y="0"/>
          <a:ext cx="0" cy="0"/>
          <a:chOff x="0" y="0"/>
          <a:chExt cx="0" cy="0"/>
        </a:xfrm>
      </p:grpSpPr>
      <p:sp>
        <p:nvSpPr>
          <p:cNvPr id="669" name="Google Shape;669;p35"/>
          <p:cNvSpPr/>
          <p:nvPr/>
        </p:nvSpPr>
        <p:spPr>
          <a:xfrm>
            <a:off x="0" y="0"/>
            <a:ext cx="9144000" cy="5143500"/>
          </a:xfrm>
          <a:prstGeom prst="rect">
            <a:avLst/>
          </a:pr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670" name="Google Shape;670;p35"/>
          <p:cNvGrpSpPr/>
          <p:nvPr/>
        </p:nvGrpSpPr>
        <p:grpSpPr>
          <a:xfrm>
            <a:off x="8458200" y="381000"/>
            <a:ext cx="304800" cy="304800"/>
            <a:chOff x="0" y="0"/>
            <a:chExt cx="304800" cy="304800"/>
          </a:xfrm>
        </p:grpSpPr>
        <p:sp>
          <p:nvSpPr>
            <p:cNvPr id="671" name="Google Shape;671;p35"/>
            <p:cNvSpPr/>
            <p:nvPr/>
          </p:nvSpPr>
          <p:spPr>
            <a:xfrm>
              <a:off x="0" y="0"/>
              <a:ext cx="304800" cy="304800"/>
            </a:xfrm>
            <a:prstGeom prst="roundRect">
              <a:avLst>
                <a:gd name="adj" fmla="val 125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72" name="Google Shape;672;p35"/>
            <p:cNvSpPr/>
            <p:nvPr/>
          </p:nvSpPr>
          <p:spPr>
            <a:xfrm>
              <a:off x="95250" y="95250"/>
              <a:ext cx="114300" cy="114300"/>
            </a:xfrm>
            <a:custGeom>
              <a:avLst/>
              <a:gdLst/>
              <a:ahLst/>
              <a:cxnLst/>
              <a:rect l="l" t="t" r="r" b="b"/>
              <a:pathLst>
                <a:path w="120000" h="120000" extrusionOk="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73" name="Google Shape;673;p35"/>
            <p:cNvSpPr/>
            <p:nvPr/>
          </p:nvSpPr>
          <p:spPr>
            <a:xfrm>
              <a:off x="123825" y="123825"/>
              <a:ext cx="57300" cy="57300"/>
            </a:xfrm>
            <a:prstGeom prst="ellipse">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cxnSp>
        <p:nvCxnSpPr>
          <p:cNvPr id="674" name="Google Shape;674;p35"/>
          <p:cNvCxnSpPr/>
          <p:nvPr/>
        </p:nvCxnSpPr>
        <p:spPr>
          <a:xfrm>
            <a:off x="381000" y="1143000"/>
            <a:ext cx="8382000" cy="0"/>
          </a:xfrm>
          <a:prstGeom prst="straightConnector1">
            <a:avLst/>
          </a:prstGeom>
          <a:solidFill>
            <a:srgbClr val="FFFFFF"/>
          </a:solidFill>
          <a:ln w="14300" cap="flat" cmpd="sng">
            <a:solidFill>
              <a:srgbClr val="E2E8F0"/>
            </a:solidFill>
            <a:prstDash val="solid"/>
            <a:round/>
            <a:headEnd type="none" w="sm" len="sm"/>
            <a:tailEnd type="none" w="sm" len="sm"/>
          </a:ln>
        </p:spPr>
      </p:cxnSp>
      <p:sp>
        <p:nvSpPr>
          <p:cNvPr id="675" name="Google Shape;675;p35"/>
          <p:cNvSpPr txBox="1"/>
          <p:nvPr/>
        </p:nvSpPr>
        <p:spPr>
          <a:xfrm>
            <a:off x="381000" y="333375"/>
            <a:ext cx="7620000" cy="762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 sz="2000" b="0" i="0" u="none" strike="noStrike" cap="none" dirty="0">
                <a:solidFill>
                  <a:srgbClr val="0F172A"/>
                </a:solidFill>
                <a:latin typeface="Inter ExtraBold"/>
                <a:ea typeface="Inter ExtraBold"/>
                <a:cs typeface="Inter ExtraBold"/>
                <a:sym typeface="Inter ExtraBold"/>
              </a:rPr>
              <a:t>5 câu hỏi định lượng — Không có cấu trúc</a:t>
            </a:r>
            <a:endParaRPr sz="2000" b="0" i="0" u="none" strike="noStrike" cap="none" dirty="0">
              <a:solidFill>
                <a:srgbClr val="0F172A"/>
              </a:solidFill>
              <a:latin typeface="Inter ExtraBold"/>
              <a:ea typeface="Inter ExtraBold"/>
              <a:cs typeface="Inter ExtraBold"/>
              <a:sym typeface="Inter ExtraBold"/>
            </a:endParaRPr>
          </a:p>
          <a:p>
            <a:pPr marL="0" marR="0" lvl="0" indent="0" algn="l" rtl="0">
              <a:lnSpc>
                <a:spcPct val="100000"/>
              </a:lnSpc>
              <a:spcBef>
                <a:spcPts val="375"/>
              </a:spcBef>
              <a:spcAft>
                <a:spcPts val="0"/>
              </a:spcAft>
              <a:buClr>
                <a:srgbClr val="000000"/>
              </a:buClr>
              <a:buSzPts val="1100"/>
              <a:buFont typeface="Arial"/>
              <a:buNone/>
            </a:pPr>
            <a:r>
              <a:rPr lang="en" sz="1100" b="0" i="0" u="none" strike="noStrike" cap="none" dirty="0">
                <a:solidFill>
                  <a:srgbClr val="007B7C"/>
                </a:solidFill>
                <a:latin typeface="Inter SemiBold"/>
                <a:ea typeface="Inter SemiBold"/>
                <a:cs typeface="Inter SemiBold"/>
                <a:sym typeface="Inter SemiBold"/>
              </a:rPr>
              <a:t>Unstructured — </a:t>
            </a:r>
            <a:r>
              <a:rPr lang="vi-VN" sz="1100" b="0" i="0" u="none" strike="noStrike" cap="none" dirty="0">
                <a:solidFill>
                  <a:srgbClr val="007B7C"/>
                </a:solidFill>
                <a:latin typeface="Inter SemiBold"/>
                <a:ea typeface="Inter SemiBold"/>
                <a:cs typeface="Inter SemiBold"/>
                <a:sym typeface="Inter SemiBold"/>
              </a:rPr>
              <a:t>Ư</a:t>
            </a:r>
            <a:r>
              <a:rPr lang="en" sz="1100" b="0" i="0" u="none" strike="noStrike" cap="none" dirty="0">
                <a:solidFill>
                  <a:srgbClr val="007B7C"/>
                </a:solidFill>
                <a:latin typeface="Inter SemiBold"/>
                <a:ea typeface="Inter SemiBold"/>
                <a:cs typeface="Inter SemiBold"/>
                <a:sym typeface="Inter SemiBold"/>
              </a:rPr>
              <a:t>ớc lượng dựa trên kinh nghiệm</a:t>
            </a:r>
            <a:r>
              <a:rPr lang="vi-VN" sz="1100" b="0" i="0" u="none" strike="noStrike" cap="none" dirty="0">
                <a:solidFill>
                  <a:srgbClr val="007B7C"/>
                </a:solidFill>
                <a:latin typeface="Inter SemiBold"/>
                <a:ea typeface="Inter SemiBold"/>
                <a:cs typeface="Inter SemiBold"/>
                <a:sym typeface="Inter SemiBold"/>
              </a:rPr>
              <a:t> thực tế</a:t>
            </a:r>
            <a:endParaRPr sz="1100" b="0" i="0" u="none" strike="noStrike" cap="none" dirty="0">
              <a:solidFill>
                <a:srgbClr val="007B7C"/>
              </a:solidFill>
              <a:latin typeface="Inter SemiBold"/>
              <a:ea typeface="Inter SemiBold"/>
              <a:cs typeface="Inter SemiBold"/>
              <a:sym typeface="Inter SemiBold"/>
            </a:endParaRPr>
          </a:p>
        </p:txBody>
      </p:sp>
      <p:graphicFrame>
        <p:nvGraphicFramePr>
          <p:cNvPr id="676" name="Google Shape;676;p35"/>
          <p:cNvGraphicFramePr/>
          <p:nvPr>
            <p:extLst>
              <p:ext uri="{D42A27DB-BD31-4B8C-83A1-F6EECF244321}">
                <p14:modId xmlns:p14="http://schemas.microsoft.com/office/powerpoint/2010/main" val="1191982811"/>
              </p:ext>
            </p:extLst>
          </p:nvPr>
        </p:nvGraphicFramePr>
        <p:xfrm>
          <a:off x="384048" y="1335024"/>
          <a:ext cx="8375900" cy="2999225"/>
        </p:xfrm>
        <a:graphic>
          <a:graphicData uri="http://schemas.openxmlformats.org/drawingml/2006/table">
            <a:tbl>
              <a:tblPr firstRow="1" bandRow="1">
                <a:noFill/>
                <a:tableStyleId>{C22CD621-9F64-4B2E-9631-1F7B959E530B}</a:tableStyleId>
              </a:tblPr>
              <a:tblGrid>
                <a:gridCol w="598275">
                  <a:extLst>
                    <a:ext uri="{9D8B030D-6E8A-4147-A177-3AD203B41FA5}">
                      <a16:colId xmlns:a16="http://schemas.microsoft.com/office/drawing/2014/main" val="20000"/>
                    </a:ext>
                  </a:extLst>
                </a:gridCol>
                <a:gridCol w="7777625">
                  <a:extLst>
                    <a:ext uri="{9D8B030D-6E8A-4147-A177-3AD203B41FA5}">
                      <a16:colId xmlns:a16="http://schemas.microsoft.com/office/drawing/2014/main" val="20001"/>
                    </a:ext>
                  </a:extLst>
                </a:gridCol>
              </a:tblGrid>
              <a:tr h="347475">
                <a:tc>
                  <a:txBody>
                    <a:bodyPr/>
                    <a:lstStyle/>
                    <a:p>
                      <a:pPr marL="0" marR="0" lvl="0" indent="0" algn="l" rtl="0">
                        <a:lnSpc>
                          <a:spcPct val="100000"/>
                        </a:lnSpc>
                        <a:spcBef>
                          <a:spcPts val="0"/>
                        </a:spcBef>
                        <a:spcAft>
                          <a:spcPts val="0"/>
                        </a:spcAft>
                        <a:buNone/>
                      </a:pPr>
                      <a:r>
                        <a:rPr lang="en" sz="950" b="1" u="none" strike="noStrike" cap="none">
                          <a:solidFill>
                            <a:srgbClr val="FFFFFF"/>
                          </a:solidFill>
                          <a:latin typeface="Inter SemiBold"/>
                          <a:ea typeface="Inter SemiBold"/>
                          <a:cs typeface="Inter SemiBold"/>
                          <a:sym typeface="Inter SemiBold"/>
                        </a:rPr>
                        <a:t>STT</a:t>
                      </a:r>
                      <a:endParaRPr/>
                    </a:p>
                  </a:txBody>
                  <a:tcPr marL="73150" marR="73150" marT="18300" marB="18300" anchor="ctr">
                    <a:solidFill>
                      <a:srgbClr val="007B7C"/>
                    </a:solidFill>
                  </a:tcPr>
                </a:tc>
                <a:tc>
                  <a:txBody>
                    <a:bodyPr/>
                    <a:lstStyle/>
                    <a:p>
                      <a:pPr marL="0" marR="0" lvl="0" indent="0" algn="l" rtl="0">
                        <a:lnSpc>
                          <a:spcPct val="100000"/>
                        </a:lnSpc>
                        <a:spcBef>
                          <a:spcPts val="0"/>
                        </a:spcBef>
                        <a:spcAft>
                          <a:spcPts val="0"/>
                        </a:spcAft>
                        <a:buNone/>
                      </a:pPr>
                      <a:r>
                        <a:rPr lang="en" sz="950" b="1" u="none" strike="noStrike" cap="none">
                          <a:solidFill>
                            <a:srgbClr val="FFFFFF"/>
                          </a:solidFill>
                          <a:latin typeface="Inter SemiBold"/>
                          <a:ea typeface="Inter SemiBold"/>
                          <a:cs typeface="Inter SemiBold"/>
                          <a:sym typeface="Inter SemiBold"/>
                        </a:rPr>
                        <a:t>Câu hỏi</a:t>
                      </a:r>
                      <a:endParaRPr/>
                    </a:p>
                  </a:txBody>
                  <a:tcPr marL="73150" marR="73150" marT="18300" marB="18300" anchor="ctr">
                    <a:solidFill>
                      <a:srgbClr val="007B7C"/>
                    </a:solidFill>
                  </a:tcPr>
                </a:tc>
                <a:extLst>
                  <a:ext uri="{0D108BD9-81ED-4DB2-BD59-A6C34878D82A}">
                    <a16:rowId xmlns:a16="http://schemas.microsoft.com/office/drawing/2014/main" val="10000"/>
                  </a:ext>
                </a:extLst>
              </a:tr>
              <a:tr h="530350">
                <a:tc>
                  <a:txBody>
                    <a:bodyPr/>
                    <a:lstStyle/>
                    <a:p>
                      <a:pPr marL="0" marR="0" lvl="0" indent="0" algn="l" rtl="0">
                        <a:lnSpc>
                          <a:spcPct val="100000"/>
                        </a:lnSpc>
                        <a:spcBef>
                          <a:spcPts val="0"/>
                        </a:spcBef>
                        <a:spcAft>
                          <a:spcPts val="0"/>
                        </a:spcAft>
                        <a:buNone/>
                      </a:pPr>
                      <a:r>
                        <a:rPr lang="en" sz="950" u="none" strike="noStrike" cap="none">
                          <a:solidFill>
                            <a:srgbClr val="475569"/>
                          </a:solidFill>
                          <a:latin typeface="Inter"/>
                          <a:ea typeface="Inter"/>
                          <a:cs typeface="Inter"/>
                          <a:sym typeface="Inter"/>
                        </a:rPr>
                        <a:t>1</a:t>
                      </a:r>
                      <a:endParaRPr/>
                    </a:p>
                  </a:txBody>
                  <a:tcPr marL="73150" marR="73150" marT="18300" marB="18300" anchor="ctr">
                    <a:solidFill>
                      <a:srgbClr val="FFFFFF"/>
                    </a:solidFill>
                  </a:tcPr>
                </a:tc>
                <a:tc>
                  <a:txBody>
                    <a:bodyPr/>
                    <a:lstStyle/>
                    <a:p>
                      <a:pPr marL="0" marR="0" lvl="0" indent="0" algn="l" rtl="0">
                        <a:lnSpc>
                          <a:spcPct val="100000"/>
                        </a:lnSpc>
                        <a:spcBef>
                          <a:spcPts val="0"/>
                        </a:spcBef>
                        <a:spcAft>
                          <a:spcPts val="0"/>
                        </a:spcAft>
                        <a:buNone/>
                      </a:pPr>
                      <a:r>
                        <a:rPr lang="en-US" sz="950" b="0" i="0" u="none" strike="noStrike" cap="none" spc="0" dirty="0">
                          <a:solidFill>
                            <a:srgbClr val="475569"/>
                          </a:solidFill>
                          <a:latin typeface="Inter"/>
                          <a:ea typeface="Inter"/>
                          <a:sym typeface="Arial"/>
                        </a:rPr>
                        <a:t>Trung </a:t>
                      </a:r>
                      <a:r>
                        <a:rPr lang="en-US" sz="950" b="0" i="0" u="none" strike="noStrike" cap="none" spc="0" dirty="0" err="1">
                          <a:solidFill>
                            <a:srgbClr val="475569"/>
                          </a:solidFill>
                          <a:latin typeface="Inter"/>
                          <a:ea typeface="Inter"/>
                          <a:sym typeface="Arial"/>
                        </a:rPr>
                        <a:t>bình</a:t>
                      </a:r>
                      <a:r>
                        <a:rPr lang="en-US" sz="950" b="0" i="0" u="none" strike="noStrike" cap="none" spc="0" dirty="0">
                          <a:solidFill>
                            <a:srgbClr val="475569"/>
                          </a:solidFill>
                          <a:latin typeface="Inter"/>
                          <a:ea typeface="Inter"/>
                          <a:sym typeface="Arial"/>
                        </a:rPr>
                        <a:t> </a:t>
                      </a:r>
                      <a:r>
                        <a:rPr lang="en-US" sz="950" b="0" i="0" u="none" strike="noStrike" cap="none" spc="0" dirty="0" err="1">
                          <a:solidFill>
                            <a:srgbClr val="475569"/>
                          </a:solidFill>
                          <a:latin typeface="Inter"/>
                          <a:ea typeface="Inter"/>
                          <a:sym typeface="Arial"/>
                        </a:rPr>
                        <a:t>mỗi</a:t>
                      </a:r>
                      <a:r>
                        <a:rPr lang="en-US" sz="950" b="0" i="0" u="none" strike="noStrike" cap="none" spc="0" dirty="0">
                          <a:solidFill>
                            <a:srgbClr val="475569"/>
                          </a:solidFill>
                          <a:latin typeface="Inter"/>
                          <a:ea typeface="Inter"/>
                          <a:sym typeface="Arial"/>
                        </a:rPr>
                        <a:t> KTV </a:t>
                      </a:r>
                      <a:r>
                        <a:rPr lang="en-US" sz="950" b="0" i="0" u="none" strike="noStrike" cap="none" spc="0" dirty="0" err="1">
                          <a:solidFill>
                            <a:srgbClr val="475569"/>
                          </a:solidFill>
                          <a:latin typeface="Inter"/>
                          <a:ea typeface="Inter"/>
                          <a:sym typeface="Arial"/>
                        </a:rPr>
                        <a:t>xử</a:t>
                      </a:r>
                      <a:r>
                        <a:rPr lang="en-US" sz="950" b="0" i="0" u="none" strike="noStrike" cap="none" spc="0" dirty="0">
                          <a:solidFill>
                            <a:srgbClr val="475569"/>
                          </a:solidFill>
                          <a:latin typeface="Inter"/>
                          <a:ea typeface="Inter"/>
                          <a:sym typeface="Arial"/>
                        </a:rPr>
                        <a:t> </a:t>
                      </a:r>
                      <a:r>
                        <a:rPr lang="en-US" sz="950" b="0" i="0" u="none" strike="noStrike" cap="none" spc="0" dirty="0" err="1">
                          <a:solidFill>
                            <a:srgbClr val="475569"/>
                          </a:solidFill>
                          <a:latin typeface="Inter"/>
                          <a:ea typeface="Inter"/>
                          <a:sym typeface="Arial"/>
                        </a:rPr>
                        <a:t>lý</a:t>
                      </a:r>
                      <a:r>
                        <a:rPr lang="en-US" sz="950" b="0" i="0" u="none" strike="noStrike" cap="none" spc="0" dirty="0">
                          <a:solidFill>
                            <a:srgbClr val="475569"/>
                          </a:solidFill>
                          <a:latin typeface="Inter"/>
                          <a:ea typeface="Inter"/>
                          <a:sym typeface="Arial"/>
                        </a:rPr>
                        <a:t> bao </a:t>
                      </a:r>
                      <a:r>
                        <a:rPr lang="en-US" sz="950" b="0" i="0" u="none" strike="noStrike" cap="none" spc="0" dirty="0" err="1">
                          <a:solidFill>
                            <a:srgbClr val="475569"/>
                          </a:solidFill>
                          <a:latin typeface="Inter"/>
                          <a:ea typeface="Inter"/>
                          <a:sym typeface="Arial"/>
                        </a:rPr>
                        <a:t>nhiêu</a:t>
                      </a:r>
                      <a:r>
                        <a:rPr lang="en-US" sz="950" b="0" i="0" u="none" strike="noStrike" cap="none" spc="0" dirty="0">
                          <a:solidFill>
                            <a:srgbClr val="475569"/>
                          </a:solidFill>
                          <a:latin typeface="Inter"/>
                          <a:ea typeface="Inter"/>
                          <a:sym typeface="Arial"/>
                        </a:rPr>
                        <a:t> booking </a:t>
                      </a:r>
                      <a:r>
                        <a:rPr lang="en-US" sz="950" b="0" i="0" u="none" strike="noStrike" cap="none" spc="0" dirty="0" err="1">
                          <a:solidFill>
                            <a:srgbClr val="475569"/>
                          </a:solidFill>
                          <a:latin typeface="Inter"/>
                          <a:ea typeface="Inter"/>
                          <a:sym typeface="Arial"/>
                        </a:rPr>
                        <a:t>mỗi</a:t>
                      </a:r>
                      <a:r>
                        <a:rPr lang="en-US" sz="950" b="0" i="0" u="none" strike="noStrike" cap="none" spc="0" dirty="0">
                          <a:solidFill>
                            <a:srgbClr val="475569"/>
                          </a:solidFill>
                          <a:latin typeface="Inter"/>
                          <a:ea typeface="Inter"/>
                          <a:sym typeface="Arial"/>
                        </a:rPr>
                        <a:t> </a:t>
                      </a:r>
                      <a:r>
                        <a:rPr lang="en-US" sz="950" b="0" i="0" u="none" strike="noStrike" cap="none" spc="0" dirty="0" err="1">
                          <a:solidFill>
                            <a:srgbClr val="475569"/>
                          </a:solidFill>
                          <a:latin typeface="Inter"/>
                          <a:ea typeface="Inter"/>
                          <a:sym typeface="Arial"/>
                        </a:rPr>
                        <a:t>ngày</a:t>
                      </a:r>
                      <a:r>
                        <a:rPr lang="en-US" sz="950" b="0" i="0" u="none" strike="noStrike" cap="none" spc="0" dirty="0">
                          <a:solidFill>
                            <a:srgbClr val="475569"/>
                          </a:solidFill>
                          <a:latin typeface="Inter"/>
                          <a:ea typeface="Inter"/>
                          <a:sym typeface="Arial"/>
                        </a:rPr>
                        <a:t>? </a:t>
                      </a:r>
                      <a:r>
                        <a:rPr lang="en-US" sz="950" b="0" i="0" u="none" strike="noStrike" cap="none" spc="0" dirty="0" err="1">
                          <a:solidFill>
                            <a:srgbClr val="475569"/>
                          </a:solidFill>
                          <a:latin typeface="Inter"/>
                          <a:ea typeface="Inter"/>
                          <a:sym typeface="Arial"/>
                        </a:rPr>
                        <a:t>Số</a:t>
                      </a:r>
                      <a:r>
                        <a:rPr lang="en-US" sz="950" b="0" i="0" u="none" strike="noStrike" cap="none" spc="0" dirty="0">
                          <a:solidFill>
                            <a:srgbClr val="475569"/>
                          </a:solidFill>
                          <a:latin typeface="Inter"/>
                          <a:ea typeface="Inter"/>
                          <a:sym typeface="Arial"/>
                        </a:rPr>
                        <a:t> </a:t>
                      </a:r>
                      <a:r>
                        <a:rPr lang="en-US" sz="950" b="0" i="0" u="none" strike="noStrike" cap="none" spc="0" dirty="0" err="1">
                          <a:solidFill>
                            <a:srgbClr val="475569"/>
                          </a:solidFill>
                          <a:latin typeface="Inter"/>
                          <a:ea typeface="Inter"/>
                          <a:sym typeface="Arial"/>
                        </a:rPr>
                        <a:t>lượng</a:t>
                      </a:r>
                      <a:r>
                        <a:rPr lang="en-US" sz="950" b="0" i="0" u="none" strike="noStrike" cap="none" spc="0" dirty="0">
                          <a:solidFill>
                            <a:srgbClr val="475569"/>
                          </a:solidFill>
                          <a:latin typeface="Inter"/>
                          <a:ea typeface="Inter"/>
                          <a:sym typeface="Arial"/>
                        </a:rPr>
                        <a:t> </a:t>
                      </a:r>
                      <a:r>
                        <a:rPr lang="en-US" sz="950" b="0" i="0" u="none" strike="noStrike" cap="none" spc="0" dirty="0" err="1">
                          <a:solidFill>
                            <a:srgbClr val="475569"/>
                          </a:solidFill>
                          <a:latin typeface="Inter"/>
                          <a:ea typeface="Inter"/>
                          <a:sym typeface="Arial"/>
                        </a:rPr>
                        <a:t>này</a:t>
                      </a:r>
                      <a:r>
                        <a:rPr lang="en-US" sz="950" b="0" i="0" u="none" strike="noStrike" cap="none" spc="0" dirty="0">
                          <a:solidFill>
                            <a:srgbClr val="475569"/>
                          </a:solidFill>
                          <a:latin typeface="Inter"/>
                          <a:ea typeface="Inter"/>
                          <a:sym typeface="Arial"/>
                        </a:rPr>
                        <a:t> </a:t>
                      </a:r>
                      <a:r>
                        <a:rPr lang="en-US" sz="950" b="0" i="0" u="none" strike="noStrike" cap="none" spc="0" dirty="0" err="1">
                          <a:solidFill>
                            <a:srgbClr val="475569"/>
                          </a:solidFill>
                          <a:latin typeface="Inter"/>
                          <a:ea typeface="Inter"/>
                          <a:sym typeface="Arial"/>
                        </a:rPr>
                        <a:t>thay</a:t>
                      </a:r>
                      <a:r>
                        <a:rPr lang="en-US" sz="950" b="0" i="0" u="none" strike="noStrike" cap="none" spc="0" dirty="0">
                          <a:solidFill>
                            <a:srgbClr val="475569"/>
                          </a:solidFill>
                          <a:latin typeface="Inter"/>
                          <a:ea typeface="Inter"/>
                          <a:sym typeface="Arial"/>
                        </a:rPr>
                        <a:t> </a:t>
                      </a:r>
                      <a:r>
                        <a:rPr lang="en-US" sz="950" b="0" i="0" u="none" strike="noStrike" cap="none" spc="0" dirty="0" err="1">
                          <a:solidFill>
                            <a:srgbClr val="475569"/>
                          </a:solidFill>
                          <a:latin typeface="Inter"/>
                          <a:ea typeface="Inter"/>
                          <a:sym typeface="Arial"/>
                        </a:rPr>
                        <a:t>đổi</a:t>
                      </a:r>
                      <a:r>
                        <a:rPr lang="en-US" sz="950" b="0" i="0" u="none" strike="noStrike" cap="none" spc="0" dirty="0">
                          <a:solidFill>
                            <a:srgbClr val="475569"/>
                          </a:solidFill>
                          <a:latin typeface="Inter"/>
                          <a:ea typeface="Inter"/>
                          <a:sym typeface="Arial"/>
                        </a:rPr>
                        <a:t> </a:t>
                      </a:r>
                      <a:r>
                        <a:rPr lang="en-US" sz="950" b="0" i="0" u="none" strike="noStrike" cap="none" spc="0" dirty="0" err="1">
                          <a:solidFill>
                            <a:srgbClr val="475569"/>
                          </a:solidFill>
                          <a:latin typeface="Inter"/>
                          <a:ea typeface="Inter"/>
                          <a:sym typeface="Arial"/>
                        </a:rPr>
                        <a:t>thế</a:t>
                      </a:r>
                      <a:r>
                        <a:rPr lang="en-US" sz="950" b="0" i="0" u="none" strike="noStrike" cap="none" spc="0" dirty="0">
                          <a:solidFill>
                            <a:srgbClr val="475569"/>
                          </a:solidFill>
                          <a:latin typeface="Inter"/>
                          <a:ea typeface="Inter"/>
                          <a:sym typeface="Arial"/>
                        </a:rPr>
                        <a:t> </a:t>
                      </a:r>
                      <a:r>
                        <a:rPr lang="en-US" sz="950" b="0" i="0" u="none" strike="noStrike" cap="none" spc="0" dirty="0" err="1">
                          <a:solidFill>
                            <a:srgbClr val="475569"/>
                          </a:solidFill>
                          <a:latin typeface="Inter"/>
                          <a:ea typeface="Inter"/>
                          <a:sym typeface="Arial"/>
                        </a:rPr>
                        <a:t>nào</a:t>
                      </a:r>
                      <a:r>
                        <a:rPr lang="en-US" sz="950" b="0" i="0" u="none" strike="noStrike" cap="none" spc="0" dirty="0">
                          <a:solidFill>
                            <a:srgbClr val="475569"/>
                          </a:solidFill>
                          <a:latin typeface="Inter"/>
                          <a:ea typeface="Inter"/>
                          <a:sym typeface="Arial"/>
                        </a:rPr>
                        <a:t> </a:t>
                      </a:r>
                      <a:r>
                        <a:rPr lang="en-US" sz="950" b="0" i="0" u="none" strike="noStrike" cap="none" spc="0" dirty="0" err="1">
                          <a:solidFill>
                            <a:srgbClr val="475569"/>
                          </a:solidFill>
                          <a:latin typeface="Inter"/>
                          <a:ea typeface="Inter"/>
                          <a:sym typeface="Arial"/>
                        </a:rPr>
                        <a:t>theo</a:t>
                      </a:r>
                      <a:r>
                        <a:rPr lang="en-US" sz="950" b="0" i="0" u="none" strike="noStrike" cap="none" spc="0" dirty="0">
                          <a:solidFill>
                            <a:srgbClr val="475569"/>
                          </a:solidFill>
                          <a:latin typeface="Inter"/>
                          <a:ea typeface="Inter"/>
                          <a:sym typeface="Arial"/>
                        </a:rPr>
                        <a:t> </a:t>
                      </a:r>
                      <a:r>
                        <a:rPr lang="en-US" sz="950" b="0" i="0" u="none" strike="noStrike" cap="none" spc="0" dirty="0" err="1">
                          <a:solidFill>
                            <a:srgbClr val="475569"/>
                          </a:solidFill>
                          <a:latin typeface="Inter"/>
                          <a:ea typeface="Inter"/>
                          <a:sym typeface="Arial"/>
                        </a:rPr>
                        <a:t>mùa</a:t>
                      </a:r>
                      <a:r>
                        <a:rPr lang="en-US" sz="950" b="0" i="0" u="none" strike="noStrike" cap="none" spc="0" dirty="0">
                          <a:solidFill>
                            <a:srgbClr val="475569"/>
                          </a:solidFill>
                          <a:latin typeface="Inter"/>
                          <a:ea typeface="Inter"/>
                          <a:sym typeface="Arial"/>
                        </a:rPr>
                        <a:t> </a:t>
                      </a:r>
                      <a:r>
                        <a:rPr lang="en-US" sz="950" b="0" i="0" u="none" strike="noStrike" cap="none" spc="0" dirty="0" err="1">
                          <a:solidFill>
                            <a:srgbClr val="475569"/>
                          </a:solidFill>
                          <a:latin typeface="Inter"/>
                          <a:ea typeface="Inter"/>
                          <a:sym typeface="Arial"/>
                        </a:rPr>
                        <a:t>vụ</a:t>
                      </a:r>
                      <a:r>
                        <a:rPr lang="en-US" sz="950" b="0" i="0" u="none" strike="noStrike" cap="none" spc="0" dirty="0">
                          <a:solidFill>
                            <a:srgbClr val="475569"/>
                          </a:solidFill>
                          <a:latin typeface="Inter"/>
                          <a:ea typeface="Inter"/>
                          <a:sym typeface="Arial"/>
                        </a:rPr>
                        <a:t>?</a:t>
                      </a:r>
                      <a:endParaRPr sz="950" b="0" i="0" u="none" strike="noStrike" cap="none" spc="0" dirty="0">
                        <a:solidFill>
                          <a:srgbClr val="475569"/>
                        </a:solidFill>
                        <a:latin typeface="Inter"/>
                        <a:ea typeface="Inter"/>
                        <a:sym typeface="Arial"/>
                      </a:endParaRPr>
                    </a:p>
                  </a:txBody>
                  <a:tcPr marL="73150" marR="73150" marT="18300" marB="18300" anchor="ctr">
                    <a:solidFill>
                      <a:srgbClr val="FFFFFF"/>
                    </a:solidFill>
                  </a:tcPr>
                </a:tc>
                <a:extLst>
                  <a:ext uri="{0D108BD9-81ED-4DB2-BD59-A6C34878D82A}">
                    <a16:rowId xmlns:a16="http://schemas.microsoft.com/office/drawing/2014/main" val="10001"/>
                  </a:ext>
                </a:extLst>
              </a:tr>
              <a:tr h="530350">
                <a:tc>
                  <a:txBody>
                    <a:bodyPr/>
                    <a:lstStyle/>
                    <a:p>
                      <a:pPr marL="0" marR="0" lvl="0" indent="0" algn="l" rtl="0">
                        <a:lnSpc>
                          <a:spcPct val="100000"/>
                        </a:lnSpc>
                        <a:spcBef>
                          <a:spcPts val="0"/>
                        </a:spcBef>
                        <a:spcAft>
                          <a:spcPts val="0"/>
                        </a:spcAft>
                        <a:buNone/>
                      </a:pPr>
                      <a:r>
                        <a:rPr lang="en" sz="950" u="none" strike="noStrike" cap="none">
                          <a:solidFill>
                            <a:srgbClr val="475569"/>
                          </a:solidFill>
                          <a:latin typeface="Inter"/>
                          <a:ea typeface="Inter"/>
                          <a:cs typeface="Inter"/>
                          <a:sym typeface="Inter"/>
                        </a:rPr>
                        <a:t>2</a:t>
                      </a:r>
                      <a:endParaRPr/>
                    </a:p>
                  </a:txBody>
                  <a:tcPr marL="73150" marR="73150" marT="18300" marB="18300" anchor="ctr">
                    <a:solidFill>
                      <a:srgbClr val="F8FAFC"/>
                    </a:solidFill>
                  </a:tcPr>
                </a:tc>
                <a:tc>
                  <a:txBody>
                    <a:bodyPr/>
                    <a:lstStyle/>
                    <a:p>
                      <a:pPr marL="0" marR="0" lvl="0" indent="0" algn="l" rtl="0">
                        <a:lnSpc>
                          <a:spcPct val="100000"/>
                        </a:lnSpc>
                        <a:spcBef>
                          <a:spcPts val="0"/>
                        </a:spcBef>
                        <a:spcAft>
                          <a:spcPts val="0"/>
                        </a:spcAft>
                        <a:buNone/>
                      </a:pPr>
                      <a:r>
                        <a:rPr lang="en" sz="950" u="none" strike="noStrike" cap="none" dirty="0">
                          <a:solidFill>
                            <a:srgbClr val="475569"/>
                          </a:solidFill>
                          <a:latin typeface="Inter"/>
                          <a:ea typeface="Inter"/>
                          <a:cs typeface="Inter"/>
                          <a:sym typeface="Inter"/>
                        </a:rPr>
                        <a:t>Chi phí phát sinh ngoài dự kiến (ngoài bảo hành) chiếm khoảng bao nhiêu % tổng chi phí booking?</a:t>
                      </a:r>
                      <a:endParaRPr dirty="0"/>
                    </a:p>
                  </a:txBody>
                  <a:tcPr marL="73150" marR="73150" marT="18300" marB="18300" anchor="ctr">
                    <a:solidFill>
                      <a:srgbClr val="F8FAFC"/>
                    </a:solidFill>
                  </a:tcPr>
                </a:tc>
                <a:extLst>
                  <a:ext uri="{0D108BD9-81ED-4DB2-BD59-A6C34878D82A}">
                    <a16:rowId xmlns:a16="http://schemas.microsoft.com/office/drawing/2014/main" val="10002"/>
                  </a:ext>
                </a:extLst>
              </a:tr>
              <a:tr h="530350">
                <a:tc>
                  <a:txBody>
                    <a:bodyPr/>
                    <a:lstStyle/>
                    <a:p>
                      <a:pPr marL="0" marR="0" lvl="0" indent="0" algn="l" rtl="0">
                        <a:lnSpc>
                          <a:spcPct val="100000"/>
                        </a:lnSpc>
                        <a:spcBef>
                          <a:spcPts val="0"/>
                        </a:spcBef>
                        <a:spcAft>
                          <a:spcPts val="0"/>
                        </a:spcAft>
                        <a:buNone/>
                      </a:pPr>
                      <a:r>
                        <a:rPr lang="en" sz="950" u="none" strike="noStrike" cap="none">
                          <a:solidFill>
                            <a:srgbClr val="475569"/>
                          </a:solidFill>
                          <a:latin typeface="Inter"/>
                          <a:ea typeface="Inter"/>
                          <a:cs typeface="Inter"/>
                          <a:sym typeface="Inter"/>
                        </a:rPr>
                        <a:t>3</a:t>
                      </a:r>
                      <a:endParaRPr/>
                    </a:p>
                  </a:txBody>
                  <a:tcPr marL="73150" marR="73150" marT="18300" marB="18300" anchor="ctr">
                    <a:solidFill>
                      <a:srgbClr val="FFFFFF"/>
                    </a:solidFill>
                  </a:tcPr>
                </a:tc>
                <a:tc>
                  <a:txBody>
                    <a:bodyPr/>
                    <a:lstStyle/>
                    <a:p>
                      <a:pPr marL="0" marR="0" lvl="0" indent="0" algn="l" rtl="0">
                        <a:lnSpc>
                          <a:spcPct val="100000"/>
                        </a:lnSpc>
                        <a:spcBef>
                          <a:spcPts val="0"/>
                        </a:spcBef>
                        <a:spcAft>
                          <a:spcPts val="0"/>
                        </a:spcAft>
                        <a:buNone/>
                      </a:pPr>
                      <a:r>
                        <a:rPr lang="en" sz="950" u="none" strike="noStrike" cap="none" dirty="0">
                          <a:solidFill>
                            <a:srgbClr val="475569"/>
                          </a:solidFill>
                          <a:latin typeface="Inter"/>
                          <a:ea typeface="Inter"/>
                          <a:cs typeface="Inter"/>
                          <a:sym typeface="Inter"/>
                        </a:rPr>
                        <a:t>Thời gian trung bình xử lý một yêu cầu qua Chat support là bao lâu?</a:t>
                      </a:r>
                      <a:endParaRPr dirty="0"/>
                    </a:p>
                  </a:txBody>
                  <a:tcPr marL="73150" marR="73150" marT="18300" marB="18300" anchor="ctr">
                    <a:solidFill>
                      <a:srgbClr val="FFFFFF"/>
                    </a:solidFill>
                  </a:tcPr>
                </a:tc>
                <a:extLst>
                  <a:ext uri="{0D108BD9-81ED-4DB2-BD59-A6C34878D82A}">
                    <a16:rowId xmlns:a16="http://schemas.microsoft.com/office/drawing/2014/main" val="10003"/>
                  </a:ext>
                </a:extLst>
              </a:tr>
              <a:tr h="530350">
                <a:tc>
                  <a:txBody>
                    <a:bodyPr/>
                    <a:lstStyle/>
                    <a:p>
                      <a:pPr marL="0" marR="0" lvl="0" indent="0" algn="l" rtl="0">
                        <a:lnSpc>
                          <a:spcPct val="100000"/>
                        </a:lnSpc>
                        <a:spcBef>
                          <a:spcPts val="0"/>
                        </a:spcBef>
                        <a:spcAft>
                          <a:spcPts val="0"/>
                        </a:spcAft>
                        <a:buNone/>
                      </a:pPr>
                      <a:r>
                        <a:rPr lang="en" sz="950" u="none" strike="noStrike" cap="none">
                          <a:solidFill>
                            <a:srgbClr val="475569"/>
                          </a:solidFill>
                          <a:latin typeface="Inter"/>
                          <a:ea typeface="Inter"/>
                          <a:cs typeface="Inter"/>
                          <a:sym typeface="Inter"/>
                        </a:rPr>
                        <a:t>4</a:t>
                      </a:r>
                      <a:endParaRPr/>
                    </a:p>
                  </a:txBody>
                  <a:tcPr marL="73150" marR="73150" marT="18300" marB="18300" anchor="ctr">
                    <a:solidFill>
                      <a:srgbClr val="F8FAFC"/>
                    </a:solidFill>
                  </a:tcPr>
                </a:tc>
                <a:tc>
                  <a:txBody>
                    <a:bodyPr/>
                    <a:lstStyle/>
                    <a:p>
                      <a:pPr marL="0" marR="0" lvl="0" indent="0" algn="l" rtl="0">
                        <a:lnSpc>
                          <a:spcPct val="100000"/>
                        </a:lnSpc>
                        <a:spcBef>
                          <a:spcPts val="0"/>
                        </a:spcBef>
                        <a:spcAft>
                          <a:spcPts val="0"/>
                        </a:spcAft>
                        <a:buNone/>
                      </a:pPr>
                      <a:r>
                        <a:rPr lang="en" sz="950" u="none" strike="noStrike" cap="none" dirty="0">
                          <a:solidFill>
                            <a:srgbClr val="475569"/>
                          </a:solidFill>
                          <a:latin typeface="Inter"/>
                          <a:ea typeface="Inter"/>
                          <a:cs typeface="Inter"/>
                          <a:sym typeface="Inter"/>
                        </a:rPr>
                        <a:t>Tỷ lệ linh kiện bị báo lỗi</a:t>
                      </a:r>
                      <a:r>
                        <a:rPr lang="vi-VN" sz="950" u="none" strike="noStrike" cap="none" dirty="0">
                          <a:solidFill>
                            <a:srgbClr val="475569"/>
                          </a:solidFill>
                          <a:latin typeface="Inter"/>
                          <a:ea typeface="Inter"/>
                          <a:cs typeface="Inter"/>
                          <a:sym typeface="Inter"/>
                        </a:rPr>
                        <a:t> hoặc thất lạc</a:t>
                      </a:r>
                      <a:r>
                        <a:rPr lang="en" sz="950" u="none" strike="noStrike" cap="none" dirty="0">
                          <a:solidFill>
                            <a:srgbClr val="475569"/>
                          </a:solidFill>
                          <a:latin typeface="Inter"/>
                          <a:ea typeface="Inter"/>
                          <a:cs typeface="Inter"/>
                          <a:sym typeface="Inter"/>
                        </a:rPr>
                        <a:t> trong quá trình đối soát kho – KTV </a:t>
                      </a:r>
                      <a:r>
                        <a:rPr lang="vi-VN" sz="950" u="none" strike="noStrike" cap="none" dirty="0">
                          <a:solidFill>
                            <a:srgbClr val="475569"/>
                          </a:solidFill>
                          <a:latin typeface="Inter"/>
                          <a:ea typeface="Inter"/>
                          <a:cs typeface="Inter"/>
                          <a:sym typeface="Inter"/>
                        </a:rPr>
                        <a:t>mỗi</a:t>
                      </a:r>
                      <a:r>
                        <a:rPr lang="en" sz="950" u="none" strike="noStrike" cap="none" dirty="0">
                          <a:solidFill>
                            <a:srgbClr val="475569"/>
                          </a:solidFill>
                          <a:latin typeface="Inter"/>
                          <a:ea typeface="Inter"/>
                          <a:cs typeface="Inter"/>
                          <a:sym typeface="Inter"/>
                        </a:rPr>
                        <a:t> tháng khoảng bao nhiêu?</a:t>
                      </a:r>
                      <a:endParaRPr dirty="0"/>
                    </a:p>
                  </a:txBody>
                  <a:tcPr marL="73150" marR="73150" marT="18300" marB="18300" anchor="ctr">
                    <a:solidFill>
                      <a:srgbClr val="F8FAFC"/>
                    </a:solidFill>
                  </a:tcPr>
                </a:tc>
                <a:extLst>
                  <a:ext uri="{0D108BD9-81ED-4DB2-BD59-A6C34878D82A}">
                    <a16:rowId xmlns:a16="http://schemas.microsoft.com/office/drawing/2014/main" val="10004"/>
                  </a:ext>
                </a:extLst>
              </a:tr>
              <a:tr h="530350">
                <a:tc>
                  <a:txBody>
                    <a:bodyPr/>
                    <a:lstStyle/>
                    <a:p>
                      <a:pPr marL="0" marR="0" lvl="0" indent="0" algn="l" rtl="0">
                        <a:lnSpc>
                          <a:spcPct val="100000"/>
                        </a:lnSpc>
                        <a:spcBef>
                          <a:spcPts val="0"/>
                        </a:spcBef>
                        <a:spcAft>
                          <a:spcPts val="0"/>
                        </a:spcAft>
                        <a:buNone/>
                      </a:pPr>
                      <a:r>
                        <a:rPr lang="en" sz="950" u="none" strike="noStrike" cap="none">
                          <a:solidFill>
                            <a:srgbClr val="475569"/>
                          </a:solidFill>
                          <a:latin typeface="Inter"/>
                          <a:ea typeface="Inter"/>
                          <a:cs typeface="Inter"/>
                          <a:sym typeface="Inter"/>
                        </a:rPr>
                        <a:t>5</a:t>
                      </a:r>
                      <a:endParaRPr/>
                    </a:p>
                  </a:txBody>
                  <a:tcPr marL="73150" marR="73150" marT="18300" marB="18300" anchor="ctr">
                    <a:solidFill>
                      <a:srgbClr val="FFFFFF"/>
                    </a:solidFill>
                  </a:tcPr>
                </a:tc>
                <a:tc>
                  <a:txBody>
                    <a:bodyPr/>
                    <a:lstStyle/>
                    <a:p>
                      <a:pPr marL="0" marR="0" lvl="0" indent="0" algn="l" rtl="0">
                        <a:lnSpc>
                          <a:spcPct val="100000"/>
                        </a:lnSpc>
                        <a:spcBef>
                          <a:spcPts val="0"/>
                        </a:spcBef>
                        <a:spcAft>
                          <a:spcPts val="0"/>
                        </a:spcAft>
                        <a:buNone/>
                      </a:pPr>
                      <a:r>
                        <a:rPr lang="en-US" sz="950" b="0" i="0" u="none" strike="noStrike" cap="none" spc="0" dirty="0" err="1">
                          <a:solidFill>
                            <a:srgbClr val="475569"/>
                          </a:solidFill>
                          <a:latin typeface="Inter"/>
                          <a:ea typeface="Inter"/>
                          <a:sym typeface="Arial"/>
                        </a:rPr>
                        <a:t>Khoảng</a:t>
                      </a:r>
                      <a:r>
                        <a:rPr lang="en-US" sz="950" b="0" i="0" u="none" strike="noStrike" cap="none" spc="0" dirty="0">
                          <a:solidFill>
                            <a:srgbClr val="475569"/>
                          </a:solidFill>
                          <a:latin typeface="Inter"/>
                          <a:ea typeface="Inter"/>
                          <a:sym typeface="Arial"/>
                        </a:rPr>
                        <a:t> bao </a:t>
                      </a:r>
                      <a:r>
                        <a:rPr lang="en-US" sz="950" b="0" i="0" u="none" strike="noStrike" cap="none" spc="0" dirty="0" err="1">
                          <a:solidFill>
                            <a:srgbClr val="475569"/>
                          </a:solidFill>
                          <a:latin typeface="Inter"/>
                          <a:ea typeface="Inter"/>
                          <a:sym typeface="Arial"/>
                        </a:rPr>
                        <a:t>nhiêu</a:t>
                      </a:r>
                      <a:r>
                        <a:rPr lang="en-US" sz="950" b="0" i="0" u="none" strike="noStrike" cap="none" spc="0" dirty="0">
                          <a:solidFill>
                            <a:srgbClr val="475569"/>
                          </a:solidFill>
                          <a:latin typeface="Inter"/>
                          <a:ea typeface="Inter"/>
                          <a:sym typeface="Arial"/>
                        </a:rPr>
                        <a:t> % </a:t>
                      </a:r>
                      <a:r>
                        <a:rPr lang="en-US" sz="950" b="0" i="0" u="none" strike="noStrike" cap="none" spc="0" dirty="0" err="1">
                          <a:solidFill>
                            <a:srgbClr val="475569"/>
                          </a:solidFill>
                          <a:latin typeface="Inter"/>
                          <a:ea typeface="Inter"/>
                          <a:sym typeface="Arial"/>
                        </a:rPr>
                        <a:t>khiếu</a:t>
                      </a:r>
                      <a:r>
                        <a:rPr lang="en-US" sz="950" b="0" i="0" u="none" strike="noStrike" cap="none" spc="0" dirty="0">
                          <a:solidFill>
                            <a:srgbClr val="475569"/>
                          </a:solidFill>
                          <a:latin typeface="Inter"/>
                          <a:ea typeface="Inter"/>
                          <a:sym typeface="Arial"/>
                        </a:rPr>
                        <a:t> </a:t>
                      </a:r>
                      <a:r>
                        <a:rPr lang="en-US" sz="950" b="0" i="0" u="none" strike="noStrike" cap="none" spc="0" dirty="0" err="1">
                          <a:solidFill>
                            <a:srgbClr val="475569"/>
                          </a:solidFill>
                          <a:latin typeface="Inter"/>
                          <a:ea typeface="Inter"/>
                          <a:sym typeface="Arial"/>
                        </a:rPr>
                        <a:t>nại</a:t>
                      </a:r>
                      <a:r>
                        <a:rPr lang="en-US" sz="950" b="0" i="0" u="none" strike="noStrike" cap="none" spc="0" dirty="0">
                          <a:solidFill>
                            <a:srgbClr val="475569"/>
                          </a:solidFill>
                          <a:latin typeface="Inter"/>
                          <a:ea typeface="Inter"/>
                          <a:sym typeface="Arial"/>
                        </a:rPr>
                        <a:t> </a:t>
                      </a:r>
                      <a:r>
                        <a:rPr lang="en-US" sz="950" b="0" i="0" u="none" strike="noStrike" cap="none" spc="0" dirty="0" err="1">
                          <a:solidFill>
                            <a:srgbClr val="475569"/>
                          </a:solidFill>
                          <a:latin typeface="Inter"/>
                          <a:ea typeface="Inter"/>
                          <a:sym typeface="Arial"/>
                        </a:rPr>
                        <a:t>của</a:t>
                      </a:r>
                      <a:r>
                        <a:rPr lang="en-US" sz="950" b="0" i="0" u="none" strike="noStrike" cap="none" spc="0" dirty="0">
                          <a:solidFill>
                            <a:srgbClr val="475569"/>
                          </a:solidFill>
                          <a:latin typeface="Inter"/>
                          <a:ea typeface="Inter"/>
                          <a:sym typeface="Arial"/>
                        </a:rPr>
                        <a:t> </a:t>
                      </a:r>
                      <a:r>
                        <a:rPr lang="en-US" sz="950" b="0" i="0" u="none" strike="noStrike" cap="none" spc="0" dirty="0" err="1">
                          <a:solidFill>
                            <a:srgbClr val="475569"/>
                          </a:solidFill>
                          <a:latin typeface="Inter"/>
                          <a:ea typeface="Inter"/>
                          <a:sym typeface="Arial"/>
                        </a:rPr>
                        <a:t>khách</a:t>
                      </a:r>
                      <a:r>
                        <a:rPr lang="en-US" sz="950" b="0" i="0" u="none" strike="noStrike" cap="none" spc="0" dirty="0">
                          <a:solidFill>
                            <a:srgbClr val="475569"/>
                          </a:solidFill>
                          <a:latin typeface="Inter"/>
                          <a:ea typeface="Inter"/>
                          <a:sym typeface="Arial"/>
                        </a:rPr>
                        <a:t> </a:t>
                      </a:r>
                      <a:r>
                        <a:rPr lang="en-US" sz="950" b="0" i="0" u="none" strike="noStrike" cap="none" spc="0" dirty="0" err="1">
                          <a:solidFill>
                            <a:srgbClr val="475569"/>
                          </a:solidFill>
                          <a:latin typeface="Inter"/>
                          <a:ea typeface="Inter"/>
                          <a:sym typeface="Arial"/>
                        </a:rPr>
                        <a:t>hàng</a:t>
                      </a:r>
                      <a:r>
                        <a:rPr lang="en-US" sz="950" b="0" i="0" u="none" strike="noStrike" cap="none" spc="0" dirty="0">
                          <a:solidFill>
                            <a:srgbClr val="475569"/>
                          </a:solidFill>
                          <a:latin typeface="Inter"/>
                          <a:ea typeface="Inter"/>
                          <a:sym typeface="Arial"/>
                        </a:rPr>
                        <a:t> </a:t>
                      </a:r>
                      <a:r>
                        <a:rPr lang="en-US" sz="950" b="0" i="0" u="none" strike="noStrike" cap="none" spc="0" dirty="0" err="1">
                          <a:solidFill>
                            <a:srgbClr val="475569"/>
                          </a:solidFill>
                          <a:latin typeface="Inter"/>
                          <a:ea typeface="Inter"/>
                          <a:sym typeface="Arial"/>
                        </a:rPr>
                        <a:t>liên</a:t>
                      </a:r>
                      <a:r>
                        <a:rPr lang="en-US" sz="950" b="0" i="0" u="none" strike="noStrike" cap="none" spc="0" dirty="0">
                          <a:solidFill>
                            <a:srgbClr val="475569"/>
                          </a:solidFill>
                          <a:latin typeface="Inter"/>
                          <a:ea typeface="Inter"/>
                          <a:sym typeface="Arial"/>
                        </a:rPr>
                        <a:t> </a:t>
                      </a:r>
                      <a:r>
                        <a:rPr lang="en-US" sz="950" b="0" i="0" u="none" strike="noStrike" cap="none" spc="0" dirty="0" err="1">
                          <a:solidFill>
                            <a:srgbClr val="475569"/>
                          </a:solidFill>
                          <a:latin typeface="Inter"/>
                          <a:ea typeface="Inter"/>
                          <a:sym typeface="Arial"/>
                        </a:rPr>
                        <a:t>quan</a:t>
                      </a:r>
                      <a:r>
                        <a:rPr lang="en-US" sz="950" b="0" i="0" u="none" strike="noStrike" cap="none" spc="0" dirty="0">
                          <a:solidFill>
                            <a:srgbClr val="475569"/>
                          </a:solidFill>
                          <a:latin typeface="Inter"/>
                          <a:ea typeface="Inter"/>
                          <a:sym typeface="Arial"/>
                        </a:rPr>
                        <a:t> </a:t>
                      </a:r>
                      <a:r>
                        <a:rPr lang="en-US" sz="950" b="0" i="0" u="none" strike="noStrike" cap="none" spc="0" dirty="0" err="1">
                          <a:solidFill>
                            <a:srgbClr val="475569"/>
                          </a:solidFill>
                          <a:latin typeface="Inter"/>
                          <a:ea typeface="Inter"/>
                          <a:sym typeface="Arial"/>
                        </a:rPr>
                        <a:t>trực</a:t>
                      </a:r>
                      <a:r>
                        <a:rPr lang="en-US" sz="950" b="0" i="0" u="none" strike="noStrike" cap="none" spc="0" dirty="0">
                          <a:solidFill>
                            <a:srgbClr val="475569"/>
                          </a:solidFill>
                          <a:latin typeface="Inter"/>
                          <a:ea typeface="Inter"/>
                          <a:sym typeface="Arial"/>
                        </a:rPr>
                        <a:t> </a:t>
                      </a:r>
                      <a:r>
                        <a:rPr lang="en-US" sz="950" b="0" i="0" u="none" strike="noStrike" cap="none" spc="0" dirty="0" err="1">
                          <a:solidFill>
                            <a:srgbClr val="475569"/>
                          </a:solidFill>
                          <a:latin typeface="Inter"/>
                          <a:ea typeface="Inter"/>
                          <a:sym typeface="Arial"/>
                        </a:rPr>
                        <a:t>tiếp</a:t>
                      </a:r>
                      <a:r>
                        <a:rPr lang="en-US" sz="950" b="0" i="0" u="none" strike="noStrike" cap="none" spc="0" dirty="0">
                          <a:solidFill>
                            <a:srgbClr val="475569"/>
                          </a:solidFill>
                          <a:latin typeface="Inter"/>
                          <a:ea typeface="Inter"/>
                          <a:sym typeface="Arial"/>
                        </a:rPr>
                        <a:t> </a:t>
                      </a:r>
                      <a:r>
                        <a:rPr lang="en-US" sz="950" b="0" i="0" u="none" strike="noStrike" cap="none" spc="0" dirty="0" err="1">
                          <a:solidFill>
                            <a:srgbClr val="475569"/>
                          </a:solidFill>
                          <a:latin typeface="Inter"/>
                          <a:ea typeface="Inter"/>
                          <a:sym typeface="Arial"/>
                        </a:rPr>
                        <a:t>đến</a:t>
                      </a:r>
                      <a:r>
                        <a:rPr lang="en-US" sz="950" b="0" i="0" u="none" strike="noStrike" cap="none" spc="0" dirty="0">
                          <a:solidFill>
                            <a:srgbClr val="475569"/>
                          </a:solidFill>
                          <a:latin typeface="Inter"/>
                          <a:ea typeface="Inter"/>
                          <a:sym typeface="Arial"/>
                        </a:rPr>
                        <a:t> chi </a:t>
                      </a:r>
                      <a:r>
                        <a:rPr lang="en-US" sz="950" b="0" i="0" u="none" strike="noStrike" cap="none" spc="0" dirty="0" err="1">
                          <a:solidFill>
                            <a:srgbClr val="475569"/>
                          </a:solidFill>
                          <a:latin typeface="Inter"/>
                          <a:ea typeface="Inter"/>
                          <a:sym typeface="Arial"/>
                        </a:rPr>
                        <a:t>phí</a:t>
                      </a:r>
                      <a:r>
                        <a:rPr lang="en-US" sz="950" b="0" i="0" u="none" strike="noStrike" cap="none" spc="0" dirty="0">
                          <a:solidFill>
                            <a:srgbClr val="475569"/>
                          </a:solidFill>
                          <a:latin typeface="Inter"/>
                          <a:ea typeface="Inter"/>
                          <a:sym typeface="Arial"/>
                        </a:rPr>
                        <a:t> </a:t>
                      </a:r>
                      <a:r>
                        <a:rPr lang="en-US" sz="950" b="0" i="0" u="none" strike="noStrike" cap="none" spc="0" dirty="0" err="1">
                          <a:solidFill>
                            <a:srgbClr val="475569"/>
                          </a:solidFill>
                          <a:latin typeface="Inter"/>
                          <a:ea typeface="Inter"/>
                          <a:sym typeface="Arial"/>
                        </a:rPr>
                        <a:t>sửa</a:t>
                      </a:r>
                      <a:r>
                        <a:rPr lang="en-US" sz="950" b="0" i="0" u="none" strike="noStrike" cap="none" spc="0" dirty="0">
                          <a:solidFill>
                            <a:srgbClr val="475569"/>
                          </a:solidFill>
                          <a:latin typeface="Inter"/>
                          <a:ea typeface="Inter"/>
                          <a:sym typeface="Arial"/>
                        </a:rPr>
                        <a:t> </a:t>
                      </a:r>
                      <a:r>
                        <a:rPr lang="en-US" sz="950" b="0" i="0" u="none" strike="noStrike" cap="none" spc="0" dirty="0" err="1">
                          <a:solidFill>
                            <a:srgbClr val="475569"/>
                          </a:solidFill>
                          <a:latin typeface="Inter"/>
                          <a:ea typeface="Inter"/>
                          <a:sym typeface="Arial"/>
                        </a:rPr>
                        <a:t>chữa</a:t>
                      </a:r>
                      <a:r>
                        <a:rPr lang="en-US" sz="950" b="0" i="0" u="none" strike="noStrike" cap="none" spc="0" dirty="0">
                          <a:solidFill>
                            <a:srgbClr val="475569"/>
                          </a:solidFill>
                          <a:latin typeface="Inter"/>
                          <a:ea typeface="Inter"/>
                          <a:sym typeface="Arial"/>
                        </a:rPr>
                        <a:t>?</a:t>
                      </a:r>
                      <a:endParaRPr sz="950" b="0" i="0" u="none" strike="noStrike" cap="none" spc="0" dirty="0">
                        <a:solidFill>
                          <a:srgbClr val="475569"/>
                        </a:solidFill>
                        <a:latin typeface="Inter"/>
                        <a:ea typeface="Inter"/>
                        <a:sym typeface="Arial"/>
                      </a:endParaRPr>
                    </a:p>
                  </a:txBody>
                  <a:tcPr marL="73150" marR="73150" marT="18300" marB="18300" anchor="ctr">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682"/>
        <p:cNvGrpSpPr/>
        <p:nvPr/>
      </p:nvGrpSpPr>
      <p:grpSpPr>
        <a:xfrm>
          <a:off x="0" y="0"/>
          <a:ext cx="0" cy="0"/>
          <a:chOff x="0" y="0"/>
          <a:chExt cx="0" cy="0"/>
        </a:xfrm>
      </p:grpSpPr>
      <p:sp>
        <p:nvSpPr>
          <p:cNvPr id="683" name="Google Shape;683;p36"/>
          <p:cNvSpPr/>
          <p:nvPr/>
        </p:nvSpPr>
        <p:spPr>
          <a:xfrm>
            <a:off x="-101425" y="-72425"/>
            <a:ext cx="9144000" cy="5143500"/>
          </a:xfrm>
          <a:prstGeom prst="rect">
            <a:avLst/>
          </a:pr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684" name="Google Shape;684;p36"/>
          <p:cNvGrpSpPr/>
          <p:nvPr/>
        </p:nvGrpSpPr>
        <p:grpSpPr>
          <a:xfrm>
            <a:off x="8458200" y="381000"/>
            <a:ext cx="304800" cy="304800"/>
            <a:chOff x="0" y="0"/>
            <a:chExt cx="304800" cy="304800"/>
          </a:xfrm>
        </p:grpSpPr>
        <p:sp>
          <p:nvSpPr>
            <p:cNvPr id="685" name="Google Shape;685;p36"/>
            <p:cNvSpPr/>
            <p:nvPr/>
          </p:nvSpPr>
          <p:spPr>
            <a:xfrm>
              <a:off x="0" y="0"/>
              <a:ext cx="304800" cy="304800"/>
            </a:xfrm>
            <a:prstGeom prst="roundRect">
              <a:avLst>
                <a:gd name="adj" fmla="val 125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86" name="Google Shape;686;p36"/>
            <p:cNvSpPr/>
            <p:nvPr/>
          </p:nvSpPr>
          <p:spPr>
            <a:xfrm>
              <a:off x="95250" y="95250"/>
              <a:ext cx="114300" cy="114300"/>
            </a:xfrm>
            <a:custGeom>
              <a:avLst/>
              <a:gdLst/>
              <a:ahLst/>
              <a:cxnLst/>
              <a:rect l="l" t="t" r="r" b="b"/>
              <a:pathLst>
                <a:path w="120000" h="120000" extrusionOk="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87" name="Google Shape;687;p36"/>
            <p:cNvSpPr/>
            <p:nvPr/>
          </p:nvSpPr>
          <p:spPr>
            <a:xfrm>
              <a:off x="123825" y="123825"/>
              <a:ext cx="57300" cy="57300"/>
            </a:xfrm>
            <a:prstGeom prst="ellipse">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cxnSp>
        <p:nvCxnSpPr>
          <p:cNvPr id="688" name="Google Shape;688;p36"/>
          <p:cNvCxnSpPr/>
          <p:nvPr/>
        </p:nvCxnSpPr>
        <p:spPr>
          <a:xfrm>
            <a:off x="381000" y="1143000"/>
            <a:ext cx="8382000" cy="0"/>
          </a:xfrm>
          <a:prstGeom prst="straightConnector1">
            <a:avLst/>
          </a:prstGeom>
          <a:solidFill>
            <a:srgbClr val="FFFFFF"/>
          </a:solidFill>
          <a:ln w="14300" cap="flat" cmpd="sng">
            <a:solidFill>
              <a:srgbClr val="E2E8F0"/>
            </a:solidFill>
            <a:prstDash val="solid"/>
            <a:round/>
            <a:headEnd type="none" w="sm" len="sm"/>
            <a:tailEnd type="none" w="sm" len="sm"/>
          </a:ln>
        </p:spPr>
      </p:cxnSp>
      <p:sp>
        <p:nvSpPr>
          <p:cNvPr id="689" name="Google Shape;689;p36"/>
          <p:cNvSpPr txBox="1"/>
          <p:nvPr/>
        </p:nvSpPr>
        <p:spPr>
          <a:xfrm>
            <a:off x="381000" y="333375"/>
            <a:ext cx="7620000" cy="762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 sz="2000" b="0" i="0" u="none" strike="noStrike" cap="none">
                <a:solidFill>
                  <a:srgbClr val="0F172A"/>
                </a:solidFill>
                <a:latin typeface="Inter ExtraBold"/>
                <a:ea typeface="Inter ExtraBold"/>
                <a:cs typeface="Inter ExtraBold"/>
                <a:sym typeface="Inter ExtraBold"/>
              </a:rPr>
              <a:t>Phân tích chuyên sâu 2 Quy trình Cốt lõi</a:t>
            </a:r>
            <a:endParaRPr sz="2000" b="0" i="0" u="none" strike="noStrike" cap="none">
              <a:solidFill>
                <a:srgbClr val="0F172A"/>
              </a:solidFill>
              <a:latin typeface="Inter ExtraBold"/>
              <a:ea typeface="Inter ExtraBold"/>
              <a:cs typeface="Inter ExtraBold"/>
              <a:sym typeface="Inter ExtraBold"/>
            </a:endParaRPr>
          </a:p>
          <a:p>
            <a:pPr marL="0" marR="0" lvl="0" indent="0" algn="l" rtl="0">
              <a:lnSpc>
                <a:spcPct val="100000"/>
              </a:lnSpc>
              <a:spcBef>
                <a:spcPts val="375"/>
              </a:spcBef>
              <a:spcAft>
                <a:spcPts val="0"/>
              </a:spcAft>
              <a:buClr>
                <a:srgbClr val="000000"/>
              </a:buClr>
              <a:buSzPts val="1100"/>
              <a:buFont typeface="Arial"/>
              <a:buNone/>
            </a:pPr>
            <a:r>
              <a:rPr lang="en" sz="1100" b="0" i="0" u="none" strike="noStrike" cap="none">
                <a:solidFill>
                  <a:srgbClr val="007B7C"/>
                </a:solidFill>
                <a:latin typeface="Inter SemiBold"/>
                <a:ea typeface="Inter SemiBold"/>
                <a:cs typeface="Inter SemiBold"/>
                <a:sym typeface="Inter SemiBold"/>
              </a:rPr>
              <a:t>Lựa chọn 2 quy trình ảnh hưởng lớn nhất đến trải nghiệm khách hàng và chi phí vận hành</a:t>
            </a:r>
            <a:endParaRPr sz="1100" b="0" i="0" u="none" strike="noStrike" cap="none">
              <a:solidFill>
                <a:srgbClr val="007B7C"/>
              </a:solidFill>
              <a:latin typeface="Inter SemiBold"/>
              <a:ea typeface="Inter SemiBold"/>
              <a:cs typeface="Inter SemiBold"/>
              <a:sym typeface="Inter SemiBold"/>
            </a:endParaRPr>
          </a:p>
        </p:txBody>
      </p:sp>
      <p:sp>
        <p:nvSpPr>
          <p:cNvPr id="690" name="Google Shape;690;p36"/>
          <p:cNvSpPr/>
          <p:nvPr/>
        </p:nvSpPr>
        <p:spPr>
          <a:xfrm>
            <a:off x="384048" y="1335024"/>
            <a:ext cx="4050791" cy="1371600"/>
          </a:xfrm>
          <a:prstGeom prst="rect">
            <a:avLst/>
          </a:prstGeom>
          <a:solidFill>
            <a:srgbClr val="FFFFFF"/>
          </a:solidFill>
          <a:ln w="12700"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691" name="Google Shape;691;p36"/>
          <p:cNvSpPr/>
          <p:nvPr/>
        </p:nvSpPr>
        <p:spPr>
          <a:xfrm>
            <a:off x="384048" y="1335024"/>
            <a:ext cx="4050791" cy="54864"/>
          </a:xfrm>
          <a:prstGeom prst="rect">
            <a:avLst/>
          </a:prstGeom>
          <a:solidFill>
            <a:srgbClr val="007B7C"/>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692" name="Google Shape;692;p36"/>
          <p:cNvSpPr txBox="1"/>
          <p:nvPr/>
        </p:nvSpPr>
        <p:spPr>
          <a:xfrm>
            <a:off x="585216" y="1499616"/>
            <a:ext cx="3685031" cy="109728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 sz="1300" b="1" i="0" u="none" strike="noStrike" cap="none">
                <a:solidFill>
                  <a:srgbClr val="007B7C"/>
                </a:solidFill>
                <a:latin typeface="Inter ExtraBold"/>
                <a:ea typeface="Inter ExtraBold"/>
                <a:cs typeface="Inter ExtraBold"/>
                <a:sym typeface="Inter ExtraBold"/>
              </a:rPr>
              <a:t>C02  </a:t>
            </a:r>
            <a:r>
              <a:rPr lang="en" sz="1300" b="1" i="0" u="none" strike="noStrike" cap="none">
                <a:solidFill>
                  <a:srgbClr val="0F172A"/>
                </a:solidFill>
                <a:latin typeface="Inter ExtraBold"/>
                <a:ea typeface="Inter ExtraBold"/>
                <a:cs typeface="Inter ExtraBold"/>
                <a:sym typeface="Inter ExtraBold"/>
              </a:rPr>
              <a:t>CS assign KTV cho booking</a:t>
            </a:r>
            <a:endParaRPr/>
          </a:p>
          <a:p>
            <a:pPr marL="0" marR="0" lvl="0" indent="0" algn="l" rtl="0">
              <a:lnSpc>
                <a:spcPct val="115000"/>
              </a:lnSpc>
              <a:spcBef>
                <a:spcPts val="800"/>
              </a:spcBef>
              <a:spcAft>
                <a:spcPts val="0"/>
              </a:spcAft>
              <a:buNone/>
            </a:pPr>
            <a:r>
              <a:rPr lang="en" sz="950" b="0" i="0" u="none" strike="noStrike" cap="none">
                <a:solidFill>
                  <a:srgbClr val="475569"/>
                </a:solidFill>
                <a:latin typeface="Inter"/>
                <a:ea typeface="Inter"/>
                <a:cs typeface="Inter"/>
                <a:sym typeface="Inter"/>
              </a:rPr>
              <a:t>Điều phối &amp; giao việc — quyết định tốc độ phục vụ khách hàng ngay từ đầu quy trình.</a:t>
            </a:r>
            <a:endParaRPr/>
          </a:p>
        </p:txBody>
      </p:sp>
      <p:sp>
        <p:nvSpPr>
          <p:cNvPr id="693" name="Google Shape;693;p36"/>
          <p:cNvSpPr/>
          <p:nvPr/>
        </p:nvSpPr>
        <p:spPr>
          <a:xfrm>
            <a:off x="4709159" y="1335024"/>
            <a:ext cx="4050791" cy="1371600"/>
          </a:xfrm>
          <a:prstGeom prst="rect">
            <a:avLst/>
          </a:prstGeom>
          <a:solidFill>
            <a:srgbClr val="FFFFFF"/>
          </a:solidFill>
          <a:ln w="12700"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694" name="Google Shape;694;p36"/>
          <p:cNvSpPr/>
          <p:nvPr/>
        </p:nvSpPr>
        <p:spPr>
          <a:xfrm>
            <a:off x="4709159" y="1335024"/>
            <a:ext cx="4050791" cy="54864"/>
          </a:xfrm>
          <a:prstGeom prst="rect">
            <a:avLst/>
          </a:prstGeom>
          <a:solidFill>
            <a:srgbClr val="0284C7"/>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695" name="Google Shape;695;p36"/>
          <p:cNvSpPr txBox="1"/>
          <p:nvPr/>
        </p:nvSpPr>
        <p:spPr>
          <a:xfrm>
            <a:off x="4910327" y="1499616"/>
            <a:ext cx="3685031" cy="109728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 sz="1300" b="1" i="0" u="none" strike="noStrike" cap="none">
                <a:solidFill>
                  <a:srgbClr val="0284C7"/>
                </a:solidFill>
                <a:latin typeface="Inter ExtraBold"/>
                <a:ea typeface="Inter ExtraBold"/>
                <a:cs typeface="Inter ExtraBold"/>
                <a:sym typeface="Inter ExtraBold"/>
              </a:rPr>
              <a:t>C03  </a:t>
            </a:r>
            <a:r>
              <a:rPr lang="en" sz="1300" b="1" i="0" u="none" strike="noStrike" cap="none">
                <a:solidFill>
                  <a:srgbClr val="0F172A"/>
                </a:solidFill>
                <a:latin typeface="Inter ExtraBold"/>
                <a:ea typeface="Inter ExtraBold"/>
                <a:cs typeface="Inter ExtraBold"/>
                <a:sym typeface="Inter ExtraBold"/>
              </a:rPr>
              <a:t>KTV nhận và xử lý booking</a:t>
            </a:r>
            <a:endParaRPr/>
          </a:p>
          <a:p>
            <a:pPr marL="0" marR="0" lvl="0" indent="0" algn="l" rtl="0">
              <a:lnSpc>
                <a:spcPct val="115000"/>
              </a:lnSpc>
              <a:spcBef>
                <a:spcPts val="800"/>
              </a:spcBef>
              <a:spcAft>
                <a:spcPts val="0"/>
              </a:spcAft>
              <a:buNone/>
            </a:pPr>
            <a:r>
              <a:rPr lang="en" sz="950" b="0" i="0" u="none" strike="noStrike" cap="none">
                <a:solidFill>
                  <a:srgbClr val="475569"/>
                </a:solidFill>
                <a:latin typeface="Inter"/>
                <a:ea typeface="Inter"/>
                <a:cs typeface="Inter"/>
                <a:sym typeface="Inter"/>
              </a:rPr>
              <a:t>Thực hiện kỹ thuật tại hiện trường — nơi phát sinh phần lớn chi phí và rủi ro chậm trễ.</a:t>
            </a:r>
            <a:endParaRPr/>
          </a:p>
        </p:txBody>
      </p:sp>
      <p:sp>
        <p:nvSpPr>
          <p:cNvPr id="696" name="Google Shape;696;p36"/>
          <p:cNvSpPr txBox="1"/>
          <p:nvPr/>
        </p:nvSpPr>
        <p:spPr>
          <a:xfrm>
            <a:off x="384048" y="3026664"/>
            <a:ext cx="8375904" cy="164592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 sz="1050" b="1" i="0" u="none" strike="noStrike" cap="none">
                <a:solidFill>
                  <a:srgbClr val="007B7C"/>
                </a:solidFill>
                <a:latin typeface="Inter"/>
                <a:ea typeface="Inter"/>
                <a:cs typeface="Inter"/>
                <a:sym typeface="Inter"/>
              </a:rPr>
              <a:t>•  </a:t>
            </a:r>
            <a:r>
              <a:rPr lang="en" sz="1050" b="0" i="0" u="none" strike="noStrike" cap="none">
                <a:solidFill>
                  <a:srgbClr val="475569"/>
                </a:solidFill>
                <a:latin typeface="Inter"/>
                <a:ea typeface="Inter"/>
                <a:cs typeface="Inter"/>
                <a:sym typeface="Inter"/>
              </a:rPr>
              <a:t>Phân tích định tính: giá trị gia tăng (VA/NVA/VBA) và lãng phí (Move / Hold / Overdo).</a:t>
            </a:r>
            <a:endParaRPr/>
          </a:p>
          <a:p>
            <a:pPr marL="0" marR="0" lvl="0" indent="0" algn="l" rtl="0">
              <a:lnSpc>
                <a:spcPct val="100000"/>
              </a:lnSpc>
              <a:spcBef>
                <a:spcPts val="400"/>
              </a:spcBef>
              <a:spcAft>
                <a:spcPts val="0"/>
              </a:spcAft>
              <a:buNone/>
            </a:pPr>
            <a:r>
              <a:rPr lang="en" sz="1050" b="1" i="0" u="none" strike="noStrike" cap="none">
                <a:solidFill>
                  <a:srgbClr val="007B7C"/>
                </a:solidFill>
                <a:latin typeface="Inter"/>
                <a:ea typeface="Inter"/>
                <a:cs typeface="Inter"/>
                <a:sym typeface="Inter"/>
              </a:rPr>
              <a:t>•  </a:t>
            </a:r>
            <a:r>
              <a:rPr lang="en" sz="1050" b="0" i="0" u="none" strike="noStrike" cap="none">
                <a:solidFill>
                  <a:srgbClr val="475569"/>
                </a:solidFill>
                <a:latin typeface="Inter"/>
                <a:ea typeface="Inter"/>
                <a:cs typeface="Inter"/>
                <a:sym typeface="Inter"/>
              </a:rPr>
              <a:t>Phân tích định lượng: thời gian xử lý, chỉ số chất lượng dịch vụ và chi phí trung bình một booking.</a:t>
            </a:r>
            <a:endParaRPr/>
          </a:p>
        </p:txBody>
      </p:sp>
      <p:sp>
        <p:nvSpPr>
          <p:cNvPr id="697" name="Google Shape;697;p36"/>
          <p:cNvSpPr/>
          <p:nvPr/>
        </p:nvSpPr>
        <p:spPr>
          <a:xfrm>
            <a:off x="384048" y="3849624"/>
            <a:ext cx="8375904" cy="502920"/>
          </a:xfrm>
          <a:prstGeom prst="rect">
            <a:avLst/>
          </a:prstGeom>
          <a:solidFill>
            <a:srgbClr val="F0F9FF"/>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698" name="Google Shape;698;p36"/>
          <p:cNvSpPr txBox="1"/>
          <p:nvPr/>
        </p:nvSpPr>
        <p:spPr>
          <a:xfrm>
            <a:off x="548640" y="3941063"/>
            <a:ext cx="8046720" cy="32004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 sz="900" b="1" i="0" u="none" strike="noStrike" cap="none">
                <a:solidFill>
                  <a:srgbClr val="0284C7"/>
                </a:solidFill>
                <a:latin typeface="Inter SemiBold"/>
                <a:ea typeface="Inter SemiBold"/>
                <a:cs typeface="Inter SemiBold"/>
                <a:sym typeface="Inter SemiBold"/>
              </a:rPr>
              <a:t>Lưu ý:  </a:t>
            </a:r>
            <a:r>
              <a:rPr lang="en" sz="900" b="0" i="0" u="none" strike="noStrike" cap="none">
                <a:solidFill>
                  <a:srgbClr val="0284C7"/>
                </a:solidFill>
                <a:latin typeface="Inter"/>
                <a:ea typeface="Inter"/>
                <a:cs typeface="Inter"/>
                <a:sym typeface="Inter"/>
              </a:rPr>
              <a:t>Số liệu định lượng trong chương này là ước tính minh họa dựa trên phỏng vấn và quan sát của nhóm.</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702"/>
        <p:cNvGrpSpPr/>
        <p:nvPr/>
      </p:nvGrpSpPr>
      <p:grpSpPr>
        <a:xfrm>
          <a:off x="0" y="0"/>
          <a:ext cx="0" cy="0"/>
          <a:chOff x="0" y="0"/>
          <a:chExt cx="0" cy="0"/>
        </a:xfrm>
      </p:grpSpPr>
      <p:sp>
        <p:nvSpPr>
          <p:cNvPr id="703" name="Google Shape;703;p37"/>
          <p:cNvSpPr/>
          <p:nvPr/>
        </p:nvSpPr>
        <p:spPr>
          <a:xfrm>
            <a:off x="-101425" y="-72425"/>
            <a:ext cx="9144000" cy="5143500"/>
          </a:xfrm>
          <a:prstGeom prst="rect">
            <a:avLst/>
          </a:pr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704" name="Google Shape;704;p37"/>
          <p:cNvGrpSpPr/>
          <p:nvPr/>
        </p:nvGrpSpPr>
        <p:grpSpPr>
          <a:xfrm>
            <a:off x="8458200" y="381000"/>
            <a:ext cx="304800" cy="304800"/>
            <a:chOff x="0" y="0"/>
            <a:chExt cx="304800" cy="304800"/>
          </a:xfrm>
        </p:grpSpPr>
        <p:sp>
          <p:nvSpPr>
            <p:cNvPr id="705" name="Google Shape;705;p37"/>
            <p:cNvSpPr/>
            <p:nvPr/>
          </p:nvSpPr>
          <p:spPr>
            <a:xfrm>
              <a:off x="0" y="0"/>
              <a:ext cx="304800" cy="304800"/>
            </a:xfrm>
            <a:prstGeom prst="roundRect">
              <a:avLst>
                <a:gd name="adj" fmla="val 125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06" name="Google Shape;706;p37"/>
            <p:cNvSpPr/>
            <p:nvPr/>
          </p:nvSpPr>
          <p:spPr>
            <a:xfrm>
              <a:off x="95250" y="95250"/>
              <a:ext cx="114300" cy="114300"/>
            </a:xfrm>
            <a:custGeom>
              <a:avLst/>
              <a:gdLst/>
              <a:ahLst/>
              <a:cxnLst/>
              <a:rect l="l" t="t" r="r" b="b"/>
              <a:pathLst>
                <a:path w="120000" h="120000" extrusionOk="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07" name="Google Shape;707;p37"/>
            <p:cNvSpPr/>
            <p:nvPr/>
          </p:nvSpPr>
          <p:spPr>
            <a:xfrm>
              <a:off x="123825" y="123825"/>
              <a:ext cx="57300" cy="57300"/>
            </a:xfrm>
            <a:prstGeom prst="ellipse">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cxnSp>
        <p:nvCxnSpPr>
          <p:cNvPr id="708" name="Google Shape;708;p37"/>
          <p:cNvCxnSpPr/>
          <p:nvPr/>
        </p:nvCxnSpPr>
        <p:spPr>
          <a:xfrm>
            <a:off x="381000" y="1143000"/>
            <a:ext cx="8382000" cy="0"/>
          </a:xfrm>
          <a:prstGeom prst="straightConnector1">
            <a:avLst/>
          </a:prstGeom>
          <a:solidFill>
            <a:srgbClr val="FFFFFF"/>
          </a:solidFill>
          <a:ln w="14300" cap="flat" cmpd="sng">
            <a:solidFill>
              <a:srgbClr val="E2E8F0"/>
            </a:solidFill>
            <a:prstDash val="solid"/>
            <a:round/>
            <a:headEnd type="none" w="sm" len="sm"/>
            <a:tailEnd type="none" w="sm" len="sm"/>
          </a:ln>
        </p:spPr>
      </p:cxnSp>
      <p:sp>
        <p:nvSpPr>
          <p:cNvPr id="709" name="Google Shape;709;p37"/>
          <p:cNvSpPr txBox="1"/>
          <p:nvPr/>
        </p:nvSpPr>
        <p:spPr>
          <a:xfrm>
            <a:off x="381000" y="333375"/>
            <a:ext cx="7620000" cy="762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 sz="2000" b="0" i="0" u="none" strike="noStrike" cap="none">
                <a:solidFill>
                  <a:srgbClr val="0F172A"/>
                </a:solidFill>
                <a:latin typeface="Inter ExtraBold"/>
                <a:ea typeface="Inter ExtraBold"/>
                <a:cs typeface="Inter ExtraBold"/>
                <a:sym typeface="Inter ExtraBold"/>
              </a:rPr>
              <a:t>Phân tích giá trị gia tăng — CS assign KTV cho booking</a:t>
            </a:r>
            <a:endParaRPr sz="2000" b="0" i="0" u="none" strike="noStrike" cap="none">
              <a:solidFill>
                <a:srgbClr val="0F172A"/>
              </a:solidFill>
              <a:latin typeface="Inter ExtraBold"/>
              <a:ea typeface="Inter ExtraBold"/>
              <a:cs typeface="Inter ExtraBold"/>
              <a:sym typeface="Inter ExtraBold"/>
            </a:endParaRPr>
          </a:p>
          <a:p>
            <a:pPr marL="0" marR="0" lvl="0" indent="0" algn="l" rtl="0">
              <a:lnSpc>
                <a:spcPct val="100000"/>
              </a:lnSpc>
              <a:spcBef>
                <a:spcPts val="375"/>
              </a:spcBef>
              <a:spcAft>
                <a:spcPts val="0"/>
              </a:spcAft>
              <a:buClr>
                <a:srgbClr val="000000"/>
              </a:buClr>
              <a:buSzPts val="1100"/>
              <a:buFont typeface="Arial"/>
              <a:buNone/>
            </a:pPr>
            <a:r>
              <a:rPr lang="en" sz="1100" b="0" i="0" u="none" strike="noStrike" cap="none">
                <a:solidFill>
                  <a:srgbClr val="007B7C"/>
                </a:solidFill>
                <a:latin typeface="Inter SemiBold"/>
                <a:ea typeface="Inter SemiBold"/>
                <a:cs typeface="Inter SemiBold"/>
                <a:sym typeface="Inter SemiBold"/>
              </a:rPr>
              <a:t>C02 — Value-Added Analysis (VA / VBA / NVA)</a:t>
            </a:r>
            <a:endParaRPr sz="1100" b="0" i="0" u="none" strike="noStrike" cap="none">
              <a:solidFill>
                <a:srgbClr val="007B7C"/>
              </a:solidFill>
              <a:latin typeface="Inter SemiBold"/>
              <a:ea typeface="Inter SemiBold"/>
              <a:cs typeface="Inter SemiBold"/>
              <a:sym typeface="Inter SemiBold"/>
            </a:endParaRPr>
          </a:p>
        </p:txBody>
      </p:sp>
      <p:graphicFrame>
        <p:nvGraphicFramePr>
          <p:cNvPr id="710" name="Google Shape;710;p37"/>
          <p:cNvGraphicFramePr/>
          <p:nvPr/>
        </p:nvGraphicFramePr>
        <p:xfrm>
          <a:off x="384048" y="1335024"/>
          <a:ext cx="8375900" cy="3438150"/>
        </p:xfrm>
        <a:graphic>
          <a:graphicData uri="http://schemas.openxmlformats.org/drawingml/2006/table">
            <a:tbl>
              <a:tblPr firstRow="1" bandRow="1">
                <a:noFill/>
                <a:tableStyleId>{C22CD621-9F64-4B2E-9631-1F7B959E530B}</a:tableStyleId>
              </a:tblPr>
              <a:tblGrid>
                <a:gridCol w="606150">
                  <a:extLst>
                    <a:ext uri="{9D8B030D-6E8A-4147-A177-3AD203B41FA5}">
                      <a16:colId xmlns:a16="http://schemas.microsoft.com/office/drawing/2014/main" val="20000"/>
                    </a:ext>
                  </a:extLst>
                </a:gridCol>
                <a:gridCol w="3967525">
                  <a:extLst>
                    <a:ext uri="{9D8B030D-6E8A-4147-A177-3AD203B41FA5}">
                      <a16:colId xmlns:a16="http://schemas.microsoft.com/office/drawing/2014/main" val="20001"/>
                    </a:ext>
                  </a:extLst>
                </a:gridCol>
                <a:gridCol w="2534825">
                  <a:extLst>
                    <a:ext uri="{9D8B030D-6E8A-4147-A177-3AD203B41FA5}">
                      <a16:colId xmlns:a16="http://schemas.microsoft.com/office/drawing/2014/main" val="20002"/>
                    </a:ext>
                  </a:extLst>
                </a:gridCol>
                <a:gridCol w="1267400">
                  <a:extLst>
                    <a:ext uri="{9D8B030D-6E8A-4147-A177-3AD203B41FA5}">
                      <a16:colId xmlns:a16="http://schemas.microsoft.com/office/drawing/2014/main" val="20003"/>
                    </a:ext>
                  </a:extLst>
                </a:gridCol>
              </a:tblGrid>
              <a:tr h="365750">
                <a:tc>
                  <a:txBody>
                    <a:bodyPr/>
                    <a:lstStyle/>
                    <a:p>
                      <a:pPr marL="0" marR="0" lvl="0" indent="0" algn="ctr" rtl="0">
                        <a:lnSpc>
                          <a:spcPct val="100000"/>
                        </a:lnSpc>
                        <a:spcBef>
                          <a:spcPts val="0"/>
                        </a:spcBef>
                        <a:spcAft>
                          <a:spcPts val="0"/>
                        </a:spcAft>
                        <a:buNone/>
                      </a:pPr>
                      <a:r>
                        <a:rPr lang="en" sz="1000" b="1" u="none" strike="noStrike" cap="none">
                          <a:solidFill>
                            <a:srgbClr val="FFFFFF"/>
                          </a:solidFill>
                          <a:latin typeface="Inter SemiBold"/>
                          <a:ea typeface="Inter SemiBold"/>
                          <a:cs typeface="Inter SemiBold"/>
                          <a:sym typeface="Inter SemiBold"/>
                        </a:rPr>
                        <a:t>STT</a:t>
                      </a:r>
                      <a:endParaRPr/>
                    </a:p>
                  </a:txBody>
                  <a:tcPr marL="54875" marR="54875" marT="9150" marB="9150" anchor="ctr">
                    <a:solidFill>
                      <a:srgbClr val="007B7C"/>
                    </a:solidFill>
                  </a:tcPr>
                </a:tc>
                <a:tc>
                  <a:txBody>
                    <a:bodyPr/>
                    <a:lstStyle/>
                    <a:p>
                      <a:pPr marL="0" marR="0" lvl="0" indent="0" algn="l" rtl="0">
                        <a:lnSpc>
                          <a:spcPct val="100000"/>
                        </a:lnSpc>
                        <a:spcBef>
                          <a:spcPts val="0"/>
                        </a:spcBef>
                        <a:spcAft>
                          <a:spcPts val="0"/>
                        </a:spcAft>
                        <a:buNone/>
                      </a:pPr>
                      <a:r>
                        <a:rPr lang="en" sz="1000" b="1" u="none" strike="noStrike" cap="none">
                          <a:solidFill>
                            <a:srgbClr val="FFFFFF"/>
                          </a:solidFill>
                          <a:latin typeface="Inter SemiBold"/>
                          <a:ea typeface="Inter SemiBold"/>
                          <a:cs typeface="Inter SemiBold"/>
                          <a:sym typeface="Inter SemiBold"/>
                        </a:rPr>
                        <a:t>Hoạt động</a:t>
                      </a:r>
                      <a:endParaRPr/>
                    </a:p>
                  </a:txBody>
                  <a:tcPr marL="54875" marR="54875" marT="9150" marB="9150" anchor="ctr">
                    <a:solidFill>
                      <a:srgbClr val="007B7C"/>
                    </a:solidFill>
                  </a:tcPr>
                </a:tc>
                <a:tc>
                  <a:txBody>
                    <a:bodyPr/>
                    <a:lstStyle/>
                    <a:p>
                      <a:pPr marL="0" marR="0" lvl="0" indent="0" algn="l" rtl="0">
                        <a:lnSpc>
                          <a:spcPct val="100000"/>
                        </a:lnSpc>
                        <a:spcBef>
                          <a:spcPts val="0"/>
                        </a:spcBef>
                        <a:spcAft>
                          <a:spcPts val="0"/>
                        </a:spcAft>
                        <a:buNone/>
                      </a:pPr>
                      <a:r>
                        <a:rPr lang="en" sz="1000" b="1" u="none" strike="noStrike" cap="none">
                          <a:solidFill>
                            <a:srgbClr val="FFFFFF"/>
                          </a:solidFill>
                          <a:latin typeface="Inter SemiBold"/>
                          <a:ea typeface="Inter SemiBold"/>
                          <a:cs typeface="Inter SemiBold"/>
                          <a:sym typeface="Inter SemiBold"/>
                        </a:rPr>
                        <a:t>Đối tượng</a:t>
                      </a:r>
                      <a:endParaRPr/>
                    </a:p>
                  </a:txBody>
                  <a:tcPr marL="54875" marR="54875" marT="9150" marB="9150" anchor="ctr">
                    <a:solidFill>
                      <a:srgbClr val="007B7C"/>
                    </a:solidFill>
                  </a:tcPr>
                </a:tc>
                <a:tc>
                  <a:txBody>
                    <a:bodyPr/>
                    <a:lstStyle/>
                    <a:p>
                      <a:pPr marL="0" marR="0" lvl="0" indent="0" algn="ctr" rtl="0">
                        <a:lnSpc>
                          <a:spcPct val="100000"/>
                        </a:lnSpc>
                        <a:spcBef>
                          <a:spcPts val="0"/>
                        </a:spcBef>
                        <a:spcAft>
                          <a:spcPts val="0"/>
                        </a:spcAft>
                        <a:buNone/>
                      </a:pPr>
                      <a:r>
                        <a:rPr lang="en" sz="1000" b="1" u="none" strike="noStrike" cap="none">
                          <a:solidFill>
                            <a:srgbClr val="FFFFFF"/>
                          </a:solidFill>
                          <a:latin typeface="Inter SemiBold"/>
                          <a:ea typeface="Inter SemiBold"/>
                          <a:cs typeface="Inter SemiBold"/>
                          <a:sym typeface="Inter SemiBold"/>
                        </a:rPr>
                        <a:t>Phân loại</a:t>
                      </a:r>
                      <a:endParaRPr/>
                    </a:p>
                  </a:txBody>
                  <a:tcPr marL="54875" marR="54875" marT="9150" marB="9150" anchor="ctr">
                    <a:solidFill>
                      <a:srgbClr val="007B7C"/>
                    </a:solidFill>
                  </a:tcPr>
                </a:tc>
                <a:extLst>
                  <a:ext uri="{0D108BD9-81ED-4DB2-BD59-A6C34878D82A}">
                    <a16:rowId xmlns:a16="http://schemas.microsoft.com/office/drawing/2014/main" val="10000"/>
                  </a:ext>
                </a:extLst>
              </a:tr>
              <a:tr h="384050">
                <a:tc>
                  <a:txBody>
                    <a:bodyPr/>
                    <a:lstStyle/>
                    <a:p>
                      <a:pPr marL="0" marR="0" lvl="0" indent="0" algn="ctr" rtl="0">
                        <a:lnSpc>
                          <a:spcPct val="100000"/>
                        </a:lnSpc>
                        <a:spcBef>
                          <a:spcPts val="0"/>
                        </a:spcBef>
                        <a:spcAft>
                          <a:spcPts val="0"/>
                        </a:spcAft>
                        <a:buNone/>
                      </a:pPr>
                      <a:r>
                        <a:rPr lang="en" sz="969" u="none" strike="noStrike" cap="none">
                          <a:solidFill>
                            <a:srgbClr val="333333"/>
                          </a:solidFill>
                          <a:latin typeface="Inter"/>
                          <a:ea typeface="Inter"/>
                          <a:cs typeface="Inter"/>
                          <a:sym typeface="Inter"/>
                        </a:rPr>
                        <a:t>1</a:t>
                      </a:r>
                      <a:endParaRPr/>
                    </a:p>
                  </a:txBody>
                  <a:tcPr marL="54875" marR="54875" marT="9150" marB="9150" anchor="ctr">
                    <a:solidFill>
                      <a:srgbClr val="E0F2F1"/>
                    </a:solidFill>
                  </a:tcPr>
                </a:tc>
                <a:tc>
                  <a:txBody>
                    <a:bodyPr/>
                    <a:lstStyle/>
                    <a:p>
                      <a:pPr marL="0" marR="0" lvl="0" indent="0" algn="l" rtl="0">
                        <a:lnSpc>
                          <a:spcPct val="100000"/>
                        </a:lnSpc>
                        <a:spcBef>
                          <a:spcPts val="0"/>
                        </a:spcBef>
                        <a:spcAft>
                          <a:spcPts val="0"/>
                        </a:spcAft>
                        <a:buNone/>
                      </a:pPr>
                      <a:r>
                        <a:rPr lang="en" sz="969" strike="noStrike" cap="none">
                          <a:solidFill>
                            <a:srgbClr val="333333"/>
                          </a:solidFill>
                          <a:latin typeface="Inter"/>
                          <a:ea typeface="Inter"/>
                          <a:cs typeface="Inter"/>
                          <a:sym typeface="Inter"/>
                        </a:rPr>
                        <a:t>CS tiếp nhận yêu cầu mới (New)</a:t>
                      </a:r>
                      <a:endParaRPr/>
                    </a:p>
                  </a:txBody>
                  <a:tcPr marL="54875" marR="54875" marT="9150" marB="9150" anchor="ctr">
                    <a:solidFill>
                      <a:srgbClr val="E0F2F1"/>
                    </a:solidFill>
                  </a:tcPr>
                </a:tc>
                <a:tc>
                  <a:txBody>
                    <a:bodyPr/>
                    <a:lstStyle/>
                    <a:p>
                      <a:pPr marL="0" marR="0" lvl="0" indent="0" algn="l" rtl="0">
                        <a:lnSpc>
                          <a:spcPct val="100000"/>
                        </a:lnSpc>
                        <a:spcBef>
                          <a:spcPts val="0"/>
                        </a:spcBef>
                        <a:spcAft>
                          <a:spcPts val="0"/>
                        </a:spcAft>
                        <a:buNone/>
                      </a:pPr>
                      <a:r>
                        <a:rPr lang="en" sz="969" u="none" strike="noStrike" cap="none">
                          <a:solidFill>
                            <a:srgbClr val="333333"/>
                          </a:solidFill>
                          <a:latin typeface="Inter"/>
                          <a:ea typeface="Inter"/>
                          <a:cs typeface="Inter"/>
                          <a:sym typeface="Inter"/>
                        </a:rPr>
                        <a:t>Call Center/CS</a:t>
                      </a:r>
                      <a:endParaRPr/>
                    </a:p>
                  </a:txBody>
                  <a:tcPr marL="54875" marR="54875" marT="9150" marB="9150" anchor="ctr">
                    <a:solidFill>
                      <a:srgbClr val="E0F2F1"/>
                    </a:solidFill>
                  </a:tcPr>
                </a:tc>
                <a:tc>
                  <a:txBody>
                    <a:bodyPr/>
                    <a:lstStyle/>
                    <a:p>
                      <a:pPr marL="0" marR="0" lvl="0" indent="0" algn="ctr" rtl="0">
                        <a:lnSpc>
                          <a:spcPct val="100000"/>
                        </a:lnSpc>
                        <a:spcBef>
                          <a:spcPts val="0"/>
                        </a:spcBef>
                        <a:spcAft>
                          <a:spcPts val="0"/>
                        </a:spcAft>
                        <a:buNone/>
                      </a:pPr>
                      <a:r>
                        <a:rPr lang="en" sz="969" b="1" u="none" strike="noStrike" cap="none">
                          <a:solidFill>
                            <a:srgbClr val="333333"/>
                          </a:solidFill>
                          <a:latin typeface="Inter"/>
                          <a:ea typeface="Inter"/>
                          <a:cs typeface="Inter"/>
                          <a:sym typeface="Inter"/>
                        </a:rPr>
                        <a:t>VBA</a:t>
                      </a:r>
                      <a:endParaRPr/>
                    </a:p>
                  </a:txBody>
                  <a:tcPr marL="54875" marR="54875" marT="9150" marB="9150" anchor="ctr">
                    <a:solidFill>
                      <a:srgbClr val="E0F2F1"/>
                    </a:solidFill>
                  </a:tcPr>
                </a:tc>
                <a:extLst>
                  <a:ext uri="{0D108BD9-81ED-4DB2-BD59-A6C34878D82A}">
                    <a16:rowId xmlns:a16="http://schemas.microsoft.com/office/drawing/2014/main" val="10001"/>
                  </a:ext>
                </a:extLst>
              </a:tr>
              <a:tr h="384050">
                <a:tc>
                  <a:txBody>
                    <a:bodyPr/>
                    <a:lstStyle/>
                    <a:p>
                      <a:pPr marL="0" marR="0" lvl="0" indent="0" algn="ctr" rtl="0">
                        <a:lnSpc>
                          <a:spcPct val="100000"/>
                        </a:lnSpc>
                        <a:spcBef>
                          <a:spcPts val="0"/>
                        </a:spcBef>
                        <a:spcAft>
                          <a:spcPts val="0"/>
                        </a:spcAft>
                        <a:buNone/>
                      </a:pPr>
                      <a:r>
                        <a:rPr lang="en" sz="969" u="none" strike="noStrike" cap="none">
                          <a:solidFill>
                            <a:srgbClr val="333333"/>
                          </a:solidFill>
                          <a:latin typeface="Inter"/>
                          <a:ea typeface="Inter"/>
                          <a:cs typeface="Inter"/>
                          <a:sym typeface="Inter"/>
                        </a:rPr>
                        <a:t>2</a:t>
                      </a:r>
                      <a:endParaRPr/>
                    </a:p>
                  </a:txBody>
                  <a:tcPr marL="54875" marR="54875" marT="9150" marB="9150" anchor="ctr">
                    <a:solidFill>
                      <a:srgbClr val="FFFFFF"/>
                    </a:solidFill>
                  </a:tcPr>
                </a:tc>
                <a:tc>
                  <a:txBody>
                    <a:bodyPr/>
                    <a:lstStyle/>
                    <a:p>
                      <a:pPr marL="0" marR="0" lvl="0" indent="0" algn="l" rtl="0">
                        <a:lnSpc>
                          <a:spcPct val="100000"/>
                        </a:lnSpc>
                        <a:spcBef>
                          <a:spcPts val="0"/>
                        </a:spcBef>
                        <a:spcAft>
                          <a:spcPts val="0"/>
                        </a:spcAft>
                        <a:buNone/>
                      </a:pPr>
                      <a:r>
                        <a:rPr lang="en" sz="969" strike="noStrike" cap="none">
                          <a:solidFill>
                            <a:srgbClr val="333333"/>
                          </a:solidFill>
                          <a:latin typeface="Inter"/>
                          <a:ea typeface="Inter"/>
                          <a:cs typeface="Inter"/>
                          <a:sym typeface="Inter"/>
                        </a:rPr>
                        <a:t>Tìm KTV phù hợp theo khu vực &amp; lịch</a:t>
                      </a:r>
                      <a:endParaRPr/>
                    </a:p>
                  </a:txBody>
                  <a:tcPr marL="54875" marR="54875" marT="9150" marB="9150" anchor="ctr">
                    <a:solidFill>
                      <a:srgbClr val="FFFFFF"/>
                    </a:solidFill>
                  </a:tcPr>
                </a:tc>
                <a:tc>
                  <a:txBody>
                    <a:bodyPr/>
                    <a:lstStyle/>
                    <a:p>
                      <a:pPr marL="0" marR="0" lvl="0" indent="0" algn="l" rtl="0">
                        <a:lnSpc>
                          <a:spcPct val="100000"/>
                        </a:lnSpc>
                        <a:spcBef>
                          <a:spcPts val="0"/>
                        </a:spcBef>
                        <a:spcAft>
                          <a:spcPts val="0"/>
                        </a:spcAft>
                        <a:buNone/>
                      </a:pPr>
                      <a:r>
                        <a:rPr lang="en" sz="969" u="none" strike="noStrike" cap="none">
                          <a:solidFill>
                            <a:srgbClr val="333333"/>
                          </a:solidFill>
                          <a:latin typeface="Inter"/>
                          <a:ea typeface="Inter"/>
                          <a:cs typeface="Inter"/>
                          <a:sym typeface="Inter"/>
                        </a:rPr>
                        <a:t>Call Center/CS</a:t>
                      </a:r>
                      <a:endParaRPr/>
                    </a:p>
                  </a:txBody>
                  <a:tcPr marL="54875" marR="54875" marT="9150" marB="9150" anchor="ctr">
                    <a:solidFill>
                      <a:srgbClr val="FFFFFF"/>
                    </a:solidFill>
                  </a:tcPr>
                </a:tc>
                <a:tc>
                  <a:txBody>
                    <a:bodyPr/>
                    <a:lstStyle/>
                    <a:p>
                      <a:pPr marL="0" marR="0" lvl="0" indent="0" algn="ctr" rtl="0">
                        <a:lnSpc>
                          <a:spcPct val="100000"/>
                        </a:lnSpc>
                        <a:spcBef>
                          <a:spcPts val="0"/>
                        </a:spcBef>
                        <a:spcAft>
                          <a:spcPts val="0"/>
                        </a:spcAft>
                        <a:buNone/>
                      </a:pPr>
                      <a:r>
                        <a:rPr lang="en" sz="969" b="1" u="none" strike="noStrike" cap="none">
                          <a:solidFill>
                            <a:srgbClr val="333333"/>
                          </a:solidFill>
                          <a:latin typeface="Inter"/>
                          <a:ea typeface="Inter"/>
                          <a:cs typeface="Inter"/>
                          <a:sym typeface="Inter"/>
                        </a:rPr>
                        <a:t>VA</a:t>
                      </a:r>
                      <a:endParaRPr/>
                    </a:p>
                  </a:txBody>
                  <a:tcPr marL="54875" marR="54875" marT="9150" marB="9150" anchor="ctr">
                    <a:solidFill>
                      <a:srgbClr val="FFFFFF"/>
                    </a:solidFill>
                  </a:tcPr>
                </a:tc>
                <a:extLst>
                  <a:ext uri="{0D108BD9-81ED-4DB2-BD59-A6C34878D82A}">
                    <a16:rowId xmlns:a16="http://schemas.microsoft.com/office/drawing/2014/main" val="10002"/>
                  </a:ext>
                </a:extLst>
              </a:tr>
              <a:tr h="384050">
                <a:tc>
                  <a:txBody>
                    <a:bodyPr/>
                    <a:lstStyle/>
                    <a:p>
                      <a:pPr marL="0" marR="0" lvl="0" indent="0" algn="ctr" rtl="0">
                        <a:lnSpc>
                          <a:spcPct val="100000"/>
                        </a:lnSpc>
                        <a:spcBef>
                          <a:spcPts val="0"/>
                        </a:spcBef>
                        <a:spcAft>
                          <a:spcPts val="0"/>
                        </a:spcAft>
                        <a:buNone/>
                      </a:pPr>
                      <a:r>
                        <a:rPr lang="en" sz="969" u="none" strike="noStrike" cap="none">
                          <a:solidFill>
                            <a:srgbClr val="333333"/>
                          </a:solidFill>
                          <a:latin typeface="Inter"/>
                          <a:ea typeface="Inter"/>
                          <a:cs typeface="Inter"/>
                          <a:sym typeface="Inter"/>
                        </a:rPr>
                        <a:t>3</a:t>
                      </a:r>
                      <a:endParaRPr/>
                    </a:p>
                  </a:txBody>
                  <a:tcPr marL="54875" marR="54875" marT="9150" marB="9150" anchor="ctr">
                    <a:solidFill>
                      <a:srgbClr val="E0F2F1"/>
                    </a:solidFill>
                  </a:tcPr>
                </a:tc>
                <a:tc>
                  <a:txBody>
                    <a:bodyPr/>
                    <a:lstStyle/>
                    <a:p>
                      <a:pPr marL="0" marR="0" lvl="0" indent="0" algn="l" rtl="0">
                        <a:lnSpc>
                          <a:spcPct val="100000"/>
                        </a:lnSpc>
                        <a:spcBef>
                          <a:spcPts val="0"/>
                        </a:spcBef>
                        <a:spcAft>
                          <a:spcPts val="0"/>
                        </a:spcAft>
                        <a:buNone/>
                      </a:pPr>
                      <a:r>
                        <a:rPr lang="en" sz="969" strike="noStrike" cap="none">
                          <a:solidFill>
                            <a:srgbClr val="333333"/>
                          </a:solidFill>
                          <a:latin typeface="Inter"/>
                          <a:ea typeface="Inter"/>
                          <a:cs typeface="Inter"/>
                          <a:sym typeface="Inter"/>
                        </a:rPr>
                        <a:t>Điều phối, chọn KTV trên Portal</a:t>
                      </a:r>
                      <a:endParaRPr/>
                    </a:p>
                  </a:txBody>
                  <a:tcPr marL="54875" marR="54875" marT="9150" marB="9150" anchor="ctr">
                    <a:solidFill>
                      <a:srgbClr val="E0F2F1"/>
                    </a:solidFill>
                  </a:tcPr>
                </a:tc>
                <a:tc>
                  <a:txBody>
                    <a:bodyPr/>
                    <a:lstStyle/>
                    <a:p>
                      <a:pPr marL="0" marR="0" lvl="0" indent="0" algn="l" rtl="0">
                        <a:lnSpc>
                          <a:spcPct val="100000"/>
                        </a:lnSpc>
                        <a:spcBef>
                          <a:spcPts val="0"/>
                        </a:spcBef>
                        <a:spcAft>
                          <a:spcPts val="0"/>
                        </a:spcAft>
                        <a:buNone/>
                      </a:pPr>
                      <a:r>
                        <a:rPr lang="en" sz="969" u="none" strike="noStrike" cap="none">
                          <a:solidFill>
                            <a:srgbClr val="333333"/>
                          </a:solidFill>
                          <a:latin typeface="Inter"/>
                          <a:ea typeface="Inter"/>
                          <a:cs typeface="Inter"/>
                          <a:sym typeface="Inter"/>
                        </a:rPr>
                        <a:t>Call Center/CS</a:t>
                      </a:r>
                      <a:endParaRPr/>
                    </a:p>
                  </a:txBody>
                  <a:tcPr marL="54875" marR="54875" marT="9150" marB="9150" anchor="ctr">
                    <a:solidFill>
                      <a:srgbClr val="E0F2F1"/>
                    </a:solidFill>
                  </a:tcPr>
                </a:tc>
                <a:tc>
                  <a:txBody>
                    <a:bodyPr/>
                    <a:lstStyle/>
                    <a:p>
                      <a:pPr marL="0" marR="0" lvl="0" indent="0" algn="ctr" rtl="0">
                        <a:lnSpc>
                          <a:spcPct val="100000"/>
                        </a:lnSpc>
                        <a:spcBef>
                          <a:spcPts val="0"/>
                        </a:spcBef>
                        <a:spcAft>
                          <a:spcPts val="0"/>
                        </a:spcAft>
                        <a:buNone/>
                      </a:pPr>
                      <a:r>
                        <a:rPr lang="en" sz="969" b="1" u="none" strike="noStrike" cap="none">
                          <a:solidFill>
                            <a:srgbClr val="333333"/>
                          </a:solidFill>
                          <a:latin typeface="Inter"/>
                          <a:ea typeface="Inter"/>
                          <a:cs typeface="Inter"/>
                          <a:sym typeface="Inter"/>
                        </a:rPr>
                        <a:t>VA</a:t>
                      </a:r>
                      <a:endParaRPr/>
                    </a:p>
                  </a:txBody>
                  <a:tcPr marL="54875" marR="54875" marT="9150" marB="9150" anchor="ctr">
                    <a:solidFill>
                      <a:srgbClr val="E0F2F1"/>
                    </a:solidFill>
                  </a:tcPr>
                </a:tc>
                <a:extLst>
                  <a:ext uri="{0D108BD9-81ED-4DB2-BD59-A6C34878D82A}">
                    <a16:rowId xmlns:a16="http://schemas.microsoft.com/office/drawing/2014/main" val="10003"/>
                  </a:ext>
                </a:extLst>
              </a:tr>
              <a:tr h="384050">
                <a:tc>
                  <a:txBody>
                    <a:bodyPr/>
                    <a:lstStyle/>
                    <a:p>
                      <a:pPr marL="0" marR="0" lvl="0" indent="0" algn="ctr" rtl="0">
                        <a:lnSpc>
                          <a:spcPct val="100000"/>
                        </a:lnSpc>
                        <a:spcBef>
                          <a:spcPts val="0"/>
                        </a:spcBef>
                        <a:spcAft>
                          <a:spcPts val="0"/>
                        </a:spcAft>
                        <a:buNone/>
                      </a:pPr>
                      <a:r>
                        <a:rPr lang="en" sz="969" u="none" strike="noStrike" cap="none">
                          <a:solidFill>
                            <a:srgbClr val="333333"/>
                          </a:solidFill>
                          <a:latin typeface="Inter"/>
                          <a:ea typeface="Inter"/>
                          <a:cs typeface="Inter"/>
                          <a:sym typeface="Inter"/>
                        </a:rPr>
                        <a:t>4</a:t>
                      </a:r>
                      <a:endParaRPr/>
                    </a:p>
                  </a:txBody>
                  <a:tcPr marL="54875" marR="54875" marT="9150" marB="9150" anchor="ctr">
                    <a:solidFill>
                      <a:srgbClr val="FFFFFF"/>
                    </a:solidFill>
                  </a:tcPr>
                </a:tc>
                <a:tc>
                  <a:txBody>
                    <a:bodyPr/>
                    <a:lstStyle/>
                    <a:p>
                      <a:pPr marL="0" marR="0" lvl="0" indent="0" algn="l" rtl="0">
                        <a:lnSpc>
                          <a:spcPct val="100000"/>
                        </a:lnSpc>
                        <a:spcBef>
                          <a:spcPts val="0"/>
                        </a:spcBef>
                        <a:spcAft>
                          <a:spcPts val="0"/>
                        </a:spcAft>
                        <a:buNone/>
                      </a:pPr>
                      <a:r>
                        <a:rPr lang="en" sz="969" strike="noStrike" cap="none">
                          <a:solidFill>
                            <a:srgbClr val="333333"/>
                          </a:solidFill>
                          <a:latin typeface="Inter"/>
                          <a:ea typeface="Inter"/>
                          <a:cs typeface="Inter"/>
                          <a:sym typeface="Inter"/>
                        </a:rPr>
                        <a:t>Ghi nhận booking vào danh sách chờ</a:t>
                      </a:r>
                      <a:endParaRPr/>
                    </a:p>
                  </a:txBody>
                  <a:tcPr marL="54875" marR="54875" marT="9150" marB="9150" anchor="ctr">
                    <a:solidFill>
                      <a:srgbClr val="FFFFFF"/>
                    </a:solidFill>
                  </a:tcPr>
                </a:tc>
                <a:tc>
                  <a:txBody>
                    <a:bodyPr/>
                    <a:lstStyle/>
                    <a:p>
                      <a:pPr marL="0" marR="0" lvl="0" indent="0" algn="l" rtl="0">
                        <a:lnSpc>
                          <a:spcPct val="100000"/>
                        </a:lnSpc>
                        <a:spcBef>
                          <a:spcPts val="0"/>
                        </a:spcBef>
                        <a:spcAft>
                          <a:spcPts val="0"/>
                        </a:spcAft>
                        <a:buNone/>
                      </a:pPr>
                      <a:r>
                        <a:rPr lang="en" sz="969" u="none" strike="noStrike" cap="none">
                          <a:solidFill>
                            <a:srgbClr val="333333"/>
                          </a:solidFill>
                          <a:latin typeface="Inter"/>
                          <a:ea typeface="Inter"/>
                          <a:cs typeface="Inter"/>
                          <a:sym typeface="Inter"/>
                        </a:rPr>
                        <a:t>Call Center/CS</a:t>
                      </a:r>
                      <a:endParaRPr/>
                    </a:p>
                  </a:txBody>
                  <a:tcPr marL="54875" marR="54875" marT="9150" marB="9150" anchor="ctr">
                    <a:solidFill>
                      <a:srgbClr val="FFFFFF"/>
                    </a:solidFill>
                  </a:tcPr>
                </a:tc>
                <a:tc>
                  <a:txBody>
                    <a:bodyPr/>
                    <a:lstStyle/>
                    <a:p>
                      <a:pPr marL="0" marR="0" lvl="0" indent="0" algn="ctr" rtl="0">
                        <a:lnSpc>
                          <a:spcPct val="100000"/>
                        </a:lnSpc>
                        <a:spcBef>
                          <a:spcPts val="0"/>
                        </a:spcBef>
                        <a:spcAft>
                          <a:spcPts val="0"/>
                        </a:spcAft>
                        <a:buNone/>
                      </a:pPr>
                      <a:r>
                        <a:rPr lang="en" sz="969" b="1" u="none" strike="noStrike" cap="none">
                          <a:solidFill>
                            <a:srgbClr val="333333"/>
                          </a:solidFill>
                          <a:latin typeface="Inter"/>
                          <a:ea typeface="Inter"/>
                          <a:cs typeface="Inter"/>
                          <a:sym typeface="Inter"/>
                        </a:rPr>
                        <a:t>NVA</a:t>
                      </a:r>
                      <a:endParaRPr/>
                    </a:p>
                  </a:txBody>
                  <a:tcPr marL="54875" marR="54875" marT="9150" marB="9150" anchor="ctr">
                    <a:solidFill>
                      <a:srgbClr val="FFFFFF"/>
                    </a:solidFill>
                  </a:tcPr>
                </a:tc>
                <a:extLst>
                  <a:ext uri="{0D108BD9-81ED-4DB2-BD59-A6C34878D82A}">
                    <a16:rowId xmlns:a16="http://schemas.microsoft.com/office/drawing/2014/main" val="10004"/>
                  </a:ext>
                </a:extLst>
              </a:tr>
              <a:tr h="384050">
                <a:tc>
                  <a:txBody>
                    <a:bodyPr/>
                    <a:lstStyle/>
                    <a:p>
                      <a:pPr marL="0" marR="0" lvl="0" indent="0" algn="ctr" rtl="0">
                        <a:lnSpc>
                          <a:spcPct val="100000"/>
                        </a:lnSpc>
                        <a:spcBef>
                          <a:spcPts val="0"/>
                        </a:spcBef>
                        <a:spcAft>
                          <a:spcPts val="0"/>
                        </a:spcAft>
                        <a:buNone/>
                      </a:pPr>
                      <a:r>
                        <a:rPr lang="en" sz="969" u="none" strike="noStrike" cap="none">
                          <a:solidFill>
                            <a:srgbClr val="333333"/>
                          </a:solidFill>
                          <a:latin typeface="Inter"/>
                          <a:ea typeface="Inter"/>
                          <a:cs typeface="Inter"/>
                          <a:sym typeface="Inter"/>
                        </a:rPr>
                        <a:t>5</a:t>
                      </a:r>
                      <a:endParaRPr/>
                    </a:p>
                  </a:txBody>
                  <a:tcPr marL="54875" marR="54875" marT="9150" marB="9150" anchor="ctr">
                    <a:solidFill>
                      <a:srgbClr val="E0F2F1"/>
                    </a:solidFill>
                  </a:tcPr>
                </a:tc>
                <a:tc>
                  <a:txBody>
                    <a:bodyPr/>
                    <a:lstStyle/>
                    <a:p>
                      <a:pPr marL="0" marR="0" lvl="0" indent="0" algn="l" rtl="0">
                        <a:lnSpc>
                          <a:spcPct val="100000"/>
                        </a:lnSpc>
                        <a:spcBef>
                          <a:spcPts val="0"/>
                        </a:spcBef>
                        <a:spcAft>
                          <a:spcPts val="0"/>
                        </a:spcAft>
                        <a:buNone/>
                      </a:pPr>
                      <a:r>
                        <a:rPr lang="en" sz="969" strike="noStrike" cap="none">
                          <a:solidFill>
                            <a:srgbClr val="333333"/>
                          </a:solidFill>
                          <a:latin typeface="Inter"/>
                          <a:ea typeface="Inter"/>
                          <a:cs typeface="Inter"/>
                          <a:sym typeface="Inter"/>
                        </a:rPr>
                        <a:t>Khách hàng yêu cầu đổi lịch hẹn</a:t>
                      </a:r>
                      <a:endParaRPr/>
                    </a:p>
                  </a:txBody>
                  <a:tcPr marL="54875" marR="54875" marT="9150" marB="9150" anchor="ctr">
                    <a:solidFill>
                      <a:srgbClr val="E0F2F1"/>
                    </a:solidFill>
                  </a:tcPr>
                </a:tc>
                <a:tc>
                  <a:txBody>
                    <a:bodyPr/>
                    <a:lstStyle/>
                    <a:p>
                      <a:pPr marL="0" marR="0" lvl="0" indent="0" algn="l" rtl="0">
                        <a:lnSpc>
                          <a:spcPct val="100000"/>
                        </a:lnSpc>
                        <a:spcBef>
                          <a:spcPts val="0"/>
                        </a:spcBef>
                        <a:spcAft>
                          <a:spcPts val="0"/>
                        </a:spcAft>
                        <a:buNone/>
                      </a:pPr>
                      <a:r>
                        <a:rPr lang="en" sz="969" u="none" strike="noStrike" cap="none">
                          <a:solidFill>
                            <a:srgbClr val="333333"/>
                          </a:solidFill>
                          <a:latin typeface="Inter"/>
                          <a:ea typeface="Inter"/>
                          <a:cs typeface="Inter"/>
                          <a:sym typeface="Inter"/>
                        </a:rPr>
                        <a:t>Khách hàng</a:t>
                      </a:r>
                      <a:endParaRPr/>
                    </a:p>
                  </a:txBody>
                  <a:tcPr marL="54875" marR="54875" marT="9150" marB="9150" anchor="ctr">
                    <a:solidFill>
                      <a:srgbClr val="E0F2F1"/>
                    </a:solidFill>
                  </a:tcPr>
                </a:tc>
                <a:tc>
                  <a:txBody>
                    <a:bodyPr/>
                    <a:lstStyle/>
                    <a:p>
                      <a:pPr marL="0" marR="0" lvl="0" indent="0" algn="ctr" rtl="0">
                        <a:lnSpc>
                          <a:spcPct val="100000"/>
                        </a:lnSpc>
                        <a:spcBef>
                          <a:spcPts val="0"/>
                        </a:spcBef>
                        <a:spcAft>
                          <a:spcPts val="0"/>
                        </a:spcAft>
                        <a:buNone/>
                      </a:pPr>
                      <a:r>
                        <a:rPr lang="en" sz="969" b="1" u="none" strike="noStrike" cap="none">
                          <a:solidFill>
                            <a:srgbClr val="333333"/>
                          </a:solidFill>
                          <a:latin typeface="Inter"/>
                          <a:ea typeface="Inter"/>
                          <a:cs typeface="Inter"/>
                          <a:sym typeface="Inter"/>
                        </a:rPr>
                        <a:t>VA</a:t>
                      </a:r>
                      <a:endParaRPr/>
                    </a:p>
                  </a:txBody>
                  <a:tcPr marL="54875" marR="54875" marT="9150" marB="9150" anchor="ctr">
                    <a:solidFill>
                      <a:srgbClr val="E0F2F1"/>
                    </a:solidFill>
                  </a:tcPr>
                </a:tc>
                <a:extLst>
                  <a:ext uri="{0D108BD9-81ED-4DB2-BD59-A6C34878D82A}">
                    <a16:rowId xmlns:a16="http://schemas.microsoft.com/office/drawing/2014/main" val="10005"/>
                  </a:ext>
                </a:extLst>
              </a:tr>
              <a:tr h="384050">
                <a:tc>
                  <a:txBody>
                    <a:bodyPr/>
                    <a:lstStyle/>
                    <a:p>
                      <a:pPr marL="0" marR="0" lvl="0" indent="0" algn="ctr" rtl="0">
                        <a:lnSpc>
                          <a:spcPct val="100000"/>
                        </a:lnSpc>
                        <a:spcBef>
                          <a:spcPts val="0"/>
                        </a:spcBef>
                        <a:spcAft>
                          <a:spcPts val="0"/>
                        </a:spcAft>
                        <a:buNone/>
                      </a:pPr>
                      <a:r>
                        <a:rPr lang="en" sz="969" u="none" strike="noStrike" cap="none">
                          <a:solidFill>
                            <a:srgbClr val="333333"/>
                          </a:solidFill>
                          <a:latin typeface="Inter"/>
                          <a:ea typeface="Inter"/>
                          <a:cs typeface="Inter"/>
                          <a:sym typeface="Inter"/>
                        </a:rPr>
                        <a:t>6</a:t>
                      </a:r>
                      <a:endParaRPr/>
                    </a:p>
                  </a:txBody>
                  <a:tcPr marL="54875" marR="54875" marT="9150" marB="9150" anchor="ctr">
                    <a:solidFill>
                      <a:srgbClr val="FFFFFF"/>
                    </a:solidFill>
                  </a:tcPr>
                </a:tc>
                <a:tc>
                  <a:txBody>
                    <a:bodyPr/>
                    <a:lstStyle/>
                    <a:p>
                      <a:pPr marL="0" marR="0" lvl="0" indent="0" algn="l" rtl="0">
                        <a:lnSpc>
                          <a:spcPct val="100000"/>
                        </a:lnSpc>
                        <a:spcBef>
                          <a:spcPts val="0"/>
                        </a:spcBef>
                        <a:spcAft>
                          <a:spcPts val="0"/>
                        </a:spcAft>
                        <a:buNone/>
                      </a:pPr>
                      <a:r>
                        <a:rPr lang="en" sz="969" strike="noStrike" cap="none">
                          <a:solidFill>
                            <a:srgbClr val="333333"/>
                          </a:solidFill>
                          <a:latin typeface="Inter"/>
                          <a:ea typeface="Inter"/>
                          <a:cs typeface="Inter"/>
                          <a:sym typeface="Inter"/>
                        </a:rPr>
                        <a:t>Gửi thông báo cho KTV qua app</a:t>
                      </a:r>
                      <a:endParaRPr/>
                    </a:p>
                  </a:txBody>
                  <a:tcPr marL="54875" marR="54875" marT="9150" marB="9150" anchor="ctr">
                    <a:solidFill>
                      <a:srgbClr val="FFFFFF"/>
                    </a:solidFill>
                  </a:tcPr>
                </a:tc>
                <a:tc>
                  <a:txBody>
                    <a:bodyPr/>
                    <a:lstStyle/>
                    <a:p>
                      <a:pPr marL="0" marR="0" lvl="0" indent="0" algn="l" rtl="0">
                        <a:lnSpc>
                          <a:spcPct val="100000"/>
                        </a:lnSpc>
                        <a:spcBef>
                          <a:spcPts val="0"/>
                        </a:spcBef>
                        <a:spcAft>
                          <a:spcPts val="0"/>
                        </a:spcAft>
                        <a:buNone/>
                      </a:pPr>
                      <a:r>
                        <a:rPr lang="en" sz="969" u="none" strike="noStrike" cap="none">
                          <a:solidFill>
                            <a:srgbClr val="333333"/>
                          </a:solidFill>
                          <a:latin typeface="Inter"/>
                          <a:ea typeface="Inter"/>
                          <a:cs typeface="Inter"/>
                          <a:sym typeface="Inter"/>
                        </a:rPr>
                        <a:t>Call Center/CS</a:t>
                      </a:r>
                      <a:endParaRPr/>
                    </a:p>
                  </a:txBody>
                  <a:tcPr marL="54875" marR="54875" marT="9150" marB="9150" anchor="ctr">
                    <a:solidFill>
                      <a:srgbClr val="FFFFFF"/>
                    </a:solidFill>
                  </a:tcPr>
                </a:tc>
                <a:tc>
                  <a:txBody>
                    <a:bodyPr/>
                    <a:lstStyle/>
                    <a:p>
                      <a:pPr marL="0" marR="0" lvl="0" indent="0" algn="ctr" rtl="0">
                        <a:lnSpc>
                          <a:spcPct val="100000"/>
                        </a:lnSpc>
                        <a:spcBef>
                          <a:spcPts val="0"/>
                        </a:spcBef>
                        <a:spcAft>
                          <a:spcPts val="0"/>
                        </a:spcAft>
                        <a:buNone/>
                      </a:pPr>
                      <a:r>
                        <a:rPr lang="en" sz="969" b="1" u="none" strike="noStrike" cap="none">
                          <a:solidFill>
                            <a:srgbClr val="333333"/>
                          </a:solidFill>
                          <a:latin typeface="Inter"/>
                          <a:ea typeface="Inter"/>
                          <a:cs typeface="Inter"/>
                          <a:sym typeface="Inter"/>
                        </a:rPr>
                        <a:t>VA</a:t>
                      </a:r>
                      <a:endParaRPr/>
                    </a:p>
                  </a:txBody>
                  <a:tcPr marL="54875" marR="54875" marT="9150" marB="9150" anchor="ctr">
                    <a:solidFill>
                      <a:srgbClr val="FFFFFF"/>
                    </a:solidFill>
                  </a:tcPr>
                </a:tc>
                <a:extLst>
                  <a:ext uri="{0D108BD9-81ED-4DB2-BD59-A6C34878D82A}">
                    <a16:rowId xmlns:a16="http://schemas.microsoft.com/office/drawing/2014/main" val="10006"/>
                  </a:ext>
                </a:extLst>
              </a:tr>
              <a:tr h="384050">
                <a:tc>
                  <a:txBody>
                    <a:bodyPr/>
                    <a:lstStyle/>
                    <a:p>
                      <a:pPr marL="0" marR="0" lvl="0" indent="0" algn="ctr" rtl="0">
                        <a:lnSpc>
                          <a:spcPct val="100000"/>
                        </a:lnSpc>
                        <a:spcBef>
                          <a:spcPts val="0"/>
                        </a:spcBef>
                        <a:spcAft>
                          <a:spcPts val="0"/>
                        </a:spcAft>
                        <a:buNone/>
                      </a:pPr>
                      <a:r>
                        <a:rPr lang="en" sz="969" u="none" strike="noStrike" cap="none">
                          <a:solidFill>
                            <a:srgbClr val="333333"/>
                          </a:solidFill>
                          <a:latin typeface="Inter"/>
                          <a:ea typeface="Inter"/>
                          <a:cs typeface="Inter"/>
                          <a:sym typeface="Inter"/>
                        </a:rPr>
                        <a:t>7</a:t>
                      </a:r>
                      <a:endParaRPr/>
                    </a:p>
                  </a:txBody>
                  <a:tcPr marL="54875" marR="54875" marT="9150" marB="9150" anchor="ctr">
                    <a:solidFill>
                      <a:srgbClr val="E0F2F1"/>
                    </a:solidFill>
                  </a:tcPr>
                </a:tc>
                <a:tc>
                  <a:txBody>
                    <a:bodyPr/>
                    <a:lstStyle/>
                    <a:p>
                      <a:pPr marL="0" marR="0" lvl="0" indent="0" algn="l" rtl="0">
                        <a:lnSpc>
                          <a:spcPct val="100000"/>
                        </a:lnSpc>
                        <a:spcBef>
                          <a:spcPts val="0"/>
                        </a:spcBef>
                        <a:spcAft>
                          <a:spcPts val="0"/>
                        </a:spcAft>
                        <a:buNone/>
                      </a:pPr>
                      <a:r>
                        <a:rPr lang="en" sz="969" strike="noStrike" cap="none">
                          <a:solidFill>
                            <a:srgbClr val="333333"/>
                          </a:solidFill>
                          <a:latin typeface="Inter"/>
                          <a:ea typeface="Inter"/>
                          <a:cs typeface="Inter"/>
                          <a:sym typeface="Inter"/>
                        </a:rPr>
                        <a:t>CS nhắc lại/chọn KTV khác khi không phản hồi</a:t>
                      </a:r>
                      <a:endParaRPr/>
                    </a:p>
                  </a:txBody>
                  <a:tcPr marL="54875" marR="54875" marT="9150" marB="9150" anchor="ctr">
                    <a:solidFill>
                      <a:srgbClr val="E0F2F1"/>
                    </a:solidFill>
                  </a:tcPr>
                </a:tc>
                <a:tc>
                  <a:txBody>
                    <a:bodyPr/>
                    <a:lstStyle/>
                    <a:p>
                      <a:pPr marL="0" marR="0" lvl="0" indent="0" algn="l" rtl="0">
                        <a:lnSpc>
                          <a:spcPct val="100000"/>
                        </a:lnSpc>
                        <a:spcBef>
                          <a:spcPts val="0"/>
                        </a:spcBef>
                        <a:spcAft>
                          <a:spcPts val="0"/>
                        </a:spcAft>
                        <a:buNone/>
                      </a:pPr>
                      <a:r>
                        <a:rPr lang="en" sz="969" u="none" strike="noStrike" cap="none">
                          <a:solidFill>
                            <a:srgbClr val="333333"/>
                          </a:solidFill>
                          <a:latin typeface="Inter"/>
                          <a:ea typeface="Inter"/>
                          <a:cs typeface="Inter"/>
                          <a:sym typeface="Inter"/>
                        </a:rPr>
                        <a:t>Call Center/CS</a:t>
                      </a:r>
                      <a:endParaRPr/>
                    </a:p>
                  </a:txBody>
                  <a:tcPr marL="54875" marR="54875" marT="9150" marB="9150" anchor="ctr">
                    <a:solidFill>
                      <a:srgbClr val="E0F2F1"/>
                    </a:solidFill>
                  </a:tcPr>
                </a:tc>
                <a:tc>
                  <a:txBody>
                    <a:bodyPr/>
                    <a:lstStyle/>
                    <a:p>
                      <a:pPr marL="0" marR="0" lvl="0" indent="0" algn="ctr" rtl="0">
                        <a:lnSpc>
                          <a:spcPct val="100000"/>
                        </a:lnSpc>
                        <a:spcBef>
                          <a:spcPts val="0"/>
                        </a:spcBef>
                        <a:spcAft>
                          <a:spcPts val="0"/>
                        </a:spcAft>
                        <a:buNone/>
                      </a:pPr>
                      <a:r>
                        <a:rPr lang="en" sz="969" b="1" u="none" strike="noStrike" cap="none">
                          <a:solidFill>
                            <a:srgbClr val="333333"/>
                          </a:solidFill>
                          <a:latin typeface="Inter"/>
                          <a:ea typeface="Inter"/>
                          <a:cs typeface="Inter"/>
                          <a:sym typeface="Inter"/>
                        </a:rPr>
                        <a:t>NVA</a:t>
                      </a:r>
                      <a:endParaRPr/>
                    </a:p>
                  </a:txBody>
                  <a:tcPr marL="54875" marR="54875" marT="9150" marB="9150" anchor="ctr">
                    <a:solidFill>
                      <a:srgbClr val="E0F2F1"/>
                    </a:solidFill>
                  </a:tcPr>
                </a:tc>
                <a:extLst>
                  <a:ext uri="{0D108BD9-81ED-4DB2-BD59-A6C34878D82A}">
                    <a16:rowId xmlns:a16="http://schemas.microsoft.com/office/drawing/2014/main" val="10007"/>
                  </a:ext>
                </a:extLst>
              </a:tr>
              <a:tr h="384050">
                <a:tc>
                  <a:txBody>
                    <a:bodyPr/>
                    <a:lstStyle/>
                    <a:p>
                      <a:pPr marL="0" marR="0" lvl="0" indent="0" algn="ctr" rtl="0">
                        <a:lnSpc>
                          <a:spcPct val="100000"/>
                        </a:lnSpc>
                        <a:spcBef>
                          <a:spcPts val="0"/>
                        </a:spcBef>
                        <a:spcAft>
                          <a:spcPts val="0"/>
                        </a:spcAft>
                        <a:buNone/>
                      </a:pPr>
                      <a:r>
                        <a:rPr lang="en" sz="969" u="none" strike="noStrike" cap="none">
                          <a:solidFill>
                            <a:srgbClr val="333333"/>
                          </a:solidFill>
                          <a:latin typeface="Inter"/>
                          <a:ea typeface="Inter"/>
                          <a:cs typeface="Inter"/>
                          <a:sym typeface="Inter"/>
                        </a:rPr>
                        <a:t>8</a:t>
                      </a:r>
                      <a:endParaRPr/>
                    </a:p>
                  </a:txBody>
                  <a:tcPr marL="54875" marR="54875" marT="9150" marB="9150" anchor="ctr">
                    <a:solidFill>
                      <a:srgbClr val="FFFFFF"/>
                    </a:solidFill>
                  </a:tcPr>
                </a:tc>
                <a:tc>
                  <a:txBody>
                    <a:bodyPr/>
                    <a:lstStyle/>
                    <a:p>
                      <a:pPr marL="0" marR="0" lvl="0" indent="0" algn="l" rtl="0">
                        <a:lnSpc>
                          <a:spcPct val="100000"/>
                        </a:lnSpc>
                        <a:spcBef>
                          <a:spcPts val="0"/>
                        </a:spcBef>
                        <a:spcAft>
                          <a:spcPts val="0"/>
                        </a:spcAft>
                        <a:buNone/>
                      </a:pPr>
                      <a:r>
                        <a:rPr lang="en" sz="969" strike="noStrike" cap="none">
                          <a:solidFill>
                            <a:srgbClr val="333333"/>
                          </a:solidFill>
                          <a:latin typeface="Inter"/>
                          <a:ea typeface="Inter"/>
                          <a:cs typeface="Inter"/>
                          <a:sym typeface="Inter"/>
                        </a:rPr>
                        <a:t>KTV xác nhận booking trên app (Accepted/Assigned)</a:t>
                      </a:r>
                      <a:endParaRPr/>
                    </a:p>
                  </a:txBody>
                  <a:tcPr marL="54875" marR="54875" marT="9150" marB="9150" anchor="ctr">
                    <a:solidFill>
                      <a:srgbClr val="FFFFFF"/>
                    </a:solidFill>
                  </a:tcPr>
                </a:tc>
                <a:tc>
                  <a:txBody>
                    <a:bodyPr/>
                    <a:lstStyle/>
                    <a:p>
                      <a:pPr marL="0" marR="0" lvl="0" indent="0" algn="l" rtl="0">
                        <a:lnSpc>
                          <a:spcPct val="100000"/>
                        </a:lnSpc>
                        <a:spcBef>
                          <a:spcPts val="0"/>
                        </a:spcBef>
                        <a:spcAft>
                          <a:spcPts val="0"/>
                        </a:spcAft>
                        <a:buNone/>
                      </a:pPr>
                      <a:r>
                        <a:rPr lang="en" sz="969" u="none" strike="noStrike" cap="none">
                          <a:solidFill>
                            <a:srgbClr val="333333"/>
                          </a:solidFill>
                          <a:latin typeface="Inter"/>
                          <a:ea typeface="Inter"/>
                          <a:cs typeface="Inter"/>
                          <a:sym typeface="Inter"/>
                        </a:rPr>
                        <a:t>Kỹ thuật viên (KTV)</a:t>
                      </a:r>
                      <a:endParaRPr/>
                    </a:p>
                  </a:txBody>
                  <a:tcPr marL="54875" marR="54875" marT="9150" marB="9150" anchor="ctr">
                    <a:solidFill>
                      <a:srgbClr val="FFFFFF"/>
                    </a:solidFill>
                  </a:tcPr>
                </a:tc>
                <a:tc>
                  <a:txBody>
                    <a:bodyPr/>
                    <a:lstStyle/>
                    <a:p>
                      <a:pPr marL="0" marR="0" lvl="0" indent="0" algn="ctr" rtl="0">
                        <a:lnSpc>
                          <a:spcPct val="100000"/>
                        </a:lnSpc>
                        <a:spcBef>
                          <a:spcPts val="0"/>
                        </a:spcBef>
                        <a:spcAft>
                          <a:spcPts val="0"/>
                        </a:spcAft>
                        <a:buNone/>
                      </a:pPr>
                      <a:r>
                        <a:rPr lang="en" sz="969" b="1" u="none" strike="noStrike" cap="none">
                          <a:solidFill>
                            <a:srgbClr val="333333"/>
                          </a:solidFill>
                          <a:latin typeface="Inter"/>
                          <a:ea typeface="Inter"/>
                          <a:cs typeface="Inter"/>
                          <a:sym typeface="Inter"/>
                        </a:rPr>
                        <a:t>VBA</a:t>
                      </a:r>
                      <a:endParaRPr/>
                    </a:p>
                  </a:txBody>
                  <a:tcPr marL="54875" marR="54875" marT="9150" marB="9150" anchor="ctr">
                    <a:solidFill>
                      <a:srgbClr val="FFFFF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714"/>
        <p:cNvGrpSpPr/>
        <p:nvPr/>
      </p:nvGrpSpPr>
      <p:grpSpPr>
        <a:xfrm>
          <a:off x="0" y="0"/>
          <a:ext cx="0" cy="0"/>
          <a:chOff x="0" y="0"/>
          <a:chExt cx="0" cy="0"/>
        </a:xfrm>
      </p:grpSpPr>
      <p:sp>
        <p:nvSpPr>
          <p:cNvPr id="715" name="Google Shape;715;p38"/>
          <p:cNvSpPr/>
          <p:nvPr/>
        </p:nvSpPr>
        <p:spPr>
          <a:xfrm>
            <a:off x="-101425" y="-72425"/>
            <a:ext cx="9144000" cy="5143500"/>
          </a:xfrm>
          <a:prstGeom prst="rect">
            <a:avLst/>
          </a:pr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716" name="Google Shape;716;p38"/>
          <p:cNvGrpSpPr/>
          <p:nvPr/>
        </p:nvGrpSpPr>
        <p:grpSpPr>
          <a:xfrm>
            <a:off x="8458200" y="381000"/>
            <a:ext cx="304800" cy="304800"/>
            <a:chOff x="0" y="0"/>
            <a:chExt cx="304800" cy="304800"/>
          </a:xfrm>
        </p:grpSpPr>
        <p:sp>
          <p:nvSpPr>
            <p:cNvPr id="717" name="Google Shape;717;p38"/>
            <p:cNvSpPr/>
            <p:nvPr/>
          </p:nvSpPr>
          <p:spPr>
            <a:xfrm>
              <a:off x="0" y="0"/>
              <a:ext cx="304800" cy="304800"/>
            </a:xfrm>
            <a:prstGeom prst="roundRect">
              <a:avLst>
                <a:gd name="adj" fmla="val 125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18" name="Google Shape;718;p38"/>
            <p:cNvSpPr/>
            <p:nvPr/>
          </p:nvSpPr>
          <p:spPr>
            <a:xfrm>
              <a:off x="95250" y="95250"/>
              <a:ext cx="114300" cy="114300"/>
            </a:xfrm>
            <a:custGeom>
              <a:avLst/>
              <a:gdLst/>
              <a:ahLst/>
              <a:cxnLst/>
              <a:rect l="l" t="t" r="r" b="b"/>
              <a:pathLst>
                <a:path w="120000" h="120000" extrusionOk="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19" name="Google Shape;719;p38"/>
            <p:cNvSpPr/>
            <p:nvPr/>
          </p:nvSpPr>
          <p:spPr>
            <a:xfrm>
              <a:off x="123825" y="123825"/>
              <a:ext cx="57300" cy="57300"/>
            </a:xfrm>
            <a:prstGeom prst="ellipse">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cxnSp>
        <p:nvCxnSpPr>
          <p:cNvPr id="720" name="Google Shape;720;p38"/>
          <p:cNvCxnSpPr/>
          <p:nvPr/>
        </p:nvCxnSpPr>
        <p:spPr>
          <a:xfrm>
            <a:off x="381000" y="1143000"/>
            <a:ext cx="8382000" cy="0"/>
          </a:xfrm>
          <a:prstGeom prst="straightConnector1">
            <a:avLst/>
          </a:prstGeom>
          <a:solidFill>
            <a:srgbClr val="FFFFFF"/>
          </a:solidFill>
          <a:ln w="14300" cap="flat" cmpd="sng">
            <a:solidFill>
              <a:srgbClr val="E2E8F0"/>
            </a:solidFill>
            <a:prstDash val="solid"/>
            <a:round/>
            <a:headEnd type="none" w="sm" len="sm"/>
            <a:tailEnd type="none" w="sm" len="sm"/>
          </a:ln>
        </p:spPr>
      </p:cxnSp>
      <p:sp>
        <p:nvSpPr>
          <p:cNvPr id="721" name="Google Shape;721;p38"/>
          <p:cNvSpPr txBox="1"/>
          <p:nvPr/>
        </p:nvSpPr>
        <p:spPr>
          <a:xfrm>
            <a:off x="381000" y="333375"/>
            <a:ext cx="7620000" cy="762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 sz="2000" b="0" i="0" u="none" strike="noStrike" cap="none">
                <a:solidFill>
                  <a:srgbClr val="0F172A"/>
                </a:solidFill>
                <a:latin typeface="Inter ExtraBold"/>
                <a:ea typeface="Inter ExtraBold"/>
                <a:cs typeface="Inter ExtraBold"/>
                <a:sym typeface="Inter ExtraBold"/>
              </a:rPr>
              <a:t>Phân tích giá trị gia tăng — KTV nhận và xử lý booking</a:t>
            </a:r>
            <a:endParaRPr sz="2000" b="0" i="0" u="none" strike="noStrike" cap="none">
              <a:solidFill>
                <a:srgbClr val="0F172A"/>
              </a:solidFill>
              <a:latin typeface="Inter ExtraBold"/>
              <a:ea typeface="Inter ExtraBold"/>
              <a:cs typeface="Inter ExtraBold"/>
              <a:sym typeface="Inter ExtraBold"/>
            </a:endParaRPr>
          </a:p>
          <a:p>
            <a:pPr marL="0" marR="0" lvl="0" indent="0" algn="l" rtl="0">
              <a:lnSpc>
                <a:spcPct val="100000"/>
              </a:lnSpc>
              <a:spcBef>
                <a:spcPts val="375"/>
              </a:spcBef>
              <a:spcAft>
                <a:spcPts val="0"/>
              </a:spcAft>
              <a:buClr>
                <a:srgbClr val="000000"/>
              </a:buClr>
              <a:buSzPts val="1100"/>
              <a:buFont typeface="Arial"/>
              <a:buNone/>
            </a:pPr>
            <a:r>
              <a:rPr lang="en" sz="1100" b="0" i="0" u="none" strike="noStrike" cap="none">
                <a:solidFill>
                  <a:srgbClr val="007B7C"/>
                </a:solidFill>
                <a:latin typeface="Inter SemiBold"/>
                <a:ea typeface="Inter SemiBold"/>
                <a:cs typeface="Inter SemiBold"/>
                <a:sym typeface="Inter SemiBold"/>
              </a:rPr>
              <a:t>C03 — Value-Added Analysis (VA / VBA / NVA)</a:t>
            </a:r>
            <a:endParaRPr sz="1100" b="0" i="0" u="none" strike="noStrike" cap="none">
              <a:solidFill>
                <a:srgbClr val="007B7C"/>
              </a:solidFill>
              <a:latin typeface="Inter SemiBold"/>
              <a:ea typeface="Inter SemiBold"/>
              <a:cs typeface="Inter SemiBold"/>
              <a:sym typeface="Inter SemiBold"/>
            </a:endParaRPr>
          </a:p>
        </p:txBody>
      </p:sp>
      <p:graphicFrame>
        <p:nvGraphicFramePr>
          <p:cNvPr id="722" name="Google Shape;722;p38"/>
          <p:cNvGraphicFramePr/>
          <p:nvPr/>
        </p:nvGraphicFramePr>
        <p:xfrm>
          <a:off x="384048" y="1335024"/>
          <a:ext cx="8375900" cy="3698750"/>
        </p:xfrm>
        <a:graphic>
          <a:graphicData uri="http://schemas.openxmlformats.org/drawingml/2006/table">
            <a:tbl>
              <a:tblPr firstRow="1" bandRow="1">
                <a:noFill/>
                <a:tableStyleId>{C22CD621-9F64-4B2E-9631-1F7B959E530B}</a:tableStyleId>
              </a:tblPr>
              <a:tblGrid>
                <a:gridCol w="606150">
                  <a:extLst>
                    <a:ext uri="{9D8B030D-6E8A-4147-A177-3AD203B41FA5}">
                      <a16:colId xmlns:a16="http://schemas.microsoft.com/office/drawing/2014/main" val="20000"/>
                    </a:ext>
                  </a:extLst>
                </a:gridCol>
                <a:gridCol w="3967525">
                  <a:extLst>
                    <a:ext uri="{9D8B030D-6E8A-4147-A177-3AD203B41FA5}">
                      <a16:colId xmlns:a16="http://schemas.microsoft.com/office/drawing/2014/main" val="20001"/>
                    </a:ext>
                  </a:extLst>
                </a:gridCol>
                <a:gridCol w="2534825">
                  <a:extLst>
                    <a:ext uri="{9D8B030D-6E8A-4147-A177-3AD203B41FA5}">
                      <a16:colId xmlns:a16="http://schemas.microsoft.com/office/drawing/2014/main" val="20002"/>
                    </a:ext>
                  </a:extLst>
                </a:gridCol>
                <a:gridCol w="1267400">
                  <a:extLst>
                    <a:ext uri="{9D8B030D-6E8A-4147-A177-3AD203B41FA5}">
                      <a16:colId xmlns:a16="http://schemas.microsoft.com/office/drawing/2014/main" val="20003"/>
                    </a:ext>
                  </a:extLst>
                </a:gridCol>
              </a:tblGrid>
              <a:tr h="329175">
                <a:tc>
                  <a:txBody>
                    <a:bodyPr/>
                    <a:lstStyle/>
                    <a:p>
                      <a:pPr marL="0" marR="0" lvl="0" indent="0" algn="ctr" rtl="0">
                        <a:lnSpc>
                          <a:spcPct val="100000"/>
                        </a:lnSpc>
                        <a:spcBef>
                          <a:spcPts val="0"/>
                        </a:spcBef>
                        <a:spcAft>
                          <a:spcPts val="0"/>
                        </a:spcAft>
                        <a:buNone/>
                      </a:pPr>
                      <a:r>
                        <a:rPr lang="en" sz="1000" b="1" u="none" strike="noStrike" cap="none">
                          <a:solidFill>
                            <a:srgbClr val="FFFFFF"/>
                          </a:solidFill>
                          <a:latin typeface="Inter SemiBold"/>
                          <a:ea typeface="Inter SemiBold"/>
                          <a:cs typeface="Inter SemiBold"/>
                          <a:sym typeface="Inter SemiBold"/>
                        </a:rPr>
                        <a:t>STT</a:t>
                      </a:r>
                      <a:endParaRPr/>
                    </a:p>
                  </a:txBody>
                  <a:tcPr marL="54875" marR="54875" marT="9150" marB="9150" anchor="ctr">
                    <a:solidFill>
                      <a:srgbClr val="007B7C"/>
                    </a:solidFill>
                  </a:tcPr>
                </a:tc>
                <a:tc>
                  <a:txBody>
                    <a:bodyPr/>
                    <a:lstStyle/>
                    <a:p>
                      <a:pPr marL="0" marR="0" lvl="0" indent="0" algn="l" rtl="0">
                        <a:lnSpc>
                          <a:spcPct val="100000"/>
                        </a:lnSpc>
                        <a:spcBef>
                          <a:spcPts val="0"/>
                        </a:spcBef>
                        <a:spcAft>
                          <a:spcPts val="0"/>
                        </a:spcAft>
                        <a:buNone/>
                      </a:pPr>
                      <a:r>
                        <a:rPr lang="en" sz="1000" b="1" u="none" strike="noStrike" cap="none">
                          <a:solidFill>
                            <a:srgbClr val="FFFFFF"/>
                          </a:solidFill>
                          <a:latin typeface="Inter SemiBold"/>
                          <a:ea typeface="Inter SemiBold"/>
                          <a:cs typeface="Inter SemiBold"/>
                          <a:sym typeface="Inter SemiBold"/>
                        </a:rPr>
                        <a:t>Hoạt động</a:t>
                      </a:r>
                      <a:endParaRPr/>
                    </a:p>
                  </a:txBody>
                  <a:tcPr marL="54875" marR="54875" marT="9150" marB="9150" anchor="ctr">
                    <a:solidFill>
                      <a:srgbClr val="007B7C"/>
                    </a:solidFill>
                  </a:tcPr>
                </a:tc>
                <a:tc>
                  <a:txBody>
                    <a:bodyPr/>
                    <a:lstStyle/>
                    <a:p>
                      <a:pPr marL="0" marR="0" lvl="0" indent="0" algn="l" rtl="0">
                        <a:lnSpc>
                          <a:spcPct val="100000"/>
                        </a:lnSpc>
                        <a:spcBef>
                          <a:spcPts val="0"/>
                        </a:spcBef>
                        <a:spcAft>
                          <a:spcPts val="0"/>
                        </a:spcAft>
                        <a:buNone/>
                      </a:pPr>
                      <a:r>
                        <a:rPr lang="en" sz="1000" b="1" u="none" strike="noStrike" cap="none">
                          <a:solidFill>
                            <a:srgbClr val="FFFFFF"/>
                          </a:solidFill>
                          <a:latin typeface="Inter SemiBold"/>
                          <a:ea typeface="Inter SemiBold"/>
                          <a:cs typeface="Inter SemiBold"/>
                          <a:sym typeface="Inter SemiBold"/>
                        </a:rPr>
                        <a:t>Đối tượng</a:t>
                      </a:r>
                      <a:endParaRPr/>
                    </a:p>
                  </a:txBody>
                  <a:tcPr marL="54875" marR="54875" marT="9150" marB="9150" anchor="ctr">
                    <a:solidFill>
                      <a:srgbClr val="007B7C"/>
                    </a:solidFill>
                  </a:tcPr>
                </a:tc>
                <a:tc>
                  <a:txBody>
                    <a:bodyPr/>
                    <a:lstStyle/>
                    <a:p>
                      <a:pPr marL="0" marR="0" lvl="0" indent="0" algn="ctr" rtl="0">
                        <a:lnSpc>
                          <a:spcPct val="100000"/>
                        </a:lnSpc>
                        <a:spcBef>
                          <a:spcPts val="0"/>
                        </a:spcBef>
                        <a:spcAft>
                          <a:spcPts val="0"/>
                        </a:spcAft>
                        <a:buNone/>
                      </a:pPr>
                      <a:r>
                        <a:rPr lang="en" sz="1000" b="1" u="none" strike="noStrike" cap="none">
                          <a:solidFill>
                            <a:srgbClr val="FFFFFF"/>
                          </a:solidFill>
                          <a:latin typeface="Inter SemiBold"/>
                          <a:ea typeface="Inter SemiBold"/>
                          <a:cs typeface="Inter SemiBold"/>
                          <a:sym typeface="Inter SemiBold"/>
                        </a:rPr>
                        <a:t>Phân loại</a:t>
                      </a:r>
                      <a:endParaRPr/>
                    </a:p>
                  </a:txBody>
                  <a:tcPr marL="54875" marR="54875" marT="9150" marB="9150" anchor="ctr">
                    <a:solidFill>
                      <a:srgbClr val="007B7C"/>
                    </a:solidFill>
                  </a:tcPr>
                </a:tc>
                <a:extLst>
                  <a:ext uri="{0D108BD9-81ED-4DB2-BD59-A6C34878D82A}">
                    <a16:rowId xmlns:a16="http://schemas.microsoft.com/office/drawing/2014/main" val="10000"/>
                  </a:ext>
                </a:extLst>
              </a:tr>
              <a:tr h="306325">
                <a:tc>
                  <a:txBody>
                    <a:bodyPr/>
                    <a:lstStyle/>
                    <a:p>
                      <a:pPr marL="0" marR="0" lvl="0" indent="0" algn="ctr" rtl="0">
                        <a:lnSpc>
                          <a:spcPct val="100000"/>
                        </a:lnSpc>
                        <a:spcBef>
                          <a:spcPts val="0"/>
                        </a:spcBef>
                        <a:spcAft>
                          <a:spcPts val="0"/>
                        </a:spcAft>
                        <a:buNone/>
                      </a:pPr>
                      <a:r>
                        <a:rPr lang="en" sz="900" u="none" strike="noStrike" cap="none">
                          <a:solidFill>
                            <a:srgbClr val="333333"/>
                          </a:solidFill>
                          <a:latin typeface="Inter"/>
                          <a:ea typeface="Inter"/>
                          <a:cs typeface="Inter"/>
                          <a:sym typeface="Inter"/>
                        </a:rPr>
                        <a:t>1</a:t>
                      </a:r>
                      <a:endParaRPr/>
                    </a:p>
                  </a:txBody>
                  <a:tcPr marL="54875" marR="54875" marT="9150" marB="9150" anchor="ctr">
                    <a:solidFill>
                      <a:srgbClr val="E0F2F1"/>
                    </a:solidFill>
                  </a:tcPr>
                </a:tc>
                <a:tc>
                  <a:txBody>
                    <a:bodyPr/>
                    <a:lstStyle/>
                    <a:p>
                      <a:pPr marL="0" marR="0" lvl="0" indent="0" algn="l" rtl="0">
                        <a:lnSpc>
                          <a:spcPct val="100000"/>
                        </a:lnSpc>
                        <a:spcBef>
                          <a:spcPts val="0"/>
                        </a:spcBef>
                        <a:spcAft>
                          <a:spcPts val="0"/>
                        </a:spcAft>
                        <a:buNone/>
                      </a:pPr>
                      <a:r>
                        <a:rPr lang="en" sz="900" strike="noStrike" cap="none">
                          <a:solidFill>
                            <a:srgbClr val="333333"/>
                          </a:solidFill>
                          <a:latin typeface="Inter"/>
                          <a:ea typeface="Inter"/>
                          <a:cs typeface="Inter"/>
                          <a:sym typeface="Inter"/>
                        </a:rPr>
                        <a:t>KTV di chuyển tới địa điểm (On The Way)</a:t>
                      </a:r>
                      <a:endParaRPr/>
                    </a:p>
                  </a:txBody>
                  <a:tcPr marL="54875" marR="54875" marT="9150" marB="9150" anchor="ctr">
                    <a:solidFill>
                      <a:srgbClr val="E0F2F1"/>
                    </a:solidFill>
                  </a:tcPr>
                </a:tc>
                <a:tc>
                  <a:txBody>
                    <a:bodyPr/>
                    <a:lstStyle/>
                    <a:p>
                      <a:pPr marL="0" marR="0" lvl="0" indent="0" algn="l" rtl="0">
                        <a:lnSpc>
                          <a:spcPct val="100000"/>
                        </a:lnSpc>
                        <a:spcBef>
                          <a:spcPts val="0"/>
                        </a:spcBef>
                        <a:spcAft>
                          <a:spcPts val="0"/>
                        </a:spcAft>
                        <a:buNone/>
                      </a:pPr>
                      <a:r>
                        <a:rPr lang="en" sz="900" u="none" strike="noStrike" cap="none">
                          <a:solidFill>
                            <a:srgbClr val="333333"/>
                          </a:solidFill>
                          <a:latin typeface="Inter"/>
                          <a:ea typeface="Inter"/>
                          <a:cs typeface="Inter"/>
                          <a:sym typeface="Inter"/>
                        </a:rPr>
                        <a:t>Kỹ thuật viên (KTV)</a:t>
                      </a:r>
                      <a:endParaRPr/>
                    </a:p>
                  </a:txBody>
                  <a:tcPr marL="54875" marR="54875" marT="9150" marB="9150" anchor="ctr">
                    <a:solidFill>
                      <a:srgbClr val="E0F2F1"/>
                    </a:solidFill>
                  </a:tcPr>
                </a:tc>
                <a:tc>
                  <a:txBody>
                    <a:bodyPr/>
                    <a:lstStyle/>
                    <a:p>
                      <a:pPr marL="0" marR="0" lvl="0" indent="0" algn="ctr" rtl="0">
                        <a:lnSpc>
                          <a:spcPct val="100000"/>
                        </a:lnSpc>
                        <a:spcBef>
                          <a:spcPts val="0"/>
                        </a:spcBef>
                        <a:spcAft>
                          <a:spcPts val="0"/>
                        </a:spcAft>
                        <a:buNone/>
                      </a:pPr>
                      <a:r>
                        <a:rPr lang="en" sz="900" b="1" u="none" strike="noStrike" cap="none">
                          <a:solidFill>
                            <a:srgbClr val="333333"/>
                          </a:solidFill>
                          <a:latin typeface="Inter"/>
                          <a:ea typeface="Inter"/>
                          <a:cs typeface="Inter"/>
                          <a:sym typeface="Inter"/>
                        </a:rPr>
                        <a:t>VBA</a:t>
                      </a:r>
                      <a:endParaRPr/>
                    </a:p>
                  </a:txBody>
                  <a:tcPr marL="54875" marR="54875" marT="9150" marB="9150" anchor="ctr">
                    <a:solidFill>
                      <a:srgbClr val="E0F2F1"/>
                    </a:solidFill>
                  </a:tcPr>
                </a:tc>
                <a:extLst>
                  <a:ext uri="{0D108BD9-81ED-4DB2-BD59-A6C34878D82A}">
                    <a16:rowId xmlns:a16="http://schemas.microsoft.com/office/drawing/2014/main" val="10001"/>
                  </a:ext>
                </a:extLst>
              </a:tr>
              <a:tr h="306325">
                <a:tc>
                  <a:txBody>
                    <a:bodyPr/>
                    <a:lstStyle/>
                    <a:p>
                      <a:pPr marL="0" marR="0" lvl="0" indent="0" algn="ctr" rtl="0">
                        <a:lnSpc>
                          <a:spcPct val="100000"/>
                        </a:lnSpc>
                        <a:spcBef>
                          <a:spcPts val="0"/>
                        </a:spcBef>
                        <a:spcAft>
                          <a:spcPts val="0"/>
                        </a:spcAft>
                        <a:buNone/>
                      </a:pPr>
                      <a:r>
                        <a:rPr lang="en" sz="900" u="none" strike="noStrike" cap="none">
                          <a:solidFill>
                            <a:srgbClr val="333333"/>
                          </a:solidFill>
                          <a:latin typeface="Inter"/>
                          <a:ea typeface="Inter"/>
                          <a:cs typeface="Inter"/>
                          <a:sym typeface="Inter"/>
                        </a:rPr>
                        <a:t>2</a:t>
                      </a:r>
                      <a:endParaRPr/>
                    </a:p>
                  </a:txBody>
                  <a:tcPr marL="54875" marR="54875" marT="9150" marB="9150" anchor="ctr">
                    <a:solidFill>
                      <a:srgbClr val="FFFFFF"/>
                    </a:solidFill>
                  </a:tcPr>
                </a:tc>
                <a:tc>
                  <a:txBody>
                    <a:bodyPr/>
                    <a:lstStyle/>
                    <a:p>
                      <a:pPr marL="0" marR="0" lvl="0" indent="0" algn="l" rtl="0">
                        <a:lnSpc>
                          <a:spcPct val="100000"/>
                        </a:lnSpc>
                        <a:spcBef>
                          <a:spcPts val="0"/>
                        </a:spcBef>
                        <a:spcAft>
                          <a:spcPts val="0"/>
                        </a:spcAft>
                        <a:buNone/>
                      </a:pPr>
                      <a:r>
                        <a:rPr lang="en" sz="900" strike="noStrike" cap="none">
                          <a:solidFill>
                            <a:srgbClr val="333333"/>
                          </a:solidFill>
                          <a:latin typeface="Inter"/>
                          <a:ea typeface="Inter"/>
                          <a:cs typeface="Inter"/>
                          <a:sym typeface="Inter"/>
                        </a:rPr>
                        <a:t>Nhập model/serial thiết bị</a:t>
                      </a:r>
                      <a:endParaRPr/>
                    </a:p>
                  </a:txBody>
                  <a:tcPr marL="54875" marR="54875" marT="9150" marB="9150" anchor="ctr">
                    <a:solidFill>
                      <a:srgbClr val="FFFFFF"/>
                    </a:solidFill>
                  </a:tcPr>
                </a:tc>
                <a:tc>
                  <a:txBody>
                    <a:bodyPr/>
                    <a:lstStyle/>
                    <a:p>
                      <a:pPr marL="0" marR="0" lvl="0" indent="0" algn="l" rtl="0">
                        <a:lnSpc>
                          <a:spcPct val="100000"/>
                        </a:lnSpc>
                        <a:spcBef>
                          <a:spcPts val="0"/>
                        </a:spcBef>
                        <a:spcAft>
                          <a:spcPts val="0"/>
                        </a:spcAft>
                        <a:buNone/>
                      </a:pPr>
                      <a:r>
                        <a:rPr lang="en" sz="900" u="none" strike="noStrike" cap="none">
                          <a:solidFill>
                            <a:srgbClr val="333333"/>
                          </a:solidFill>
                          <a:latin typeface="Inter"/>
                          <a:ea typeface="Inter"/>
                          <a:cs typeface="Inter"/>
                          <a:sym typeface="Inter"/>
                        </a:rPr>
                        <a:t>Kỹ thuật viên (KTV)</a:t>
                      </a:r>
                      <a:endParaRPr/>
                    </a:p>
                  </a:txBody>
                  <a:tcPr marL="54875" marR="54875" marT="9150" marB="9150" anchor="ctr">
                    <a:solidFill>
                      <a:srgbClr val="FFFFFF"/>
                    </a:solidFill>
                  </a:tcPr>
                </a:tc>
                <a:tc>
                  <a:txBody>
                    <a:bodyPr/>
                    <a:lstStyle/>
                    <a:p>
                      <a:pPr marL="0" marR="0" lvl="0" indent="0" algn="ctr" rtl="0">
                        <a:lnSpc>
                          <a:spcPct val="100000"/>
                        </a:lnSpc>
                        <a:spcBef>
                          <a:spcPts val="0"/>
                        </a:spcBef>
                        <a:spcAft>
                          <a:spcPts val="0"/>
                        </a:spcAft>
                        <a:buNone/>
                      </a:pPr>
                      <a:r>
                        <a:rPr lang="en" sz="900" b="1" u="none" strike="noStrike" cap="none">
                          <a:solidFill>
                            <a:srgbClr val="333333"/>
                          </a:solidFill>
                          <a:latin typeface="Inter"/>
                          <a:ea typeface="Inter"/>
                          <a:cs typeface="Inter"/>
                          <a:sym typeface="Inter"/>
                        </a:rPr>
                        <a:t>VBA</a:t>
                      </a:r>
                      <a:endParaRPr/>
                    </a:p>
                  </a:txBody>
                  <a:tcPr marL="54875" marR="54875" marT="9150" marB="9150" anchor="ctr">
                    <a:solidFill>
                      <a:srgbClr val="FFFFFF"/>
                    </a:solidFill>
                  </a:tcPr>
                </a:tc>
                <a:extLst>
                  <a:ext uri="{0D108BD9-81ED-4DB2-BD59-A6C34878D82A}">
                    <a16:rowId xmlns:a16="http://schemas.microsoft.com/office/drawing/2014/main" val="10002"/>
                  </a:ext>
                </a:extLst>
              </a:tr>
              <a:tr h="306325">
                <a:tc>
                  <a:txBody>
                    <a:bodyPr/>
                    <a:lstStyle/>
                    <a:p>
                      <a:pPr marL="0" marR="0" lvl="0" indent="0" algn="ctr" rtl="0">
                        <a:lnSpc>
                          <a:spcPct val="100000"/>
                        </a:lnSpc>
                        <a:spcBef>
                          <a:spcPts val="0"/>
                        </a:spcBef>
                        <a:spcAft>
                          <a:spcPts val="0"/>
                        </a:spcAft>
                        <a:buNone/>
                      </a:pPr>
                      <a:r>
                        <a:rPr lang="en" sz="900" u="none" strike="noStrike" cap="none">
                          <a:solidFill>
                            <a:srgbClr val="333333"/>
                          </a:solidFill>
                          <a:latin typeface="Inter"/>
                          <a:ea typeface="Inter"/>
                          <a:cs typeface="Inter"/>
                          <a:sym typeface="Inter"/>
                        </a:rPr>
                        <a:t>3</a:t>
                      </a:r>
                      <a:endParaRPr/>
                    </a:p>
                  </a:txBody>
                  <a:tcPr marL="54875" marR="54875" marT="9150" marB="9150" anchor="ctr">
                    <a:solidFill>
                      <a:srgbClr val="E0F2F1"/>
                    </a:solidFill>
                  </a:tcPr>
                </a:tc>
                <a:tc>
                  <a:txBody>
                    <a:bodyPr/>
                    <a:lstStyle/>
                    <a:p>
                      <a:pPr marL="0" marR="0" lvl="0" indent="0" algn="l" rtl="0">
                        <a:lnSpc>
                          <a:spcPct val="100000"/>
                        </a:lnSpc>
                        <a:spcBef>
                          <a:spcPts val="0"/>
                        </a:spcBef>
                        <a:spcAft>
                          <a:spcPts val="0"/>
                        </a:spcAft>
                        <a:buNone/>
                      </a:pPr>
                      <a:r>
                        <a:rPr lang="en" sz="900" strike="noStrike" cap="none">
                          <a:solidFill>
                            <a:srgbClr val="333333"/>
                          </a:solidFill>
                          <a:latin typeface="Inter"/>
                          <a:ea typeface="Inter"/>
                          <a:cs typeface="Inter"/>
                          <a:sym typeface="Inter"/>
                        </a:rPr>
                        <a:t>Xử lý theo chính sách bảo hành / báo phí ngoài BH</a:t>
                      </a:r>
                      <a:endParaRPr/>
                    </a:p>
                  </a:txBody>
                  <a:tcPr marL="54875" marR="54875" marT="9150" marB="9150" anchor="ctr">
                    <a:solidFill>
                      <a:srgbClr val="E0F2F1"/>
                    </a:solidFill>
                  </a:tcPr>
                </a:tc>
                <a:tc>
                  <a:txBody>
                    <a:bodyPr/>
                    <a:lstStyle/>
                    <a:p>
                      <a:pPr marL="0" marR="0" lvl="0" indent="0" algn="l" rtl="0">
                        <a:lnSpc>
                          <a:spcPct val="100000"/>
                        </a:lnSpc>
                        <a:spcBef>
                          <a:spcPts val="0"/>
                        </a:spcBef>
                        <a:spcAft>
                          <a:spcPts val="0"/>
                        </a:spcAft>
                        <a:buNone/>
                      </a:pPr>
                      <a:r>
                        <a:rPr lang="en" sz="900" u="none" strike="noStrike" cap="none">
                          <a:solidFill>
                            <a:srgbClr val="333333"/>
                          </a:solidFill>
                          <a:latin typeface="Inter"/>
                          <a:ea typeface="Inter"/>
                          <a:cs typeface="Inter"/>
                          <a:sym typeface="Inter"/>
                        </a:rPr>
                        <a:t>Kỹ thuật viên (KTV)</a:t>
                      </a:r>
                      <a:endParaRPr/>
                    </a:p>
                  </a:txBody>
                  <a:tcPr marL="54875" marR="54875" marT="9150" marB="9150" anchor="ctr">
                    <a:solidFill>
                      <a:srgbClr val="E0F2F1"/>
                    </a:solidFill>
                  </a:tcPr>
                </a:tc>
                <a:tc>
                  <a:txBody>
                    <a:bodyPr/>
                    <a:lstStyle/>
                    <a:p>
                      <a:pPr marL="0" marR="0" lvl="0" indent="0" algn="ctr" rtl="0">
                        <a:lnSpc>
                          <a:spcPct val="100000"/>
                        </a:lnSpc>
                        <a:spcBef>
                          <a:spcPts val="0"/>
                        </a:spcBef>
                        <a:spcAft>
                          <a:spcPts val="0"/>
                        </a:spcAft>
                        <a:buNone/>
                      </a:pPr>
                      <a:r>
                        <a:rPr lang="en" sz="900" b="1" u="none" strike="noStrike" cap="none">
                          <a:solidFill>
                            <a:srgbClr val="333333"/>
                          </a:solidFill>
                          <a:latin typeface="Inter"/>
                          <a:ea typeface="Inter"/>
                          <a:cs typeface="Inter"/>
                          <a:sym typeface="Inter"/>
                        </a:rPr>
                        <a:t>VBA</a:t>
                      </a:r>
                      <a:endParaRPr/>
                    </a:p>
                  </a:txBody>
                  <a:tcPr marL="54875" marR="54875" marT="9150" marB="9150" anchor="ctr">
                    <a:solidFill>
                      <a:srgbClr val="E0F2F1"/>
                    </a:solidFill>
                  </a:tcPr>
                </a:tc>
                <a:extLst>
                  <a:ext uri="{0D108BD9-81ED-4DB2-BD59-A6C34878D82A}">
                    <a16:rowId xmlns:a16="http://schemas.microsoft.com/office/drawing/2014/main" val="10003"/>
                  </a:ext>
                </a:extLst>
              </a:tr>
              <a:tr h="306325">
                <a:tc>
                  <a:txBody>
                    <a:bodyPr/>
                    <a:lstStyle/>
                    <a:p>
                      <a:pPr marL="0" marR="0" lvl="0" indent="0" algn="ctr" rtl="0">
                        <a:lnSpc>
                          <a:spcPct val="100000"/>
                        </a:lnSpc>
                        <a:spcBef>
                          <a:spcPts val="0"/>
                        </a:spcBef>
                        <a:spcAft>
                          <a:spcPts val="0"/>
                        </a:spcAft>
                        <a:buNone/>
                      </a:pPr>
                      <a:r>
                        <a:rPr lang="en" sz="900" u="none" strike="noStrike" cap="none">
                          <a:solidFill>
                            <a:srgbClr val="333333"/>
                          </a:solidFill>
                          <a:latin typeface="Inter"/>
                          <a:ea typeface="Inter"/>
                          <a:cs typeface="Inter"/>
                          <a:sym typeface="Inter"/>
                        </a:rPr>
                        <a:t>4</a:t>
                      </a:r>
                      <a:endParaRPr/>
                    </a:p>
                  </a:txBody>
                  <a:tcPr marL="54875" marR="54875" marT="9150" marB="9150" anchor="ctr">
                    <a:solidFill>
                      <a:srgbClr val="FFFFFF"/>
                    </a:solidFill>
                  </a:tcPr>
                </a:tc>
                <a:tc>
                  <a:txBody>
                    <a:bodyPr/>
                    <a:lstStyle/>
                    <a:p>
                      <a:pPr marL="0" marR="0" lvl="0" indent="0" algn="l" rtl="0">
                        <a:lnSpc>
                          <a:spcPct val="100000"/>
                        </a:lnSpc>
                        <a:spcBef>
                          <a:spcPts val="0"/>
                        </a:spcBef>
                        <a:spcAft>
                          <a:spcPts val="0"/>
                        </a:spcAft>
                        <a:buNone/>
                      </a:pPr>
                      <a:r>
                        <a:rPr lang="en" sz="900" strike="noStrike" cap="none">
                          <a:solidFill>
                            <a:srgbClr val="333333"/>
                          </a:solidFill>
                          <a:latin typeface="Inter"/>
                          <a:ea typeface="Inter"/>
                          <a:cs typeface="Inter"/>
                          <a:sym typeface="Inter"/>
                        </a:rPr>
                        <a:t>Chẩn đoán lỗi (nhập mã lỗi/mô tả hiện tượng)</a:t>
                      </a:r>
                      <a:endParaRPr/>
                    </a:p>
                  </a:txBody>
                  <a:tcPr marL="54875" marR="54875" marT="9150" marB="9150" anchor="ctr">
                    <a:solidFill>
                      <a:srgbClr val="FFFFFF"/>
                    </a:solidFill>
                  </a:tcPr>
                </a:tc>
                <a:tc>
                  <a:txBody>
                    <a:bodyPr/>
                    <a:lstStyle/>
                    <a:p>
                      <a:pPr marL="0" marR="0" lvl="0" indent="0" algn="l" rtl="0">
                        <a:lnSpc>
                          <a:spcPct val="100000"/>
                        </a:lnSpc>
                        <a:spcBef>
                          <a:spcPts val="0"/>
                        </a:spcBef>
                        <a:spcAft>
                          <a:spcPts val="0"/>
                        </a:spcAft>
                        <a:buNone/>
                      </a:pPr>
                      <a:r>
                        <a:rPr lang="en" sz="900" u="none" strike="noStrike" cap="none">
                          <a:solidFill>
                            <a:srgbClr val="333333"/>
                          </a:solidFill>
                          <a:latin typeface="Inter"/>
                          <a:ea typeface="Inter"/>
                          <a:cs typeface="Inter"/>
                          <a:sym typeface="Inter"/>
                        </a:rPr>
                        <a:t>Kỹ thuật viên (KTV)</a:t>
                      </a:r>
                      <a:endParaRPr/>
                    </a:p>
                  </a:txBody>
                  <a:tcPr marL="54875" marR="54875" marT="9150" marB="9150" anchor="ctr">
                    <a:solidFill>
                      <a:srgbClr val="FFFFFF"/>
                    </a:solidFill>
                  </a:tcPr>
                </a:tc>
                <a:tc>
                  <a:txBody>
                    <a:bodyPr/>
                    <a:lstStyle/>
                    <a:p>
                      <a:pPr marL="0" marR="0" lvl="0" indent="0" algn="ctr" rtl="0">
                        <a:lnSpc>
                          <a:spcPct val="100000"/>
                        </a:lnSpc>
                        <a:spcBef>
                          <a:spcPts val="0"/>
                        </a:spcBef>
                        <a:spcAft>
                          <a:spcPts val="0"/>
                        </a:spcAft>
                        <a:buNone/>
                      </a:pPr>
                      <a:r>
                        <a:rPr lang="en" sz="900" b="1" u="none" strike="noStrike" cap="none">
                          <a:solidFill>
                            <a:srgbClr val="333333"/>
                          </a:solidFill>
                          <a:latin typeface="Inter"/>
                          <a:ea typeface="Inter"/>
                          <a:cs typeface="Inter"/>
                          <a:sym typeface="Inter"/>
                        </a:rPr>
                        <a:t>VA</a:t>
                      </a:r>
                      <a:endParaRPr/>
                    </a:p>
                  </a:txBody>
                  <a:tcPr marL="54875" marR="54875" marT="9150" marB="9150" anchor="ctr">
                    <a:solidFill>
                      <a:srgbClr val="FFFFFF"/>
                    </a:solidFill>
                  </a:tcPr>
                </a:tc>
                <a:extLst>
                  <a:ext uri="{0D108BD9-81ED-4DB2-BD59-A6C34878D82A}">
                    <a16:rowId xmlns:a16="http://schemas.microsoft.com/office/drawing/2014/main" val="10004"/>
                  </a:ext>
                </a:extLst>
              </a:tr>
              <a:tr h="306325">
                <a:tc>
                  <a:txBody>
                    <a:bodyPr/>
                    <a:lstStyle/>
                    <a:p>
                      <a:pPr marL="0" marR="0" lvl="0" indent="0" algn="ctr" rtl="0">
                        <a:lnSpc>
                          <a:spcPct val="100000"/>
                        </a:lnSpc>
                        <a:spcBef>
                          <a:spcPts val="0"/>
                        </a:spcBef>
                        <a:spcAft>
                          <a:spcPts val="0"/>
                        </a:spcAft>
                        <a:buNone/>
                      </a:pPr>
                      <a:r>
                        <a:rPr lang="en" sz="900" u="none" strike="noStrike" cap="none">
                          <a:solidFill>
                            <a:srgbClr val="333333"/>
                          </a:solidFill>
                          <a:latin typeface="Inter"/>
                          <a:ea typeface="Inter"/>
                          <a:cs typeface="Inter"/>
                          <a:sym typeface="Inter"/>
                        </a:rPr>
                        <a:t>5</a:t>
                      </a:r>
                      <a:endParaRPr/>
                    </a:p>
                  </a:txBody>
                  <a:tcPr marL="54875" marR="54875" marT="9150" marB="9150" anchor="ctr">
                    <a:solidFill>
                      <a:srgbClr val="E0F2F1"/>
                    </a:solidFill>
                  </a:tcPr>
                </a:tc>
                <a:tc>
                  <a:txBody>
                    <a:bodyPr/>
                    <a:lstStyle/>
                    <a:p>
                      <a:pPr marL="0" marR="0" lvl="0" indent="0" algn="l" rtl="0">
                        <a:lnSpc>
                          <a:spcPct val="100000"/>
                        </a:lnSpc>
                        <a:spcBef>
                          <a:spcPts val="0"/>
                        </a:spcBef>
                        <a:spcAft>
                          <a:spcPts val="0"/>
                        </a:spcAft>
                        <a:buNone/>
                      </a:pPr>
                      <a:r>
                        <a:rPr lang="en" sz="900" strike="noStrike" cap="none">
                          <a:solidFill>
                            <a:srgbClr val="333333"/>
                          </a:solidFill>
                          <a:latin typeface="Inter"/>
                          <a:ea typeface="Inter"/>
                          <a:cs typeface="Inter"/>
                          <a:sym typeface="Inter"/>
                        </a:rPr>
                        <a:t>Nhập hóa đơn chi phí (nhân công, linh kiện, vật tư)</a:t>
                      </a:r>
                      <a:endParaRPr/>
                    </a:p>
                  </a:txBody>
                  <a:tcPr marL="54875" marR="54875" marT="9150" marB="9150" anchor="ctr">
                    <a:solidFill>
                      <a:srgbClr val="E0F2F1"/>
                    </a:solidFill>
                  </a:tcPr>
                </a:tc>
                <a:tc>
                  <a:txBody>
                    <a:bodyPr/>
                    <a:lstStyle/>
                    <a:p>
                      <a:pPr marL="0" marR="0" lvl="0" indent="0" algn="l" rtl="0">
                        <a:lnSpc>
                          <a:spcPct val="100000"/>
                        </a:lnSpc>
                        <a:spcBef>
                          <a:spcPts val="0"/>
                        </a:spcBef>
                        <a:spcAft>
                          <a:spcPts val="0"/>
                        </a:spcAft>
                        <a:buNone/>
                      </a:pPr>
                      <a:r>
                        <a:rPr lang="en" sz="900" u="none" strike="noStrike" cap="none">
                          <a:solidFill>
                            <a:srgbClr val="333333"/>
                          </a:solidFill>
                          <a:latin typeface="Inter"/>
                          <a:ea typeface="Inter"/>
                          <a:cs typeface="Inter"/>
                          <a:sym typeface="Inter"/>
                        </a:rPr>
                        <a:t>Kỹ thuật viên (KTV)</a:t>
                      </a:r>
                      <a:endParaRPr/>
                    </a:p>
                  </a:txBody>
                  <a:tcPr marL="54875" marR="54875" marT="9150" marB="9150" anchor="ctr">
                    <a:solidFill>
                      <a:srgbClr val="E0F2F1"/>
                    </a:solidFill>
                  </a:tcPr>
                </a:tc>
                <a:tc>
                  <a:txBody>
                    <a:bodyPr/>
                    <a:lstStyle/>
                    <a:p>
                      <a:pPr marL="0" marR="0" lvl="0" indent="0" algn="ctr" rtl="0">
                        <a:lnSpc>
                          <a:spcPct val="100000"/>
                        </a:lnSpc>
                        <a:spcBef>
                          <a:spcPts val="0"/>
                        </a:spcBef>
                        <a:spcAft>
                          <a:spcPts val="0"/>
                        </a:spcAft>
                        <a:buNone/>
                      </a:pPr>
                      <a:r>
                        <a:rPr lang="en" sz="900" b="1" u="none" strike="noStrike" cap="none">
                          <a:solidFill>
                            <a:srgbClr val="333333"/>
                          </a:solidFill>
                          <a:latin typeface="Inter"/>
                          <a:ea typeface="Inter"/>
                          <a:cs typeface="Inter"/>
                          <a:sym typeface="Inter"/>
                        </a:rPr>
                        <a:t>VBA</a:t>
                      </a:r>
                      <a:endParaRPr/>
                    </a:p>
                  </a:txBody>
                  <a:tcPr marL="54875" marR="54875" marT="9150" marB="9150" anchor="ctr">
                    <a:solidFill>
                      <a:srgbClr val="E0F2F1"/>
                    </a:solidFill>
                  </a:tcPr>
                </a:tc>
                <a:extLst>
                  <a:ext uri="{0D108BD9-81ED-4DB2-BD59-A6C34878D82A}">
                    <a16:rowId xmlns:a16="http://schemas.microsoft.com/office/drawing/2014/main" val="10005"/>
                  </a:ext>
                </a:extLst>
              </a:tr>
              <a:tr h="306325">
                <a:tc>
                  <a:txBody>
                    <a:bodyPr/>
                    <a:lstStyle/>
                    <a:p>
                      <a:pPr marL="0" marR="0" lvl="0" indent="0" algn="ctr" rtl="0">
                        <a:lnSpc>
                          <a:spcPct val="100000"/>
                        </a:lnSpc>
                        <a:spcBef>
                          <a:spcPts val="0"/>
                        </a:spcBef>
                        <a:spcAft>
                          <a:spcPts val="0"/>
                        </a:spcAft>
                        <a:buNone/>
                      </a:pPr>
                      <a:r>
                        <a:rPr lang="en" sz="900" u="none" strike="noStrike" cap="none">
                          <a:solidFill>
                            <a:srgbClr val="333333"/>
                          </a:solidFill>
                          <a:latin typeface="Inter"/>
                          <a:ea typeface="Inter"/>
                          <a:cs typeface="Inter"/>
                          <a:sym typeface="Inter"/>
                        </a:rPr>
                        <a:t>6</a:t>
                      </a:r>
                      <a:endParaRPr/>
                    </a:p>
                  </a:txBody>
                  <a:tcPr marL="54875" marR="54875" marT="9150" marB="9150" anchor="ctr">
                    <a:solidFill>
                      <a:srgbClr val="FFFFFF"/>
                    </a:solidFill>
                  </a:tcPr>
                </a:tc>
                <a:tc>
                  <a:txBody>
                    <a:bodyPr/>
                    <a:lstStyle/>
                    <a:p>
                      <a:pPr marL="0" marR="0" lvl="0" indent="0" algn="l" rtl="0">
                        <a:lnSpc>
                          <a:spcPct val="100000"/>
                        </a:lnSpc>
                        <a:spcBef>
                          <a:spcPts val="0"/>
                        </a:spcBef>
                        <a:spcAft>
                          <a:spcPts val="0"/>
                        </a:spcAft>
                        <a:buNone/>
                      </a:pPr>
                      <a:r>
                        <a:rPr lang="en" sz="900" strike="noStrike" cap="none">
                          <a:solidFill>
                            <a:srgbClr val="333333"/>
                          </a:solidFill>
                          <a:latin typeface="Inter"/>
                          <a:ea typeface="Inter"/>
                          <a:cs typeface="Inter"/>
                          <a:sym typeface="Inter"/>
                        </a:rPr>
                        <a:t>Kiểm tra tồn kho linh kiện cần dùng</a:t>
                      </a:r>
                      <a:endParaRPr/>
                    </a:p>
                  </a:txBody>
                  <a:tcPr marL="54875" marR="54875" marT="9150" marB="9150" anchor="ctr">
                    <a:solidFill>
                      <a:srgbClr val="FFFFFF"/>
                    </a:solidFill>
                  </a:tcPr>
                </a:tc>
                <a:tc>
                  <a:txBody>
                    <a:bodyPr/>
                    <a:lstStyle/>
                    <a:p>
                      <a:pPr marL="0" marR="0" lvl="0" indent="0" algn="l" rtl="0">
                        <a:lnSpc>
                          <a:spcPct val="100000"/>
                        </a:lnSpc>
                        <a:spcBef>
                          <a:spcPts val="0"/>
                        </a:spcBef>
                        <a:spcAft>
                          <a:spcPts val="0"/>
                        </a:spcAft>
                        <a:buNone/>
                      </a:pPr>
                      <a:r>
                        <a:rPr lang="en" sz="900" u="none" strike="noStrike" cap="none">
                          <a:solidFill>
                            <a:srgbClr val="333333"/>
                          </a:solidFill>
                          <a:latin typeface="Inter"/>
                          <a:ea typeface="Inter"/>
                          <a:cs typeface="Inter"/>
                          <a:sym typeface="Inter"/>
                        </a:rPr>
                        <a:t>Kỹ thuật viên (KTV)</a:t>
                      </a:r>
                      <a:endParaRPr/>
                    </a:p>
                  </a:txBody>
                  <a:tcPr marL="54875" marR="54875" marT="9150" marB="9150" anchor="ctr">
                    <a:solidFill>
                      <a:srgbClr val="FFFFFF"/>
                    </a:solidFill>
                  </a:tcPr>
                </a:tc>
                <a:tc>
                  <a:txBody>
                    <a:bodyPr/>
                    <a:lstStyle/>
                    <a:p>
                      <a:pPr marL="0" marR="0" lvl="0" indent="0" algn="ctr" rtl="0">
                        <a:lnSpc>
                          <a:spcPct val="100000"/>
                        </a:lnSpc>
                        <a:spcBef>
                          <a:spcPts val="0"/>
                        </a:spcBef>
                        <a:spcAft>
                          <a:spcPts val="0"/>
                        </a:spcAft>
                        <a:buNone/>
                      </a:pPr>
                      <a:r>
                        <a:rPr lang="en" sz="900" b="1" u="none" strike="noStrike" cap="none">
                          <a:solidFill>
                            <a:srgbClr val="333333"/>
                          </a:solidFill>
                          <a:latin typeface="Inter"/>
                          <a:ea typeface="Inter"/>
                          <a:cs typeface="Inter"/>
                          <a:sym typeface="Inter"/>
                        </a:rPr>
                        <a:t>NVA</a:t>
                      </a:r>
                      <a:endParaRPr/>
                    </a:p>
                  </a:txBody>
                  <a:tcPr marL="54875" marR="54875" marT="9150" marB="9150" anchor="ctr">
                    <a:solidFill>
                      <a:srgbClr val="FFFFFF"/>
                    </a:solidFill>
                  </a:tcPr>
                </a:tc>
                <a:extLst>
                  <a:ext uri="{0D108BD9-81ED-4DB2-BD59-A6C34878D82A}">
                    <a16:rowId xmlns:a16="http://schemas.microsoft.com/office/drawing/2014/main" val="10006"/>
                  </a:ext>
                </a:extLst>
              </a:tr>
              <a:tr h="306325">
                <a:tc>
                  <a:txBody>
                    <a:bodyPr/>
                    <a:lstStyle/>
                    <a:p>
                      <a:pPr marL="0" marR="0" lvl="0" indent="0" algn="ctr" rtl="0">
                        <a:lnSpc>
                          <a:spcPct val="100000"/>
                        </a:lnSpc>
                        <a:spcBef>
                          <a:spcPts val="0"/>
                        </a:spcBef>
                        <a:spcAft>
                          <a:spcPts val="0"/>
                        </a:spcAft>
                        <a:buNone/>
                      </a:pPr>
                      <a:r>
                        <a:rPr lang="en" sz="900" u="none" strike="noStrike" cap="none">
                          <a:solidFill>
                            <a:srgbClr val="333333"/>
                          </a:solidFill>
                          <a:latin typeface="Inter"/>
                          <a:ea typeface="Inter"/>
                          <a:cs typeface="Inter"/>
                          <a:sym typeface="Inter"/>
                        </a:rPr>
                        <a:t>7</a:t>
                      </a:r>
                      <a:endParaRPr/>
                    </a:p>
                  </a:txBody>
                  <a:tcPr marL="54875" marR="54875" marT="9150" marB="9150" anchor="ctr">
                    <a:solidFill>
                      <a:srgbClr val="E0F2F1"/>
                    </a:solidFill>
                  </a:tcPr>
                </a:tc>
                <a:tc>
                  <a:txBody>
                    <a:bodyPr/>
                    <a:lstStyle/>
                    <a:p>
                      <a:pPr marL="0" marR="0" lvl="0" indent="0" algn="l" rtl="0">
                        <a:lnSpc>
                          <a:spcPct val="100000"/>
                        </a:lnSpc>
                        <a:spcBef>
                          <a:spcPts val="0"/>
                        </a:spcBef>
                        <a:spcAft>
                          <a:spcPts val="0"/>
                        </a:spcAft>
                        <a:buNone/>
                      </a:pPr>
                      <a:r>
                        <a:rPr lang="en" sz="900" strike="noStrike" cap="none">
                          <a:solidFill>
                            <a:srgbClr val="333333"/>
                          </a:solidFill>
                          <a:latin typeface="Inter"/>
                          <a:ea typeface="Inter"/>
                          <a:cs typeface="Inter"/>
                          <a:sym typeface="Inter"/>
                        </a:rPr>
                        <a:t>Chọn lý do &amp; hẹn lịch lần sau (thiếu linh kiện)</a:t>
                      </a:r>
                      <a:endParaRPr/>
                    </a:p>
                  </a:txBody>
                  <a:tcPr marL="54875" marR="54875" marT="9150" marB="9150" anchor="ctr">
                    <a:solidFill>
                      <a:srgbClr val="E0F2F1"/>
                    </a:solidFill>
                  </a:tcPr>
                </a:tc>
                <a:tc>
                  <a:txBody>
                    <a:bodyPr/>
                    <a:lstStyle/>
                    <a:p>
                      <a:pPr marL="0" marR="0" lvl="0" indent="0" algn="l" rtl="0">
                        <a:lnSpc>
                          <a:spcPct val="100000"/>
                        </a:lnSpc>
                        <a:spcBef>
                          <a:spcPts val="0"/>
                        </a:spcBef>
                        <a:spcAft>
                          <a:spcPts val="0"/>
                        </a:spcAft>
                        <a:buNone/>
                      </a:pPr>
                      <a:r>
                        <a:rPr lang="en" sz="900" u="none" strike="noStrike" cap="none">
                          <a:solidFill>
                            <a:srgbClr val="333333"/>
                          </a:solidFill>
                          <a:latin typeface="Inter"/>
                          <a:ea typeface="Inter"/>
                          <a:cs typeface="Inter"/>
                          <a:sym typeface="Inter"/>
                        </a:rPr>
                        <a:t>Kỹ thuật viên (KTV)</a:t>
                      </a:r>
                      <a:endParaRPr/>
                    </a:p>
                  </a:txBody>
                  <a:tcPr marL="54875" marR="54875" marT="9150" marB="9150" anchor="ctr">
                    <a:solidFill>
                      <a:srgbClr val="E0F2F1"/>
                    </a:solidFill>
                  </a:tcPr>
                </a:tc>
                <a:tc>
                  <a:txBody>
                    <a:bodyPr/>
                    <a:lstStyle/>
                    <a:p>
                      <a:pPr marL="0" marR="0" lvl="0" indent="0" algn="ctr" rtl="0">
                        <a:lnSpc>
                          <a:spcPct val="100000"/>
                        </a:lnSpc>
                        <a:spcBef>
                          <a:spcPts val="0"/>
                        </a:spcBef>
                        <a:spcAft>
                          <a:spcPts val="0"/>
                        </a:spcAft>
                        <a:buNone/>
                      </a:pPr>
                      <a:r>
                        <a:rPr lang="en" sz="900" b="1" u="none" strike="noStrike" cap="none">
                          <a:solidFill>
                            <a:srgbClr val="333333"/>
                          </a:solidFill>
                          <a:latin typeface="Inter"/>
                          <a:ea typeface="Inter"/>
                          <a:cs typeface="Inter"/>
                          <a:sym typeface="Inter"/>
                        </a:rPr>
                        <a:t>NVA</a:t>
                      </a:r>
                      <a:endParaRPr/>
                    </a:p>
                  </a:txBody>
                  <a:tcPr marL="54875" marR="54875" marT="9150" marB="9150" anchor="ctr">
                    <a:solidFill>
                      <a:srgbClr val="E0F2F1"/>
                    </a:solidFill>
                  </a:tcPr>
                </a:tc>
                <a:extLst>
                  <a:ext uri="{0D108BD9-81ED-4DB2-BD59-A6C34878D82A}">
                    <a16:rowId xmlns:a16="http://schemas.microsoft.com/office/drawing/2014/main" val="10007"/>
                  </a:ext>
                </a:extLst>
              </a:tr>
              <a:tr h="306325">
                <a:tc>
                  <a:txBody>
                    <a:bodyPr/>
                    <a:lstStyle/>
                    <a:p>
                      <a:pPr marL="0" marR="0" lvl="0" indent="0" algn="ctr" rtl="0">
                        <a:lnSpc>
                          <a:spcPct val="100000"/>
                        </a:lnSpc>
                        <a:spcBef>
                          <a:spcPts val="0"/>
                        </a:spcBef>
                        <a:spcAft>
                          <a:spcPts val="0"/>
                        </a:spcAft>
                        <a:buNone/>
                      </a:pPr>
                      <a:r>
                        <a:rPr lang="en" sz="900" u="none" strike="noStrike" cap="none">
                          <a:solidFill>
                            <a:srgbClr val="333333"/>
                          </a:solidFill>
                          <a:latin typeface="Inter"/>
                          <a:ea typeface="Inter"/>
                          <a:cs typeface="Inter"/>
                          <a:sym typeface="Inter"/>
                        </a:rPr>
                        <a:t>8</a:t>
                      </a:r>
                      <a:endParaRPr/>
                    </a:p>
                  </a:txBody>
                  <a:tcPr marL="54875" marR="54875" marT="9150" marB="9150" anchor="ctr">
                    <a:solidFill>
                      <a:srgbClr val="FFFFFF"/>
                    </a:solidFill>
                  </a:tcPr>
                </a:tc>
                <a:tc>
                  <a:txBody>
                    <a:bodyPr/>
                    <a:lstStyle/>
                    <a:p>
                      <a:pPr marL="0" marR="0" lvl="0" indent="0" algn="l" rtl="0">
                        <a:lnSpc>
                          <a:spcPct val="100000"/>
                        </a:lnSpc>
                        <a:spcBef>
                          <a:spcPts val="0"/>
                        </a:spcBef>
                        <a:spcAft>
                          <a:spcPts val="0"/>
                        </a:spcAft>
                        <a:buNone/>
                      </a:pPr>
                      <a:r>
                        <a:rPr lang="en" sz="900" strike="noStrike" cap="none">
                          <a:solidFill>
                            <a:srgbClr val="333333"/>
                          </a:solidFill>
                          <a:latin typeface="Inter"/>
                          <a:ea typeface="Inter"/>
                          <a:cs typeface="Inter"/>
                          <a:sym typeface="Inter"/>
                        </a:rPr>
                        <a:t>Khách hàng xác nhận chi phí</a:t>
                      </a:r>
                      <a:endParaRPr/>
                    </a:p>
                  </a:txBody>
                  <a:tcPr marL="54875" marR="54875" marT="9150" marB="9150" anchor="ctr">
                    <a:solidFill>
                      <a:srgbClr val="FFFFFF"/>
                    </a:solidFill>
                  </a:tcPr>
                </a:tc>
                <a:tc>
                  <a:txBody>
                    <a:bodyPr/>
                    <a:lstStyle/>
                    <a:p>
                      <a:pPr marL="0" marR="0" lvl="0" indent="0" algn="l" rtl="0">
                        <a:lnSpc>
                          <a:spcPct val="100000"/>
                        </a:lnSpc>
                        <a:spcBef>
                          <a:spcPts val="0"/>
                        </a:spcBef>
                        <a:spcAft>
                          <a:spcPts val="0"/>
                        </a:spcAft>
                        <a:buNone/>
                      </a:pPr>
                      <a:r>
                        <a:rPr lang="en" sz="900" u="none" strike="noStrike" cap="none">
                          <a:solidFill>
                            <a:srgbClr val="333333"/>
                          </a:solidFill>
                          <a:latin typeface="Inter"/>
                          <a:ea typeface="Inter"/>
                          <a:cs typeface="Inter"/>
                          <a:sym typeface="Inter"/>
                        </a:rPr>
                        <a:t>Khách hàng</a:t>
                      </a:r>
                      <a:endParaRPr/>
                    </a:p>
                  </a:txBody>
                  <a:tcPr marL="54875" marR="54875" marT="9150" marB="9150" anchor="ctr">
                    <a:solidFill>
                      <a:srgbClr val="FFFFFF"/>
                    </a:solidFill>
                  </a:tcPr>
                </a:tc>
                <a:tc>
                  <a:txBody>
                    <a:bodyPr/>
                    <a:lstStyle/>
                    <a:p>
                      <a:pPr marL="0" marR="0" lvl="0" indent="0" algn="ctr" rtl="0">
                        <a:lnSpc>
                          <a:spcPct val="100000"/>
                        </a:lnSpc>
                        <a:spcBef>
                          <a:spcPts val="0"/>
                        </a:spcBef>
                        <a:spcAft>
                          <a:spcPts val="0"/>
                        </a:spcAft>
                        <a:buNone/>
                      </a:pPr>
                      <a:r>
                        <a:rPr lang="en" sz="900" b="1" u="none" strike="noStrike" cap="none">
                          <a:solidFill>
                            <a:srgbClr val="333333"/>
                          </a:solidFill>
                          <a:latin typeface="Inter"/>
                          <a:ea typeface="Inter"/>
                          <a:cs typeface="Inter"/>
                          <a:sym typeface="Inter"/>
                        </a:rPr>
                        <a:t>VA</a:t>
                      </a:r>
                      <a:endParaRPr/>
                    </a:p>
                  </a:txBody>
                  <a:tcPr marL="54875" marR="54875" marT="9150" marB="9150" anchor="ctr">
                    <a:solidFill>
                      <a:srgbClr val="FFFFFF"/>
                    </a:solidFill>
                  </a:tcPr>
                </a:tc>
                <a:extLst>
                  <a:ext uri="{0D108BD9-81ED-4DB2-BD59-A6C34878D82A}">
                    <a16:rowId xmlns:a16="http://schemas.microsoft.com/office/drawing/2014/main" val="10008"/>
                  </a:ext>
                </a:extLst>
              </a:tr>
              <a:tr h="306325">
                <a:tc>
                  <a:txBody>
                    <a:bodyPr/>
                    <a:lstStyle/>
                    <a:p>
                      <a:pPr marL="0" marR="0" lvl="0" indent="0" algn="ctr" rtl="0">
                        <a:lnSpc>
                          <a:spcPct val="100000"/>
                        </a:lnSpc>
                        <a:spcBef>
                          <a:spcPts val="0"/>
                        </a:spcBef>
                        <a:spcAft>
                          <a:spcPts val="0"/>
                        </a:spcAft>
                        <a:buNone/>
                      </a:pPr>
                      <a:r>
                        <a:rPr lang="en" sz="900" u="none" strike="noStrike" cap="none">
                          <a:solidFill>
                            <a:srgbClr val="333333"/>
                          </a:solidFill>
                          <a:latin typeface="Inter"/>
                          <a:ea typeface="Inter"/>
                          <a:cs typeface="Inter"/>
                          <a:sym typeface="Inter"/>
                        </a:rPr>
                        <a:t>9</a:t>
                      </a:r>
                      <a:endParaRPr/>
                    </a:p>
                  </a:txBody>
                  <a:tcPr marL="54875" marR="54875" marT="9150" marB="9150" anchor="ctr">
                    <a:solidFill>
                      <a:srgbClr val="E0F2F1"/>
                    </a:solidFill>
                  </a:tcPr>
                </a:tc>
                <a:tc>
                  <a:txBody>
                    <a:bodyPr/>
                    <a:lstStyle/>
                    <a:p>
                      <a:pPr marL="0" marR="0" lvl="0" indent="0" algn="l" rtl="0">
                        <a:lnSpc>
                          <a:spcPct val="100000"/>
                        </a:lnSpc>
                        <a:spcBef>
                          <a:spcPts val="0"/>
                        </a:spcBef>
                        <a:spcAft>
                          <a:spcPts val="0"/>
                        </a:spcAft>
                        <a:buNone/>
                      </a:pPr>
                      <a:r>
                        <a:rPr lang="en" sz="900" strike="noStrike" cap="none">
                          <a:solidFill>
                            <a:srgbClr val="333333"/>
                          </a:solidFill>
                          <a:latin typeface="Inter"/>
                          <a:ea typeface="Inter"/>
                          <a:cs typeface="Inter"/>
                          <a:sym typeface="Inter"/>
                        </a:rPr>
                        <a:t>Khiếu nại/yêu cầu điều chỉnh chi phí</a:t>
                      </a:r>
                      <a:endParaRPr/>
                    </a:p>
                  </a:txBody>
                  <a:tcPr marL="54875" marR="54875" marT="9150" marB="9150" anchor="ctr">
                    <a:solidFill>
                      <a:srgbClr val="E0F2F1"/>
                    </a:solidFill>
                  </a:tcPr>
                </a:tc>
                <a:tc>
                  <a:txBody>
                    <a:bodyPr/>
                    <a:lstStyle/>
                    <a:p>
                      <a:pPr marL="0" marR="0" lvl="0" indent="0" algn="l" rtl="0">
                        <a:lnSpc>
                          <a:spcPct val="100000"/>
                        </a:lnSpc>
                        <a:spcBef>
                          <a:spcPts val="0"/>
                        </a:spcBef>
                        <a:spcAft>
                          <a:spcPts val="0"/>
                        </a:spcAft>
                        <a:buNone/>
                      </a:pPr>
                      <a:r>
                        <a:rPr lang="en" sz="900" u="none" strike="noStrike" cap="none">
                          <a:solidFill>
                            <a:srgbClr val="333333"/>
                          </a:solidFill>
                          <a:latin typeface="Inter"/>
                          <a:ea typeface="Inter"/>
                          <a:cs typeface="Inter"/>
                          <a:sym typeface="Inter"/>
                        </a:rPr>
                        <a:t>Khách hàng</a:t>
                      </a:r>
                      <a:endParaRPr/>
                    </a:p>
                  </a:txBody>
                  <a:tcPr marL="54875" marR="54875" marT="9150" marB="9150" anchor="ctr">
                    <a:solidFill>
                      <a:srgbClr val="E0F2F1"/>
                    </a:solidFill>
                  </a:tcPr>
                </a:tc>
                <a:tc>
                  <a:txBody>
                    <a:bodyPr/>
                    <a:lstStyle/>
                    <a:p>
                      <a:pPr marL="0" marR="0" lvl="0" indent="0" algn="ctr" rtl="0">
                        <a:lnSpc>
                          <a:spcPct val="100000"/>
                        </a:lnSpc>
                        <a:spcBef>
                          <a:spcPts val="0"/>
                        </a:spcBef>
                        <a:spcAft>
                          <a:spcPts val="0"/>
                        </a:spcAft>
                        <a:buNone/>
                      </a:pPr>
                      <a:r>
                        <a:rPr lang="en" sz="900" b="1" u="none" strike="noStrike" cap="none">
                          <a:solidFill>
                            <a:srgbClr val="333333"/>
                          </a:solidFill>
                          <a:latin typeface="Inter"/>
                          <a:ea typeface="Inter"/>
                          <a:cs typeface="Inter"/>
                          <a:sym typeface="Inter"/>
                        </a:rPr>
                        <a:t>NVA</a:t>
                      </a:r>
                      <a:endParaRPr/>
                    </a:p>
                  </a:txBody>
                  <a:tcPr marL="54875" marR="54875" marT="9150" marB="9150" anchor="ctr">
                    <a:solidFill>
                      <a:srgbClr val="E0F2F1"/>
                    </a:solidFill>
                  </a:tcPr>
                </a:tc>
                <a:extLst>
                  <a:ext uri="{0D108BD9-81ED-4DB2-BD59-A6C34878D82A}">
                    <a16:rowId xmlns:a16="http://schemas.microsoft.com/office/drawing/2014/main" val="10009"/>
                  </a:ext>
                </a:extLst>
              </a:tr>
              <a:tr h="306325">
                <a:tc>
                  <a:txBody>
                    <a:bodyPr/>
                    <a:lstStyle/>
                    <a:p>
                      <a:pPr marL="0" marR="0" lvl="0" indent="0" algn="ctr" rtl="0">
                        <a:lnSpc>
                          <a:spcPct val="100000"/>
                        </a:lnSpc>
                        <a:spcBef>
                          <a:spcPts val="0"/>
                        </a:spcBef>
                        <a:spcAft>
                          <a:spcPts val="0"/>
                        </a:spcAft>
                        <a:buNone/>
                      </a:pPr>
                      <a:r>
                        <a:rPr lang="en" sz="900" u="none" strike="noStrike" cap="none">
                          <a:solidFill>
                            <a:srgbClr val="333333"/>
                          </a:solidFill>
                          <a:latin typeface="Inter"/>
                          <a:ea typeface="Inter"/>
                          <a:cs typeface="Inter"/>
                          <a:sym typeface="Inter"/>
                        </a:rPr>
                        <a:t>10</a:t>
                      </a:r>
                      <a:endParaRPr/>
                    </a:p>
                  </a:txBody>
                  <a:tcPr marL="54875" marR="54875" marT="9150" marB="9150" anchor="ctr">
                    <a:solidFill>
                      <a:srgbClr val="FFFFFF"/>
                    </a:solidFill>
                  </a:tcPr>
                </a:tc>
                <a:tc>
                  <a:txBody>
                    <a:bodyPr/>
                    <a:lstStyle/>
                    <a:p>
                      <a:pPr marL="0" marR="0" lvl="0" indent="0" algn="l" rtl="0">
                        <a:lnSpc>
                          <a:spcPct val="100000"/>
                        </a:lnSpc>
                        <a:spcBef>
                          <a:spcPts val="0"/>
                        </a:spcBef>
                        <a:spcAft>
                          <a:spcPts val="0"/>
                        </a:spcAft>
                        <a:buNone/>
                      </a:pPr>
                      <a:r>
                        <a:rPr lang="en" sz="900" strike="noStrike" cap="none">
                          <a:solidFill>
                            <a:srgbClr val="333333"/>
                          </a:solidFill>
                          <a:latin typeface="Inter"/>
                          <a:ea typeface="Inter"/>
                          <a:cs typeface="Inter"/>
                          <a:sym typeface="Inter"/>
                        </a:rPr>
                        <a:t>Xử lý sửa chữa</a:t>
                      </a:r>
                      <a:endParaRPr/>
                    </a:p>
                  </a:txBody>
                  <a:tcPr marL="54875" marR="54875" marT="9150" marB="9150" anchor="ctr">
                    <a:solidFill>
                      <a:srgbClr val="FFFFFF"/>
                    </a:solidFill>
                  </a:tcPr>
                </a:tc>
                <a:tc>
                  <a:txBody>
                    <a:bodyPr/>
                    <a:lstStyle/>
                    <a:p>
                      <a:pPr marL="0" marR="0" lvl="0" indent="0" algn="l" rtl="0">
                        <a:lnSpc>
                          <a:spcPct val="100000"/>
                        </a:lnSpc>
                        <a:spcBef>
                          <a:spcPts val="0"/>
                        </a:spcBef>
                        <a:spcAft>
                          <a:spcPts val="0"/>
                        </a:spcAft>
                        <a:buNone/>
                      </a:pPr>
                      <a:r>
                        <a:rPr lang="en" sz="900" u="none" strike="noStrike" cap="none">
                          <a:solidFill>
                            <a:srgbClr val="333333"/>
                          </a:solidFill>
                          <a:latin typeface="Inter"/>
                          <a:ea typeface="Inter"/>
                          <a:cs typeface="Inter"/>
                          <a:sym typeface="Inter"/>
                        </a:rPr>
                        <a:t>Kỹ thuật viên (KTV)</a:t>
                      </a:r>
                      <a:endParaRPr/>
                    </a:p>
                  </a:txBody>
                  <a:tcPr marL="54875" marR="54875" marT="9150" marB="9150" anchor="ctr">
                    <a:solidFill>
                      <a:srgbClr val="FFFFFF"/>
                    </a:solidFill>
                  </a:tcPr>
                </a:tc>
                <a:tc>
                  <a:txBody>
                    <a:bodyPr/>
                    <a:lstStyle/>
                    <a:p>
                      <a:pPr marL="0" marR="0" lvl="0" indent="0" algn="ctr" rtl="0">
                        <a:lnSpc>
                          <a:spcPct val="100000"/>
                        </a:lnSpc>
                        <a:spcBef>
                          <a:spcPts val="0"/>
                        </a:spcBef>
                        <a:spcAft>
                          <a:spcPts val="0"/>
                        </a:spcAft>
                        <a:buNone/>
                      </a:pPr>
                      <a:r>
                        <a:rPr lang="en" sz="900" b="1" u="none" strike="noStrike" cap="none">
                          <a:solidFill>
                            <a:srgbClr val="333333"/>
                          </a:solidFill>
                          <a:latin typeface="Inter"/>
                          <a:ea typeface="Inter"/>
                          <a:cs typeface="Inter"/>
                          <a:sym typeface="Inter"/>
                        </a:rPr>
                        <a:t>VA</a:t>
                      </a:r>
                      <a:endParaRPr/>
                    </a:p>
                  </a:txBody>
                  <a:tcPr marL="54875" marR="54875" marT="9150" marB="9150" anchor="ctr">
                    <a:solidFill>
                      <a:srgbClr val="FFFFFF"/>
                    </a:solidFill>
                  </a:tcPr>
                </a:tc>
                <a:extLst>
                  <a:ext uri="{0D108BD9-81ED-4DB2-BD59-A6C34878D82A}">
                    <a16:rowId xmlns:a16="http://schemas.microsoft.com/office/drawing/2014/main" val="10010"/>
                  </a:ext>
                </a:extLst>
              </a:tr>
              <a:tr h="306325">
                <a:tc>
                  <a:txBody>
                    <a:bodyPr/>
                    <a:lstStyle/>
                    <a:p>
                      <a:pPr marL="0" marR="0" lvl="0" indent="0" algn="ctr" rtl="0">
                        <a:lnSpc>
                          <a:spcPct val="100000"/>
                        </a:lnSpc>
                        <a:spcBef>
                          <a:spcPts val="0"/>
                        </a:spcBef>
                        <a:spcAft>
                          <a:spcPts val="0"/>
                        </a:spcAft>
                        <a:buNone/>
                      </a:pPr>
                      <a:r>
                        <a:rPr lang="en" sz="900" u="none" strike="noStrike" cap="none">
                          <a:solidFill>
                            <a:srgbClr val="333333"/>
                          </a:solidFill>
                          <a:latin typeface="Inter"/>
                          <a:ea typeface="Inter"/>
                          <a:cs typeface="Inter"/>
                          <a:sym typeface="Inter"/>
                        </a:rPr>
                        <a:t>11</a:t>
                      </a:r>
                      <a:endParaRPr/>
                    </a:p>
                  </a:txBody>
                  <a:tcPr marL="54875" marR="54875" marT="9150" marB="9150" anchor="ctr">
                    <a:solidFill>
                      <a:srgbClr val="E0F2F1"/>
                    </a:solidFill>
                  </a:tcPr>
                </a:tc>
                <a:tc>
                  <a:txBody>
                    <a:bodyPr/>
                    <a:lstStyle/>
                    <a:p>
                      <a:pPr marL="0" marR="0" lvl="0" indent="0" algn="l" rtl="0">
                        <a:lnSpc>
                          <a:spcPct val="100000"/>
                        </a:lnSpc>
                        <a:spcBef>
                          <a:spcPts val="0"/>
                        </a:spcBef>
                        <a:spcAft>
                          <a:spcPts val="0"/>
                        </a:spcAft>
                        <a:buNone/>
                      </a:pPr>
                      <a:r>
                        <a:rPr lang="en" sz="900" strike="noStrike" cap="none">
                          <a:solidFill>
                            <a:srgbClr val="333333"/>
                          </a:solidFill>
                          <a:latin typeface="Inter"/>
                          <a:ea typeface="Inter"/>
                          <a:cs typeface="Inter"/>
                          <a:sym typeface="Inter"/>
                        </a:rPr>
                        <a:t>Nhập “Báo cáo kỹ thuật” &amp; kết thúc yêu cầu</a:t>
                      </a:r>
                      <a:endParaRPr/>
                    </a:p>
                  </a:txBody>
                  <a:tcPr marL="54875" marR="54875" marT="9150" marB="9150" anchor="ctr">
                    <a:solidFill>
                      <a:srgbClr val="E0F2F1"/>
                    </a:solidFill>
                  </a:tcPr>
                </a:tc>
                <a:tc>
                  <a:txBody>
                    <a:bodyPr/>
                    <a:lstStyle/>
                    <a:p>
                      <a:pPr marL="0" marR="0" lvl="0" indent="0" algn="l" rtl="0">
                        <a:lnSpc>
                          <a:spcPct val="100000"/>
                        </a:lnSpc>
                        <a:spcBef>
                          <a:spcPts val="0"/>
                        </a:spcBef>
                        <a:spcAft>
                          <a:spcPts val="0"/>
                        </a:spcAft>
                        <a:buNone/>
                      </a:pPr>
                      <a:r>
                        <a:rPr lang="en" sz="900" u="none" strike="noStrike" cap="none">
                          <a:solidFill>
                            <a:srgbClr val="333333"/>
                          </a:solidFill>
                          <a:latin typeface="Inter"/>
                          <a:ea typeface="Inter"/>
                          <a:cs typeface="Inter"/>
                          <a:sym typeface="Inter"/>
                        </a:rPr>
                        <a:t>Kỹ thuật viên (KTV)</a:t>
                      </a:r>
                      <a:endParaRPr/>
                    </a:p>
                  </a:txBody>
                  <a:tcPr marL="54875" marR="54875" marT="9150" marB="9150" anchor="ctr">
                    <a:solidFill>
                      <a:srgbClr val="E0F2F1"/>
                    </a:solidFill>
                  </a:tcPr>
                </a:tc>
                <a:tc>
                  <a:txBody>
                    <a:bodyPr/>
                    <a:lstStyle/>
                    <a:p>
                      <a:pPr marL="0" marR="0" lvl="0" indent="0" algn="ctr" rtl="0">
                        <a:lnSpc>
                          <a:spcPct val="100000"/>
                        </a:lnSpc>
                        <a:spcBef>
                          <a:spcPts val="0"/>
                        </a:spcBef>
                        <a:spcAft>
                          <a:spcPts val="0"/>
                        </a:spcAft>
                        <a:buNone/>
                      </a:pPr>
                      <a:r>
                        <a:rPr lang="en" sz="900" b="1" u="none" strike="noStrike" cap="none">
                          <a:solidFill>
                            <a:srgbClr val="333333"/>
                          </a:solidFill>
                          <a:latin typeface="Inter"/>
                          <a:ea typeface="Inter"/>
                          <a:cs typeface="Inter"/>
                          <a:sym typeface="Inter"/>
                        </a:rPr>
                        <a:t>VBA</a:t>
                      </a:r>
                      <a:endParaRPr/>
                    </a:p>
                  </a:txBody>
                  <a:tcPr marL="54875" marR="54875" marT="9150" marB="9150" anchor="ctr">
                    <a:solidFill>
                      <a:srgbClr val="E0F2F1"/>
                    </a:solidFill>
                  </a:tcPr>
                </a:tc>
                <a:extLst>
                  <a:ext uri="{0D108BD9-81ED-4DB2-BD59-A6C34878D82A}">
                    <a16:rowId xmlns:a16="http://schemas.microsoft.com/office/drawing/2014/main" val="10011"/>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726"/>
        <p:cNvGrpSpPr/>
        <p:nvPr/>
      </p:nvGrpSpPr>
      <p:grpSpPr>
        <a:xfrm>
          <a:off x="0" y="0"/>
          <a:ext cx="0" cy="0"/>
          <a:chOff x="0" y="0"/>
          <a:chExt cx="0" cy="0"/>
        </a:xfrm>
      </p:grpSpPr>
      <p:sp>
        <p:nvSpPr>
          <p:cNvPr id="727" name="Google Shape;727;p39"/>
          <p:cNvSpPr/>
          <p:nvPr/>
        </p:nvSpPr>
        <p:spPr>
          <a:xfrm>
            <a:off x="-101425" y="-72425"/>
            <a:ext cx="9144000" cy="5143500"/>
          </a:xfrm>
          <a:prstGeom prst="rect">
            <a:avLst/>
          </a:pr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728" name="Google Shape;728;p39"/>
          <p:cNvGrpSpPr/>
          <p:nvPr/>
        </p:nvGrpSpPr>
        <p:grpSpPr>
          <a:xfrm>
            <a:off x="8458200" y="381000"/>
            <a:ext cx="304800" cy="304800"/>
            <a:chOff x="0" y="0"/>
            <a:chExt cx="304800" cy="304800"/>
          </a:xfrm>
        </p:grpSpPr>
        <p:sp>
          <p:nvSpPr>
            <p:cNvPr id="729" name="Google Shape;729;p39"/>
            <p:cNvSpPr/>
            <p:nvPr/>
          </p:nvSpPr>
          <p:spPr>
            <a:xfrm>
              <a:off x="0" y="0"/>
              <a:ext cx="304800" cy="304800"/>
            </a:xfrm>
            <a:prstGeom prst="roundRect">
              <a:avLst>
                <a:gd name="adj" fmla="val 125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30" name="Google Shape;730;p39"/>
            <p:cNvSpPr/>
            <p:nvPr/>
          </p:nvSpPr>
          <p:spPr>
            <a:xfrm>
              <a:off x="95250" y="95250"/>
              <a:ext cx="114300" cy="114300"/>
            </a:xfrm>
            <a:custGeom>
              <a:avLst/>
              <a:gdLst/>
              <a:ahLst/>
              <a:cxnLst/>
              <a:rect l="l" t="t" r="r" b="b"/>
              <a:pathLst>
                <a:path w="120000" h="120000" extrusionOk="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31" name="Google Shape;731;p39"/>
            <p:cNvSpPr/>
            <p:nvPr/>
          </p:nvSpPr>
          <p:spPr>
            <a:xfrm>
              <a:off x="123825" y="123825"/>
              <a:ext cx="57300" cy="57300"/>
            </a:xfrm>
            <a:prstGeom prst="ellipse">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cxnSp>
        <p:nvCxnSpPr>
          <p:cNvPr id="732" name="Google Shape;732;p39"/>
          <p:cNvCxnSpPr/>
          <p:nvPr/>
        </p:nvCxnSpPr>
        <p:spPr>
          <a:xfrm>
            <a:off x="381000" y="1143000"/>
            <a:ext cx="8382000" cy="0"/>
          </a:xfrm>
          <a:prstGeom prst="straightConnector1">
            <a:avLst/>
          </a:prstGeom>
          <a:solidFill>
            <a:srgbClr val="FFFFFF"/>
          </a:solidFill>
          <a:ln w="14300" cap="flat" cmpd="sng">
            <a:solidFill>
              <a:srgbClr val="E2E8F0"/>
            </a:solidFill>
            <a:prstDash val="solid"/>
            <a:round/>
            <a:headEnd type="none" w="sm" len="sm"/>
            <a:tailEnd type="none" w="sm" len="sm"/>
          </a:ln>
        </p:spPr>
      </p:cxnSp>
      <p:sp>
        <p:nvSpPr>
          <p:cNvPr id="733" name="Google Shape;733;p39"/>
          <p:cNvSpPr txBox="1"/>
          <p:nvPr/>
        </p:nvSpPr>
        <p:spPr>
          <a:xfrm>
            <a:off x="381000" y="333375"/>
            <a:ext cx="7620000" cy="762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 sz="2000" b="0" i="0" u="none" strike="noStrike" cap="none">
                <a:solidFill>
                  <a:srgbClr val="0F172A"/>
                </a:solidFill>
                <a:latin typeface="Inter ExtraBold"/>
                <a:ea typeface="Inter ExtraBold"/>
                <a:cs typeface="Inter ExtraBold"/>
                <a:sym typeface="Inter ExtraBold"/>
              </a:rPr>
              <a:t>Phân tích sự lãng phí — CS assign KTV cho booking</a:t>
            </a:r>
            <a:endParaRPr sz="2000" b="0" i="0" u="none" strike="noStrike" cap="none">
              <a:solidFill>
                <a:srgbClr val="0F172A"/>
              </a:solidFill>
              <a:latin typeface="Inter ExtraBold"/>
              <a:ea typeface="Inter ExtraBold"/>
              <a:cs typeface="Inter ExtraBold"/>
              <a:sym typeface="Inter ExtraBold"/>
            </a:endParaRPr>
          </a:p>
          <a:p>
            <a:pPr marL="0" marR="0" lvl="0" indent="0" algn="l" rtl="0">
              <a:lnSpc>
                <a:spcPct val="100000"/>
              </a:lnSpc>
              <a:spcBef>
                <a:spcPts val="375"/>
              </a:spcBef>
              <a:spcAft>
                <a:spcPts val="0"/>
              </a:spcAft>
              <a:buClr>
                <a:srgbClr val="000000"/>
              </a:buClr>
              <a:buSzPts val="1100"/>
              <a:buFont typeface="Arial"/>
              <a:buNone/>
            </a:pPr>
            <a:r>
              <a:rPr lang="en" sz="1100" b="0" i="0" u="none" strike="noStrike" cap="none">
                <a:solidFill>
                  <a:srgbClr val="007B7C"/>
                </a:solidFill>
                <a:latin typeface="Inter SemiBold"/>
                <a:ea typeface="Inter SemiBold"/>
                <a:cs typeface="Inter SemiBold"/>
                <a:sym typeface="Inter SemiBold"/>
              </a:rPr>
              <a:t>C02 — Waste Analysis: Move (di chuyển thừa) · Hold (chờ đợi) · Overdo (làm lại)</a:t>
            </a:r>
            <a:endParaRPr sz="1100" b="0" i="0" u="none" strike="noStrike" cap="none">
              <a:solidFill>
                <a:srgbClr val="007B7C"/>
              </a:solidFill>
              <a:latin typeface="Inter SemiBold"/>
              <a:ea typeface="Inter SemiBold"/>
              <a:cs typeface="Inter SemiBold"/>
              <a:sym typeface="Inter SemiBold"/>
            </a:endParaRPr>
          </a:p>
        </p:txBody>
      </p:sp>
      <p:graphicFrame>
        <p:nvGraphicFramePr>
          <p:cNvPr id="734" name="Google Shape;734;p39"/>
          <p:cNvGraphicFramePr/>
          <p:nvPr/>
        </p:nvGraphicFramePr>
        <p:xfrm>
          <a:off x="384048" y="1335024"/>
          <a:ext cx="3000000" cy="3000000"/>
        </p:xfrm>
        <a:graphic>
          <a:graphicData uri="http://schemas.openxmlformats.org/drawingml/2006/table">
            <a:tbl>
              <a:tblPr firstRow="1" bandRow="1">
                <a:noFill/>
                <a:tableStyleId>{C22CD621-9F64-4B2E-9631-1F7B959E530B}</a:tableStyleId>
              </a:tblPr>
              <a:tblGrid>
                <a:gridCol w="1047000">
                  <a:extLst>
                    <a:ext uri="{9D8B030D-6E8A-4147-A177-3AD203B41FA5}">
                      <a16:colId xmlns:a16="http://schemas.microsoft.com/office/drawing/2014/main" val="20000"/>
                    </a:ext>
                  </a:extLst>
                </a:gridCol>
                <a:gridCol w="3606300">
                  <a:extLst>
                    <a:ext uri="{9D8B030D-6E8A-4147-A177-3AD203B41FA5}">
                      <a16:colId xmlns:a16="http://schemas.microsoft.com/office/drawing/2014/main" val="20001"/>
                    </a:ext>
                  </a:extLst>
                </a:gridCol>
                <a:gridCol w="3722625">
                  <a:extLst>
                    <a:ext uri="{9D8B030D-6E8A-4147-A177-3AD203B41FA5}">
                      <a16:colId xmlns:a16="http://schemas.microsoft.com/office/drawing/2014/main" val="20002"/>
                    </a:ext>
                  </a:extLst>
                </a:gridCol>
              </a:tblGrid>
              <a:tr h="329175">
                <a:tc>
                  <a:txBody>
                    <a:bodyPr/>
                    <a:lstStyle/>
                    <a:p>
                      <a:pPr marL="0" marR="0" lvl="0" indent="0" algn="l" rtl="0">
                        <a:lnSpc>
                          <a:spcPct val="100000"/>
                        </a:lnSpc>
                        <a:spcBef>
                          <a:spcPts val="0"/>
                        </a:spcBef>
                        <a:spcAft>
                          <a:spcPts val="0"/>
                        </a:spcAft>
                        <a:buNone/>
                      </a:pPr>
                      <a:r>
                        <a:rPr lang="en" sz="950" b="1" u="none" strike="noStrike" cap="none">
                          <a:solidFill>
                            <a:srgbClr val="FFFFFF"/>
                          </a:solidFill>
                          <a:latin typeface="Inter SemiBold"/>
                          <a:ea typeface="Inter SemiBold"/>
                          <a:cs typeface="Inter SemiBold"/>
                          <a:sym typeface="Inter SemiBold"/>
                        </a:rPr>
                        <a:t>Loại</a:t>
                      </a:r>
                      <a:endParaRPr/>
                    </a:p>
                  </a:txBody>
                  <a:tcPr marL="73150" marR="73150" marT="18300" marB="18300" anchor="ctr">
                    <a:solidFill>
                      <a:srgbClr val="007B7C"/>
                    </a:solidFill>
                  </a:tcPr>
                </a:tc>
                <a:tc>
                  <a:txBody>
                    <a:bodyPr/>
                    <a:lstStyle/>
                    <a:p>
                      <a:pPr marL="0" marR="0" lvl="0" indent="0" algn="l" rtl="0">
                        <a:lnSpc>
                          <a:spcPct val="100000"/>
                        </a:lnSpc>
                        <a:spcBef>
                          <a:spcPts val="0"/>
                        </a:spcBef>
                        <a:spcAft>
                          <a:spcPts val="0"/>
                        </a:spcAft>
                        <a:buNone/>
                      </a:pPr>
                      <a:r>
                        <a:rPr lang="en" sz="950" b="1" u="none" strike="noStrike" cap="none">
                          <a:solidFill>
                            <a:srgbClr val="FFFFFF"/>
                          </a:solidFill>
                          <a:latin typeface="Inter SemiBold"/>
                          <a:ea typeface="Inter SemiBold"/>
                          <a:cs typeface="Inter SemiBold"/>
                          <a:sym typeface="Inter SemiBold"/>
                        </a:rPr>
                        <a:t>Mô tả / Vị trí xảy ra</a:t>
                      </a:r>
                      <a:endParaRPr/>
                    </a:p>
                  </a:txBody>
                  <a:tcPr marL="73150" marR="73150" marT="18300" marB="18300" anchor="ctr">
                    <a:solidFill>
                      <a:srgbClr val="007B7C"/>
                    </a:solidFill>
                  </a:tcPr>
                </a:tc>
                <a:tc>
                  <a:txBody>
                    <a:bodyPr/>
                    <a:lstStyle/>
                    <a:p>
                      <a:pPr marL="0" marR="0" lvl="0" indent="0" algn="l" rtl="0">
                        <a:lnSpc>
                          <a:spcPct val="100000"/>
                        </a:lnSpc>
                        <a:spcBef>
                          <a:spcPts val="0"/>
                        </a:spcBef>
                        <a:spcAft>
                          <a:spcPts val="0"/>
                        </a:spcAft>
                        <a:buNone/>
                      </a:pPr>
                      <a:r>
                        <a:rPr lang="en" sz="950" b="1" u="none" strike="noStrike" cap="none">
                          <a:solidFill>
                            <a:srgbClr val="FFFFFF"/>
                          </a:solidFill>
                          <a:latin typeface="Inter SemiBold"/>
                          <a:ea typeface="Inter SemiBold"/>
                          <a:cs typeface="Inter SemiBold"/>
                          <a:sym typeface="Inter SemiBold"/>
                        </a:rPr>
                        <a:t>Đề xuất khắc phục</a:t>
                      </a:r>
                      <a:endParaRPr/>
                    </a:p>
                  </a:txBody>
                  <a:tcPr marL="73150" marR="73150" marT="18300" marB="18300" anchor="ctr">
                    <a:solidFill>
                      <a:srgbClr val="007B7C"/>
                    </a:solidFill>
                  </a:tcPr>
                </a:tc>
                <a:extLst>
                  <a:ext uri="{0D108BD9-81ED-4DB2-BD59-A6C34878D82A}">
                    <a16:rowId xmlns:a16="http://schemas.microsoft.com/office/drawing/2014/main" val="10000"/>
                  </a:ext>
                </a:extLst>
              </a:tr>
              <a:tr h="685800">
                <a:tc>
                  <a:txBody>
                    <a:bodyPr/>
                    <a:lstStyle/>
                    <a:p>
                      <a:pPr marL="0" marR="0" lvl="0" indent="0" algn="l" rtl="0">
                        <a:lnSpc>
                          <a:spcPct val="100000"/>
                        </a:lnSpc>
                        <a:spcBef>
                          <a:spcPts val="0"/>
                        </a:spcBef>
                        <a:spcAft>
                          <a:spcPts val="0"/>
                        </a:spcAft>
                        <a:buNone/>
                      </a:pPr>
                      <a:r>
                        <a:rPr lang="en" sz="880" b="1" u="none" strike="noStrike" cap="none">
                          <a:solidFill>
                            <a:srgbClr val="0284C7"/>
                          </a:solidFill>
                          <a:latin typeface="Inter"/>
                          <a:ea typeface="Inter"/>
                          <a:cs typeface="Inter"/>
                          <a:sym typeface="Inter"/>
                        </a:rPr>
                        <a:t>Move</a:t>
                      </a:r>
                      <a:endParaRPr/>
                    </a:p>
                  </a:txBody>
                  <a:tcPr marL="73150" marR="73150" marT="18300" marB="18300" anchor="ctr">
                    <a:solidFill>
                      <a:srgbClr val="FFFFFF"/>
                    </a:solidFill>
                  </a:tcPr>
                </a:tc>
                <a:tc>
                  <a:txBody>
                    <a:bodyPr/>
                    <a:lstStyle/>
                    <a:p>
                      <a:pPr marL="0" marR="0" lvl="0" indent="0" algn="l" rtl="0">
                        <a:lnSpc>
                          <a:spcPct val="100000"/>
                        </a:lnSpc>
                        <a:spcBef>
                          <a:spcPts val="0"/>
                        </a:spcBef>
                        <a:spcAft>
                          <a:spcPts val="0"/>
                        </a:spcAft>
                        <a:buNone/>
                      </a:pPr>
                      <a:r>
                        <a:rPr lang="en" sz="880" u="none" strike="noStrike" cap="none">
                          <a:solidFill>
                            <a:srgbClr val="475569"/>
                          </a:solidFill>
                          <a:latin typeface="Inter"/>
                          <a:ea typeface="Inter"/>
                          <a:cs typeface="Inter"/>
                          <a:sym typeface="Inter"/>
                        </a:rPr>
                        <a:t>CS phải chuyển booking qua lại giữa danh sách chờ và tìm KTV khác khi khu vực thiếu KTV</a:t>
                      </a:r>
                      <a:endParaRPr/>
                    </a:p>
                  </a:txBody>
                  <a:tcPr marL="73150" marR="73150" marT="18300" marB="18300" anchor="ctr">
                    <a:solidFill>
                      <a:srgbClr val="FFFFFF"/>
                    </a:solidFill>
                  </a:tcPr>
                </a:tc>
                <a:tc>
                  <a:txBody>
                    <a:bodyPr/>
                    <a:lstStyle/>
                    <a:p>
                      <a:pPr marL="0" marR="0" lvl="0" indent="0" algn="l" rtl="0">
                        <a:lnSpc>
                          <a:spcPct val="100000"/>
                        </a:lnSpc>
                        <a:spcBef>
                          <a:spcPts val="0"/>
                        </a:spcBef>
                        <a:spcAft>
                          <a:spcPts val="0"/>
                        </a:spcAft>
                        <a:buNone/>
                      </a:pPr>
                      <a:r>
                        <a:rPr lang="en" sz="880" u="none" strike="noStrike" cap="none">
                          <a:solidFill>
                            <a:srgbClr val="475569"/>
                          </a:solidFill>
                          <a:latin typeface="Inter"/>
                          <a:ea typeface="Inter"/>
                          <a:cs typeface="Inter"/>
                          <a:sym typeface="Inter"/>
                        </a:rPr>
                        <a:t>Xây dựng thuật toán gợi ý KTV thay thế tự động theo khu vực lân cận</a:t>
                      </a:r>
                      <a:endParaRPr/>
                    </a:p>
                  </a:txBody>
                  <a:tcPr marL="73150" marR="73150" marT="18300" marB="18300" anchor="ctr">
                    <a:solidFill>
                      <a:srgbClr val="FFFFFF"/>
                    </a:solidFill>
                  </a:tcPr>
                </a:tc>
                <a:extLst>
                  <a:ext uri="{0D108BD9-81ED-4DB2-BD59-A6C34878D82A}">
                    <a16:rowId xmlns:a16="http://schemas.microsoft.com/office/drawing/2014/main" val="10001"/>
                  </a:ext>
                </a:extLst>
              </a:tr>
              <a:tr h="685800">
                <a:tc>
                  <a:txBody>
                    <a:bodyPr/>
                    <a:lstStyle/>
                    <a:p>
                      <a:pPr marL="0" marR="0" lvl="0" indent="0" algn="l" rtl="0">
                        <a:lnSpc>
                          <a:spcPct val="100000"/>
                        </a:lnSpc>
                        <a:spcBef>
                          <a:spcPts val="0"/>
                        </a:spcBef>
                        <a:spcAft>
                          <a:spcPts val="0"/>
                        </a:spcAft>
                        <a:buNone/>
                      </a:pPr>
                      <a:r>
                        <a:rPr lang="en" sz="880" b="1" u="none" strike="noStrike" cap="none">
                          <a:solidFill>
                            <a:srgbClr val="D97706"/>
                          </a:solidFill>
                          <a:latin typeface="Inter"/>
                          <a:ea typeface="Inter"/>
                          <a:cs typeface="Inter"/>
                          <a:sym typeface="Inter"/>
                        </a:rPr>
                        <a:t>Hold</a:t>
                      </a:r>
                      <a:endParaRPr/>
                    </a:p>
                  </a:txBody>
                  <a:tcPr marL="73150" marR="73150" marT="18300" marB="18300" anchor="ctr">
                    <a:solidFill>
                      <a:srgbClr val="F8FAFC"/>
                    </a:solidFill>
                  </a:tcPr>
                </a:tc>
                <a:tc>
                  <a:txBody>
                    <a:bodyPr/>
                    <a:lstStyle/>
                    <a:p>
                      <a:pPr marL="0" marR="0" lvl="0" indent="0" algn="l" rtl="0">
                        <a:lnSpc>
                          <a:spcPct val="100000"/>
                        </a:lnSpc>
                        <a:spcBef>
                          <a:spcPts val="0"/>
                        </a:spcBef>
                        <a:spcAft>
                          <a:spcPts val="0"/>
                        </a:spcAft>
                        <a:buNone/>
                      </a:pPr>
                      <a:r>
                        <a:rPr lang="en" sz="880" u="none" strike="noStrike" cap="none">
                          <a:solidFill>
                            <a:srgbClr val="475569"/>
                          </a:solidFill>
                          <a:latin typeface="Inter"/>
                          <a:ea typeface="Inter"/>
                          <a:cs typeface="Inter"/>
                          <a:sym typeface="Inter"/>
                        </a:rPr>
                        <a:t>Booking bị treo ở trạng thái chờ khi không có KTV phù hợp hoặc KTV chưa xác nhận trên app</a:t>
                      </a:r>
                      <a:endParaRPr/>
                    </a:p>
                  </a:txBody>
                  <a:tcPr marL="73150" marR="73150" marT="18300" marB="18300" anchor="ctr">
                    <a:solidFill>
                      <a:srgbClr val="F8FAFC"/>
                    </a:solidFill>
                  </a:tcPr>
                </a:tc>
                <a:tc>
                  <a:txBody>
                    <a:bodyPr/>
                    <a:lstStyle/>
                    <a:p>
                      <a:pPr marL="0" marR="0" lvl="0" indent="0" algn="l" rtl="0">
                        <a:lnSpc>
                          <a:spcPct val="100000"/>
                        </a:lnSpc>
                        <a:spcBef>
                          <a:spcPts val="0"/>
                        </a:spcBef>
                        <a:spcAft>
                          <a:spcPts val="0"/>
                        </a:spcAft>
                        <a:buNone/>
                      </a:pPr>
                      <a:r>
                        <a:rPr lang="en" sz="880" u="none" strike="noStrike" cap="none">
                          <a:solidFill>
                            <a:srgbClr val="475569"/>
                          </a:solidFill>
                          <a:latin typeface="Inter"/>
                          <a:ea typeface="Inter"/>
                          <a:cs typeface="Inter"/>
                          <a:sym typeface="Inter"/>
                        </a:rPr>
                        <a:t>Đặt SLA thời gian tối đa chờ xác nhận, tự động chuyển KTV khác nếu quá hạn</a:t>
                      </a:r>
                      <a:endParaRPr/>
                    </a:p>
                  </a:txBody>
                  <a:tcPr marL="73150" marR="73150" marT="18300" marB="18300" anchor="ctr">
                    <a:solidFill>
                      <a:srgbClr val="F8FAFC"/>
                    </a:solidFill>
                  </a:tcPr>
                </a:tc>
                <a:extLst>
                  <a:ext uri="{0D108BD9-81ED-4DB2-BD59-A6C34878D82A}">
                    <a16:rowId xmlns:a16="http://schemas.microsoft.com/office/drawing/2014/main" val="10002"/>
                  </a:ext>
                </a:extLst>
              </a:tr>
              <a:tr h="685800">
                <a:tc>
                  <a:txBody>
                    <a:bodyPr/>
                    <a:lstStyle/>
                    <a:p>
                      <a:pPr marL="0" marR="0" lvl="0" indent="0" algn="l" rtl="0">
                        <a:lnSpc>
                          <a:spcPct val="100000"/>
                        </a:lnSpc>
                        <a:spcBef>
                          <a:spcPts val="0"/>
                        </a:spcBef>
                        <a:spcAft>
                          <a:spcPts val="0"/>
                        </a:spcAft>
                        <a:buNone/>
                      </a:pPr>
                      <a:r>
                        <a:rPr lang="en" sz="880" b="1" u="none" strike="noStrike" cap="none">
                          <a:solidFill>
                            <a:srgbClr val="991B1B"/>
                          </a:solidFill>
                          <a:latin typeface="Inter"/>
                          <a:ea typeface="Inter"/>
                          <a:cs typeface="Inter"/>
                          <a:sym typeface="Inter"/>
                        </a:rPr>
                        <a:t>Overdo</a:t>
                      </a:r>
                      <a:endParaRPr/>
                    </a:p>
                  </a:txBody>
                  <a:tcPr marL="73150" marR="73150" marT="18300" marB="18300" anchor="ctr">
                    <a:solidFill>
                      <a:srgbClr val="FFFFFF"/>
                    </a:solidFill>
                  </a:tcPr>
                </a:tc>
                <a:tc>
                  <a:txBody>
                    <a:bodyPr/>
                    <a:lstStyle/>
                    <a:p>
                      <a:pPr marL="0" marR="0" lvl="0" indent="0" algn="l" rtl="0">
                        <a:lnSpc>
                          <a:spcPct val="100000"/>
                        </a:lnSpc>
                        <a:spcBef>
                          <a:spcPts val="0"/>
                        </a:spcBef>
                        <a:spcAft>
                          <a:spcPts val="0"/>
                        </a:spcAft>
                        <a:buNone/>
                      </a:pPr>
                      <a:r>
                        <a:rPr lang="en" sz="880" u="none" strike="noStrike" cap="none">
                          <a:solidFill>
                            <a:srgbClr val="475569"/>
                          </a:solidFill>
                          <a:latin typeface="Inter"/>
                          <a:ea typeface="Inter"/>
                          <a:cs typeface="Inter"/>
                          <a:sym typeface="Inter"/>
                        </a:rPr>
                        <a:t>CS phải nhắc lại/chọn lại KTV nhiều lần cho cùng một booking khi KTV không phản hồi</a:t>
                      </a:r>
                      <a:endParaRPr/>
                    </a:p>
                  </a:txBody>
                  <a:tcPr marL="73150" marR="73150" marT="18300" marB="18300" anchor="ctr">
                    <a:solidFill>
                      <a:srgbClr val="FFFFFF"/>
                    </a:solidFill>
                  </a:tcPr>
                </a:tc>
                <a:tc>
                  <a:txBody>
                    <a:bodyPr/>
                    <a:lstStyle/>
                    <a:p>
                      <a:pPr marL="0" marR="0" lvl="0" indent="0" algn="l" rtl="0">
                        <a:lnSpc>
                          <a:spcPct val="100000"/>
                        </a:lnSpc>
                        <a:spcBef>
                          <a:spcPts val="0"/>
                        </a:spcBef>
                        <a:spcAft>
                          <a:spcPts val="0"/>
                        </a:spcAft>
                        <a:buNone/>
                      </a:pPr>
                      <a:r>
                        <a:rPr lang="en" sz="880" u="none" strike="noStrike" cap="none">
                          <a:solidFill>
                            <a:srgbClr val="475569"/>
                          </a:solidFill>
                          <a:latin typeface="Inter"/>
                          <a:ea typeface="Inter"/>
                          <a:cs typeface="Inter"/>
                          <a:sym typeface="Inter"/>
                        </a:rPr>
                        <a:t>Tích hợp cảnh báo tự động (push notification, nhắc lại sau X phút) thay vì thao tác thủ công</a:t>
                      </a:r>
                      <a:endParaRPr/>
                    </a:p>
                  </a:txBody>
                  <a:tcPr marL="73150" marR="73150" marT="18300" marB="18300" anchor="ctr">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738"/>
        <p:cNvGrpSpPr/>
        <p:nvPr/>
      </p:nvGrpSpPr>
      <p:grpSpPr>
        <a:xfrm>
          <a:off x="0" y="0"/>
          <a:ext cx="0" cy="0"/>
          <a:chOff x="0" y="0"/>
          <a:chExt cx="0" cy="0"/>
        </a:xfrm>
      </p:grpSpPr>
      <p:sp>
        <p:nvSpPr>
          <p:cNvPr id="739" name="Google Shape;739;p40"/>
          <p:cNvSpPr/>
          <p:nvPr/>
        </p:nvSpPr>
        <p:spPr>
          <a:xfrm>
            <a:off x="-101425" y="-72425"/>
            <a:ext cx="9144000" cy="5143500"/>
          </a:xfrm>
          <a:prstGeom prst="rect">
            <a:avLst/>
          </a:pr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740" name="Google Shape;740;p40"/>
          <p:cNvGrpSpPr/>
          <p:nvPr/>
        </p:nvGrpSpPr>
        <p:grpSpPr>
          <a:xfrm>
            <a:off x="8458200" y="381000"/>
            <a:ext cx="304800" cy="304800"/>
            <a:chOff x="0" y="0"/>
            <a:chExt cx="304800" cy="304800"/>
          </a:xfrm>
        </p:grpSpPr>
        <p:sp>
          <p:nvSpPr>
            <p:cNvPr id="741" name="Google Shape;741;p40"/>
            <p:cNvSpPr/>
            <p:nvPr/>
          </p:nvSpPr>
          <p:spPr>
            <a:xfrm>
              <a:off x="0" y="0"/>
              <a:ext cx="304800" cy="304800"/>
            </a:xfrm>
            <a:prstGeom prst="roundRect">
              <a:avLst>
                <a:gd name="adj" fmla="val 125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42" name="Google Shape;742;p40"/>
            <p:cNvSpPr/>
            <p:nvPr/>
          </p:nvSpPr>
          <p:spPr>
            <a:xfrm>
              <a:off x="95250" y="95250"/>
              <a:ext cx="114300" cy="114300"/>
            </a:xfrm>
            <a:custGeom>
              <a:avLst/>
              <a:gdLst/>
              <a:ahLst/>
              <a:cxnLst/>
              <a:rect l="l" t="t" r="r" b="b"/>
              <a:pathLst>
                <a:path w="120000" h="120000" extrusionOk="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43" name="Google Shape;743;p40"/>
            <p:cNvSpPr/>
            <p:nvPr/>
          </p:nvSpPr>
          <p:spPr>
            <a:xfrm>
              <a:off x="123825" y="123825"/>
              <a:ext cx="57300" cy="57300"/>
            </a:xfrm>
            <a:prstGeom prst="ellipse">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cxnSp>
        <p:nvCxnSpPr>
          <p:cNvPr id="744" name="Google Shape;744;p40"/>
          <p:cNvCxnSpPr/>
          <p:nvPr/>
        </p:nvCxnSpPr>
        <p:spPr>
          <a:xfrm>
            <a:off x="381000" y="1143000"/>
            <a:ext cx="8382000" cy="0"/>
          </a:xfrm>
          <a:prstGeom prst="straightConnector1">
            <a:avLst/>
          </a:prstGeom>
          <a:solidFill>
            <a:srgbClr val="FFFFFF"/>
          </a:solidFill>
          <a:ln w="14300" cap="flat" cmpd="sng">
            <a:solidFill>
              <a:srgbClr val="E2E8F0"/>
            </a:solidFill>
            <a:prstDash val="solid"/>
            <a:round/>
            <a:headEnd type="none" w="sm" len="sm"/>
            <a:tailEnd type="none" w="sm" len="sm"/>
          </a:ln>
        </p:spPr>
      </p:cxnSp>
      <p:sp>
        <p:nvSpPr>
          <p:cNvPr id="745" name="Google Shape;745;p40"/>
          <p:cNvSpPr txBox="1"/>
          <p:nvPr/>
        </p:nvSpPr>
        <p:spPr>
          <a:xfrm>
            <a:off x="381000" y="333375"/>
            <a:ext cx="7620000" cy="762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 sz="2000" b="0" i="0" u="none" strike="noStrike" cap="none">
                <a:solidFill>
                  <a:srgbClr val="0F172A"/>
                </a:solidFill>
                <a:latin typeface="Inter ExtraBold"/>
                <a:ea typeface="Inter ExtraBold"/>
                <a:cs typeface="Inter ExtraBold"/>
                <a:sym typeface="Inter ExtraBold"/>
              </a:rPr>
              <a:t>Phân tích sự lãng phí — KTV nhận và xử lý booking</a:t>
            </a:r>
            <a:endParaRPr sz="2000" b="0" i="0" u="none" strike="noStrike" cap="none">
              <a:solidFill>
                <a:srgbClr val="0F172A"/>
              </a:solidFill>
              <a:latin typeface="Inter ExtraBold"/>
              <a:ea typeface="Inter ExtraBold"/>
              <a:cs typeface="Inter ExtraBold"/>
              <a:sym typeface="Inter ExtraBold"/>
            </a:endParaRPr>
          </a:p>
          <a:p>
            <a:pPr marL="0" marR="0" lvl="0" indent="0" algn="l" rtl="0">
              <a:lnSpc>
                <a:spcPct val="100000"/>
              </a:lnSpc>
              <a:spcBef>
                <a:spcPts val="375"/>
              </a:spcBef>
              <a:spcAft>
                <a:spcPts val="0"/>
              </a:spcAft>
              <a:buClr>
                <a:srgbClr val="000000"/>
              </a:buClr>
              <a:buSzPts val="1100"/>
              <a:buFont typeface="Arial"/>
              <a:buNone/>
            </a:pPr>
            <a:r>
              <a:rPr lang="en" sz="1100" b="0" i="0" u="none" strike="noStrike" cap="none">
                <a:solidFill>
                  <a:srgbClr val="007B7C"/>
                </a:solidFill>
                <a:latin typeface="Inter SemiBold"/>
                <a:ea typeface="Inter SemiBold"/>
                <a:cs typeface="Inter SemiBold"/>
                <a:sym typeface="Inter SemiBold"/>
              </a:rPr>
              <a:t>C03 — Waste Analysis: Move (di chuyển thừa) · Hold (chờ đợi) · Overdo (làm lại)</a:t>
            </a:r>
            <a:endParaRPr sz="1100" b="0" i="0" u="none" strike="noStrike" cap="none">
              <a:solidFill>
                <a:srgbClr val="007B7C"/>
              </a:solidFill>
              <a:latin typeface="Inter SemiBold"/>
              <a:ea typeface="Inter SemiBold"/>
              <a:cs typeface="Inter SemiBold"/>
              <a:sym typeface="Inter SemiBold"/>
            </a:endParaRPr>
          </a:p>
        </p:txBody>
      </p:sp>
      <p:graphicFrame>
        <p:nvGraphicFramePr>
          <p:cNvPr id="746" name="Google Shape;746;p40"/>
          <p:cNvGraphicFramePr/>
          <p:nvPr/>
        </p:nvGraphicFramePr>
        <p:xfrm>
          <a:off x="384048" y="1335024"/>
          <a:ext cx="3000000" cy="3000000"/>
        </p:xfrm>
        <a:graphic>
          <a:graphicData uri="http://schemas.openxmlformats.org/drawingml/2006/table">
            <a:tbl>
              <a:tblPr firstRow="1" bandRow="1">
                <a:noFill/>
                <a:tableStyleId>{C22CD621-9F64-4B2E-9631-1F7B959E530B}</a:tableStyleId>
              </a:tblPr>
              <a:tblGrid>
                <a:gridCol w="1047000">
                  <a:extLst>
                    <a:ext uri="{9D8B030D-6E8A-4147-A177-3AD203B41FA5}">
                      <a16:colId xmlns:a16="http://schemas.microsoft.com/office/drawing/2014/main" val="20000"/>
                    </a:ext>
                  </a:extLst>
                </a:gridCol>
                <a:gridCol w="3606300">
                  <a:extLst>
                    <a:ext uri="{9D8B030D-6E8A-4147-A177-3AD203B41FA5}">
                      <a16:colId xmlns:a16="http://schemas.microsoft.com/office/drawing/2014/main" val="20001"/>
                    </a:ext>
                  </a:extLst>
                </a:gridCol>
                <a:gridCol w="3722625">
                  <a:extLst>
                    <a:ext uri="{9D8B030D-6E8A-4147-A177-3AD203B41FA5}">
                      <a16:colId xmlns:a16="http://schemas.microsoft.com/office/drawing/2014/main" val="20002"/>
                    </a:ext>
                  </a:extLst>
                </a:gridCol>
              </a:tblGrid>
              <a:tr h="329175">
                <a:tc>
                  <a:txBody>
                    <a:bodyPr/>
                    <a:lstStyle/>
                    <a:p>
                      <a:pPr marL="0" marR="0" lvl="0" indent="0" algn="l" rtl="0">
                        <a:lnSpc>
                          <a:spcPct val="100000"/>
                        </a:lnSpc>
                        <a:spcBef>
                          <a:spcPts val="0"/>
                        </a:spcBef>
                        <a:spcAft>
                          <a:spcPts val="0"/>
                        </a:spcAft>
                        <a:buNone/>
                      </a:pPr>
                      <a:r>
                        <a:rPr lang="en" sz="950" b="1" u="none" strike="noStrike" cap="none">
                          <a:solidFill>
                            <a:srgbClr val="FFFFFF"/>
                          </a:solidFill>
                          <a:latin typeface="Inter SemiBold"/>
                          <a:ea typeface="Inter SemiBold"/>
                          <a:cs typeface="Inter SemiBold"/>
                          <a:sym typeface="Inter SemiBold"/>
                        </a:rPr>
                        <a:t>Loại</a:t>
                      </a:r>
                      <a:endParaRPr/>
                    </a:p>
                  </a:txBody>
                  <a:tcPr marL="73150" marR="73150" marT="18300" marB="18300" anchor="ctr">
                    <a:solidFill>
                      <a:srgbClr val="007B7C"/>
                    </a:solidFill>
                  </a:tcPr>
                </a:tc>
                <a:tc>
                  <a:txBody>
                    <a:bodyPr/>
                    <a:lstStyle/>
                    <a:p>
                      <a:pPr marL="0" marR="0" lvl="0" indent="0" algn="l" rtl="0">
                        <a:lnSpc>
                          <a:spcPct val="100000"/>
                        </a:lnSpc>
                        <a:spcBef>
                          <a:spcPts val="0"/>
                        </a:spcBef>
                        <a:spcAft>
                          <a:spcPts val="0"/>
                        </a:spcAft>
                        <a:buNone/>
                      </a:pPr>
                      <a:r>
                        <a:rPr lang="en" sz="950" b="1" u="none" strike="noStrike" cap="none">
                          <a:solidFill>
                            <a:srgbClr val="FFFFFF"/>
                          </a:solidFill>
                          <a:latin typeface="Inter SemiBold"/>
                          <a:ea typeface="Inter SemiBold"/>
                          <a:cs typeface="Inter SemiBold"/>
                          <a:sym typeface="Inter SemiBold"/>
                        </a:rPr>
                        <a:t>Mô tả / Vị trí xảy ra</a:t>
                      </a:r>
                      <a:endParaRPr/>
                    </a:p>
                  </a:txBody>
                  <a:tcPr marL="73150" marR="73150" marT="18300" marB="18300" anchor="ctr">
                    <a:solidFill>
                      <a:srgbClr val="007B7C"/>
                    </a:solidFill>
                  </a:tcPr>
                </a:tc>
                <a:tc>
                  <a:txBody>
                    <a:bodyPr/>
                    <a:lstStyle/>
                    <a:p>
                      <a:pPr marL="0" marR="0" lvl="0" indent="0" algn="l" rtl="0">
                        <a:lnSpc>
                          <a:spcPct val="100000"/>
                        </a:lnSpc>
                        <a:spcBef>
                          <a:spcPts val="0"/>
                        </a:spcBef>
                        <a:spcAft>
                          <a:spcPts val="0"/>
                        </a:spcAft>
                        <a:buNone/>
                      </a:pPr>
                      <a:r>
                        <a:rPr lang="en" sz="950" b="1" u="none" strike="noStrike" cap="none">
                          <a:solidFill>
                            <a:srgbClr val="FFFFFF"/>
                          </a:solidFill>
                          <a:latin typeface="Inter SemiBold"/>
                          <a:ea typeface="Inter SemiBold"/>
                          <a:cs typeface="Inter SemiBold"/>
                          <a:sym typeface="Inter SemiBold"/>
                        </a:rPr>
                        <a:t>Đề xuất khắc phục</a:t>
                      </a:r>
                      <a:endParaRPr/>
                    </a:p>
                  </a:txBody>
                  <a:tcPr marL="73150" marR="73150" marT="18300" marB="18300" anchor="ctr">
                    <a:solidFill>
                      <a:srgbClr val="007B7C"/>
                    </a:solidFill>
                  </a:tcPr>
                </a:tc>
                <a:extLst>
                  <a:ext uri="{0D108BD9-81ED-4DB2-BD59-A6C34878D82A}">
                    <a16:rowId xmlns:a16="http://schemas.microsoft.com/office/drawing/2014/main" val="10000"/>
                  </a:ext>
                </a:extLst>
              </a:tr>
              <a:tr h="685800">
                <a:tc>
                  <a:txBody>
                    <a:bodyPr/>
                    <a:lstStyle/>
                    <a:p>
                      <a:pPr marL="0" marR="0" lvl="0" indent="0" algn="l" rtl="0">
                        <a:lnSpc>
                          <a:spcPct val="100000"/>
                        </a:lnSpc>
                        <a:spcBef>
                          <a:spcPts val="0"/>
                        </a:spcBef>
                        <a:spcAft>
                          <a:spcPts val="0"/>
                        </a:spcAft>
                        <a:buNone/>
                      </a:pPr>
                      <a:r>
                        <a:rPr lang="en" sz="880" b="1" u="none" strike="noStrike" cap="none">
                          <a:solidFill>
                            <a:srgbClr val="0284C7"/>
                          </a:solidFill>
                          <a:latin typeface="Inter"/>
                          <a:ea typeface="Inter"/>
                          <a:cs typeface="Inter"/>
                          <a:sym typeface="Inter"/>
                        </a:rPr>
                        <a:t>Move</a:t>
                      </a:r>
                      <a:endParaRPr/>
                    </a:p>
                  </a:txBody>
                  <a:tcPr marL="73150" marR="73150" marT="18300" marB="18300" anchor="ctr">
                    <a:solidFill>
                      <a:srgbClr val="FFFFFF"/>
                    </a:solidFill>
                  </a:tcPr>
                </a:tc>
                <a:tc>
                  <a:txBody>
                    <a:bodyPr/>
                    <a:lstStyle/>
                    <a:p>
                      <a:pPr marL="0" marR="0" lvl="0" indent="0" algn="l" rtl="0">
                        <a:lnSpc>
                          <a:spcPct val="100000"/>
                        </a:lnSpc>
                        <a:spcBef>
                          <a:spcPts val="0"/>
                        </a:spcBef>
                        <a:spcAft>
                          <a:spcPts val="0"/>
                        </a:spcAft>
                        <a:buNone/>
                      </a:pPr>
                      <a:r>
                        <a:rPr lang="en" sz="880" u="none" strike="noStrike" cap="none">
                          <a:solidFill>
                            <a:srgbClr val="475569"/>
                          </a:solidFill>
                          <a:latin typeface="Inter"/>
                          <a:ea typeface="Inter"/>
                          <a:cs typeface="Inter"/>
                          <a:sym typeface="Inter"/>
                        </a:rPr>
                        <a:t>KTV phải quay lại lần 2 khi thiếu linh kiện do không kiểm tra tồn kho trước khi đến hiện trường</a:t>
                      </a:r>
                      <a:endParaRPr/>
                    </a:p>
                  </a:txBody>
                  <a:tcPr marL="73150" marR="73150" marT="18300" marB="18300" anchor="ctr">
                    <a:solidFill>
                      <a:srgbClr val="FFFFFF"/>
                    </a:solidFill>
                  </a:tcPr>
                </a:tc>
                <a:tc>
                  <a:txBody>
                    <a:bodyPr/>
                    <a:lstStyle/>
                    <a:p>
                      <a:pPr marL="0" marR="0" lvl="0" indent="0" algn="l" rtl="0">
                        <a:lnSpc>
                          <a:spcPct val="100000"/>
                        </a:lnSpc>
                        <a:spcBef>
                          <a:spcPts val="0"/>
                        </a:spcBef>
                        <a:spcAft>
                          <a:spcPts val="0"/>
                        </a:spcAft>
                        <a:buNone/>
                      </a:pPr>
                      <a:r>
                        <a:rPr lang="en" sz="880" u="none" strike="noStrike" cap="none">
                          <a:solidFill>
                            <a:srgbClr val="475569"/>
                          </a:solidFill>
                          <a:latin typeface="Inter"/>
                          <a:ea typeface="Inter"/>
                          <a:cs typeface="Inter"/>
                          <a:sym typeface="Inter"/>
                        </a:rPr>
                        <a:t>Kiểm tra tồn kho linh kiện dự kiến cần dùng ngay từ bước assign booking</a:t>
                      </a:r>
                      <a:endParaRPr/>
                    </a:p>
                  </a:txBody>
                  <a:tcPr marL="73150" marR="73150" marT="18300" marB="18300" anchor="ctr">
                    <a:solidFill>
                      <a:srgbClr val="FFFFFF"/>
                    </a:solidFill>
                  </a:tcPr>
                </a:tc>
                <a:extLst>
                  <a:ext uri="{0D108BD9-81ED-4DB2-BD59-A6C34878D82A}">
                    <a16:rowId xmlns:a16="http://schemas.microsoft.com/office/drawing/2014/main" val="10001"/>
                  </a:ext>
                </a:extLst>
              </a:tr>
              <a:tr h="685800">
                <a:tc>
                  <a:txBody>
                    <a:bodyPr/>
                    <a:lstStyle/>
                    <a:p>
                      <a:pPr marL="0" marR="0" lvl="0" indent="0" algn="l" rtl="0">
                        <a:lnSpc>
                          <a:spcPct val="100000"/>
                        </a:lnSpc>
                        <a:spcBef>
                          <a:spcPts val="0"/>
                        </a:spcBef>
                        <a:spcAft>
                          <a:spcPts val="0"/>
                        </a:spcAft>
                        <a:buNone/>
                      </a:pPr>
                      <a:r>
                        <a:rPr lang="en" sz="880" b="1" u="none" strike="noStrike" cap="none">
                          <a:solidFill>
                            <a:srgbClr val="D97706"/>
                          </a:solidFill>
                          <a:latin typeface="Inter"/>
                          <a:ea typeface="Inter"/>
                          <a:cs typeface="Inter"/>
                          <a:sym typeface="Inter"/>
                        </a:rPr>
                        <a:t>Hold</a:t>
                      </a:r>
                      <a:endParaRPr/>
                    </a:p>
                  </a:txBody>
                  <a:tcPr marL="73150" marR="73150" marT="18300" marB="18300" anchor="ctr">
                    <a:solidFill>
                      <a:srgbClr val="F8FAFC"/>
                    </a:solidFill>
                  </a:tcPr>
                </a:tc>
                <a:tc>
                  <a:txBody>
                    <a:bodyPr/>
                    <a:lstStyle/>
                    <a:p>
                      <a:pPr marL="0" marR="0" lvl="0" indent="0" algn="l" rtl="0">
                        <a:lnSpc>
                          <a:spcPct val="100000"/>
                        </a:lnSpc>
                        <a:spcBef>
                          <a:spcPts val="0"/>
                        </a:spcBef>
                        <a:spcAft>
                          <a:spcPts val="0"/>
                        </a:spcAft>
                        <a:buNone/>
                      </a:pPr>
                      <a:r>
                        <a:rPr lang="en" sz="880" u="none" strike="noStrike" cap="none">
                          <a:solidFill>
                            <a:srgbClr val="475569"/>
                          </a:solidFill>
                          <a:latin typeface="Inter"/>
                          <a:ea typeface="Inter"/>
                          <a:cs typeface="Inter"/>
                          <a:sym typeface="Inter"/>
                        </a:rPr>
                        <a:t>Booking bị treo chờ khách hàng đồng ý chi phí sửa chữa trước khi tiếp tục xử lý</a:t>
                      </a:r>
                      <a:endParaRPr/>
                    </a:p>
                  </a:txBody>
                  <a:tcPr marL="73150" marR="73150" marT="18300" marB="18300" anchor="ctr">
                    <a:solidFill>
                      <a:srgbClr val="F8FAFC"/>
                    </a:solidFill>
                  </a:tcPr>
                </a:tc>
                <a:tc>
                  <a:txBody>
                    <a:bodyPr/>
                    <a:lstStyle/>
                    <a:p>
                      <a:pPr marL="0" marR="0" lvl="0" indent="0" algn="l" rtl="0">
                        <a:lnSpc>
                          <a:spcPct val="100000"/>
                        </a:lnSpc>
                        <a:spcBef>
                          <a:spcPts val="0"/>
                        </a:spcBef>
                        <a:spcAft>
                          <a:spcPts val="0"/>
                        </a:spcAft>
                        <a:buNone/>
                      </a:pPr>
                      <a:r>
                        <a:rPr lang="en" sz="880" u="none" strike="noStrike" cap="none">
                          <a:solidFill>
                            <a:srgbClr val="475569"/>
                          </a:solidFill>
                          <a:latin typeface="Inter"/>
                          <a:ea typeface="Inter"/>
                          <a:cs typeface="Inter"/>
                          <a:sym typeface="Inter"/>
                        </a:rPr>
                        <a:t>Gửi báo giá tạm tính sớm hơn (ngay sau chẩn đoán sơ bộ) để rút ngắn thời gian chờ</a:t>
                      </a:r>
                      <a:endParaRPr/>
                    </a:p>
                  </a:txBody>
                  <a:tcPr marL="73150" marR="73150" marT="18300" marB="18300" anchor="ctr">
                    <a:solidFill>
                      <a:srgbClr val="F8FAFC"/>
                    </a:solidFill>
                  </a:tcPr>
                </a:tc>
                <a:extLst>
                  <a:ext uri="{0D108BD9-81ED-4DB2-BD59-A6C34878D82A}">
                    <a16:rowId xmlns:a16="http://schemas.microsoft.com/office/drawing/2014/main" val="10002"/>
                  </a:ext>
                </a:extLst>
              </a:tr>
              <a:tr h="685800">
                <a:tc>
                  <a:txBody>
                    <a:bodyPr/>
                    <a:lstStyle/>
                    <a:p>
                      <a:pPr marL="0" marR="0" lvl="0" indent="0" algn="l" rtl="0">
                        <a:lnSpc>
                          <a:spcPct val="100000"/>
                        </a:lnSpc>
                        <a:spcBef>
                          <a:spcPts val="0"/>
                        </a:spcBef>
                        <a:spcAft>
                          <a:spcPts val="0"/>
                        </a:spcAft>
                        <a:buNone/>
                      </a:pPr>
                      <a:r>
                        <a:rPr lang="en" sz="880" b="1" u="none" strike="noStrike" cap="none">
                          <a:solidFill>
                            <a:srgbClr val="991B1B"/>
                          </a:solidFill>
                          <a:latin typeface="Inter"/>
                          <a:ea typeface="Inter"/>
                          <a:cs typeface="Inter"/>
                          <a:sym typeface="Inter"/>
                        </a:rPr>
                        <a:t>Overdo</a:t>
                      </a:r>
                      <a:endParaRPr/>
                    </a:p>
                  </a:txBody>
                  <a:tcPr marL="73150" marR="73150" marT="18300" marB="18300" anchor="ctr">
                    <a:solidFill>
                      <a:srgbClr val="FFFFFF"/>
                    </a:solidFill>
                  </a:tcPr>
                </a:tc>
                <a:tc>
                  <a:txBody>
                    <a:bodyPr/>
                    <a:lstStyle/>
                    <a:p>
                      <a:pPr marL="0" marR="0" lvl="0" indent="0" algn="l" rtl="0">
                        <a:lnSpc>
                          <a:spcPct val="100000"/>
                        </a:lnSpc>
                        <a:spcBef>
                          <a:spcPts val="0"/>
                        </a:spcBef>
                        <a:spcAft>
                          <a:spcPts val="0"/>
                        </a:spcAft>
                        <a:buNone/>
                      </a:pPr>
                      <a:r>
                        <a:rPr lang="en" sz="880" u="none" strike="noStrike" cap="none">
                          <a:solidFill>
                            <a:srgbClr val="475569"/>
                          </a:solidFill>
                          <a:latin typeface="Inter"/>
                          <a:ea typeface="Inter"/>
                          <a:cs typeface="Inter"/>
                          <a:sym typeface="Inter"/>
                        </a:rPr>
                        <a:t>Nhập lại thông tin chẩn đoán/hóa đơn nhiều lần khi phát sinh thay đổi nguyên nhân lỗi</a:t>
                      </a:r>
                      <a:endParaRPr/>
                    </a:p>
                  </a:txBody>
                  <a:tcPr marL="73150" marR="73150" marT="18300" marB="18300" anchor="ctr">
                    <a:solidFill>
                      <a:srgbClr val="FFFFFF"/>
                    </a:solidFill>
                  </a:tcPr>
                </a:tc>
                <a:tc>
                  <a:txBody>
                    <a:bodyPr/>
                    <a:lstStyle/>
                    <a:p>
                      <a:pPr marL="0" marR="0" lvl="0" indent="0" algn="l" rtl="0">
                        <a:lnSpc>
                          <a:spcPct val="100000"/>
                        </a:lnSpc>
                        <a:spcBef>
                          <a:spcPts val="0"/>
                        </a:spcBef>
                        <a:spcAft>
                          <a:spcPts val="0"/>
                        </a:spcAft>
                        <a:buNone/>
                      </a:pPr>
                      <a:r>
                        <a:rPr lang="en" sz="880" u="none" strike="noStrike" cap="none">
                          <a:solidFill>
                            <a:srgbClr val="475569"/>
                          </a:solidFill>
                          <a:latin typeface="Inter"/>
                          <a:ea typeface="Inter"/>
                          <a:cs typeface="Inter"/>
                          <a:sym typeface="Inter"/>
                        </a:rPr>
                        <a:t>Thiết kế biểu mẫu nhập liệu cho phép chỉnh sửa nhanh thay vì nhập lại từ đầu</a:t>
                      </a:r>
                      <a:endParaRPr/>
                    </a:p>
                  </a:txBody>
                  <a:tcPr marL="73150" marR="73150" marT="18300" marB="18300" anchor="ctr">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750"/>
        <p:cNvGrpSpPr/>
        <p:nvPr/>
      </p:nvGrpSpPr>
      <p:grpSpPr>
        <a:xfrm>
          <a:off x="0" y="0"/>
          <a:ext cx="0" cy="0"/>
          <a:chOff x="0" y="0"/>
          <a:chExt cx="0" cy="0"/>
        </a:xfrm>
      </p:grpSpPr>
      <p:sp>
        <p:nvSpPr>
          <p:cNvPr id="751" name="Google Shape;751;p41"/>
          <p:cNvSpPr/>
          <p:nvPr/>
        </p:nvSpPr>
        <p:spPr>
          <a:xfrm>
            <a:off x="-101425" y="-72425"/>
            <a:ext cx="9144000" cy="5143500"/>
          </a:xfrm>
          <a:prstGeom prst="rect">
            <a:avLst/>
          </a:pr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752" name="Google Shape;752;p41"/>
          <p:cNvGrpSpPr/>
          <p:nvPr/>
        </p:nvGrpSpPr>
        <p:grpSpPr>
          <a:xfrm>
            <a:off x="8458200" y="381000"/>
            <a:ext cx="304800" cy="304800"/>
            <a:chOff x="0" y="0"/>
            <a:chExt cx="304800" cy="304800"/>
          </a:xfrm>
        </p:grpSpPr>
        <p:sp>
          <p:nvSpPr>
            <p:cNvPr id="753" name="Google Shape;753;p41"/>
            <p:cNvSpPr/>
            <p:nvPr/>
          </p:nvSpPr>
          <p:spPr>
            <a:xfrm>
              <a:off x="0" y="0"/>
              <a:ext cx="304800" cy="304800"/>
            </a:xfrm>
            <a:prstGeom prst="roundRect">
              <a:avLst>
                <a:gd name="adj" fmla="val 125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54" name="Google Shape;754;p41"/>
            <p:cNvSpPr/>
            <p:nvPr/>
          </p:nvSpPr>
          <p:spPr>
            <a:xfrm>
              <a:off x="95250" y="95250"/>
              <a:ext cx="114300" cy="114300"/>
            </a:xfrm>
            <a:custGeom>
              <a:avLst/>
              <a:gdLst/>
              <a:ahLst/>
              <a:cxnLst/>
              <a:rect l="l" t="t" r="r" b="b"/>
              <a:pathLst>
                <a:path w="120000" h="120000" extrusionOk="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55" name="Google Shape;755;p41"/>
            <p:cNvSpPr/>
            <p:nvPr/>
          </p:nvSpPr>
          <p:spPr>
            <a:xfrm>
              <a:off x="123825" y="123825"/>
              <a:ext cx="57300" cy="57300"/>
            </a:xfrm>
            <a:prstGeom prst="ellipse">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cxnSp>
        <p:nvCxnSpPr>
          <p:cNvPr id="756" name="Google Shape;756;p41"/>
          <p:cNvCxnSpPr/>
          <p:nvPr/>
        </p:nvCxnSpPr>
        <p:spPr>
          <a:xfrm>
            <a:off x="381000" y="1143000"/>
            <a:ext cx="8382000" cy="0"/>
          </a:xfrm>
          <a:prstGeom prst="straightConnector1">
            <a:avLst/>
          </a:prstGeom>
          <a:solidFill>
            <a:srgbClr val="FFFFFF"/>
          </a:solidFill>
          <a:ln w="14300" cap="flat" cmpd="sng">
            <a:solidFill>
              <a:srgbClr val="E2E8F0"/>
            </a:solidFill>
            <a:prstDash val="solid"/>
            <a:round/>
            <a:headEnd type="none" w="sm" len="sm"/>
            <a:tailEnd type="none" w="sm" len="sm"/>
          </a:ln>
        </p:spPr>
      </p:cxnSp>
      <p:sp>
        <p:nvSpPr>
          <p:cNvPr id="757" name="Google Shape;757;p41"/>
          <p:cNvSpPr txBox="1"/>
          <p:nvPr/>
        </p:nvSpPr>
        <p:spPr>
          <a:xfrm>
            <a:off x="381000" y="333375"/>
            <a:ext cx="7620000" cy="762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 sz="2000" b="0" i="0" u="none" strike="noStrike" cap="none">
                <a:solidFill>
                  <a:srgbClr val="0F172A"/>
                </a:solidFill>
                <a:latin typeface="Inter ExtraBold"/>
                <a:ea typeface="Inter ExtraBold"/>
                <a:cs typeface="Inter ExtraBold"/>
                <a:sym typeface="Inter ExtraBold"/>
              </a:rPr>
              <a:t>Sơ đồ xương cá (Fishbone)</a:t>
            </a:r>
            <a:endParaRPr sz="2000" b="0" i="0" u="none" strike="noStrike" cap="none">
              <a:solidFill>
                <a:srgbClr val="0F172A"/>
              </a:solidFill>
              <a:latin typeface="Inter ExtraBold"/>
              <a:ea typeface="Inter ExtraBold"/>
              <a:cs typeface="Inter ExtraBold"/>
              <a:sym typeface="Inter ExtraBold"/>
            </a:endParaRPr>
          </a:p>
          <a:p>
            <a:pPr marL="0" marR="0" lvl="0" indent="0" algn="l" rtl="0">
              <a:lnSpc>
                <a:spcPct val="100000"/>
              </a:lnSpc>
              <a:spcBef>
                <a:spcPts val="375"/>
              </a:spcBef>
              <a:spcAft>
                <a:spcPts val="0"/>
              </a:spcAft>
              <a:buClr>
                <a:srgbClr val="000000"/>
              </a:buClr>
              <a:buSzPts val="1100"/>
              <a:buFont typeface="Arial"/>
              <a:buNone/>
            </a:pPr>
            <a:r>
              <a:rPr lang="en" sz="1100" b="0" i="0" u="none" strike="noStrike" cap="none">
                <a:solidFill>
                  <a:srgbClr val="007B7C"/>
                </a:solidFill>
                <a:latin typeface="Inter SemiBold"/>
                <a:ea typeface="Inter SemiBold"/>
                <a:cs typeface="Inter SemiBold"/>
                <a:sym typeface="Inter SemiBold"/>
              </a:rPr>
              <a:t>Ishikawa Diagram — nguyên nhân booking bị trễ, áp dụng chung cho 2 quy trình cốt lõi</a:t>
            </a:r>
            <a:endParaRPr sz="1100" b="0" i="0" u="none" strike="noStrike" cap="none">
              <a:solidFill>
                <a:srgbClr val="007B7C"/>
              </a:solidFill>
              <a:latin typeface="Inter SemiBold"/>
              <a:ea typeface="Inter SemiBold"/>
              <a:cs typeface="Inter SemiBold"/>
              <a:sym typeface="Inter SemiBold"/>
            </a:endParaRPr>
          </a:p>
        </p:txBody>
      </p:sp>
      <p:cxnSp>
        <p:nvCxnSpPr>
          <p:cNvPr id="758" name="Google Shape;758;p41"/>
          <p:cNvCxnSpPr/>
          <p:nvPr/>
        </p:nvCxnSpPr>
        <p:spPr>
          <a:xfrm>
            <a:off x="502920" y="3154680"/>
            <a:ext cx="6400800" cy="0"/>
          </a:xfrm>
          <a:prstGeom prst="straightConnector1">
            <a:avLst/>
          </a:prstGeom>
          <a:noFill/>
          <a:ln w="25400" cap="flat" cmpd="sng">
            <a:solidFill>
              <a:srgbClr val="0F172A"/>
            </a:solidFill>
            <a:prstDash val="solid"/>
            <a:round/>
            <a:headEnd type="none" w="sm" len="sm"/>
            <a:tailEnd type="none" w="sm" len="sm"/>
          </a:ln>
        </p:spPr>
      </p:cxnSp>
      <p:sp>
        <p:nvSpPr>
          <p:cNvPr id="759" name="Google Shape;759;p41"/>
          <p:cNvSpPr/>
          <p:nvPr/>
        </p:nvSpPr>
        <p:spPr>
          <a:xfrm>
            <a:off x="6903720" y="2651760"/>
            <a:ext cx="1508760" cy="1005840"/>
          </a:xfrm>
          <a:prstGeom prst="roundRect">
            <a:avLst>
              <a:gd name="adj" fmla="val 16667"/>
            </a:avLst>
          </a:prstGeom>
          <a:solidFill>
            <a:srgbClr val="0F172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760" name="Google Shape;760;p41"/>
          <p:cNvSpPr txBox="1"/>
          <p:nvPr/>
        </p:nvSpPr>
        <p:spPr>
          <a:xfrm>
            <a:off x="6995159" y="2724912"/>
            <a:ext cx="1325880" cy="859536"/>
          </a:xfrm>
          <a:prstGeom prst="rect">
            <a:avLst/>
          </a:prstGeom>
          <a:noFill/>
          <a:ln>
            <a:noFill/>
          </a:ln>
        </p:spPr>
        <p:txBody>
          <a:bodyPr spcFirstLastPara="1" wrap="square" lIns="0" tIns="0" rIns="0" bIns="0" anchor="ctr" anchorCtr="0">
            <a:spAutoFit/>
          </a:bodyPr>
          <a:lstStyle/>
          <a:p>
            <a:pPr marL="0" marR="0" lvl="0" indent="0" algn="ctr" rtl="0">
              <a:lnSpc>
                <a:spcPct val="105000"/>
              </a:lnSpc>
              <a:spcBef>
                <a:spcPts val="0"/>
              </a:spcBef>
              <a:spcAft>
                <a:spcPts val="0"/>
              </a:spcAft>
              <a:buNone/>
            </a:pPr>
            <a:r>
              <a:rPr lang="en" sz="1000" b="1" i="0" u="none" strike="noStrike" cap="none">
                <a:solidFill>
                  <a:srgbClr val="FFFFFF"/>
                </a:solidFill>
                <a:latin typeface="Inter"/>
                <a:ea typeface="Inter"/>
                <a:cs typeface="Inter"/>
                <a:sym typeface="Inter"/>
              </a:rPr>
              <a:t>Booking bị trễ /</a:t>
            </a:r>
            <a:endParaRPr/>
          </a:p>
          <a:p>
            <a:pPr marL="0" marR="0" lvl="0" indent="0" algn="ctr" rtl="0">
              <a:lnSpc>
                <a:spcPct val="105000"/>
              </a:lnSpc>
              <a:spcBef>
                <a:spcPts val="0"/>
              </a:spcBef>
              <a:spcAft>
                <a:spcPts val="0"/>
              </a:spcAft>
              <a:buNone/>
            </a:pPr>
            <a:r>
              <a:rPr lang="en" sz="1000" b="1" i="0" u="none" strike="noStrike" cap="none">
                <a:solidFill>
                  <a:srgbClr val="FFFFFF"/>
                </a:solidFill>
                <a:latin typeface="Inter"/>
                <a:ea typeface="Inter"/>
                <a:cs typeface="Inter"/>
                <a:sym typeface="Inter"/>
              </a:rPr>
              <a:t>KH không hài lòng</a:t>
            </a:r>
            <a:endParaRPr/>
          </a:p>
        </p:txBody>
      </p:sp>
      <p:cxnSp>
        <p:nvCxnSpPr>
          <p:cNvPr id="761" name="Google Shape;761;p41"/>
          <p:cNvCxnSpPr/>
          <p:nvPr/>
        </p:nvCxnSpPr>
        <p:spPr>
          <a:xfrm flipH="1">
            <a:off x="914400" y="2075688"/>
            <a:ext cx="1577340" cy="1078992"/>
          </a:xfrm>
          <a:prstGeom prst="straightConnector1">
            <a:avLst/>
          </a:prstGeom>
          <a:noFill/>
          <a:ln w="19050" cap="flat" cmpd="sng">
            <a:solidFill>
              <a:srgbClr val="007B7C"/>
            </a:solidFill>
            <a:prstDash val="solid"/>
            <a:round/>
            <a:headEnd type="none" w="sm" len="sm"/>
            <a:tailEnd type="none" w="sm" len="sm"/>
          </a:ln>
        </p:spPr>
      </p:cxnSp>
      <p:sp>
        <p:nvSpPr>
          <p:cNvPr id="762" name="Google Shape;762;p41"/>
          <p:cNvSpPr/>
          <p:nvPr/>
        </p:nvSpPr>
        <p:spPr>
          <a:xfrm>
            <a:off x="1417320" y="1298448"/>
            <a:ext cx="2148840" cy="777240"/>
          </a:xfrm>
          <a:prstGeom prst="rect">
            <a:avLst/>
          </a:prstGeom>
          <a:solidFill>
            <a:srgbClr val="FFFFFF"/>
          </a:solidFill>
          <a:ln w="12700"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763" name="Google Shape;763;p41"/>
          <p:cNvSpPr/>
          <p:nvPr/>
        </p:nvSpPr>
        <p:spPr>
          <a:xfrm>
            <a:off x="1417320" y="1298448"/>
            <a:ext cx="2148840" cy="54864"/>
          </a:xfrm>
          <a:prstGeom prst="rect">
            <a:avLst/>
          </a:prstGeom>
          <a:solidFill>
            <a:srgbClr val="007B7C"/>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764" name="Google Shape;764;p41"/>
          <p:cNvSpPr txBox="1"/>
          <p:nvPr/>
        </p:nvSpPr>
        <p:spPr>
          <a:xfrm>
            <a:off x="1527048" y="1380744"/>
            <a:ext cx="1929384" cy="630936"/>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 sz="950" b="1" i="0" u="none" strike="noStrike" cap="none">
                <a:solidFill>
                  <a:srgbClr val="0F172A"/>
                </a:solidFill>
                <a:latin typeface="Inter ExtraBold"/>
                <a:ea typeface="Inter ExtraBold"/>
                <a:cs typeface="Inter ExtraBold"/>
                <a:sym typeface="Inter ExtraBold"/>
              </a:rPr>
              <a:t>Con người</a:t>
            </a:r>
            <a:endParaRPr/>
          </a:p>
          <a:p>
            <a:pPr marL="0" marR="0" lvl="0" indent="0" algn="l" rtl="0">
              <a:lnSpc>
                <a:spcPct val="100000"/>
              </a:lnSpc>
              <a:spcBef>
                <a:spcPts val="100"/>
              </a:spcBef>
              <a:spcAft>
                <a:spcPts val="0"/>
              </a:spcAft>
              <a:buNone/>
            </a:pPr>
            <a:r>
              <a:rPr lang="en" sz="760" b="0" i="0" u="none" strike="noStrike" cap="none">
                <a:solidFill>
                  <a:srgbClr val="475569"/>
                </a:solidFill>
                <a:latin typeface="Inter"/>
                <a:ea typeface="Inter"/>
                <a:cs typeface="Inter"/>
                <a:sym typeface="Inter"/>
              </a:rPr>
              <a:t>– KTV chưa được đào tạo đầy đủ kỹ năng chẩn đoán</a:t>
            </a:r>
            <a:endParaRPr/>
          </a:p>
          <a:p>
            <a:pPr marL="0" marR="0" lvl="0" indent="0" algn="l" rtl="0">
              <a:lnSpc>
                <a:spcPct val="100000"/>
              </a:lnSpc>
              <a:spcBef>
                <a:spcPts val="100"/>
              </a:spcBef>
              <a:spcAft>
                <a:spcPts val="0"/>
              </a:spcAft>
              <a:buNone/>
            </a:pPr>
            <a:r>
              <a:rPr lang="en" sz="760" b="0" i="0" u="none" strike="noStrike" cap="none">
                <a:solidFill>
                  <a:srgbClr val="475569"/>
                </a:solidFill>
                <a:latin typeface="Inter"/>
                <a:ea typeface="Inter"/>
                <a:cs typeface="Inter"/>
                <a:sym typeface="Inter"/>
              </a:rPr>
              <a:t>– CS thiếu kinh nghiệm điều phối theo khu vực</a:t>
            </a:r>
            <a:endParaRPr/>
          </a:p>
        </p:txBody>
      </p:sp>
      <p:cxnSp>
        <p:nvCxnSpPr>
          <p:cNvPr id="765" name="Google Shape;765;p41"/>
          <p:cNvCxnSpPr/>
          <p:nvPr/>
        </p:nvCxnSpPr>
        <p:spPr>
          <a:xfrm rot="10800000">
            <a:off x="2377439" y="3154680"/>
            <a:ext cx="1577341" cy="868680"/>
          </a:xfrm>
          <a:prstGeom prst="straightConnector1">
            <a:avLst/>
          </a:prstGeom>
          <a:noFill/>
          <a:ln w="19050" cap="flat" cmpd="sng">
            <a:solidFill>
              <a:srgbClr val="991B1B"/>
            </a:solidFill>
            <a:prstDash val="solid"/>
            <a:round/>
            <a:headEnd type="none" w="sm" len="sm"/>
            <a:tailEnd type="none" w="sm" len="sm"/>
          </a:ln>
        </p:spPr>
      </p:cxnSp>
      <p:sp>
        <p:nvSpPr>
          <p:cNvPr id="766" name="Google Shape;766;p41"/>
          <p:cNvSpPr/>
          <p:nvPr/>
        </p:nvSpPr>
        <p:spPr>
          <a:xfrm>
            <a:off x="2880360" y="4023360"/>
            <a:ext cx="2148840" cy="777240"/>
          </a:xfrm>
          <a:prstGeom prst="rect">
            <a:avLst/>
          </a:prstGeom>
          <a:solidFill>
            <a:srgbClr val="FFFFFF"/>
          </a:solidFill>
          <a:ln w="12700"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767" name="Google Shape;767;p41"/>
          <p:cNvSpPr/>
          <p:nvPr/>
        </p:nvSpPr>
        <p:spPr>
          <a:xfrm>
            <a:off x="2880360" y="4023360"/>
            <a:ext cx="2148840" cy="54864"/>
          </a:xfrm>
          <a:prstGeom prst="rect">
            <a:avLst/>
          </a:prstGeom>
          <a:solidFill>
            <a:srgbClr val="991B1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768" name="Google Shape;768;p41"/>
          <p:cNvSpPr txBox="1"/>
          <p:nvPr/>
        </p:nvSpPr>
        <p:spPr>
          <a:xfrm>
            <a:off x="2990088" y="4105656"/>
            <a:ext cx="1929384" cy="630936"/>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 sz="950" b="1" i="0" u="none" strike="noStrike" cap="none">
                <a:solidFill>
                  <a:srgbClr val="0F172A"/>
                </a:solidFill>
                <a:latin typeface="Inter ExtraBold"/>
                <a:ea typeface="Inter ExtraBold"/>
                <a:cs typeface="Inter ExtraBold"/>
                <a:sym typeface="Inter ExtraBold"/>
              </a:rPr>
              <a:t>Quy trình</a:t>
            </a:r>
            <a:endParaRPr/>
          </a:p>
          <a:p>
            <a:pPr marL="0" marR="0" lvl="0" indent="0" algn="l" rtl="0">
              <a:lnSpc>
                <a:spcPct val="100000"/>
              </a:lnSpc>
              <a:spcBef>
                <a:spcPts val="100"/>
              </a:spcBef>
              <a:spcAft>
                <a:spcPts val="0"/>
              </a:spcAft>
              <a:buNone/>
            </a:pPr>
            <a:r>
              <a:rPr lang="en" sz="760" b="0" i="0" u="none" strike="noStrike" cap="none">
                <a:solidFill>
                  <a:srgbClr val="475569"/>
                </a:solidFill>
                <a:latin typeface="Inter"/>
                <a:ea typeface="Inter"/>
                <a:cs typeface="Inter"/>
                <a:sym typeface="Inter"/>
              </a:rPr>
              <a:t>– Thiếu bước kiểm tra tồn kho trước khi assign</a:t>
            </a:r>
            <a:endParaRPr/>
          </a:p>
          <a:p>
            <a:pPr marL="0" marR="0" lvl="0" indent="0" algn="l" rtl="0">
              <a:lnSpc>
                <a:spcPct val="100000"/>
              </a:lnSpc>
              <a:spcBef>
                <a:spcPts val="100"/>
              </a:spcBef>
              <a:spcAft>
                <a:spcPts val="0"/>
              </a:spcAft>
              <a:buNone/>
            </a:pPr>
            <a:r>
              <a:rPr lang="en" sz="760" b="0" i="0" u="none" strike="noStrike" cap="none">
                <a:solidFill>
                  <a:srgbClr val="475569"/>
                </a:solidFill>
                <a:latin typeface="Inter"/>
                <a:ea typeface="Inter"/>
                <a:cs typeface="Inter"/>
                <a:sym typeface="Inter"/>
              </a:rPr>
              <a:t>– Không có SLA rõ ràng cho thời gian chờ xác nhận KTV</a:t>
            </a:r>
            <a:endParaRPr/>
          </a:p>
        </p:txBody>
      </p:sp>
      <p:cxnSp>
        <p:nvCxnSpPr>
          <p:cNvPr id="769" name="Google Shape;769;p41"/>
          <p:cNvCxnSpPr/>
          <p:nvPr/>
        </p:nvCxnSpPr>
        <p:spPr>
          <a:xfrm flipH="1">
            <a:off x="3840480" y="2075688"/>
            <a:ext cx="1577340" cy="1078992"/>
          </a:xfrm>
          <a:prstGeom prst="straightConnector1">
            <a:avLst/>
          </a:prstGeom>
          <a:noFill/>
          <a:ln w="19050" cap="flat" cmpd="sng">
            <a:solidFill>
              <a:srgbClr val="0284C7"/>
            </a:solidFill>
            <a:prstDash val="solid"/>
            <a:round/>
            <a:headEnd type="none" w="sm" len="sm"/>
            <a:tailEnd type="none" w="sm" len="sm"/>
          </a:ln>
        </p:spPr>
      </p:cxnSp>
      <p:sp>
        <p:nvSpPr>
          <p:cNvPr id="770" name="Google Shape;770;p41"/>
          <p:cNvSpPr/>
          <p:nvPr/>
        </p:nvSpPr>
        <p:spPr>
          <a:xfrm>
            <a:off x="4343400" y="1298448"/>
            <a:ext cx="2148840" cy="777240"/>
          </a:xfrm>
          <a:prstGeom prst="rect">
            <a:avLst/>
          </a:prstGeom>
          <a:solidFill>
            <a:srgbClr val="FFFFFF"/>
          </a:solidFill>
          <a:ln w="12700"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771" name="Google Shape;771;p41"/>
          <p:cNvSpPr/>
          <p:nvPr/>
        </p:nvSpPr>
        <p:spPr>
          <a:xfrm>
            <a:off x="4343400" y="1298448"/>
            <a:ext cx="2148840" cy="54864"/>
          </a:xfrm>
          <a:prstGeom prst="rect">
            <a:avLst/>
          </a:prstGeom>
          <a:solidFill>
            <a:srgbClr val="0284C7"/>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772" name="Google Shape;772;p41"/>
          <p:cNvSpPr txBox="1"/>
          <p:nvPr/>
        </p:nvSpPr>
        <p:spPr>
          <a:xfrm>
            <a:off x="4453128" y="1380744"/>
            <a:ext cx="1929384" cy="630936"/>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 sz="950" b="1" i="0" u="none" strike="noStrike" cap="none">
                <a:solidFill>
                  <a:srgbClr val="0F172A"/>
                </a:solidFill>
                <a:latin typeface="Inter ExtraBold"/>
                <a:ea typeface="Inter ExtraBold"/>
                <a:cs typeface="Inter ExtraBold"/>
                <a:sym typeface="Inter ExtraBold"/>
              </a:rPr>
              <a:t>Hệ thống / Công nghệ</a:t>
            </a:r>
            <a:endParaRPr/>
          </a:p>
          <a:p>
            <a:pPr marL="0" marR="0" lvl="0" indent="0" algn="l" rtl="0">
              <a:lnSpc>
                <a:spcPct val="100000"/>
              </a:lnSpc>
              <a:spcBef>
                <a:spcPts val="100"/>
              </a:spcBef>
              <a:spcAft>
                <a:spcPts val="0"/>
              </a:spcAft>
              <a:buNone/>
            </a:pPr>
            <a:r>
              <a:rPr lang="en" sz="760" b="0" i="0" u="none" strike="noStrike" cap="none">
                <a:solidFill>
                  <a:srgbClr val="475569"/>
                </a:solidFill>
                <a:latin typeface="Inter"/>
                <a:ea typeface="Inter"/>
                <a:cs typeface="Inter"/>
                <a:sym typeface="Inter"/>
              </a:rPr>
              <a:t>– App/portal chưa có cơ chế nhắc việc tự động</a:t>
            </a:r>
            <a:endParaRPr/>
          </a:p>
          <a:p>
            <a:pPr marL="0" marR="0" lvl="0" indent="0" algn="l" rtl="0">
              <a:lnSpc>
                <a:spcPct val="100000"/>
              </a:lnSpc>
              <a:spcBef>
                <a:spcPts val="100"/>
              </a:spcBef>
              <a:spcAft>
                <a:spcPts val="0"/>
              </a:spcAft>
              <a:buNone/>
            </a:pPr>
            <a:r>
              <a:rPr lang="en" sz="760" b="0" i="0" u="none" strike="noStrike" cap="none">
                <a:solidFill>
                  <a:srgbClr val="475569"/>
                </a:solidFill>
                <a:latin typeface="Inter"/>
                <a:ea typeface="Inter"/>
                <a:cs typeface="Inter"/>
                <a:sym typeface="Inter"/>
              </a:rPr>
              <a:t>– Thiếu thuật toán gợi ý KTV thay thế theo khu vực</a:t>
            </a:r>
            <a:endParaRPr/>
          </a:p>
        </p:txBody>
      </p:sp>
      <p:cxnSp>
        <p:nvCxnSpPr>
          <p:cNvPr id="773" name="Google Shape;773;p41"/>
          <p:cNvCxnSpPr/>
          <p:nvPr/>
        </p:nvCxnSpPr>
        <p:spPr>
          <a:xfrm rot="10800000">
            <a:off x="5303520" y="3154680"/>
            <a:ext cx="1577339" cy="868680"/>
          </a:xfrm>
          <a:prstGeom prst="straightConnector1">
            <a:avLst/>
          </a:prstGeom>
          <a:noFill/>
          <a:ln w="19050" cap="flat" cmpd="sng">
            <a:solidFill>
              <a:srgbClr val="991B1B"/>
            </a:solidFill>
            <a:prstDash val="solid"/>
            <a:round/>
            <a:headEnd type="none" w="sm" len="sm"/>
            <a:tailEnd type="none" w="sm" len="sm"/>
          </a:ln>
        </p:spPr>
      </p:cxnSp>
      <p:sp>
        <p:nvSpPr>
          <p:cNvPr id="774" name="Google Shape;774;p41"/>
          <p:cNvSpPr/>
          <p:nvPr/>
        </p:nvSpPr>
        <p:spPr>
          <a:xfrm>
            <a:off x="5806440" y="4023360"/>
            <a:ext cx="2148840" cy="777240"/>
          </a:xfrm>
          <a:prstGeom prst="rect">
            <a:avLst/>
          </a:prstGeom>
          <a:solidFill>
            <a:srgbClr val="FFFFFF"/>
          </a:solidFill>
          <a:ln w="12700"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775" name="Google Shape;775;p41"/>
          <p:cNvSpPr/>
          <p:nvPr/>
        </p:nvSpPr>
        <p:spPr>
          <a:xfrm>
            <a:off x="5806440" y="4023360"/>
            <a:ext cx="2148840" cy="54864"/>
          </a:xfrm>
          <a:prstGeom prst="rect">
            <a:avLst/>
          </a:prstGeom>
          <a:solidFill>
            <a:srgbClr val="991B1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776" name="Google Shape;776;p41"/>
          <p:cNvSpPr txBox="1"/>
          <p:nvPr/>
        </p:nvSpPr>
        <p:spPr>
          <a:xfrm>
            <a:off x="5916168" y="4105656"/>
            <a:ext cx="1929384" cy="630936"/>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 sz="950" b="1" i="0" u="none" strike="noStrike" cap="none">
                <a:solidFill>
                  <a:srgbClr val="0F172A"/>
                </a:solidFill>
                <a:latin typeface="Inter ExtraBold"/>
                <a:ea typeface="Inter ExtraBold"/>
                <a:cs typeface="Inter ExtraBold"/>
                <a:sym typeface="Inter ExtraBold"/>
              </a:rPr>
              <a:t>Linh kiện / Vật tư</a:t>
            </a:r>
            <a:endParaRPr/>
          </a:p>
          <a:p>
            <a:pPr marL="0" marR="0" lvl="0" indent="0" algn="l" rtl="0">
              <a:lnSpc>
                <a:spcPct val="100000"/>
              </a:lnSpc>
              <a:spcBef>
                <a:spcPts val="100"/>
              </a:spcBef>
              <a:spcAft>
                <a:spcPts val="0"/>
              </a:spcAft>
              <a:buNone/>
            </a:pPr>
            <a:r>
              <a:rPr lang="en" sz="760" b="0" i="0" u="none" strike="noStrike" cap="none">
                <a:solidFill>
                  <a:srgbClr val="475569"/>
                </a:solidFill>
                <a:latin typeface="Inter"/>
                <a:ea typeface="Inter"/>
                <a:cs typeface="Inter"/>
                <a:sym typeface="Inter"/>
              </a:rPr>
              <a:t>– Thiếu linh kiện tại thời điểm xử lý</a:t>
            </a:r>
            <a:endParaRPr/>
          </a:p>
          <a:p>
            <a:pPr marL="0" marR="0" lvl="0" indent="0" algn="l" rtl="0">
              <a:lnSpc>
                <a:spcPct val="100000"/>
              </a:lnSpc>
              <a:spcBef>
                <a:spcPts val="100"/>
              </a:spcBef>
              <a:spcAft>
                <a:spcPts val="0"/>
              </a:spcAft>
              <a:buNone/>
            </a:pPr>
            <a:r>
              <a:rPr lang="en" sz="760" b="0" i="0" u="none" strike="noStrike" cap="none">
                <a:solidFill>
                  <a:srgbClr val="475569"/>
                </a:solidFill>
                <a:latin typeface="Inter"/>
                <a:ea typeface="Inter"/>
                <a:cs typeface="Inter"/>
                <a:sym typeface="Inter"/>
              </a:rPr>
              <a:t>– Đối soát kho – KTV còn thủ công, dễ sai lệch</a:t>
            </a:r>
            <a:endParaRPr/>
          </a:p>
        </p:txBody>
      </p:sp>
      <p:sp>
        <p:nvSpPr>
          <p:cNvPr id="777" name="Google Shape;777;p41"/>
          <p:cNvSpPr txBox="1"/>
          <p:nvPr/>
        </p:nvSpPr>
        <p:spPr>
          <a:xfrm>
            <a:off x="502920" y="4846320"/>
            <a:ext cx="7863840" cy="27432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 sz="869" b="1" i="0" u="none" strike="noStrike" cap="none">
                <a:solidFill>
                  <a:srgbClr val="0F172A"/>
                </a:solidFill>
                <a:latin typeface="Inter SemiBold"/>
                <a:ea typeface="Inter SemiBold"/>
                <a:cs typeface="Inter SemiBold"/>
                <a:sym typeface="Inter SemiBold"/>
              </a:rPr>
              <a:t>Nhóm nguyên nhân ảnh hưởng lớn nhất: </a:t>
            </a:r>
            <a:r>
              <a:rPr lang="en" sz="869" b="1" i="0" u="none" strike="noStrike" cap="none">
                <a:solidFill>
                  <a:srgbClr val="991B1B"/>
                </a:solidFill>
                <a:latin typeface="Inter SemiBold"/>
                <a:ea typeface="Inter SemiBold"/>
                <a:cs typeface="Inter SemiBold"/>
                <a:sym typeface="Inter SemiBold"/>
              </a:rPr>
              <a:t>Quy trình và Linh kiện/Vật tư</a:t>
            </a:r>
            <a:r>
              <a:rPr lang="en" sz="869" b="0" i="0" u="none" strike="noStrike" cap="none">
                <a:solidFill>
                  <a:srgbClr val="475569"/>
                </a:solidFill>
                <a:latin typeface="Inter"/>
                <a:ea typeface="Inter"/>
                <a:cs typeface="Inter"/>
                <a:sym typeface="Inter"/>
              </a:rPr>
              <a:t> — trùng khớp với lãng phí đã xác định ở Waste Analysis.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781"/>
        <p:cNvGrpSpPr/>
        <p:nvPr/>
      </p:nvGrpSpPr>
      <p:grpSpPr>
        <a:xfrm>
          <a:off x="0" y="0"/>
          <a:ext cx="0" cy="0"/>
          <a:chOff x="0" y="0"/>
          <a:chExt cx="0" cy="0"/>
        </a:xfrm>
      </p:grpSpPr>
      <p:sp>
        <p:nvSpPr>
          <p:cNvPr id="782" name="Google Shape;782;p42"/>
          <p:cNvSpPr/>
          <p:nvPr/>
        </p:nvSpPr>
        <p:spPr>
          <a:xfrm>
            <a:off x="-101425" y="-72425"/>
            <a:ext cx="9144000" cy="5143500"/>
          </a:xfrm>
          <a:prstGeom prst="rect">
            <a:avLst/>
          </a:pr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783" name="Google Shape;783;p42"/>
          <p:cNvGrpSpPr/>
          <p:nvPr/>
        </p:nvGrpSpPr>
        <p:grpSpPr>
          <a:xfrm>
            <a:off x="8458200" y="381000"/>
            <a:ext cx="304800" cy="304800"/>
            <a:chOff x="0" y="0"/>
            <a:chExt cx="304800" cy="304800"/>
          </a:xfrm>
        </p:grpSpPr>
        <p:sp>
          <p:nvSpPr>
            <p:cNvPr id="784" name="Google Shape;784;p42"/>
            <p:cNvSpPr/>
            <p:nvPr/>
          </p:nvSpPr>
          <p:spPr>
            <a:xfrm>
              <a:off x="0" y="0"/>
              <a:ext cx="304800" cy="304800"/>
            </a:xfrm>
            <a:prstGeom prst="roundRect">
              <a:avLst>
                <a:gd name="adj" fmla="val 125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85" name="Google Shape;785;p42"/>
            <p:cNvSpPr/>
            <p:nvPr/>
          </p:nvSpPr>
          <p:spPr>
            <a:xfrm>
              <a:off x="95250" y="95250"/>
              <a:ext cx="114300" cy="114300"/>
            </a:xfrm>
            <a:custGeom>
              <a:avLst/>
              <a:gdLst/>
              <a:ahLst/>
              <a:cxnLst/>
              <a:rect l="l" t="t" r="r" b="b"/>
              <a:pathLst>
                <a:path w="120000" h="120000" extrusionOk="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86" name="Google Shape;786;p42"/>
            <p:cNvSpPr/>
            <p:nvPr/>
          </p:nvSpPr>
          <p:spPr>
            <a:xfrm>
              <a:off x="123825" y="123825"/>
              <a:ext cx="57300" cy="57300"/>
            </a:xfrm>
            <a:prstGeom prst="ellipse">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cxnSp>
        <p:nvCxnSpPr>
          <p:cNvPr id="787" name="Google Shape;787;p42"/>
          <p:cNvCxnSpPr/>
          <p:nvPr/>
        </p:nvCxnSpPr>
        <p:spPr>
          <a:xfrm>
            <a:off x="381000" y="1143000"/>
            <a:ext cx="8382000" cy="0"/>
          </a:xfrm>
          <a:prstGeom prst="straightConnector1">
            <a:avLst/>
          </a:prstGeom>
          <a:solidFill>
            <a:srgbClr val="FFFFFF"/>
          </a:solidFill>
          <a:ln w="14300" cap="flat" cmpd="sng">
            <a:solidFill>
              <a:srgbClr val="E2E8F0"/>
            </a:solidFill>
            <a:prstDash val="solid"/>
            <a:round/>
            <a:headEnd type="none" w="sm" len="sm"/>
            <a:tailEnd type="none" w="sm" len="sm"/>
          </a:ln>
        </p:spPr>
      </p:cxnSp>
      <p:sp>
        <p:nvSpPr>
          <p:cNvPr id="788" name="Google Shape;788;p42"/>
          <p:cNvSpPr txBox="1"/>
          <p:nvPr/>
        </p:nvSpPr>
        <p:spPr>
          <a:xfrm>
            <a:off x="381000" y="333375"/>
            <a:ext cx="7620000" cy="762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 sz="2000" b="0" i="0" u="none" strike="noStrike" cap="none">
                <a:solidFill>
                  <a:srgbClr val="0F172A"/>
                </a:solidFill>
                <a:latin typeface="Inter ExtraBold"/>
                <a:ea typeface="Inter ExtraBold"/>
                <a:cs typeface="Inter ExtraBold"/>
                <a:sym typeface="Inter ExtraBold"/>
              </a:rPr>
              <a:t>Phân tích thời gian xử lý (Cycle Time)</a:t>
            </a:r>
            <a:endParaRPr sz="2000" b="0" i="0" u="none" strike="noStrike" cap="none">
              <a:solidFill>
                <a:srgbClr val="0F172A"/>
              </a:solidFill>
              <a:latin typeface="Inter ExtraBold"/>
              <a:ea typeface="Inter ExtraBold"/>
              <a:cs typeface="Inter ExtraBold"/>
              <a:sym typeface="Inter ExtraBold"/>
            </a:endParaRPr>
          </a:p>
          <a:p>
            <a:pPr marL="0" marR="0" lvl="0" indent="0" algn="l" rtl="0">
              <a:lnSpc>
                <a:spcPct val="100000"/>
              </a:lnSpc>
              <a:spcBef>
                <a:spcPts val="375"/>
              </a:spcBef>
              <a:spcAft>
                <a:spcPts val="0"/>
              </a:spcAft>
              <a:buClr>
                <a:srgbClr val="000000"/>
              </a:buClr>
              <a:buSzPts val="1100"/>
              <a:buFont typeface="Arial"/>
              <a:buNone/>
            </a:pPr>
            <a:r>
              <a:rPr lang="en" sz="1100" b="0" i="0" u="none" strike="noStrike" cap="none">
                <a:solidFill>
                  <a:srgbClr val="007B7C"/>
                </a:solidFill>
                <a:latin typeface="Inter SemiBold"/>
                <a:ea typeface="Inter SemiBold"/>
                <a:cs typeface="Inter SemiBold"/>
                <a:sym typeface="Inter SemiBold"/>
              </a:rPr>
              <a:t>So sánh thời gian trung bình từng bước với SLA mục tiêu — C02 và C03</a:t>
            </a:r>
            <a:endParaRPr sz="1100" b="0" i="0" u="none" strike="noStrike" cap="none">
              <a:solidFill>
                <a:srgbClr val="007B7C"/>
              </a:solidFill>
              <a:latin typeface="Inter SemiBold"/>
              <a:ea typeface="Inter SemiBold"/>
              <a:cs typeface="Inter SemiBold"/>
              <a:sym typeface="Inter SemiBold"/>
            </a:endParaRPr>
          </a:p>
        </p:txBody>
      </p:sp>
      <p:sp>
        <p:nvSpPr>
          <p:cNvPr id="789" name="Google Shape;789;p42"/>
          <p:cNvSpPr txBox="1"/>
          <p:nvPr/>
        </p:nvSpPr>
        <p:spPr>
          <a:xfrm>
            <a:off x="384048" y="1335024"/>
            <a:ext cx="4050791" cy="256032"/>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 sz="1050" b="1" i="0" u="none" strike="noStrike" cap="none">
                <a:solidFill>
                  <a:srgbClr val="007B7C"/>
                </a:solidFill>
                <a:latin typeface="Inter ExtraBold"/>
                <a:ea typeface="Inter ExtraBold"/>
                <a:cs typeface="Inter ExtraBold"/>
                <a:sym typeface="Inter ExtraBold"/>
              </a:rPr>
              <a:t>C02 — CS assign KTV cho booking</a:t>
            </a:r>
            <a:endParaRPr/>
          </a:p>
        </p:txBody>
      </p:sp>
      <p:graphicFrame>
        <p:nvGraphicFramePr>
          <p:cNvPr id="790" name="Google Shape;790;p42"/>
          <p:cNvGraphicFramePr/>
          <p:nvPr/>
        </p:nvGraphicFramePr>
        <p:xfrm>
          <a:off x="384048" y="1627632"/>
          <a:ext cx="3000000" cy="3000000"/>
        </p:xfrm>
        <a:graphic>
          <a:graphicData uri="http://schemas.openxmlformats.org/drawingml/2006/table">
            <a:tbl>
              <a:tblPr firstRow="1" bandRow="1">
                <a:noFill/>
                <a:tableStyleId>{C22CD621-9F64-4B2E-9631-1F7B959E530B}</a:tableStyleId>
              </a:tblPr>
              <a:tblGrid>
                <a:gridCol w="1976000">
                  <a:extLst>
                    <a:ext uri="{9D8B030D-6E8A-4147-A177-3AD203B41FA5}">
                      <a16:colId xmlns:a16="http://schemas.microsoft.com/office/drawing/2014/main" val="20000"/>
                    </a:ext>
                  </a:extLst>
                </a:gridCol>
                <a:gridCol w="988000">
                  <a:extLst>
                    <a:ext uri="{9D8B030D-6E8A-4147-A177-3AD203B41FA5}">
                      <a16:colId xmlns:a16="http://schemas.microsoft.com/office/drawing/2014/main" val="20001"/>
                    </a:ext>
                  </a:extLst>
                </a:gridCol>
                <a:gridCol w="1086800">
                  <a:extLst>
                    <a:ext uri="{9D8B030D-6E8A-4147-A177-3AD203B41FA5}">
                      <a16:colId xmlns:a16="http://schemas.microsoft.com/office/drawing/2014/main" val="20002"/>
                    </a:ext>
                  </a:extLst>
                </a:gridCol>
              </a:tblGrid>
              <a:tr h="292600">
                <a:tc>
                  <a:txBody>
                    <a:bodyPr/>
                    <a:lstStyle/>
                    <a:p>
                      <a:pPr marL="0" marR="0" lvl="0" indent="0" algn="l" rtl="0">
                        <a:lnSpc>
                          <a:spcPct val="100000"/>
                        </a:lnSpc>
                        <a:spcBef>
                          <a:spcPts val="0"/>
                        </a:spcBef>
                        <a:spcAft>
                          <a:spcPts val="0"/>
                        </a:spcAft>
                        <a:buNone/>
                      </a:pPr>
                      <a:r>
                        <a:rPr lang="en" sz="869" b="1" u="none" strike="noStrike" cap="none">
                          <a:solidFill>
                            <a:srgbClr val="FFFFFF"/>
                          </a:solidFill>
                          <a:latin typeface="Inter SemiBold"/>
                          <a:ea typeface="Inter SemiBold"/>
                          <a:cs typeface="Inter SemiBold"/>
                          <a:sym typeface="Inter SemiBold"/>
                        </a:rPr>
                        <a:t>Bước</a:t>
                      </a:r>
                      <a:endParaRPr/>
                    </a:p>
                  </a:txBody>
                  <a:tcPr marL="73150" marR="73150" marT="18300" marB="18300" anchor="ctr">
                    <a:solidFill>
                      <a:srgbClr val="007B7C"/>
                    </a:solidFill>
                  </a:tcPr>
                </a:tc>
                <a:tc>
                  <a:txBody>
                    <a:bodyPr/>
                    <a:lstStyle/>
                    <a:p>
                      <a:pPr marL="0" marR="0" lvl="0" indent="0" algn="l" rtl="0">
                        <a:lnSpc>
                          <a:spcPct val="100000"/>
                        </a:lnSpc>
                        <a:spcBef>
                          <a:spcPts val="0"/>
                        </a:spcBef>
                        <a:spcAft>
                          <a:spcPts val="0"/>
                        </a:spcAft>
                        <a:buNone/>
                      </a:pPr>
                      <a:r>
                        <a:rPr lang="en" sz="869" b="1" u="none" strike="noStrike" cap="none">
                          <a:solidFill>
                            <a:srgbClr val="FFFFFF"/>
                          </a:solidFill>
                          <a:latin typeface="Inter SemiBold"/>
                          <a:ea typeface="Inter SemiBold"/>
                          <a:cs typeface="Inter SemiBold"/>
                          <a:sym typeface="Inter SemiBold"/>
                        </a:rPr>
                        <a:t>TB</a:t>
                      </a:r>
                      <a:endParaRPr/>
                    </a:p>
                  </a:txBody>
                  <a:tcPr marL="73150" marR="73150" marT="18300" marB="18300" anchor="ctr">
                    <a:solidFill>
                      <a:srgbClr val="007B7C"/>
                    </a:solidFill>
                  </a:tcPr>
                </a:tc>
                <a:tc>
                  <a:txBody>
                    <a:bodyPr/>
                    <a:lstStyle/>
                    <a:p>
                      <a:pPr marL="0" marR="0" lvl="0" indent="0" algn="l" rtl="0">
                        <a:lnSpc>
                          <a:spcPct val="100000"/>
                        </a:lnSpc>
                        <a:spcBef>
                          <a:spcPts val="0"/>
                        </a:spcBef>
                        <a:spcAft>
                          <a:spcPts val="0"/>
                        </a:spcAft>
                        <a:buNone/>
                      </a:pPr>
                      <a:r>
                        <a:rPr lang="en" sz="869" b="1" u="none" strike="noStrike" cap="none">
                          <a:solidFill>
                            <a:srgbClr val="FFFFFF"/>
                          </a:solidFill>
                          <a:latin typeface="Inter SemiBold"/>
                          <a:ea typeface="Inter SemiBold"/>
                          <a:cs typeface="Inter SemiBold"/>
                          <a:sym typeface="Inter SemiBold"/>
                        </a:rPr>
                        <a:t>SLA</a:t>
                      </a:r>
                      <a:endParaRPr/>
                    </a:p>
                  </a:txBody>
                  <a:tcPr marL="73150" marR="73150" marT="18300" marB="18300" anchor="ctr">
                    <a:solidFill>
                      <a:srgbClr val="007B7C"/>
                    </a:solidFill>
                  </a:tcPr>
                </a:tc>
                <a:extLst>
                  <a:ext uri="{0D108BD9-81ED-4DB2-BD59-A6C34878D82A}">
                    <a16:rowId xmlns:a16="http://schemas.microsoft.com/office/drawing/2014/main" val="10000"/>
                  </a:ext>
                </a:extLst>
              </a:tr>
              <a:tr h="384050">
                <a:tc>
                  <a:txBody>
                    <a:bodyPr/>
                    <a:lstStyle/>
                    <a:p>
                      <a:pPr marL="0" marR="0" lvl="0" indent="0" algn="l" rtl="0">
                        <a:lnSpc>
                          <a:spcPct val="100000"/>
                        </a:lnSpc>
                        <a:spcBef>
                          <a:spcPts val="0"/>
                        </a:spcBef>
                        <a:spcAft>
                          <a:spcPts val="0"/>
                        </a:spcAft>
                        <a:buNone/>
                      </a:pPr>
                      <a:r>
                        <a:rPr lang="en" sz="830" u="none" strike="noStrike" cap="none">
                          <a:solidFill>
                            <a:srgbClr val="475569"/>
                          </a:solidFill>
                          <a:latin typeface="Inter"/>
                          <a:ea typeface="Inter"/>
                          <a:cs typeface="Inter"/>
                          <a:sym typeface="Inter"/>
                        </a:rPr>
                        <a:t>CS tiếp nhận yêu cầu mới</a:t>
                      </a:r>
                      <a:endParaRPr/>
                    </a:p>
                  </a:txBody>
                  <a:tcPr marL="73150" marR="73150" marT="18300" marB="18300" anchor="ctr">
                    <a:solidFill>
                      <a:srgbClr val="FFFFFF"/>
                    </a:solidFill>
                  </a:tcPr>
                </a:tc>
                <a:tc>
                  <a:txBody>
                    <a:bodyPr/>
                    <a:lstStyle/>
                    <a:p>
                      <a:pPr marL="0" marR="0" lvl="0" indent="0" algn="l" rtl="0">
                        <a:lnSpc>
                          <a:spcPct val="100000"/>
                        </a:lnSpc>
                        <a:spcBef>
                          <a:spcPts val="0"/>
                        </a:spcBef>
                        <a:spcAft>
                          <a:spcPts val="0"/>
                        </a:spcAft>
                        <a:buNone/>
                      </a:pPr>
                      <a:r>
                        <a:rPr lang="en" sz="830" u="none" strike="noStrike" cap="none">
                          <a:solidFill>
                            <a:srgbClr val="475569"/>
                          </a:solidFill>
                          <a:latin typeface="Inter"/>
                          <a:ea typeface="Inter"/>
                          <a:cs typeface="Inter"/>
                          <a:sym typeface="Inter"/>
                        </a:rPr>
                        <a:t>3 phút</a:t>
                      </a:r>
                      <a:endParaRPr/>
                    </a:p>
                  </a:txBody>
                  <a:tcPr marL="73150" marR="73150" marT="18300" marB="18300" anchor="ctr">
                    <a:solidFill>
                      <a:srgbClr val="FFFFFF"/>
                    </a:solidFill>
                  </a:tcPr>
                </a:tc>
                <a:tc>
                  <a:txBody>
                    <a:bodyPr/>
                    <a:lstStyle/>
                    <a:p>
                      <a:pPr marL="0" marR="0" lvl="0" indent="0" algn="l" rtl="0">
                        <a:lnSpc>
                          <a:spcPct val="100000"/>
                        </a:lnSpc>
                        <a:spcBef>
                          <a:spcPts val="0"/>
                        </a:spcBef>
                        <a:spcAft>
                          <a:spcPts val="0"/>
                        </a:spcAft>
                        <a:buNone/>
                      </a:pPr>
                      <a:r>
                        <a:rPr lang="en" sz="830" u="none" strike="noStrike" cap="none">
                          <a:solidFill>
                            <a:srgbClr val="475569"/>
                          </a:solidFill>
                          <a:latin typeface="Inter"/>
                          <a:ea typeface="Inter"/>
                          <a:cs typeface="Inter"/>
                          <a:sym typeface="Inter"/>
                        </a:rPr>
                        <a:t>≤ 5 phút</a:t>
                      </a:r>
                      <a:endParaRPr/>
                    </a:p>
                  </a:txBody>
                  <a:tcPr marL="73150" marR="73150" marT="18300" marB="18300" anchor="ctr">
                    <a:solidFill>
                      <a:srgbClr val="FFFFFF"/>
                    </a:solidFill>
                  </a:tcPr>
                </a:tc>
                <a:extLst>
                  <a:ext uri="{0D108BD9-81ED-4DB2-BD59-A6C34878D82A}">
                    <a16:rowId xmlns:a16="http://schemas.microsoft.com/office/drawing/2014/main" val="10001"/>
                  </a:ext>
                </a:extLst>
              </a:tr>
              <a:tr h="384050">
                <a:tc>
                  <a:txBody>
                    <a:bodyPr/>
                    <a:lstStyle/>
                    <a:p>
                      <a:pPr marL="0" marR="0" lvl="0" indent="0" algn="l" rtl="0">
                        <a:lnSpc>
                          <a:spcPct val="100000"/>
                        </a:lnSpc>
                        <a:spcBef>
                          <a:spcPts val="0"/>
                        </a:spcBef>
                        <a:spcAft>
                          <a:spcPts val="0"/>
                        </a:spcAft>
                        <a:buNone/>
                      </a:pPr>
                      <a:r>
                        <a:rPr lang="en" sz="830" u="none" strike="noStrike" cap="none">
                          <a:solidFill>
                            <a:srgbClr val="475569"/>
                          </a:solidFill>
                          <a:latin typeface="Inter"/>
                          <a:ea typeface="Inter"/>
                          <a:cs typeface="Inter"/>
                          <a:sym typeface="Inter"/>
                        </a:rPr>
                        <a:t>Tìm &amp; chọn KTV phù hợp</a:t>
                      </a:r>
                      <a:endParaRPr/>
                    </a:p>
                  </a:txBody>
                  <a:tcPr marL="73150" marR="73150" marT="18300" marB="18300" anchor="ctr">
                    <a:solidFill>
                      <a:srgbClr val="F8FAFC"/>
                    </a:solidFill>
                  </a:tcPr>
                </a:tc>
                <a:tc>
                  <a:txBody>
                    <a:bodyPr/>
                    <a:lstStyle/>
                    <a:p>
                      <a:pPr marL="0" marR="0" lvl="0" indent="0" algn="l" rtl="0">
                        <a:lnSpc>
                          <a:spcPct val="100000"/>
                        </a:lnSpc>
                        <a:spcBef>
                          <a:spcPts val="0"/>
                        </a:spcBef>
                        <a:spcAft>
                          <a:spcPts val="0"/>
                        </a:spcAft>
                        <a:buNone/>
                      </a:pPr>
                      <a:r>
                        <a:rPr lang="en" sz="830" u="none" strike="noStrike" cap="none">
                          <a:solidFill>
                            <a:srgbClr val="475569"/>
                          </a:solidFill>
                          <a:latin typeface="Inter"/>
                          <a:ea typeface="Inter"/>
                          <a:cs typeface="Inter"/>
                          <a:sym typeface="Inter"/>
                        </a:rPr>
                        <a:t>8 phút</a:t>
                      </a:r>
                      <a:endParaRPr/>
                    </a:p>
                  </a:txBody>
                  <a:tcPr marL="73150" marR="73150" marT="18300" marB="18300" anchor="ctr">
                    <a:solidFill>
                      <a:srgbClr val="F8FAFC"/>
                    </a:solidFill>
                  </a:tcPr>
                </a:tc>
                <a:tc>
                  <a:txBody>
                    <a:bodyPr/>
                    <a:lstStyle/>
                    <a:p>
                      <a:pPr marL="0" marR="0" lvl="0" indent="0" algn="l" rtl="0">
                        <a:lnSpc>
                          <a:spcPct val="100000"/>
                        </a:lnSpc>
                        <a:spcBef>
                          <a:spcPts val="0"/>
                        </a:spcBef>
                        <a:spcAft>
                          <a:spcPts val="0"/>
                        </a:spcAft>
                        <a:buNone/>
                      </a:pPr>
                      <a:r>
                        <a:rPr lang="en" sz="830" u="none" strike="noStrike" cap="none">
                          <a:solidFill>
                            <a:srgbClr val="475569"/>
                          </a:solidFill>
                          <a:latin typeface="Inter"/>
                          <a:ea typeface="Inter"/>
                          <a:cs typeface="Inter"/>
                          <a:sym typeface="Inter"/>
                        </a:rPr>
                        <a:t>≤ 10 phút</a:t>
                      </a:r>
                      <a:endParaRPr/>
                    </a:p>
                  </a:txBody>
                  <a:tcPr marL="73150" marR="73150" marT="18300" marB="18300" anchor="ctr">
                    <a:solidFill>
                      <a:srgbClr val="F8FAFC"/>
                    </a:solidFill>
                  </a:tcPr>
                </a:tc>
                <a:extLst>
                  <a:ext uri="{0D108BD9-81ED-4DB2-BD59-A6C34878D82A}">
                    <a16:rowId xmlns:a16="http://schemas.microsoft.com/office/drawing/2014/main" val="10002"/>
                  </a:ext>
                </a:extLst>
              </a:tr>
              <a:tr h="384050">
                <a:tc>
                  <a:txBody>
                    <a:bodyPr/>
                    <a:lstStyle/>
                    <a:p>
                      <a:pPr marL="0" marR="0" lvl="0" indent="0" algn="l" rtl="0">
                        <a:lnSpc>
                          <a:spcPct val="100000"/>
                        </a:lnSpc>
                        <a:spcBef>
                          <a:spcPts val="0"/>
                        </a:spcBef>
                        <a:spcAft>
                          <a:spcPts val="0"/>
                        </a:spcAft>
                        <a:buNone/>
                      </a:pPr>
                      <a:r>
                        <a:rPr lang="en" sz="830" u="none" strike="noStrike" cap="none">
                          <a:solidFill>
                            <a:srgbClr val="475569"/>
                          </a:solidFill>
                          <a:latin typeface="Inter"/>
                          <a:ea typeface="Inter"/>
                          <a:cs typeface="Inter"/>
                          <a:sym typeface="Inter"/>
                        </a:rPr>
                        <a:t>Chờ KTV xác nhận trên app</a:t>
                      </a:r>
                      <a:endParaRPr/>
                    </a:p>
                  </a:txBody>
                  <a:tcPr marL="73150" marR="73150" marT="18300" marB="18300" anchor="ctr">
                    <a:solidFill>
                      <a:srgbClr val="FFFFFF"/>
                    </a:solidFill>
                  </a:tcPr>
                </a:tc>
                <a:tc>
                  <a:txBody>
                    <a:bodyPr/>
                    <a:lstStyle/>
                    <a:p>
                      <a:pPr marL="0" marR="0" lvl="0" indent="0" algn="l" rtl="0">
                        <a:lnSpc>
                          <a:spcPct val="100000"/>
                        </a:lnSpc>
                        <a:spcBef>
                          <a:spcPts val="0"/>
                        </a:spcBef>
                        <a:spcAft>
                          <a:spcPts val="0"/>
                        </a:spcAft>
                        <a:buNone/>
                      </a:pPr>
                      <a:r>
                        <a:rPr lang="en" sz="830" u="none" strike="noStrike" cap="none">
                          <a:solidFill>
                            <a:srgbClr val="475569"/>
                          </a:solidFill>
                          <a:latin typeface="Inter"/>
                          <a:ea typeface="Inter"/>
                          <a:cs typeface="Inter"/>
                          <a:sym typeface="Inter"/>
                        </a:rPr>
                        <a:t>15 phút</a:t>
                      </a:r>
                      <a:endParaRPr/>
                    </a:p>
                  </a:txBody>
                  <a:tcPr marL="73150" marR="73150" marT="18300" marB="18300" anchor="ctr">
                    <a:solidFill>
                      <a:srgbClr val="FFFFFF"/>
                    </a:solidFill>
                  </a:tcPr>
                </a:tc>
                <a:tc>
                  <a:txBody>
                    <a:bodyPr/>
                    <a:lstStyle/>
                    <a:p>
                      <a:pPr marL="0" marR="0" lvl="0" indent="0" algn="l" rtl="0">
                        <a:lnSpc>
                          <a:spcPct val="100000"/>
                        </a:lnSpc>
                        <a:spcBef>
                          <a:spcPts val="0"/>
                        </a:spcBef>
                        <a:spcAft>
                          <a:spcPts val="0"/>
                        </a:spcAft>
                        <a:buNone/>
                      </a:pPr>
                      <a:r>
                        <a:rPr lang="en" sz="830" u="none" strike="noStrike" cap="none">
                          <a:solidFill>
                            <a:srgbClr val="475569"/>
                          </a:solidFill>
                          <a:latin typeface="Inter"/>
                          <a:ea typeface="Inter"/>
                          <a:cs typeface="Inter"/>
                          <a:sym typeface="Inter"/>
                        </a:rPr>
                        <a:t>≤ 15 phút</a:t>
                      </a:r>
                      <a:endParaRPr/>
                    </a:p>
                  </a:txBody>
                  <a:tcPr marL="73150" marR="73150" marT="18300" marB="18300" anchor="ctr">
                    <a:solidFill>
                      <a:srgbClr val="FFFFFF"/>
                    </a:solidFill>
                  </a:tcPr>
                </a:tc>
                <a:extLst>
                  <a:ext uri="{0D108BD9-81ED-4DB2-BD59-A6C34878D82A}">
                    <a16:rowId xmlns:a16="http://schemas.microsoft.com/office/drawing/2014/main" val="10003"/>
                  </a:ext>
                </a:extLst>
              </a:tr>
              <a:tr h="384050">
                <a:tc>
                  <a:txBody>
                    <a:bodyPr/>
                    <a:lstStyle/>
                    <a:p>
                      <a:pPr marL="0" marR="0" lvl="0" indent="0" algn="l" rtl="0">
                        <a:lnSpc>
                          <a:spcPct val="100000"/>
                        </a:lnSpc>
                        <a:spcBef>
                          <a:spcPts val="0"/>
                        </a:spcBef>
                        <a:spcAft>
                          <a:spcPts val="0"/>
                        </a:spcAft>
                        <a:buNone/>
                      </a:pPr>
                      <a:r>
                        <a:rPr lang="en" sz="830" u="none" strike="noStrike" cap="none">
                          <a:solidFill>
                            <a:srgbClr val="475569"/>
                          </a:solidFill>
                          <a:latin typeface="Inter"/>
                          <a:ea typeface="Inter"/>
                          <a:cs typeface="Inter"/>
                          <a:sym typeface="Inter"/>
                        </a:rPr>
                        <a:t>Không có KTV phù hợp (phát sinh)</a:t>
                      </a:r>
                      <a:endParaRPr/>
                    </a:p>
                  </a:txBody>
                  <a:tcPr marL="73150" marR="73150" marT="18300" marB="18300" anchor="ctr">
                    <a:solidFill>
                      <a:srgbClr val="F8FAFC"/>
                    </a:solidFill>
                  </a:tcPr>
                </a:tc>
                <a:tc>
                  <a:txBody>
                    <a:bodyPr/>
                    <a:lstStyle/>
                    <a:p>
                      <a:pPr marL="0" marR="0" lvl="0" indent="0" algn="l" rtl="0">
                        <a:lnSpc>
                          <a:spcPct val="100000"/>
                        </a:lnSpc>
                        <a:spcBef>
                          <a:spcPts val="0"/>
                        </a:spcBef>
                        <a:spcAft>
                          <a:spcPts val="0"/>
                        </a:spcAft>
                        <a:buNone/>
                      </a:pPr>
                      <a:r>
                        <a:rPr lang="en" sz="830" u="none" strike="noStrike" cap="none">
                          <a:solidFill>
                            <a:srgbClr val="475569"/>
                          </a:solidFill>
                          <a:latin typeface="Inter"/>
                          <a:ea typeface="Inter"/>
                          <a:cs typeface="Inter"/>
                          <a:sym typeface="Inter"/>
                        </a:rPr>
                        <a:t>45 phút</a:t>
                      </a:r>
                      <a:endParaRPr/>
                    </a:p>
                  </a:txBody>
                  <a:tcPr marL="73150" marR="73150" marT="18300" marB="18300" anchor="ctr">
                    <a:solidFill>
                      <a:srgbClr val="F8FAFC"/>
                    </a:solidFill>
                  </a:tcPr>
                </a:tc>
                <a:tc>
                  <a:txBody>
                    <a:bodyPr/>
                    <a:lstStyle/>
                    <a:p>
                      <a:pPr marL="0" marR="0" lvl="0" indent="0" algn="l" rtl="0">
                        <a:lnSpc>
                          <a:spcPct val="100000"/>
                        </a:lnSpc>
                        <a:spcBef>
                          <a:spcPts val="0"/>
                        </a:spcBef>
                        <a:spcAft>
                          <a:spcPts val="0"/>
                        </a:spcAft>
                        <a:buNone/>
                      </a:pPr>
                      <a:r>
                        <a:rPr lang="en" sz="830" u="none" strike="noStrike" cap="none">
                          <a:solidFill>
                            <a:srgbClr val="475569"/>
                          </a:solidFill>
                          <a:latin typeface="Inter"/>
                          <a:ea typeface="Inter"/>
                          <a:cs typeface="Inter"/>
                          <a:sym typeface="Inter"/>
                        </a:rPr>
                        <a:t>≤ 20 phút ⚠</a:t>
                      </a:r>
                      <a:endParaRPr/>
                    </a:p>
                  </a:txBody>
                  <a:tcPr marL="73150" marR="73150" marT="18300" marB="18300" anchor="ctr">
                    <a:solidFill>
                      <a:srgbClr val="F8FAFC"/>
                    </a:solidFill>
                  </a:tcPr>
                </a:tc>
                <a:extLst>
                  <a:ext uri="{0D108BD9-81ED-4DB2-BD59-A6C34878D82A}">
                    <a16:rowId xmlns:a16="http://schemas.microsoft.com/office/drawing/2014/main" val="10004"/>
                  </a:ext>
                </a:extLst>
              </a:tr>
            </a:tbl>
          </a:graphicData>
        </a:graphic>
      </p:graphicFrame>
      <p:sp>
        <p:nvSpPr>
          <p:cNvPr id="791" name="Google Shape;791;p42"/>
          <p:cNvSpPr/>
          <p:nvPr/>
        </p:nvSpPr>
        <p:spPr>
          <a:xfrm>
            <a:off x="384048" y="3511296"/>
            <a:ext cx="4050791" cy="310896"/>
          </a:xfrm>
          <a:prstGeom prst="rect">
            <a:avLst/>
          </a:prstGeom>
          <a:solidFill>
            <a:srgbClr val="F0F9FF"/>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792" name="Google Shape;792;p42"/>
          <p:cNvSpPr txBox="1"/>
          <p:nvPr/>
        </p:nvSpPr>
        <p:spPr>
          <a:xfrm>
            <a:off x="475488" y="3557016"/>
            <a:ext cx="3867911" cy="237744"/>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 sz="830" b="1" i="0" u="none" strike="noStrike" cap="none">
                <a:solidFill>
                  <a:srgbClr val="0F172A"/>
                </a:solidFill>
                <a:latin typeface="Inter SemiBold"/>
                <a:ea typeface="Inter SemiBold"/>
                <a:cs typeface="Inter SemiBold"/>
                <a:sym typeface="Inter SemiBold"/>
              </a:rPr>
              <a:t>Tổng TB (trường hợp bình thường): </a:t>
            </a:r>
            <a:r>
              <a:rPr lang="en" sz="830" b="1" i="0" u="none" strike="noStrike" cap="none">
                <a:solidFill>
                  <a:srgbClr val="0284C7"/>
                </a:solidFill>
                <a:latin typeface="Inter"/>
                <a:ea typeface="Inter"/>
                <a:cs typeface="Inter"/>
                <a:sym typeface="Inter"/>
              </a:rPr>
              <a:t>≈ 26 phút</a:t>
            </a:r>
            <a:r>
              <a:rPr lang="en" sz="830" b="0" i="0" u="none" strike="noStrike" cap="none">
                <a:solidFill>
                  <a:srgbClr val="64748B"/>
                </a:solidFill>
                <a:latin typeface="Inter"/>
                <a:ea typeface="Inter"/>
                <a:cs typeface="Inter"/>
                <a:sym typeface="Inter"/>
              </a:rPr>
              <a:t>  (SLA ≤ 30 phút)</a:t>
            </a:r>
            <a:endParaRPr/>
          </a:p>
        </p:txBody>
      </p:sp>
      <p:sp>
        <p:nvSpPr>
          <p:cNvPr id="793" name="Google Shape;793;p42"/>
          <p:cNvSpPr txBox="1"/>
          <p:nvPr/>
        </p:nvSpPr>
        <p:spPr>
          <a:xfrm>
            <a:off x="4709159" y="1335024"/>
            <a:ext cx="4050791" cy="256032"/>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 sz="1050" b="1" i="0" u="none" strike="noStrike" cap="none">
                <a:solidFill>
                  <a:srgbClr val="0284C7"/>
                </a:solidFill>
                <a:latin typeface="Inter ExtraBold"/>
                <a:ea typeface="Inter ExtraBold"/>
                <a:cs typeface="Inter ExtraBold"/>
                <a:sym typeface="Inter ExtraBold"/>
              </a:rPr>
              <a:t>C03 — KTV nhận và xử lý booking</a:t>
            </a:r>
            <a:endParaRPr/>
          </a:p>
        </p:txBody>
      </p:sp>
      <p:graphicFrame>
        <p:nvGraphicFramePr>
          <p:cNvPr id="794" name="Google Shape;794;p42"/>
          <p:cNvGraphicFramePr/>
          <p:nvPr/>
        </p:nvGraphicFramePr>
        <p:xfrm>
          <a:off x="4709159" y="1627632"/>
          <a:ext cx="3000000" cy="3000000"/>
        </p:xfrm>
        <a:graphic>
          <a:graphicData uri="http://schemas.openxmlformats.org/drawingml/2006/table">
            <a:tbl>
              <a:tblPr firstRow="1" bandRow="1">
                <a:noFill/>
                <a:tableStyleId>{C22CD621-9F64-4B2E-9631-1F7B959E530B}</a:tableStyleId>
              </a:tblPr>
              <a:tblGrid>
                <a:gridCol w="1976000">
                  <a:extLst>
                    <a:ext uri="{9D8B030D-6E8A-4147-A177-3AD203B41FA5}">
                      <a16:colId xmlns:a16="http://schemas.microsoft.com/office/drawing/2014/main" val="20000"/>
                    </a:ext>
                  </a:extLst>
                </a:gridCol>
                <a:gridCol w="988000">
                  <a:extLst>
                    <a:ext uri="{9D8B030D-6E8A-4147-A177-3AD203B41FA5}">
                      <a16:colId xmlns:a16="http://schemas.microsoft.com/office/drawing/2014/main" val="20001"/>
                    </a:ext>
                  </a:extLst>
                </a:gridCol>
                <a:gridCol w="1086800">
                  <a:extLst>
                    <a:ext uri="{9D8B030D-6E8A-4147-A177-3AD203B41FA5}">
                      <a16:colId xmlns:a16="http://schemas.microsoft.com/office/drawing/2014/main" val="20002"/>
                    </a:ext>
                  </a:extLst>
                </a:gridCol>
              </a:tblGrid>
              <a:tr h="292600">
                <a:tc>
                  <a:txBody>
                    <a:bodyPr/>
                    <a:lstStyle/>
                    <a:p>
                      <a:pPr marL="0" marR="0" lvl="0" indent="0" algn="l" rtl="0">
                        <a:lnSpc>
                          <a:spcPct val="100000"/>
                        </a:lnSpc>
                        <a:spcBef>
                          <a:spcPts val="0"/>
                        </a:spcBef>
                        <a:spcAft>
                          <a:spcPts val="0"/>
                        </a:spcAft>
                        <a:buNone/>
                      </a:pPr>
                      <a:r>
                        <a:rPr lang="en" sz="869" b="1" u="none" strike="noStrike" cap="none">
                          <a:solidFill>
                            <a:srgbClr val="FFFFFF"/>
                          </a:solidFill>
                          <a:latin typeface="Inter SemiBold"/>
                          <a:ea typeface="Inter SemiBold"/>
                          <a:cs typeface="Inter SemiBold"/>
                          <a:sym typeface="Inter SemiBold"/>
                        </a:rPr>
                        <a:t>Bước</a:t>
                      </a:r>
                      <a:endParaRPr/>
                    </a:p>
                  </a:txBody>
                  <a:tcPr marL="73150" marR="73150" marT="18300" marB="18300" anchor="ctr">
                    <a:solidFill>
                      <a:srgbClr val="0284C7"/>
                    </a:solidFill>
                  </a:tcPr>
                </a:tc>
                <a:tc>
                  <a:txBody>
                    <a:bodyPr/>
                    <a:lstStyle/>
                    <a:p>
                      <a:pPr marL="0" marR="0" lvl="0" indent="0" algn="l" rtl="0">
                        <a:lnSpc>
                          <a:spcPct val="100000"/>
                        </a:lnSpc>
                        <a:spcBef>
                          <a:spcPts val="0"/>
                        </a:spcBef>
                        <a:spcAft>
                          <a:spcPts val="0"/>
                        </a:spcAft>
                        <a:buNone/>
                      </a:pPr>
                      <a:r>
                        <a:rPr lang="en" sz="869" b="1" u="none" strike="noStrike" cap="none">
                          <a:solidFill>
                            <a:srgbClr val="FFFFFF"/>
                          </a:solidFill>
                          <a:latin typeface="Inter SemiBold"/>
                          <a:ea typeface="Inter SemiBold"/>
                          <a:cs typeface="Inter SemiBold"/>
                          <a:sym typeface="Inter SemiBold"/>
                        </a:rPr>
                        <a:t>TB</a:t>
                      </a:r>
                      <a:endParaRPr/>
                    </a:p>
                  </a:txBody>
                  <a:tcPr marL="73150" marR="73150" marT="18300" marB="18300" anchor="ctr">
                    <a:solidFill>
                      <a:srgbClr val="0284C7"/>
                    </a:solidFill>
                  </a:tcPr>
                </a:tc>
                <a:tc>
                  <a:txBody>
                    <a:bodyPr/>
                    <a:lstStyle/>
                    <a:p>
                      <a:pPr marL="0" marR="0" lvl="0" indent="0" algn="l" rtl="0">
                        <a:lnSpc>
                          <a:spcPct val="100000"/>
                        </a:lnSpc>
                        <a:spcBef>
                          <a:spcPts val="0"/>
                        </a:spcBef>
                        <a:spcAft>
                          <a:spcPts val="0"/>
                        </a:spcAft>
                        <a:buNone/>
                      </a:pPr>
                      <a:r>
                        <a:rPr lang="en" sz="869" b="1" u="none" strike="noStrike" cap="none">
                          <a:solidFill>
                            <a:srgbClr val="FFFFFF"/>
                          </a:solidFill>
                          <a:latin typeface="Inter SemiBold"/>
                          <a:ea typeface="Inter SemiBold"/>
                          <a:cs typeface="Inter SemiBold"/>
                          <a:sym typeface="Inter SemiBold"/>
                        </a:rPr>
                        <a:t>SLA</a:t>
                      </a:r>
                      <a:endParaRPr/>
                    </a:p>
                  </a:txBody>
                  <a:tcPr marL="73150" marR="73150" marT="18300" marB="18300" anchor="ctr">
                    <a:solidFill>
                      <a:srgbClr val="0284C7"/>
                    </a:solidFill>
                  </a:tcPr>
                </a:tc>
                <a:extLst>
                  <a:ext uri="{0D108BD9-81ED-4DB2-BD59-A6C34878D82A}">
                    <a16:rowId xmlns:a16="http://schemas.microsoft.com/office/drawing/2014/main" val="10000"/>
                  </a:ext>
                </a:extLst>
              </a:tr>
              <a:tr h="384050">
                <a:tc>
                  <a:txBody>
                    <a:bodyPr/>
                    <a:lstStyle/>
                    <a:p>
                      <a:pPr marL="0" marR="0" lvl="0" indent="0" algn="l" rtl="0">
                        <a:lnSpc>
                          <a:spcPct val="100000"/>
                        </a:lnSpc>
                        <a:spcBef>
                          <a:spcPts val="0"/>
                        </a:spcBef>
                        <a:spcAft>
                          <a:spcPts val="0"/>
                        </a:spcAft>
                        <a:buNone/>
                      </a:pPr>
                      <a:r>
                        <a:rPr lang="en" sz="830" u="none" strike="noStrike" cap="none">
                          <a:solidFill>
                            <a:srgbClr val="475569"/>
                          </a:solidFill>
                          <a:latin typeface="Inter"/>
                          <a:ea typeface="Inter"/>
                          <a:cs typeface="Inter"/>
                          <a:sym typeface="Inter"/>
                        </a:rPr>
                        <a:t>Di chuyển đến địa điểm</a:t>
                      </a:r>
                      <a:endParaRPr/>
                    </a:p>
                  </a:txBody>
                  <a:tcPr marL="73150" marR="73150" marT="18300" marB="18300" anchor="ctr">
                    <a:solidFill>
                      <a:srgbClr val="FFFFFF"/>
                    </a:solidFill>
                  </a:tcPr>
                </a:tc>
                <a:tc>
                  <a:txBody>
                    <a:bodyPr/>
                    <a:lstStyle/>
                    <a:p>
                      <a:pPr marL="0" marR="0" lvl="0" indent="0" algn="l" rtl="0">
                        <a:lnSpc>
                          <a:spcPct val="100000"/>
                        </a:lnSpc>
                        <a:spcBef>
                          <a:spcPts val="0"/>
                        </a:spcBef>
                        <a:spcAft>
                          <a:spcPts val="0"/>
                        </a:spcAft>
                        <a:buNone/>
                      </a:pPr>
                      <a:r>
                        <a:rPr lang="en" sz="830" u="none" strike="noStrike" cap="none">
                          <a:solidFill>
                            <a:srgbClr val="475569"/>
                          </a:solidFill>
                          <a:latin typeface="Inter"/>
                          <a:ea typeface="Inter"/>
                          <a:cs typeface="Inter"/>
                          <a:sym typeface="Inter"/>
                        </a:rPr>
                        <a:t>25 phút</a:t>
                      </a:r>
                      <a:endParaRPr/>
                    </a:p>
                  </a:txBody>
                  <a:tcPr marL="73150" marR="73150" marT="18300" marB="18300" anchor="ctr">
                    <a:solidFill>
                      <a:srgbClr val="FFFFFF"/>
                    </a:solidFill>
                  </a:tcPr>
                </a:tc>
                <a:tc>
                  <a:txBody>
                    <a:bodyPr/>
                    <a:lstStyle/>
                    <a:p>
                      <a:pPr marL="0" marR="0" lvl="0" indent="0" algn="l" rtl="0">
                        <a:lnSpc>
                          <a:spcPct val="100000"/>
                        </a:lnSpc>
                        <a:spcBef>
                          <a:spcPts val="0"/>
                        </a:spcBef>
                        <a:spcAft>
                          <a:spcPts val="0"/>
                        </a:spcAft>
                        <a:buNone/>
                      </a:pPr>
                      <a:r>
                        <a:rPr lang="en" sz="830" u="none" strike="noStrike" cap="none">
                          <a:solidFill>
                            <a:srgbClr val="475569"/>
                          </a:solidFill>
                          <a:latin typeface="Inter"/>
                          <a:ea typeface="Inter"/>
                          <a:cs typeface="Inter"/>
                          <a:sym typeface="Inter"/>
                        </a:rPr>
                        <a:t>≤ 30 phút</a:t>
                      </a:r>
                      <a:endParaRPr/>
                    </a:p>
                  </a:txBody>
                  <a:tcPr marL="73150" marR="73150" marT="18300" marB="18300" anchor="ctr">
                    <a:solidFill>
                      <a:srgbClr val="FFFFFF"/>
                    </a:solidFill>
                  </a:tcPr>
                </a:tc>
                <a:extLst>
                  <a:ext uri="{0D108BD9-81ED-4DB2-BD59-A6C34878D82A}">
                    <a16:rowId xmlns:a16="http://schemas.microsoft.com/office/drawing/2014/main" val="10001"/>
                  </a:ext>
                </a:extLst>
              </a:tr>
              <a:tr h="384050">
                <a:tc>
                  <a:txBody>
                    <a:bodyPr/>
                    <a:lstStyle/>
                    <a:p>
                      <a:pPr marL="0" marR="0" lvl="0" indent="0" algn="l" rtl="0">
                        <a:lnSpc>
                          <a:spcPct val="100000"/>
                        </a:lnSpc>
                        <a:spcBef>
                          <a:spcPts val="0"/>
                        </a:spcBef>
                        <a:spcAft>
                          <a:spcPts val="0"/>
                        </a:spcAft>
                        <a:buNone/>
                      </a:pPr>
                      <a:r>
                        <a:rPr lang="en" sz="830" u="none" strike="noStrike" cap="none">
                          <a:solidFill>
                            <a:srgbClr val="475569"/>
                          </a:solidFill>
                          <a:latin typeface="Inter"/>
                          <a:ea typeface="Inter"/>
                          <a:cs typeface="Inter"/>
                          <a:sym typeface="Inter"/>
                        </a:rPr>
                        <a:t>Chẩn đoán lỗi &amp; lập hóa đơn</a:t>
                      </a:r>
                      <a:endParaRPr/>
                    </a:p>
                  </a:txBody>
                  <a:tcPr marL="73150" marR="73150" marT="18300" marB="18300" anchor="ctr">
                    <a:solidFill>
                      <a:srgbClr val="F8FAFC"/>
                    </a:solidFill>
                  </a:tcPr>
                </a:tc>
                <a:tc>
                  <a:txBody>
                    <a:bodyPr/>
                    <a:lstStyle/>
                    <a:p>
                      <a:pPr marL="0" marR="0" lvl="0" indent="0" algn="l" rtl="0">
                        <a:lnSpc>
                          <a:spcPct val="100000"/>
                        </a:lnSpc>
                        <a:spcBef>
                          <a:spcPts val="0"/>
                        </a:spcBef>
                        <a:spcAft>
                          <a:spcPts val="0"/>
                        </a:spcAft>
                        <a:buNone/>
                      </a:pPr>
                      <a:r>
                        <a:rPr lang="en" sz="830" u="none" strike="noStrike" cap="none">
                          <a:solidFill>
                            <a:srgbClr val="475569"/>
                          </a:solidFill>
                          <a:latin typeface="Inter"/>
                          <a:ea typeface="Inter"/>
                          <a:cs typeface="Inter"/>
                          <a:sym typeface="Inter"/>
                        </a:rPr>
                        <a:t>20 phút</a:t>
                      </a:r>
                      <a:endParaRPr/>
                    </a:p>
                  </a:txBody>
                  <a:tcPr marL="73150" marR="73150" marT="18300" marB="18300" anchor="ctr">
                    <a:solidFill>
                      <a:srgbClr val="F8FAFC"/>
                    </a:solidFill>
                  </a:tcPr>
                </a:tc>
                <a:tc>
                  <a:txBody>
                    <a:bodyPr/>
                    <a:lstStyle/>
                    <a:p>
                      <a:pPr marL="0" marR="0" lvl="0" indent="0" algn="l" rtl="0">
                        <a:lnSpc>
                          <a:spcPct val="100000"/>
                        </a:lnSpc>
                        <a:spcBef>
                          <a:spcPts val="0"/>
                        </a:spcBef>
                        <a:spcAft>
                          <a:spcPts val="0"/>
                        </a:spcAft>
                        <a:buNone/>
                      </a:pPr>
                      <a:r>
                        <a:rPr lang="en" sz="830" u="none" strike="noStrike" cap="none">
                          <a:solidFill>
                            <a:srgbClr val="475569"/>
                          </a:solidFill>
                          <a:latin typeface="Inter"/>
                          <a:ea typeface="Inter"/>
                          <a:cs typeface="Inter"/>
                          <a:sym typeface="Inter"/>
                        </a:rPr>
                        <a:t>≤ 20 phút</a:t>
                      </a:r>
                      <a:endParaRPr/>
                    </a:p>
                  </a:txBody>
                  <a:tcPr marL="73150" marR="73150" marT="18300" marB="18300" anchor="ctr">
                    <a:solidFill>
                      <a:srgbClr val="F8FAFC"/>
                    </a:solidFill>
                  </a:tcPr>
                </a:tc>
                <a:extLst>
                  <a:ext uri="{0D108BD9-81ED-4DB2-BD59-A6C34878D82A}">
                    <a16:rowId xmlns:a16="http://schemas.microsoft.com/office/drawing/2014/main" val="10002"/>
                  </a:ext>
                </a:extLst>
              </a:tr>
              <a:tr h="384050">
                <a:tc>
                  <a:txBody>
                    <a:bodyPr/>
                    <a:lstStyle/>
                    <a:p>
                      <a:pPr marL="0" marR="0" lvl="0" indent="0" algn="l" rtl="0">
                        <a:lnSpc>
                          <a:spcPct val="100000"/>
                        </a:lnSpc>
                        <a:spcBef>
                          <a:spcPts val="0"/>
                        </a:spcBef>
                        <a:spcAft>
                          <a:spcPts val="0"/>
                        </a:spcAft>
                        <a:buNone/>
                      </a:pPr>
                      <a:r>
                        <a:rPr lang="en" sz="830" u="none" strike="noStrike" cap="none">
                          <a:solidFill>
                            <a:srgbClr val="475569"/>
                          </a:solidFill>
                          <a:latin typeface="Inter"/>
                          <a:ea typeface="Inter"/>
                          <a:cs typeface="Inter"/>
                          <a:sym typeface="Inter"/>
                        </a:rPr>
                        <a:t>Chờ khách hàng xác nhận chi phí</a:t>
                      </a:r>
                      <a:endParaRPr/>
                    </a:p>
                  </a:txBody>
                  <a:tcPr marL="73150" marR="73150" marT="18300" marB="18300" anchor="ctr">
                    <a:solidFill>
                      <a:srgbClr val="FFFFFF"/>
                    </a:solidFill>
                  </a:tcPr>
                </a:tc>
                <a:tc>
                  <a:txBody>
                    <a:bodyPr/>
                    <a:lstStyle/>
                    <a:p>
                      <a:pPr marL="0" marR="0" lvl="0" indent="0" algn="l" rtl="0">
                        <a:lnSpc>
                          <a:spcPct val="100000"/>
                        </a:lnSpc>
                        <a:spcBef>
                          <a:spcPts val="0"/>
                        </a:spcBef>
                        <a:spcAft>
                          <a:spcPts val="0"/>
                        </a:spcAft>
                        <a:buNone/>
                      </a:pPr>
                      <a:r>
                        <a:rPr lang="en" sz="830" u="none" strike="noStrike" cap="none">
                          <a:solidFill>
                            <a:srgbClr val="475569"/>
                          </a:solidFill>
                          <a:latin typeface="Inter"/>
                          <a:ea typeface="Inter"/>
                          <a:cs typeface="Inter"/>
                          <a:sym typeface="Inter"/>
                        </a:rPr>
                        <a:t>10 phút</a:t>
                      </a:r>
                      <a:endParaRPr/>
                    </a:p>
                  </a:txBody>
                  <a:tcPr marL="73150" marR="73150" marT="18300" marB="18300" anchor="ctr">
                    <a:solidFill>
                      <a:srgbClr val="FFFFFF"/>
                    </a:solidFill>
                  </a:tcPr>
                </a:tc>
                <a:tc>
                  <a:txBody>
                    <a:bodyPr/>
                    <a:lstStyle/>
                    <a:p>
                      <a:pPr marL="0" marR="0" lvl="0" indent="0" algn="l" rtl="0">
                        <a:lnSpc>
                          <a:spcPct val="100000"/>
                        </a:lnSpc>
                        <a:spcBef>
                          <a:spcPts val="0"/>
                        </a:spcBef>
                        <a:spcAft>
                          <a:spcPts val="0"/>
                        </a:spcAft>
                        <a:buNone/>
                      </a:pPr>
                      <a:r>
                        <a:rPr lang="en" sz="830" u="none" strike="noStrike" cap="none">
                          <a:solidFill>
                            <a:srgbClr val="475569"/>
                          </a:solidFill>
                          <a:latin typeface="Inter"/>
                          <a:ea typeface="Inter"/>
                          <a:cs typeface="Inter"/>
                          <a:sym typeface="Inter"/>
                        </a:rPr>
                        <a:t>≤ 10 phút</a:t>
                      </a:r>
                      <a:endParaRPr/>
                    </a:p>
                  </a:txBody>
                  <a:tcPr marL="73150" marR="73150" marT="18300" marB="18300" anchor="ctr">
                    <a:solidFill>
                      <a:srgbClr val="FFFFFF"/>
                    </a:solidFill>
                  </a:tcPr>
                </a:tc>
                <a:extLst>
                  <a:ext uri="{0D108BD9-81ED-4DB2-BD59-A6C34878D82A}">
                    <a16:rowId xmlns:a16="http://schemas.microsoft.com/office/drawing/2014/main" val="10003"/>
                  </a:ext>
                </a:extLst>
              </a:tr>
              <a:tr h="384050">
                <a:tc>
                  <a:txBody>
                    <a:bodyPr/>
                    <a:lstStyle/>
                    <a:p>
                      <a:pPr marL="0" marR="0" lvl="0" indent="0" algn="l" rtl="0">
                        <a:lnSpc>
                          <a:spcPct val="100000"/>
                        </a:lnSpc>
                        <a:spcBef>
                          <a:spcPts val="0"/>
                        </a:spcBef>
                        <a:spcAft>
                          <a:spcPts val="0"/>
                        </a:spcAft>
                        <a:buNone/>
                      </a:pPr>
                      <a:r>
                        <a:rPr lang="en" sz="830" u="none" strike="noStrike" cap="none">
                          <a:solidFill>
                            <a:srgbClr val="475569"/>
                          </a:solidFill>
                          <a:latin typeface="Inter"/>
                          <a:ea typeface="Inter"/>
                          <a:cs typeface="Inter"/>
                          <a:sym typeface="Inter"/>
                        </a:rPr>
                        <a:t>Sửa chữa &amp; hoàn tất báo cáo</a:t>
                      </a:r>
                      <a:endParaRPr/>
                    </a:p>
                  </a:txBody>
                  <a:tcPr marL="73150" marR="73150" marT="18300" marB="18300" anchor="ctr">
                    <a:solidFill>
                      <a:srgbClr val="F8FAFC"/>
                    </a:solidFill>
                  </a:tcPr>
                </a:tc>
                <a:tc>
                  <a:txBody>
                    <a:bodyPr/>
                    <a:lstStyle/>
                    <a:p>
                      <a:pPr marL="0" marR="0" lvl="0" indent="0" algn="l" rtl="0">
                        <a:lnSpc>
                          <a:spcPct val="100000"/>
                        </a:lnSpc>
                        <a:spcBef>
                          <a:spcPts val="0"/>
                        </a:spcBef>
                        <a:spcAft>
                          <a:spcPts val="0"/>
                        </a:spcAft>
                        <a:buNone/>
                      </a:pPr>
                      <a:r>
                        <a:rPr lang="en" sz="830" u="none" strike="noStrike" cap="none">
                          <a:solidFill>
                            <a:srgbClr val="475569"/>
                          </a:solidFill>
                          <a:latin typeface="Inter"/>
                          <a:ea typeface="Inter"/>
                          <a:cs typeface="Inter"/>
                          <a:sym typeface="Inter"/>
                        </a:rPr>
                        <a:t>40 phút</a:t>
                      </a:r>
                      <a:endParaRPr/>
                    </a:p>
                  </a:txBody>
                  <a:tcPr marL="73150" marR="73150" marT="18300" marB="18300" anchor="ctr">
                    <a:solidFill>
                      <a:srgbClr val="F8FAFC"/>
                    </a:solidFill>
                  </a:tcPr>
                </a:tc>
                <a:tc>
                  <a:txBody>
                    <a:bodyPr/>
                    <a:lstStyle/>
                    <a:p>
                      <a:pPr marL="0" marR="0" lvl="0" indent="0" algn="l" rtl="0">
                        <a:lnSpc>
                          <a:spcPct val="100000"/>
                        </a:lnSpc>
                        <a:spcBef>
                          <a:spcPts val="0"/>
                        </a:spcBef>
                        <a:spcAft>
                          <a:spcPts val="0"/>
                        </a:spcAft>
                        <a:buNone/>
                      </a:pPr>
                      <a:r>
                        <a:rPr lang="en" sz="830" u="none" strike="noStrike" cap="none">
                          <a:solidFill>
                            <a:srgbClr val="475569"/>
                          </a:solidFill>
                          <a:latin typeface="Inter"/>
                          <a:ea typeface="Inter"/>
                          <a:cs typeface="Inter"/>
                          <a:sym typeface="Inter"/>
                        </a:rPr>
                        <a:t>≤ 45 phút</a:t>
                      </a:r>
                      <a:endParaRPr/>
                    </a:p>
                  </a:txBody>
                  <a:tcPr marL="73150" marR="73150" marT="18300" marB="18300" anchor="ctr">
                    <a:solidFill>
                      <a:srgbClr val="F8FAFC"/>
                    </a:solidFill>
                  </a:tcPr>
                </a:tc>
                <a:extLst>
                  <a:ext uri="{0D108BD9-81ED-4DB2-BD59-A6C34878D82A}">
                    <a16:rowId xmlns:a16="http://schemas.microsoft.com/office/drawing/2014/main" val="10004"/>
                  </a:ext>
                </a:extLst>
              </a:tr>
            </a:tbl>
          </a:graphicData>
        </a:graphic>
      </p:graphicFrame>
      <p:sp>
        <p:nvSpPr>
          <p:cNvPr id="795" name="Google Shape;795;p42"/>
          <p:cNvSpPr/>
          <p:nvPr/>
        </p:nvSpPr>
        <p:spPr>
          <a:xfrm>
            <a:off x="4709159" y="3511296"/>
            <a:ext cx="4050791" cy="310896"/>
          </a:xfrm>
          <a:prstGeom prst="rect">
            <a:avLst/>
          </a:prstGeom>
          <a:solidFill>
            <a:srgbClr val="F0F9FF"/>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796" name="Google Shape;796;p42"/>
          <p:cNvSpPr txBox="1"/>
          <p:nvPr/>
        </p:nvSpPr>
        <p:spPr>
          <a:xfrm>
            <a:off x="4800599" y="3557016"/>
            <a:ext cx="3867911" cy="237744"/>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 sz="830" b="1" i="0" u="none" strike="noStrike" cap="none">
                <a:solidFill>
                  <a:srgbClr val="0F172A"/>
                </a:solidFill>
                <a:latin typeface="Inter SemiBold"/>
                <a:ea typeface="Inter SemiBold"/>
                <a:cs typeface="Inter SemiBold"/>
                <a:sym typeface="Inter SemiBold"/>
              </a:rPr>
              <a:t>Tổng TB (một lần đến): </a:t>
            </a:r>
            <a:r>
              <a:rPr lang="en" sz="830" b="1" i="0" u="none" strike="noStrike" cap="none">
                <a:solidFill>
                  <a:srgbClr val="007B7C"/>
                </a:solidFill>
                <a:latin typeface="Inter"/>
                <a:ea typeface="Inter"/>
                <a:cs typeface="Inter"/>
                <a:sym typeface="Inter"/>
              </a:rPr>
              <a:t>≈ 95 phút</a:t>
            </a:r>
            <a:r>
              <a:rPr lang="en" sz="830" b="0" i="0" u="none" strike="noStrike" cap="none">
                <a:solidFill>
                  <a:srgbClr val="64748B"/>
                </a:solidFill>
                <a:latin typeface="Inter"/>
                <a:ea typeface="Inter"/>
                <a:cs typeface="Inter"/>
                <a:sym typeface="Inter"/>
              </a:rPr>
              <a:t>  (SLA ≤ 105 phút)</a:t>
            </a:r>
            <a:endParaRPr/>
          </a:p>
        </p:txBody>
      </p:sp>
      <p:sp>
        <p:nvSpPr>
          <p:cNvPr id="797" name="Google Shape;797;p42"/>
          <p:cNvSpPr/>
          <p:nvPr/>
        </p:nvSpPr>
        <p:spPr>
          <a:xfrm>
            <a:off x="384048" y="3959352"/>
            <a:ext cx="8375904" cy="594360"/>
          </a:xfrm>
          <a:prstGeom prst="rect">
            <a:avLst/>
          </a:prstGeom>
          <a:solidFill>
            <a:srgbClr val="FEF2F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798" name="Google Shape;798;p42"/>
          <p:cNvSpPr txBox="1"/>
          <p:nvPr/>
        </p:nvSpPr>
        <p:spPr>
          <a:xfrm>
            <a:off x="548640" y="4050792"/>
            <a:ext cx="8046720" cy="41148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 sz="900" b="1" i="0" u="none" strike="noStrike" cap="none">
                <a:solidFill>
                  <a:srgbClr val="991B1B"/>
                </a:solidFill>
                <a:latin typeface="Inter SemiBold"/>
                <a:ea typeface="Inter SemiBold"/>
                <a:cs typeface="Inter SemiBold"/>
                <a:sym typeface="Inter SemiBold"/>
              </a:rPr>
              <a:t>Nhận xét:  </a:t>
            </a:r>
            <a:r>
              <a:rPr lang="en" sz="900" b="0" i="0" u="none" strike="noStrike" cap="none">
                <a:solidFill>
                  <a:srgbClr val="991B1B"/>
                </a:solidFill>
                <a:latin typeface="Inter"/>
                <a:ea typeface="Inter"/>
                <a:cs typeface="Inter"/>
                <a:sym typeface="Inter"/>
              </a:rPr>
              <a:t>Thời gian xử lý trung bình cả 2 quy trình đang nằm trong SLA ở điều kiện bình thường; tuy nhiên trường hợp “không có KTV phù hợp” vượt SLA hơn 2 lần — đây là điểm nghẽn (bottleneck) cần ưu tiên cải tiến.</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802"/>
        <p:cNvGrpSpPr/>
        <p:nvPr/>
      </p:nvGrpSpPr>
      <p:grpSpPr>
        <a:xfrm>
          <a:off x="0" y="0"/>
          <a:ext cx="0" cy="0"/>
          <a:chOff x="0" y="0"/>
          <a:chExt cx="0" cy="0"/>
        </a:xfrm>
      </p:grpSpPr>
      <p:sp>
        <p:nvSpPr>
          <p:cNvPr id="803" name="Google Shape;803;p43"/>
          <p:cNvSpPr/>
          <p:nvPr/>
        </p:nvSpPr>
        <p:spPr>
          <a:xfrm>
            <a:off x="-101425" y="-72425"/>
            <a:ext cx="9144000" cy="5143500"/>
          </a:xfrm>
          <a:prstGeom prst="rect">
            <a:avLst/>
          </a:pr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804" name="Google Shape;804;p43"/>
          <p:cNvGrpSpPr/>
          <p:nvPr/>
        </p:nvGrpSpPr>
        <p:grpSpPr>
          <a:xfrm>
            <a:off x="8458200" y="381000"/>
            <a:ext cx="304800" cy="304800"/>
            <a:chOff x="0" y="0"/>
            <a:chExt cx="304800" cy="304800"/>
          </a:xfrm>
        </p:grpSpPr>
        <p:sp>
          <p:nvSpPr>
            <p:cNvPr id="805" name="Google Shape;805;p43"/>
            <p:cNvSpPr/>
            <p:nvPr/>
          </p:nvSpPr>
          <p:spPr>
            <a:xfrm>
              <a:off x="0" y="0"/>
              <a:ext cx="304800" cy="304800"/>
            </a:xfrm>
            <a:prstGeom prst="roundRect">
              <a:avLst>
                <a:gd name="adj" fmla="val 125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6" name="Google Shape;806;p43"/>
            <p:cNvSpPr/>
            <p:nvPr/>
          </p:nvSpPr>
          <p:spPr>
            <a:xfrm>
              <a:off x="95250" y="95250"/>
              <a:ext cx="114300" cy="114300"/>
            </a:xfrm>
            <a:custGeom>
              <a:avLst/>
              <a:gdLst/>
              <a:ahLst/>
              <a:cxnLst/>
              <a:rect l="l" t="t" r="r" b="b"/>
              <a:pathLst>
                <a:path w="120000" h="120000" extrusionOk="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7" name="Google Shape;807;p43"/>
            <p:cNvSpPr/>
            <p:nvPr/>
          </p:nvSpPr>
          <p:spPr>
            <a:xfrm>
              <a:off x="123825" y="123825"/>
              <a:ext cx="57300" cy="57300"/>
            </a:xfrm>
            <a:prstGeom prst="ellipse">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cxnSp>
        <p:nvCxnSpPr>
          <p:cNvPr id="808" name="Google Shape;808;p43"/>
          <p:cNvCxnSpPr/>
          <p:nvPr/>
        </p:nvCxnSpPr>
        <p:spPr>
          <a:xfrm>
            <a:off x="381000" y="1143000"/>
            <a:ext cx="8382000" cy="0"/>
          </a:xfrm>
          <a:prstGeom prst="straightConnector1">
            <a:avLst/>
          </a:prstGeom>
          <a:solidFill>
            <a:srgbClr val="FFFFFF"/>
          </a:solidFill>
          <a:ln w="14300" cap="flat" cmpd="sng">
            <a:solidFill>
              <a:srgbClr val="E2E8F0"/>
            </a:solidFill>
            <a:prstDash val="solid"/>
            <a:round/>
            <a:headEnd type="none" w="sm" len="sm"/>
            <a:tailEnd type="none" w="sm" len="sm"/>
          </a:ln>
        </p:spPr>
      </p:cxnSp>
      <p:sp>
        <p:nvSpPr>
          <p:cNvPr id="809" name="Google Shape;809;p43"/>
          <p:cNvSpPr txBox="1"/>
          <p:nvPr/>
        </p:nvSpPr>
        <p:spPr>
          <a:xfrm>
            <a:off x="381000" y="333375"/>
            <a:ext cx="7620000" cy="762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 sz="2000" b="0" i="0" u="none" strike="noStrike" cap="none">
                <a:solidFill>
                  <a:srgbClr val="0F172A"/>
                </a:solidFill>
                <a:latin typeface="Inter ExtraBold"/>
                <a:ea typeface="Inter ExtraBold"/>
                <a:cs typeface="Inter ExtraBold"/>
                <a:sym typeface="Inter ExtraBold"/>
              </a:rPr>
              <a:t>Phân tích chất lượng dịch vụ</a:t>
            </a:r>
            <a:endParaRPr sz="2000" b="0" i="0" u="none" strike="noStrike" cap="none">
              <a:solidFill>
                <a:srgbClr val="0F172A"/>
              </a:solidFill>
              <a:latin typeface="Inter ExtraBold"/>
              <a:ea typeface="Inter ExtraBold"/>
              <a:cs typeface="Inter ExtraBold"/>
              <a:sym typeface="Inter ExtraBold"/>
            </a:endParaRPr>
          </a:p>
          <a:p>
            <a:pPr marL="0" marR="0" lvl="0" indent="0" algn="l" rtl="0">
              <a:lnSpc>
                <a:spcPct val="100000"/>
              </a:lnSpc>
              <a:spcBef>
                <a:spcPts val="375"/>
              </a:spcBef>
              <a:spcAft>
                <a:spcPts val="0"/>
              </a:spcAft>
              <a:buClr>
                <a:srgbClr val="000000"/>
              </a:buClr>
              <a:buSzPts val="1100"/>
              <a:buFont typeface="Arial"/>
              <a:buNone/>
            </a:pPr>
            <a:r>
              <a:rPr lang="en" sz="1100" b="0" i="0" u="none" strike="noStrike" cap="none">
                <a:solidFill>
                  <a:srgbClr val="007B7C"/>
                </a:solidFill>
                <a:latin typeface="Inter SemiBold"/>
                <a:ea typeface="Inter SemiBold"/>
                <a:cs typeface="Inter SemiBold"/>
                <a:sym typeface="Inter SemiBold"/>
              </a:rPr>
              <a:t>Chỉ số chất lượng dịch vụ ước tính theo tháng — áp dụng cho C02 và C03</a:t>
            </a:r>
            <a:endParaRPr sz="1100" b="0" i="0" u="none" strike="noStrike" cap="none">
              <a:solidFill>
                <a:srgbClr val="007B7C"/>
              </a:solidFill>
              <a:latin typeface="Inter SemiBold"/>
              <a:ea typeface="Inter SemiBold"/>
              <a:cs typeface="Inter SemiBold"/>
              <a:sym typeface="Inter SemiBold"/>
            </a:endParaRPr>
          </a:p>
        </p:txBody>
      </p:sp>
      <p:sp>
        <p:nvSpPr>
          <p:cNvPr id="810" name="Google Shape;810;p43"/>
          <p:cNvSpPr/>
          <p:nvPr/>
        </p:nvSpPr>
        <p:spPr>
          <a:xfrm>
            <a:off x="384048" y="1335024"/>
            <a:ext cx="8375904" cy="566928"/>
          </a:xfrm>
          <a:prstGeom prst="rect">
            <a:avLst/>
          </a:prstGeom>
          <a:solidFill>
            <a:srgbClr val="FFFFFF"/>
          </a:solidFill>
          <a:ln w="12700"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811" name="Google Shape;811;p43"/>
          <p:cNvSpPr/>
          <p:nvPr/>
        </p:nvSpPr>
        <p:spPr>
          <a:xfrm>
            <a:off x="384048" y="1335024"/>
            <a:ext cx="54864" cy="566928"/>
          </a:xfrm>
          <a:prstGeom prst="rect">
            <a:avLst/>
          </a:prstGeom>
          <a:solidFill>
            <a:srgbClr val="10B98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812" name="Google Shape;812;p43"/>
          <p:cNvSpPr txBox="1"/>
          <p:nvPr/>
        </p:nvSpPr>
        <p:spPr>
          <a:xfrm>
            <a:off x="585216" y="1335024"/>
            <a:ext cx="6181344" cy="566928"/>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None/>
            </a:pPr>
            <a:r>
              <a:rPr lang="en" sz="1000" b="0" i="0" u="none" strike="noStrike" cap="none">
                <a:solidFill>
                  <a:srgbClr val="475569"/>
                </a:solidFill>
                <a:latin typeface="Inter"/>
                <a:ea typeface="Inter"/>
                <a:cs typeface="Inter"/>
                <a:sym typeface="Inter"/>
              </a:rPr>
              <a:t>Tỷ lệ booking hoàn tất trong 1 lần đến</a:t>
            </a:r>
            <a:endParaRPr/>
          </a:p>
        </p:txBody>
      </p:sp>
      <p:sp>
        <p:nvSpPr>
          <p:cNvPr id="813" name="Google Shape;813;p43"/>
          <p:cNvSpPr txBox="1"/>
          <p:nvPr/>
        </p:nvSpPr>
        <p:spPr>
          <a:xfrm>
            <a:off x="7022592" y="1335024"/>
            <a:ext cx="1554480" cy="566928"/>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None/>
            </a:pPr>
            <a:r>
              <a:rPr lang="en" sz="1400" b="1" i="0" u="none" strike="noStrike" cap="none">
                <a:solidFill>
                  <a:srgbClr val="10B981"/>
                </a:solidFill>
                <a:latin typeface="Inter"/>
                <a:ea typeface="Inter"/>
                <a:cs typeface="Inter"/>
                <a:sym typeface="Inter"/>
              </a:rPr>
              <a:t>82%</a:t>
            </a:r>
            <a:endParaRPr/>
          </a:p>
        </p:txBody>
      </p:sp>
      <p:sp>
        <p:nvSpPr>
          <p:cNvPr id="814" name="Google Shape;814;p43"/>
          <p:cNvSpPr/>
          <p:nvPr/>
        </p:nvSpPr>
        <p:spPr>
          <a:xfrm>
            <a:off x="384048" y="1956815"/>
            <a:ext cx="8375904" cy="566928"/>
          </a:xfrm>
          <a:prstGeom prst="rect">
            <a:avLst/>
          </a:prstGeom>
          <a:solidFill>
            <a:srgbClr val="FFFFFF"/>
          </a:solidFill>
          <a:ln w="12700"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815" name="Google Shape;815;p43"/>
          <p:cNvSpPr/>
          <p:nvPr/>
        </p:nvSpPr>
        <p:spPr>
          <a:xfrm>
            <a:off x="384048" y="1956815"/>
            <a:ext cx="54864" cy="566928"/>
          </a:xfrm>
          <a:prstGeom prst="rect">
            <a:avLst/>
          </a:prstGeom>
          <a:solidFill>
            <a:srgbClr val="D9770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816" name="Google Shape;816;p43"/>
          <p:cNvSpPr txBox="1"/>
          <p:nvPr/>
        </p:nvSpPr>
        <p:spPr>
          <a:xfrm>
            <a:off x="585216" y="1956815"/>
            <a:ext cx="6181344" cy="566928"/>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None/>
            </a:pPr>
            <a:r>
              <a:rPr lang="en" sz="1000" b="0" i="0" u="none" strike="noStrike" cap="none">
                <a:solidFill>
                  <a:srgbClr val="475569"/>
                </a:solidFill>
                <a:latin typeface="Inter"/>
                <a:ea typeface="Inter"/>
                <a:cs typeface="Inter"/>
                <a:sym typeface="Inter"/>
              </a:rPr>
              <a:t>Tỷ lệ booking phải đi lại lần 2</a:t>
            </a:r>
            <a:endParaRPr/>
          </a:p>
        </p:txBody>
      </p:sp>
      <p:sp>
        <p:nvSpPr>
          <p:cNvPr id="817" name="Google Shape;817;p43"/>
          <p:cNvSpPr txBox="1"/>
          <p:nvPr/>
        </p:nvSpPr>
        <p:spPr>
          <a:xfrm>
            <a:off x="7022592" y="1956815"/>
            <a:ext cx="1554480" cy="566928"/>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None/>
            </a:pPr>
            <a:r>
              <a:rPr lang="en" sz="1400" b="1" i="0" u="none" strike="noStrike" cap="none">
                <a:solidFill>
                  <a:srgbClr val="D97706"/>
                </a:solidFill>
                <a:latin typeface="Inter"/>
                <a:ea typeface="Inter"/>
                <a:cs typeface="Inter"/>
                <a:sym typeface="Inter"/>
              </a:rPr>
              <a:t>13%</a:t>
            </a:r>
            <a:endParaRPr/>
          </a:p>
        </p:txBody>
      </p:sp>
      <p:sp>
        <p:nvSpPr>
          <p:cNvPr id="818" name="Google Shape;818;p43"/>
          <p:cNvSpPr/>
          <p:nvPr/>
        </p:nvSpPr>
        <p:spPr>
          <a:xfrm>
            <a:off x="384048" y="2578608"/>
            <a:ext cx="8375904" cy="566928"/>
          </a:xfrm>
          <a:prstGeom prst="rect">
            <a:avLst/>
          </a:prstGeom>
          <a:solidFill>
            <a:srgbClr val="FFFFFF"/>
          </a:solidFill>
          <a:ln w="12700"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819" name="Google Shape;819;p43"/>
          <p:cNvSpPr/>
          <p:nvPr/>
        </p:nvSpPr>
        <p:spPr>
          <a:xfrm>
            <a:off x="384048" y="2578608"/>
            <a:ext cx="54864" cy="566928"/>
          </a:xfrm>
          <a:prstGeom prst="rect">
            <a:avLst/>
          </a:prstGeom>
          <a:solidFill>
            <a:srgbClr val="991B1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820" name="Google Shape;820;p43"/>
          <p:cNvSpPr txBox="1"/>
          <p:nvPr/>
        </p:nvSpPr>
        <p:spPr>
          <a:xfrm>
            <a:off x="585216" y="2578608"/>
            <a:ext cx="6181344" cy="566928"/>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None/>
            </a:pPr>
            <a:r>
              <a:rPr lang="en" sz="1000" b="0" i="0" u="none" strike="noStrike" cap="none">
                <a:solidFill>
                  <a:srgbClr val="475569"/>
                </a:solidFill>
                <a:latin typeface="Inter"/>
                <a:ea typeface="Inter"/>
                <a:cs typeface="Inter"/>
                <a:sym typeface="Inter"/>
              </a:rPr>
              <a:t>Tỷ lệ booking bị hủy/treo do khách không đồng ý chi phí</a:t>
            </a:r>
            <a:endParaRPr/>
          </a:p>
        </p:txBody>
      </p:sp>
      <p:sp>
        <p:nvSpPr>
          <p:cNvPr id="821" name="Google Shape;821;p43"/>
          <p:cNvSpPr txBox="1"/>
          <p:nvPr/>
        </p:nvSpPr>
        <p:spPr>
          <a:xfrm>
            <a:off x="7022592" y="2578608"/>
            <a:ext cx="1554480" cy="566928"/>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None/>
            </a:pPr>
            <a:r>
              <a:rPr lang="en" sz="1400" b="1" i="0" u="none" strike="noStrike" cap="none">
                <a:solidFill>
                  <a:srgbClr val="991B1B"/>
                </a:solidFill>
                <a:latin typeface="Inter"/>
                <a:ea typeface="Inter"/>
                <a:cs typeface="Inter"/>
                <a:sym typeface="Inter"/>
              </a:rPr>
              <a:t>5%</a:t>
            </a:r>
            <a:endParaRPr/>
          </a:p>
        </p:txBody>
      </p:sp>
      <p:sp>
        <p:nvSpPr>
          <p:cNvPr id="822" name="Google Shape;822;p43"/>
          <p:cNvSpPr/>
          <p:nvPr/>
        </p:nvSpPr>
        <p:spPr>
          <a:xfrm>
            <a:off x="384048" y="3200400"/>
            <a:ext cx="8375904" cy="566928"/>
          </a:xfrm>
          <a:prstGeom prst="rect">
            <a:avLst/>
          </a:prstGeom>
          <a:solidFill>
            <a:srgbClr val="FFFFFF"/>
          </a:solidFill>
          <a:ln w="12700"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823" name="Google Shape;823;p43"/>
          <p:cNvSpPr/>
          <p:nvPr/>
        </p:nvSpPr>
        <p:spPr>
          <a:xfrm>
            <a:off x="384048" y="3200400"/>
            <a:ext cx="54864" cy="566928"/>
          </a:xfrm>
          <a:prstGeom prst="rect">
            <a:avLst/>
          </a:prstGeom>
          <a:solidFill>
            <a:srgbClr val="007B7C"/>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824" name="Google Shape;824;p43"/>
          <p:cNvSpPr txBox="1"/>
          <p:nvPr/>
        </p:nvSpPr>
        <p:spPr>
          <a:xfrm>
            <a:off x="585216" y="3200400"/>
            <a:ext cx="6181344" cy="566928"/>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None/>
            </a:pPr>
            <a:r>
              <a:rPr lang="en" sz="1000" b="0" i="0" u="none" strike="noStrike" cap="none">
                <a:solidFill>
                  <a:srgbClr val="475569"/>
                </a:solidFill>
                <a:latin typeface="Inter"/>
                <a:ea typeface="Inter"/>
                <a:cs typeface="Inter"/>
                <a:sym typeface="Inter"/>
              </a:rPr>
              <a:t>Điểm đánh giá trung bình của khách hàng (thang 5)</a:t>
            </a:r>
            <a:endParaRPr/>
          </a:p>
        </p:txBody>
      </p:sp>
      <p:sp>
        <p:nvSpPr>
          <p:cNvPr id="825" name="Google Shape;825;p43"/>
          <p:cNvSpPr txBox="1"/>
          <p:nvPr/>
        </p:nvSpPr>
        <p:spPr>
          <a:xfrm>
            <a:off x="7022592" y="3200400"/>
            <a:ext cx="1554480" cy="566928"/>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None/>
            </a:pPr>
            <a:r>
              <a:rPr lang="en" sz="1400" b="1" i="0" u="none" strike="noStrike" cap="none">
                <a:solidFill>
                  <a:srgbClr val="007B7C"/>
                </a:solidFill>
                <a:latin typeface="Inter"/>
                <a:ea typeface="Inter"/>
                <a:cs typeface="Inter"/>
                <a:sym typeface="Inter"/>
              </a:rPr>
              <a:t>4.2 / 5</a:t>
            </a:r>
            <a:endParaRPr/>
          </a:p>
        </p:txBody>
      </p:sp>
      <p:sp>
        <p:nvSpPr>
          <p:cNvPr id="826" name="Google Shape;826;p43"/>
          <p:cNvSpPr/>
          <p:nvPr/>
        </p:nvSpPr>
        <p:spPr>
          <a:xfrm>
            <a:off x="384048" y="3822191"/>
            <a:ext cx="8375904" cy="566928"/>
          </a:xfrm>
          <a:prstGeom prst="rect">
            <a:avLst/>
          </a:prstGeom>
          <a:solidFill>
            <a:srgbClr val="FFFFFF"/>
          </a:solidFill>
          <a:ln w="12700"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827" name="Google Shape;827;p43"/>
          <p:cNvSpPr/>
          <p:nvPr/>
        </p:nvSpPr>
        <p:spPr>
          <a:xfrm>
            <a:off x="384048" y="3822191"/>
            <a:ext cx="54864" cy="566928"/>
          </a:xfrm>
          <a:prstGeom prst="rect">
            <a:avLst/>
          </a:prstGeom>
          <a:solidFill>
            <a:srgbClr val="991B1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828" name="Google Shape;828;p43"/>
          <p:cNvSpPr txBox="1"/>
          <p:nvPr/>
        </p:nvSpPr>
        <p:spPr>
          <a:xfrm>
            <a:off x="585216" y="3822191"/>
            <a:ext cx="6181344" cy="566928"/>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None/>
            </a:pPr>
            <a:r>
              <a:rPr lang="en" sz="1000" b="0" i="0" u="none" strike="noStrike" cap="none">
                <a:solidFill>
                  <a:srgbClr val="475569"/>
                </a:solidFill>
                <a:latin typeface="Inter"/>
                <a:ea typeface="Inter"/>
                <a:cs typeface="Inter"/>
                <a:sym typeface="Inter"/>
              </a:rPr>
              <a:t>Tỷ lệ khiếu nại liên quan đến chi phí sửa chữa (trên tổng khiếu nại)</a:t>
            </a:r>
            <a:endParaRPr/>
          </a:p>
        </p:txBody>
      </p:sp>
      <p:sp>
        <p:nvSpPr>
          <p:cNvPr id="829" name="Google Shape;829;p43"/>
          <p:cNvSpPr txBox="1"/>
          <p:nvPr/>
        </p:nvSpPr>
        <p:spPr>
          <a:xfrm>
            <a:off x="7022592" y="3822191"/>
            <a:ext cx="1554480" cy="566928"/>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None/>
            </a:pPr>
            <a:r>
              <a:rPr lang="en" sz="1400" b="1" i="0" u="none" strike="noStrike" cap="none">
                <a:solidFill>
                  <a:srgbClr val="991B1B"/>
                </a:solidFill>
                <a:latin typeface="Inter"/>
                <a:ea typeface="Inter"/>
                <a:cs typeface="Inter"/>
                <a:sym typeface="Inter"/>
              </a:rPr>
              <a:t>≈ 40%</a:t>
            </a:r>
            <a:endParaRPr/>
          </a:p>
        </p:txBody>
      </p:sp>
      <p:sp>
        <p:nvSpPr>
          <p:cNvPr id="830" name="Google Shape;830;p43"/>
          <p:cNvSpPr/>
          <p:nvPr/>
        </p:nvSpPr>
        <p:spPr>
          <a:xfrm>
            <a:off x="384048" y="4489703"/>
            <a:ext cx="8375904" cy="457200"/>
          </a:xfrm>
          <a:prstGeom prst="rect">
            <a:avLst/>
          </a:prstGeom>
          <a:solidFill>
            <a:srgbClr val="F0F9FF"/>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831" name="Google Shape;831;p43"/>
          <p:cNvSpPr txBox="1"/>
          <p:nvPr/>
        </p:nvSpPr>
        <p:spPr>
          <a:xfrm>
            <a:off x="548640" y="4581143"/>
            <a:ext cx="8046720" cy="27432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 sz="900" b="1" i="0" u="none" strike="noStrike" cap="none">
                <a:solidFill>
                  <a:srgbClr val="0284C7"/>
                </a:solidFill>
                <a:latin typeface="Inter SemiBold"/>
                <a:ea typeface="Inter SemiBold"/>
                <a:cs typeface="Inter SemiBold"/>
                <a:sym typeface="Inter SemiBold"/>
              </a:rPr>
              <a:t>Nhận xét:  </a:t>
            </a:r>
            <a:r>
              <a:rPr lang="en" sz="900" b="0" i="0" u="none" strike="noStrike" cap="none">
                <a:solidFill>
                  <a:srgbClr val="0284C7"/>
                </a:solidFill>
                <a:latin typeface="Inter"/>
                <a:ea typeface="Inter"/>
                <a:cs typeface="Inter"/>
                <a:sym typeface="Inter"/>
              </a:rPr>
              <a:t>Tỷ lệ đi lại lần 2 (13%) và tỷ lệ khiếu nại liên quan chi phí (~40%) là 2 chỉ số cần cải thiện, tương ứng với các lãng phí Move/Hold đã xác định.</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835"/>
        <p:cNvGrpSpPr/>
        <p:nvPr/>
      </p:nvGrpSpPr>
      <p:grpSpPr>
        <a:xfrm>
          <a:off x="0" y="0"/>
          <a:ext cx="0" cy="0"/>
          <a:chOff x="0" y="0"/>
          <a:chExt cx="0" cy="0"/>
        </a:xfrm>
      </p:grpSpPr>
      <p:sp>
        <p:nvSpPr>
          <p:cNvPr id="836" name="Google Shape;836;p44"/>
          <p:cNvSpPr/>
          <p:nvPr/>
        </p:nvSpPr>
        <p:spPr>
          <a:xfrm>
            <a:off x="-101425" y="-72425"/>
            <a:ext cx="9144000" cy="5143500"/>
          </a:xfrm>
          <a:prstGeom prst="rect">
            <a:avLst/>
          </a:pr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837" name="Google Shape;837;p44"/>
          <p:cNvGrpSpPr/>
          <p:nvPr/>
        </p:nvGrpSpPr>
        <p:grpSpPr>
          <a:xfrm>
            <a:off x="8458200" y="381000"/>
            <a:ext cx="304800" cy="304800"/>
            <a:chOff x="0" y="0"/>
            <a:chExt cx="304800" cy="304800"/>
          </a:xfrm>
        </p:grpSpPr>
        <p:sp>
          <p:nvSpPr>
            <p:cNvPr id="838" name="Google Shape;838;p44"/>
            <p:cNvSpPr/>
            <p:nvPr/>
          </p:nvSpPr>
          <p:spPr>
            <a:xfrm>
              <a:off x="0" y="0"/>
              <a:ext cx="304800" cy="304800"/>
            </a:xfrm>
            <a:prstGeom prst="roundRect">
              <a:avLst>
                <a:gd name="adj" fmla="val 125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39" name="Google Shape;839;p44"/>
            <p:cNvSpPr/>
            <p:nvPr/>
          </p:nvSpPr>
          <p:spPr>
            <a:xfrm>
              <a:off x="95250" y="95250"/>
              <a:ext cx="114300" cy="114300"/>
            </a:xfrm>
            <a:custGeom>
              <a:avLst/>
              <a:gdLst/>
              <a:ahLst/>
              <a:cxnLst/>
              <a:rect l="l" t="t" r="r" b="b"/>
              <a:pathLst>
                <a:path w="120000" h="120000" extrusionOk="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40" name="Google Shape;840;p44"/>
            <p:cNvSpPr/>
            <p:nvPr/>
          </p:nvSpPr>
          <p:spPr>
            <a:xfrm>
              <a:off x="123825" y="123825"/>
              <a:ext cx="57300" cy="57300"/>
            </a:xfrm>
            <a:prstGeom prst="ellipse">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cxnSp>
        <p:nvCxnSpPr>
          <p:cNvPr id="841" name="Google Shape;841;p44"/>
          <p:cNvCxnSpPr/>
          <p:nvPr/>
        </p:nvCxnSpPr>
        <p:spPr>
          <a:xfrm>
            <a:off x="381000" y="1143000"/>
            <a:ext cx="8382000" cy="0"/>
          </a:xfrm>
          <a:prstGeom prst="straightConnector1">
            <a:avLst/>
          </a:prstGeom>
          <a:solidFill>
            <a:srgbClr val="FFFFFF"/>
          </a:solidFill>
          <a:ln w="14300" cap="flat" cmpd="sng">
            <a:solidFill>
              <a:srgbClr val="E2E8F0"/>
            </a:solidFill>
            <a:prstDash val="solid"/>
            <a:round/>
            <a:headEnd type="none" w="sm" len="sm"/>
            <a:tailEnd type="none" w="sm" len="sm"/>
          </a:ln>
        </p:spPr>
      </p:cxnSp>
      <p:sp>
        <p:nvSpPr>
          <p:cNvPr id="842" name="Google Shape;842;p44"/>
          <p:cNvSpPr txBox="1"/>
          <p:nvPr/>
        </p:nvSpPr>
        <p:spPr>
          <a:xfrm>
            <a:off x="381000" y="333375"/>
            <a:ext cx="7620000" cy="762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 sz="2000" b="0" i="0" u="none" strike="noStrike" cap="none">
                <a:solidFill>
                  <a:srgbClr val="0F172A"/>
                </a:solidFill>
                <a:latin typeface="Inter ExtraBold"/>
                <a:ea typeface="Inter ExtraBold"/>
                <a:cs typeface="Inter ExtraBold"/>
                <a:sym typeface="Inter ExtraBold"/>
              </a:rPr>
              <a:t>Phân tích chi phí</a:t>
            </a:r>
            <a:endParaRPr sz="2000" b="0" i="0" u="none" strike="noStrike" cap="none">
              <a:solidFill>
                <a:srgbClr val="0F172A"/>
              </a:solidFill>
              <a:latin typeface="Inter ExtraBold"/>
              <a:ea typeface="Inter ExtraBold"/>
              <a:cs typeface="Inter ExtraBold"/>
              <a:sym typeface="Inter ExtraBold"/>
            </a:endParaRPr>
          </a:p>
          <a:p>
            <a:pPr marL="0" marR="0" lvl="0" indent="0" algn="l" rtl="0">
              <a:lnSpc>
                <a:spcPct val="100000"/>
              </a:lnSpc>
              <a:spcBef>
                <a:spcPts val="375"/>
              </a:spcBef>
              <a:spcAft>
                <a:spcPts val="0"/>
              </a:spcAft>
              <a:buClr>
                <a:srgbClr val="000000"/>
              </a:buClr>
              <a:buSzPts val="1100"/>
              <a:buFont typeface="Arial"/>
              <a:buNone/>
            </a:pPr>
            <a:r>
              <a:rPr lang="en" sz="1100" b="0" i="0" u="none" strike="noStrike" cap="none">
                <a:solidFill>
                  <a:srgbClr val="007B7C"/>
                </a:solidFill>
                <a:latin typeface="Inter SemiBold"/>
                <a:ea typeface="Inter SemiBold"/>
                <a:cs typeface="Inter SemiBold"/>
                <a:sym typeface="Inter SemiBold"/>
              </a:rPr>
              <a:t>Chi phí trung bình xử lý một booking (ước tính) — VNĐ/booking</a:t>
            </a:r>
            <a:endParaRPr sz="1100" b="0" i="0" u="none" strike="noStrike" cap="none">
              <a:solidFill>
                <a:srgbClr val="007B7C"/>
              </a:solidFill>
              <a:latin typeface="Inter SemiBold"/>
              <a:ea typeface="Inter SemiBold"/>
              <a:cs typeface="Inter SemiBold"/>
              <a:sym typeface="Inter SemiBold"/>
            </a:endParaRPr>
          </a:p>
        </p:txBody>
      </p:sp>
      <p:graphicFrame>
        <p:nvGraphicFramePr>
          <p:cNvPr id="843" name="Google Shape;843;p44"/>
          <p:cNvGraphicFramePr/>
          <p:nvPr/>
        </p:nvGraphicFramePr>
        <p:xfrm>
          <a:off x="384048" y="1335024"/>
          <a:ext cx="3000000" cy="3000000"/>
        </p:xfrm>
        <a:graphic>
          <a:graphicData uri="http://schemas.openxmlformats.org/drawingml/2006/table">
            <a:tbl>
              <a:tblPr firstRow="1" bandRow="1">
                <a:noFill/>
                <a:tableStyleId>{C22CD621-9F64-4B2E-9631-1F7B959E530B}</a:tableStyleId>
              </a:tblPr>
              <a:tblGrid>
                <a:gridCol w="5790750">
                  <a:extLst>
                    <a:ext uri="{9D8B030D-6E8A-4147-A177-3AD203B41FA5}">
                      <a16:colId xmlns:a16="http://schemas.microsoft.com/office/drawing/2014/main" val="20000"/>
                    </a:ext>
                  </a:extLst>
                </a:gridCol>
                <a:gridCol w="2585150">
                  <a:extLst>
                    <a:ext uri="{9D8B030D-6E8A-4147-A177-3AD203B41FA5}">
                      <a16:colId xmlns:a16="http://schemas.microsoft.com/office/drawing/2014/main" val="20001"/>
                    </a:ext>
                  </a:extLst>
                </a:gridCol>
              </a:tblGrid>
              <a:tr h="329175">
                <a:tc>
                  <a:txBody>
                    <a:bodyPr/>
                    <a:lstStyle/>
                    <a:p>
                      <a:pPr marL="0" marR="0" lvl="0" indent="0" algn="l" rtl="0">
                        <a:lnSpc>
                          <a:spcPct val="100000"/>
                        </a:lnSpc>
                        <a:spcBef>
                          <a:spcPts val="0"/>
                        </a:spcBef>
                        <a:spcAft>
                          <a:spcPts val="0"/>
                        </a:spcAft>
                        <a:buNone/>
                      </a:pPr>
                      <a:r>
                        <a:rPr lang="en" sz="950" b="1" u="none" strike="noStrike" cap="none">
                          <a:solidFill>
                            <a:srgbClr val="FFFFFF"/>
                          </a:solidFill>
                          <a:latin typeface="Inter SemiBold"/>
                          <a:ea typeface="Inter SemiBold"/>
                          <a:cs typeface="Inter SemiBold"/>
                          <a:sym typeface="Inter SemiBold"/>
                        </a:rPr>
                        <a:t>Khoản mục chi phí</a:t>
                      </a:r>
                      <a:endParaRPr/>
                    </a:p>
                  </a:txBody>
                  <a:tcPr marL="73150" marR="73150" marT="18300" marB="18300" anchor="ctr">
                    <a:solidFill>
                      <a:srgbClr val="0F172A"/>
                    </a:solidFill>
                  </a:tcPr>
                </a:tc>
                <a:tc>
                  <a:txBody>
                    <a:bodyPr/>
                    <a:lstStyle/>
                    <a:p>
                      <a:pPr marL="0" marR="0" lvl="0" indent="0" algn="l" rtl="0">
                        <a:lnSpc>
                          <a:spcPct val="100000"/>
                        </a:lnSpc>
                        <a:spcBef>
                          <a:spcPts val="0"/>
                        </a:spcBef>
                        <a:spcAft>
                          <a:spcPts val="0"/>
                        </a:spcAft>
                        <a:buNone/>
                      </a:pPr>
                      <a:r>
                        <a:rPr lang="en" sz="950" b="1" u="none" strike="noStrike" cap="none">
                          <a:solidFill>
                            <a:srgbClr val="FFFFFF"/>
                          </a:solidFill>
                          <a:latin typeface="Inter SemiBold"/>
                          <a:ea typeface="Inter SemiBold"/>
                          <a:cs typeface="Inter SemiBold"/>
                          <a:sym typeface="Inter SemiBold"/>
                        </a:rPr>
                        <a:t>Giá trị ước tính (VNĐ/booking)</a:t>
                      </a:r>
                      <a:endParaRPr/>
                    </a:p>
                  </a:txBody>
                  <a:tcPr marL="73150" marR="73150" marT="18300" marB="18300" anchor="ctr">
                    <a:solidFill>
                      <a:srgbClr val="0F172A"/>
                    </a:solidFill>
                  </a:tcPr>
                </a:tc>
                <a:extLst>
                  <a:ext uri="{0D108BD9-81ED-4DB2-BD59-A6C34878D82A}">
                    <a16:rowId xmlns:a16="http://schemas.microsoft.com/office/drawing/2014/main" val="10000"/>
                  </a:ext>
                </a:extLst>
              </a:tr>
              <a:tr h="457200">
                <a:tc>
                  <a:txBody>
                    <a:bodyPr/>
                    <a:lstStyle/>
                    <a:p>
                      <a:pPr marL="0" marR="0" lvl="0" indent="0" algn="l" rtl="0">
                        <a:lnSpc>
                          <a:spcPct val="100000"/>
                        </a:lnSpc>
                        <a:spcBef>
                          <a:spcPts val="0"/>
                        </a:spcBef>
                        <a:spcAft>
                          <a:spcPts val="0"/>
                        </a:spcAft>
                        <a:buNone/>
                      </a:pPr>
                      <a:r>
                        <a:rPr lang="en" sz="1000" u="none" strike="noStrike" cap="none">
                          <a:solidFill>
                            <a:srgbClr val="475569"/>
                          </a:solidFill>
                          <a:latin typeface="Inter"/>
                          <a:ea typeface="Inter"/>
                          <a:cs typeface="Inter"/>
                          <a:sym typeface="Inter"/>
                        </a:rPr>
                        <a:t>Chi phí nhân công KTV (theo thời gian xử lý)</a:t>
                      </a:r>
                      <a:endParaRPr/>
                    </a:p>
                  </a:txBody>
                  <a:tcPr marL="73150" marR="73150" marT="18300" marB="18300" anchor="ctr">
                    <a:solidFill>
                      <a:srgbClr val="FFFFFF"/>
                    </a:solidFill>
                  </a:tcPr>
                </a:tc>
                <a:tc>
                  <a:txBody>
                    <a:bodyPr/>
                    <a:lstStyle/>
                    <a:p>
                      <a:pPr marL="0" marR="0" lvl="0" indent="0" algn="r" rtl="0">
                        <a:lnSpc>
                          <a:spcPct val="100000"/>
                        </a:lnSpc>
                        <a:spcBef>
                          <a:spcPts val="0"/>
                        </a:spcBef>
                        <a:spcAft>
                          <a:spcPts val="0"/>
                        </a:spcAft>
                        <a:buNone/>
                      </a:pPr>
                      <a:r>
                        <a:rPr lang="en" sz="1000" b="1" u="none" strike="noStrike" cap="none">
                          <a:solidFill>
                            <a:srgbClr val="475569"/>
                          </a:solidFill>
                          <a:latin typeface="Inter"/>
                          <a:ea typeface="Inter"/>
                          <a:cs typeface="Inter"/>
                          <a:sym typeface="Inter"/>
                        </a:rPr>
                        <a:t>150.000</a:t>
                      </a:r>
                      <a:endParaRPr/>
                    </a:p>
                  </a:txBody>
                  <a:tcPr marL="73150" marR="73150" marT="18300" marB="18300" anchor="ctr">
                    <a:solidFill>
                      <a:srgbClr val="FFFFFF"/>
                    </a:solidFill>
                  </a:tcPr>
                </a:tc>
                <a:extLst>
                  <a:ext uri="{0D108BD9-81ED-4DB2-BD59-A6C34878D82A}">
                    <a16:rowId xmlns:a16="http://schemas.microsoft.com/office/drawing/2014/main" val="10001"/>
                  </a:ext>
                </a:extLst>
              </a:tr>
              <a:tr h="457200">
                <a:tc>
                  <a:txBody>
                    <a:bodyPr/>
                    <a:lstStyle/>
                    <a:p>
                      <a:pPr marL="0" marR="0" lvl="0" indent="0" algn="l" rtl="0">
                        <a:lnSpc>
                          <a:spcPct val="100000"/>
                        </a:lnSpc>
                        <a:spcBef>
                          <a:spcPts val="0"/>
                        </a:spcBef>
                        <a:spcAft>
                          <a:spcPts val="0"/>
                        </a:spcAft>
                        <a:buNone/>
                      </a:pPr>
                      <a:r>
                        <a:rPr lang="en" sz="1000" u="none" strike="noStrike" cap="none">
                          <a:solidFill>
                            <a:srgbClr val="475569"/>
                          </a:solidFill>
                          <a:latin typeface="Inter"/>
                          <a:ea typeface="Inter"/>
                          <a:cs typeface="Inter"/>
                          <a:sym typeface="Inter"/>
                        </a:rPr>
                        <a:t>Chi phí linh kiện/vật tư sử dụng</a:t>
                      </a:r>
                      <a:endParaRPr/>
                    </a:p>
                  </a:txBody>
                  <a:tcPr marL="73150" marR="73150" marT="18300" marB="18300" anchor="ctr">
                    <a:solidFill>
                      <a:srgbClr val="F8FAFC"/>
                    </a:solidFill>
                  </a:tcPr>
                </a:tc>
                <a:tc>
                  <a:txBody>
                    <a:bodyPr/>
                    <a:lstStyle/>
                    <a:p>
                      <a:pPr marL="0" marR="0" lvl="0" indent="0" algn="r" rtl="0">
                        <a:lnSpc>
                          <a:spcPct val="100000"/>
                        </a:lnSpc>
                        <a:spcBef>
                          <a:spcPts val="0"/>
                        </a:spcBef>
                        <a:spcAft>
                          <a:spcPts val="0"/>
                        </a:spcAft>
                        <a:buNone/>
                      </a:pPr>
                      <a:r>
                        <a:rPr lang="en" sz="1000" b="1" u="none" strike="noStrike" cap="none">
                          <a:solidFill>
                            <a:srgbClr val="475569"/>
                          </a:solidFill>
                          <a:latin typeface="Inter"/>
                          <a:ea typeface="Inter"/>
                          <a:cs typeface="Inter"/>
                          <a:sym typeface="Inter"/>
                        </a:rPr>
                        <a:t>220.000</a:t>
                      </a:r>
                      <a:endParaRPr/>
                    </a:p>
                  </a:txBody>
                  <a:tcPr marL="73150" marR="73150" marT="18300" marB="18300" anchor="ctr">
                    <a:solidFill>
                      <a:srgbClr val="F8FAFC"/>
                    </a:solidFill>
                  </a:tcPr>
                </a:tc>
                <a:extLst>
                  <a:ext uri="{0D108BD9-81ED-4DB2-BD59-A6C34878D82A}">
                    <a16:rowId xmlns:a16="http://schemas.microsoft.com/office/drawing/2014/main" val="10002"/>
                  </a:ext>
                </a:extLst>
              </a:tr>
              <a:tr h="457200">
                <a:tc>
                  <a:txBody>
                    <a:bodyPr/>
                    <a:lstStyle/>
                    <a:p>
                      <a:pPr marL="0" marR="0" lvl="0" indent="0" algn="l" rtl="0">
                        <a:lnSpc>
                          <a:spcPct val="100000"/>
                        </a:lnSpc>
                        <a:spcBef>
                          <a:spcPts val="0"/>
                        </a:spcBef>
                        <a:spcAft>
                          <a:spcPts val="0"/>
                        </a:spcAft>
                        <a:buNone/>
                      </a:pPr>
                      <a:r>
                        <a:rPr lang="en" sz="1000" u="none" strike="noStrike" cap="none">
                          <a:solidFill>
                            <a:srgbClr val="475569"/>
                          </a:solidFill>
                          <a:latin typeface="Inter"/>
                          <a:ea typeface="Inter"/>
                          <a:cs typeface="Inter"/>
                          <a:sym typeface="Inter"/>
                        </a:rPr>
                        <a:t>Chi phí phát sinh do đi lại lần 2 (áp dụng cho 13% booking)</a:t>
                      </a:r>
                      <a:endParaRPr/>
                    </a:p>
                  </a:txBody>
                  <a:tcPr marL="73150" marR="73150" marT="18300" marB="18300" anchor="ctr">
                    <a:solidFill>
                      <a:srgbClr val="FFFFFF"/>
                    </a:solidFill>
                  </a:tcPr>
                </a:tc>
                <a:tc>
                  <a:txBody>
                    <a:bodyPr/>
                    <a:lstStyle/>
                    <a:p>
                      <a:pPr marL="0" marR="0" lvl="0" indent="0" algn="r" rtl="0">
                        <a:lnSpc>
                          <a:spcPct val="100000"/>
                        </a:lnSpc>
                        <a:spcBef>
                          <a:spcPts val="0"/>
                        </a:spcBef>
                        <a:spcAft>
                          <a:spcPts val="0"/>
                        </a:spcAft>
                        <a:buNone/>
                      </a:pPr>
                      <a:r>
                        <a:rPr lang="en" sz="1000" b="1" u="none" strike="noStrike" cap="none">
                          <a:solidFill>
                            <a:srgbClr val="475569"/>
                          </a:solidFill>
                          <a:latin typeface="Inter"/>
                          <a:ea typeface="Inter"/>
                          <a:cs typeface="Inter"/>
                          <a:sym typeface="Inter"/>
                        </a:rPr>
                        <a:t>80.000</a:t>
                      </a:r>
                      <a:endParaRPr/>
                    </a:p>
                  </a:txBody>
                  <a:tcPr marL="73150" marR="73150" marT="18300" marB="18300" anchor="ctr">
                    <a:solidFill>
                      <a:srgbClr val="FFFFFF"/>
                    </a:solidFill>
                  </a:tcPr>
                </a:tc>
                <a:extLst>
                  <a:ext uri="{0D108BD9-81ED-4DB2-BD59-A6C34878D82A}">
                    <a16:rowId xmlns:a16="http://schemas.microsoft.com/office/drawing/2014/main" val="10003"/>
                  </a:ext>
                </a:extLst>
              </a:tr>
              <a:tr h="457200">
                <a:tc>
                  <a:txBody>
                    <a:bodyPr/>
                    <a:lstStyle/>
                    <a:p>
                      <a:pPr marL="0" marR="0" lvl="0" indent="0" algn="l" rtl="0">
                        <a:lnSpc>
                          <a:spcPct val="100000"/>
                        </a:lnSpc>
                        <a:spcBef>
                          <a:spcPts val="0"/>
                        </a:spcBef>
                        <a:spcAft>
                          <a:spcPts val="0"/>
                        </a:spcAft>
                        <a:buNone/>
                      </a:pPr>
                      <a:r>
                        <a:rPr lang="en" sz="1000" u="none" strike="noStrike" cap="none">
                          <a:solidFill>
                            <a:srgbClr val="475569"/>
                          </a:solidFill>
                          <a:latin typeface="Inter"/>
                          <a:ea typeface="Inter"/>
                          <a:cs typeface="Inter"/>
                          <a:sym typeface="Inter"/>
                        </a:rPr>
                        <a:t>Chi phí vận hành hệ thống/điều phối (phân bổ)</a:t>
                      </a:r>
                      <a:endParaRPr/>
                    </a:p>
                  </a:txBody>
                  <a:tcPr marL="73150" marR="73150" marT="18300" marB="18300" anchor="ctr">
                    <a:solidFill>
                      <a:srgbClr val="F8FAFC"/>
                    </a:solidFill>
                  </a:tcPr>
                </a:tc>
                <a:tc>
                  <a:txBody>
                    <a:bodyPr/>
                    <a:lstStyle/>
                    <a:p>
                      <a:pPr marL="0" marR="0" lvl="0" indent="0" algn="r" rtl="0">
                        <a:lnSpc>
                          <a:spcPct val="100000"/>
                        </a:lnSpc>
                        <a:spcBef>
                          <a:spcPts val="0"/>
                        </a:spcBef>
                        <a:spcAft>
                          <a:spcPts val="0"/>
                        </a:spcAft>
                        <a:buNone/>
                      </a:pPr>
                      <a:r>
                        <a:rPr lang="en" sz="1000" b="1" u="none" strike="noStrike" cap="none">
                          <a:solidFill>
                            <a:srgbClr val="475569"/>
                          </a:solidFill>
                          <a:latin typeface="Inter"/>
                          <a:ea typeface="Inter"/>
                          <a:cs typeface="Inter"/>
                          <a:sym typeface="Inter"/>
                        </a:rPr>
                        <a:t>20.000</a:t>
                      </a:r>
                      <a:endParaRPr/>
                    </a:p>
                  </a:txBody>
                  <a:tcPr marL="73150" marR="73150" marT="18300" marB="18300" anchor="ctr">
                    <a:solidFill>
                      <a:srgbClr val="F8FAFC"/>
                    </a:solidFill>
                  </a:tcPr>
                </a:tc>
                <a:extLst>
                  <a:ext uri="{0D108BD9-81ED-4DB2-BD59-A6C34878D82A}">
                    <a16:rowId xmlns:a16="http://schemas.microsoft.com/office/drawing/2014/main" val="10004"/>
                  </a:ext>
                </a:extLst>
              </a:tr>
            </a:tbl>
          </a:graphicData>
        </a:graphic>
      </p:graphicFrame>
      <p:sp>
        <p:nvSpPr>
          <p:cNvPr id="844" name="Google Shape;844;p44"/>
          <p:cNvSpPr/>
          <p:nvPr/>
        </p:nvSpPr>
        <p:spPr>
          <a:xfrm>
            <a:off x="384048" y="3584448"/>
            <a:ext cx="8375904" cy="502920"/>
          </a:xfrm>
          <a:prstGeom prst="rect">
            <a:avLst/>
          </a:prstGeom>
          <a:solidFill>
            <a:srgbClr val="007B7C"/>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845" name="Google Shape;845;p44"/>
          <p:cNvSpPr txBox="1"/>
          <p:nvPr/>
        </p:nvSpPr>
        <p:spPr>
          <a:xfrm>
            <a:off x="585216" y="3584448"/>
            <a:ext cx="5029200" cy="50292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None/>
            </a:pPr>
            <a:r>
              <a:rPr lang="en" sz="1100" b="1" i="0" u="none" strike="noStrike" cap="none">
                <a:solidFill>
                  <a:srgbClr val="FFFFFF"/>
                </a:solidFill>
                <a:latin typeface="Inter ExtraBold"/>
                <a:ea typeface="Inter ExtraBold"/>
                <a:cs typeface="Inter ExtraBold"/>
                <a:sym typeface="Inter ExtraBold"/>
              </a:rPr>
              <a:t>Tổng chi phí trung bình một booking (đã phân bổ)</a:t>
            </a:r>
            <a:endParaRPr/>
          </a:p>
        </p:txBody>
      </p:sp>
      <p:sp>
        <p:nvSpPr>
          <p:cNvPr id="846" name="Google Shape;846;p44"/>
          <p:cNvSpPr txBox="1"/>
          <p:nvPr/>
        </p:nvSpPr>
        <p:spPr>
          <a:xfrm>
            <a:off x="6565392" y="3584448"/>
            <a:ext cx="2011680" cy="502920"/>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None/>
            </a:pPr>
            <a:r>
              <a:rPr lang="en" sz="1400" b="1" i="0" u="none" strike="noStrike" cap="none">
                <a:solidFill>
                  <a:srgbClr val="FFFFFF"/>
                </a:solidFill>
                <a:latin typeface="Inter ExtraBold"/>
                <a:ea typeface="Inter ExtraBold"/>
                <a:cs typeface="Inter ExtraBold"/>
                <a:sym typeface="Inter ExtraBold"/>
              </a:rPr>
              <a:t>≈ 400.600 VNĐ</a:t>
            </a:r>
            <a:endParaRPr/>
          </a:p>
        </p:txBody>
      </p:sp>
      <p:sp>
        <p:nvSpPr>
          <p:cNvPr id="847" name="Google Shape;847;p44"/>
          <p:cNvSpPr/>
          <p:nvPr/>
        </p:nvSpPr>
        <p:spPr>
          <a:xfrm>
            <a:off x="384048" y="4224528"/>
            <a:ext cx="8375904" cy="502920"/>
          </a:xfrm>
          <a:prstGeom prst="rect">
            <a:avLst/>
          </a:prstGeom>
          <a:solidFill>
            <a:srgbClr val="FEF2F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848" name="Google Shape;848;p44"/>
          <p:cNvSpPr txBox="1"/>
          <p:nvPr/>
        </p:nvSpPr>
        <p:spPr>
          <a:xfrm>
            <a:off x="548640" y="4315968"/>
            <a:ext cx="8046720" cy="32004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 sz="900" b="1" i="0" u="none" strike="noStrike" cap="none">
                <a:solidFill>
                  <a:srgbClr val="991B1B"/>
                </a:solidFill>
                <a:latin typeface="Inter SemiBold"/>
                <a:ea typeface="Inter SemiBold"/>
                <a:cs typeface="Inter SemiBold"/>
                <a:sym typeface="Inter SemiBold"/>
              </a:rPr>
              <a:t>Nhận xét:  </a:t>
            </a:r>
            <a:r>
              <a:rPr lang="en" sz="900" b="0" i="0" u="none" strike="noStrike" cap="none">
                <a:solidFill>
                  <a:srgbClr val="991B1B"/>
                </a:solidFill>
                <a:latin typeface="Inter"/>
                <a:ea typeface="Inter"/>
                <a:cs typeface="Inter"/>
                <a:sym typeface="Inter"/>
              </a:rPr>
              <a:t>Chi phí đi lại lần 2, dù chỉ áp dụng cho 13% booking, vẫn góp phần đáng kể vào chi phí trung bình toàn hệ thống; kiểm tra tồn kho linh kiện trước khi assign có thể giảm trực tiếp khoản chi phí này.</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852"/>
        <p:cNvGrpSpPr/>
        <p:nvPr/>
      </p:nvGrpSpPr>
      <p:grpSpPr>
        <a:xfrm>
          <a:off x="0" y="0"/>
          <a:ext cx="0" cy="0"/>
          <a:chOff x="0" y="0"/>
          <a:chExt cx="0" cy="0"/>
        </a:xfrm>
      </p:grpSpPr>
      <p:sp>
        <p:nvSpPr>
          <p:cNvPr id="853" name="Google Shape;853;p45"/>
          <p:cNvSpPr/>
          <p:nvPr/>
        </p:nvSpPr>
        <p:spPr>
          <a:xfrm>
            <a:off x="-101425" y="-72425"/>
            <a:ext cx="9144000" cy="5143500"/>
          </a:xfrm>
          <a:prstGeom prst="rect">
            <a:avLst/>
          </a:pr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854" name="Google Shape;854;p45"/>
          <p:cNvGrpSpPr/>
          <p:nvPr/>
        </p:nvGrpSpPr>
        <p:grpSpPr>
          <a:xfrm>
            <a:off x="8458200" y="381000"/>
            <a:ext cx="304800" cy="304800"/>
            <a:chOff x="0" y="0"/>
            <a:chExt cx="304800" cy="304800"/>
          </a:xfrm>
        </p:grpSpPr>
        <p:sp>
          <p:nvSpPr>
            <p:cNvPr id="855" name="Google Shape;855;p45"/>
            <p:cNvSpPr/>
            <p:nvPr/>
          </p:nvSpPr>
          <p:spPr>
            <a:xfrm>
              <a:off x="0" y="0"/>
              <a:ext cx="304800" cy="304800"/>
            </a:xfrm>
            <a:prstGeom prst="roundRect">
              <a:avLst>
                <a:gd name="adj" fmla="val 125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56" name="Google Shape;856;p45"/>
            <p:cNvSpPr/>
            <p:nvPr/>
          </p:nvSpPr>
          <p:spPr>
            <a:xfrm>
              <a:off x="95250" y="95250"/>
              <a:ext cx="114300" cy="114300"/>
            </a:xfrm>
            <a:custGeom>
              <a:avLst/>
              <a:gdLst/>
              <a:ahLst/>
              <a:cxnLst/>
              <a:rect l="l" t="t" r="r" b="b"/>
              <a:pathLst>
                <a:path w="120000" h="120000" extrusionOk="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57" name="Google Shape;857;p45"/>
            <p:cNvSpPr/>
            <p:nvPr/>
          </p:nvSpPr>
          <p:spPr>
            <a:xfrm>
              <a:off x="123825" y="123825"/>
              <a:ext cx="57300" cy="57300"/>
            </a:xfrm>
            <a:prstGeom prst="ellipse">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cxnSp>
        <p:nvCxnSpPr>
          <p:cNvPr id="858" name="Google Shape;858;p45"/>
          <p:cNvCxnSpPr/>
          <p:nvPr/>
        </p:nvCxnSpPr>
        <p:spPr>
          <a:xfrm>
            <a:off x="381000" y="1143000"/>
            <a:ext cx="8382000" cy="0"/>
          </a:xfrm>
          <a:prstGeom prst="straightConnector1">
            <a:avLst/>
          </a:prstGeom>
          <a:solidFill>
            <a:srgbClr val="FFFFFF"/>
          </a:solidFill>
          <a:ln w="14300" cap="flat" cmpd="sng">
            <a:solidFill>
              <a:srgbClr val="E2E8F0"/>
            </a:solidFill>
            <a:prstDash val="solid"/>
            <a:round/>
            <a:headEnd type="none" w="sm" len="sm"/>
            <a:tailEnd type="none" w="sm" len="sm"/>
          </a:ln>
        </p:spPr>
      </p:cxnSp>
      <p:sp>
        <p:nvSpPr>
          <p:cNvPr id="859" name="Google Shape;859;p45"/>
          <p:cNvSpPr txBox="1"/>
          <p:nvPr/>
        </p:nvSpPr>
        <p:spPr>
          <a:xfrm>
            <a:off x="381000" y="333375"/>
            <a:ext cx="7620000" cy="762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 sz="2000" b="0" i="0" u="none" strike="noStrike" cap="none">
                <a:solidFill>
                  <a:srgbClr val="0F172A"/>
                </a:solidFill>
                <a:latin typeface="Inter ExtraBold"/>
                <a:ea typeface="Inter ExtraBold"/>
                <a:cs typeface="Inter ExtraBold"/>
                <a:sym typeface="Inter ExtraBold"/>
              </a:rPr>
              <a:t>Kết quả đạt được</a:t>
            </a:r>
            <a:endParaRPr sz="2000" b="0" i="0" u="none" strike="noStrike" cap="none">
              <a:solidFill>
                <a:srgbClr val="0F172A"/>
              </a:solidFill>
              <a:latin typeface="Inter ExtraBold"/>
              <a:ea typeface="Inter ExtraBold"/>
              <a:cs typeface="Inter ExtraBold"/>
              <a:sym typeface="Inter ExtraBold"/>
            </a:endParaRPr>
          </a:p>
          <a:p>
            <a:pPr marL="0" marR="0" lvl="0" indent="0" algn="l" rtl="0">
              <a:lnSpc>
                <a:spcPct val="100000"/>
              </a:lnSpc>
              <a:spcBef>
                <a:spcPts val="375"/>
              </a:spcBef>
              <a:spcAft>
                <a:spcPts val="0"/>
              </a:spcAft>
              <a:buClr>
                <a:srgbClr val="000000"/>
              </a:buClr>
              <a:buSzPts val="1100"/>
              <a:buFont typeface="Arial"/>
              <a:buNone/>
            </a:pPr>
            <a:r>
              <a:rPr lang="en" sz="1100" b="0" i="0" u="none" strike="noStrike" cap="none">
                <a:solidFill>
                  <a:srgbClr val="007B7C"/>
                </a:solidFill>
                <a:latin typeface="Inter SemiBold"/>
                <a:ea typeface="Inter SemiBold"/>
                <a:cs typeface="Inter SemiBold"/>
                <a:sym typeface="Inter SemiBold"/>
              </a:rPr>
              <a:t>Tổng kết những nội dung đồ án đã hoàn thành qua các chương</a:t>
            </a:r>
            <a:endParaRPr sz="1100" b="0" i="0" u="none" strike="noStrike" cap="none">
              <a:solidFill>
                <a:srgbClr val="007B7C"/>
              </a:solidFill>
              <a:latin typeface="Inter SemiBold"/>
              <a:ea typeface="Inter SemiBold"/>
              <a:cs typeface="Inter SemiBold"/>
              <a:sym typeface="Inter SemiBold"/>
            </a:endParaRPr>
          </a:p>
        </p:txBody>
      </p:sp>
      <p:sp>
        <p:nvSpPr>
          <p:cNvPr id="860" name="Google Shape;860;p45"/>
          <p:cNvSpPr/>
          <p:nvPr/>
        </p:nvSpPr>
        <p:spPr>
          <a:xfrm>
            <a:off x="384048" y="1335024"/>
            <a:ext cx="4050791" cy="1417320"/>
          </a:xfrm>
          <a:prstGeom prst="rect">
            <a:avLst/>
          </a:prstGeom>
          <a:solidFill>
            <a:srgbClr val="FFFFFF"/>
          </a:solidFill>
          <a:ln w="12700"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861" name="Google Shape;861;p45"/>
          <p:cNvSpPr/>
          <p:nvPr/>
        </p:nvSpPr>
        <p:spPr>
          <a:xfrm>
            <a:off x="384048" y="1335024"/>
            <a:ext cx="4050791" cy="54864"/>
          </a:xfrm>
          <a:prstGeom prst="rect">
            <a:avLst/>
          </a:prstGeom>
          <a:solidFill>
            <a:srgbClr val="007B7C"/>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862" name="Google Shape;862;p45"/>
          <p:cNvSpPr txBox="1"/>
          <p:nvPr/>
        </p:nvSpPr>
        <p:spPr>
          <a:xfrm>
            <a:off x="566928" y="1463040"/>
            <a:ext cx="3685031" cy="1161288"/>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 sz="1600" b="1" i="0" u="none" strike="noStrike" cap="none">
                <a:solidFill>
                  <a:srgbClr val="007B7C"/>
                </a:solidFill>
                <a:latin typeface="Inter ExtraBold"/>
                <a:ea typeface="Inter ExtraBold"/>
                <a:cs typeface="Inter ExtraBold"/>
                <a:sym typeface="Inter ExtraBold"/>
              </a:rPr>
              <a:t>01   </a:t>
            </a:r>
            <a:r>
              <a:rPr lang="en" sz="1200" b="1" i="0" u="none" strike="noStrike" cap="none">
                <a:solidFill>
                  <a:srgbClr val="0F172A"/>
                </a:solidFill>
                <a:latin typeface="Inter ExtraBold"/>
                <a:ea typeface="Inter ExtraBold"/>
                <a:cs typeface="Inter ExtraBold"/>
                <a:sym typeface="Inter ExtraBold"/>
              </a:rPr>
              <a:t>Liệt kê &amp; phân loại quy trình</a:t>
            </a:r>
            <a:endParaRPr/>
          </a:p>
          <a:p>
            <a:pPr marL="0" marR="0" lvl="0" indent="0" algn="l" rtl="0">
              <a:lnSpc>
                <a:spcPct val="115000"/>
              </a:lnSpc>
              <a:spcBef>
                <a:spcPts val="600"/>
              </a:spcBef>
              <a:spcAft>
                <a:spcPts val="0"/>
              </a:spcAft>
              <a:buNone/>
            </a:pPr>
            <a:r>
              <a:rPr lang="en" sz="900" b="0" i="0" u="none" strike="noStrike" cap="none">
                <a:solidFill>
                  <a:srgbClr val="475569"/>
                </a:solidFill>
                <a:latin typeface="Inter"/>
                <a:ea typeface="Inter"/>
                <a:cs typeface="Inter"/>
                <a:sym typeface="Inter"/>
              </a:rPr>
              <a:t>Liệt kê và mô tả đầy đủ 10 quy trình doanh nghiệp, phân loại theo 3 nhóm Quản lý – Cốt lõi – Hỗ trợ, kèm sơ đồ kiến trúc quy trình tổng thể.</a:t>
            </a:r>
            <a:endParaRPr/>
          </a:p>
        </p:txBody>
      </p:sp>
      <p:sp>
        <p:nvSpPr>
          <p:cNvPr id="863" name="Google Shape;863;p45"/>
          <p:cNvSpPr/>
          <p:nvPr/>
        </p:nvSpPr>
        <p:spPr>
          <a:xfrm>
            <a:off x="4709159" y="1335024"/>
            <a:ext cx="4050791" cy="1417320"/>
          </a:xfrm>
          <a:prstGeom prst="rect">
            <a:avLst/>
          </a:prstGeom>
          <a:solidFill>
            <a:srgbClr val="FFFFFF"/>
          </a:solidFill>
          <a:ln w="12700"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864" name="Google Shape;864;p45"/>
          <p:cNvSpPr/>
          <p:nvPr/>
        </p:nvSpPr>
        <p:spPr>
          <a:xfrm>
            <a:off x="4709159" y="1335024"/>
            <a:ext cx="4050791" cy="54864"/>
          </a:xfrm>
          <a:prstGeom prst="rect">
            <a:avLst/>
          </a:prstGeom>
          <a:solidFill>
            <a:srgbClr val="0284C7"/>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865" name="Google Shape;865;p45"/>
          <p:cNvSpPr txBox="1"/>
          <p:nvPr/>
        </p:nvSpPr>
        <p:spPr>
          <a:xfrm>
            <a:off x="4892040" y="1463040"/>
            <a:ext cx="3685031" cy="1161288"/>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 sz="1600" b="1" i="0" u="none" strike="noStrike" cap="none">
                <a:solidFill>
                  <a:srgbClr val="0284C7"/>
                </a:solidFill>
                <a:latin typeface="Inter ExtraBold"/>
                <a:ea typeface="Inter ExtraBold"/>
                <a:cs typeface="Inter ExtraBold"/>
                <a:sym typeface="Inter ExtraBold"/>
              </a:rPr>
              <a:t>02   </a:t>
            </a:r>
            <a:r>
              <a:rPr lang="en" sz="1200" b="1" i="0" u="none" strike="noStrike" cap="none">
                <a:solidFill>
                  <a:srgbClr val="0F172A"/>
                </a:solidFill>
                <a:latin typeface="Inter ExtraBold"/>
                <a:ea typeface="Inter ExtraBold"/>
                <a:cs typeface="Inter ExtraBold"/>
                <a:sym typeface="Inter ExtraBold"/>
              </a:rPr>
              <a:t>Mô hình hóa BPMN</a:t>
            </a:r>
            <a:endParaRPr/>
          </a:p>
          <a:p>
            <a:pPr marL="0" marR="0" lvl="0" indent="0" algn="l" rtl="0">
              <a:lnSpc>
                <a:spcPct val="115000"/>
              </a:lnSpc>
              <a:spcBef>
                <a:spcPts val="600"/>
              </a:spcBef>
              <a:spcAft>
                <a:spcPts val="0"/>
              </a:spcAft>
              <a:buNone/>
            </a:pPr>
            <a:r>
              <a:rPr lang="en" sz="900" b="0" i="0" u="none" strike="noStrike" cap="none">
                <a:solidFill>
                  <a:srgbClr val="475569"/>
                </a:solidFill>
                <a:latin typeface="Inter"/>
                <a:ea typeface="Inter"/>
                <a:cs typeface="Inter"/>
                <a:sym typeface="Inter"/>
              </a:rPr>
              <a:t>Mô hình hóa chi tiết 6 quy trình tiêu biểu (2 quản lý, 2 cốt lõi, 2 hỗ trợ) bằng sơ đồ luồng có đầy đủ tác nhân, cổng điều kiện và cổng song song.</a:t>
            </a:r>
            <a:endParaRPr/>
          </a:p>
        </p:txBody>
      </p:sp>
      <p:sp>
        <p:nvSpPr>
          <p:cNvPr id="866" name="Google Shape;866;p45"/>
          <p:cNvSpPr/>
          <p:nvPr/>
        </p:nvSpPr>
        <p:spPr>
          <a:xfrm>
            <a:off x="384048" y="2980944"/>
            <a:ext cx="4050791" cy="1417320"/>
          </a:xfrm>
          <a:prstGeom prst="rect">
            <a:avLst/>
          </a:prstGeom>
          <a:solidFill>
            <a:srgbClr val="FFFFFF"/>
          </a:solidFill>
          <a:ln w="12700"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867" name="Google Shape;867;p45"/>
          <p:cNvSpPr/>
          <p:nvPr/>
        </p:nvSpPr>
        <p:spPr>
          <a:xfrm>
            <a:off x="384048" y="2980944"/>
            <a:ext cx="4050791" cy="54864"/>
          </a:xfrm>
          <a:prstGeom prst="rect">
            <a:avLst/>
          </a:prstGeom>
          <a:solidFill>
            <a:srgbClr val="007B7C"/>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868" name="Google Shape;868;p45"/>
          <p:cNvSpPr txBox="1"/>
          <p:nvPr/>
        </p:nvSpPr>
        <p:spPr>
          <a:xfrm>
            <a:off x="566928" y="3108960"/>
            <a:ext cx="3685031" cy="1161288"/>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 sz="1600" b="1" i="0" u="none" strike="noStrike" cap="none">
                <a:solidFill>
                  <a:srgbClr val="007B7C"/>
                </a:solidFill>
                <a:latin typeface="Inter ExtraBold"/>
                <a:ea typeface="Inter ExtraBold"/>
                <a:cs typeface="Inter ExtraBold"/>
                <a:sym typeface="Inter ExtraBold"/>
              </a:rPr>
              <a:t>03   </a:t>
            </a:r>
            <a:r>
              <a:rPr lang="en" sz="1200" b="1" i="0" u="none" strike="noStrike" cap="none">
                <a:solidFill>
                  <a:srgbClr val="0F172A"/>
                </a:solidFill>
                <a:latin typeface="Inter ExtraBold"/>
                <a:ea typeface="Inter ExtraBold"/>
                <a:cs typeface="Inter ExtraBold"/>
                <a:sym typeface="Inter ExtraBold"/>
              </a:rPr>
              <a:t>Phương pháp thực hiện</a:t>
            </a:r>
            <a:endParaRPr/>
          </a:p>
          <a:p>
            <a:pPr marL="0" marR="0" lvl="0" indent="0" algn="l" rtl="0">
              <a:lnSpc>
                <a:spcPct val="115000"/>
              </a:lnSpc>
              <a:spcBef>
                <a:spcPts val="600"/>
              </a:spcBef>
              <a:spcAft>
                <a:spcPts val="0"/>
              </a:spcAft>
              <a:buNone/>
            </a:pPr>
            <a:r>
              <a:rPr lang="en" sz="900" b="0" i="0" u="none" strike="noStrike" cap="none">
                <a:solidFill>
                  <a:srgbClr val="475569"/>
                </a:solidFill>
                <a:latin typeface="Inter"/>
                <a:ea typeface="Inter"/>
                <a:cs typeface="Inter"/>
                <a:sym typeface="Inter"/>
              </a:rPr>
              <a:t>Xây dựng phương pháp dựa trên bằng chứng kết hợp bộ câu hỏi phỏng vấn 20 câu (định tính và định lượng).</a:t>
            </a:r>
            <a:endParaRPr/>
          </a:p>
        </p:txBody>
      </p:sp>
      <p:sp>
        <p:nvSpPr>
          <p:cNvPr id="869" name="Google Shape;869;p45"/>
          <p:cNvSpPr/>
          <p:nvPr/>
        </p:nvSpPr>
        <p:spPr>
          <a:xfrm>
            <a:off x="4709159" y="2980944"/>
            <a:ext cx="4050791" cy="1417320"/>
          </a:xfrm>
          <a:prstGeom prst="rect">
            <a:avLst/>
          </a:prstGeom>
          <a:solidFill>
            <a:srgbClr val="FFFFFF"/>
          </a:solidFill>
          <a:ln w="12700"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870" name="Google Shape;870;p45"/>
          <p:cNvSpPr/>
          <p:nvPr/>
        </p:nvSpPr>
        <p:spPr>
          <a:xfrm>
            <a:off x="4709159" y="2980944"/>
            <a:ext cx="4050791" cy="54864"/>
          </a:xfrm>
          <a:prstGeom prst="rect">
            <a:avLst/>
          </a:prstGeom>
          <a:solidFill>
            <a:srgbClr val="0284C7"/>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871" name="Google Shape;871;p45"/>
          <p:cNvSpPr txBox="1"/>
          <p:nvPr/>
        </p:nvSpPr>
        <p:spPr>
          <a:xfrm>
            <a:off x="4892040" y="3108960"/>
            <a:ext cx="3685031" cy="1161288"/>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 sz="1600" b="1" i="0" u="none" strike="noStrike" cap="none">
                <a:solidFill>
                  <a:srgbClr val="0284C7"/>
                </a:solidFill>
                <a:latin typeface="Inter ExtraBold"/>
                <a:ea typeface="Inter ExtraBold"/>
                <a:cs typeface="Inter ExtraBold"/>
                <a:sym typeface="Inter ExtraBold"/>
              </a:rPr>
              <a:t>04   </a:t>
            </a:r>
            <a:r>
              <a:rPr lang="en" sz="1200" b="1" i="0" u="none" strike="noStrike" cap="none">
                <a:solidFill>
                  <a:srgbClr val="0F172A"/>
                </a:solidFill>
                <a:latin typeface="Inter ExtraBold"/>
                <a:ea typeface="Inter ExtraBold"/>
                <a:cs typeface="Inter ExtraBold"/>
                <a:sym typeface="Inter ExtraBold"/>
              </a:rPr>
              <a:t>Phân tích chuyên sâu</a:t>
            </a:r>
            <a:endParaRPr/>
          </a:p>
          <a:p>
            <a:pPr marL="0" marR="0" lvl="0" indent="0" algn="l" rtl="0">
              <a:lnSpc>
                <a:spcPct val="115000"/>
              </a:lnSpc>
              <a:spcBef>
                <a:spcPts val="600"/>
              </a:spcBef>
              <a:spcAft>
                <a:spcPts val="0"/>
              </a:spcAft>
              <a:buNone/>
            </a:pPr>
            <a:r>
              <a:rPr lang="en" sz="900" b="0" i="0" u="none" strike="noStrike" cap="none">
                <a:solidFill>
                  <a:srgbClr val="475569"/>
                </a:solidFill>
                <a:latin typeface="Inter"/>
                <a:ea typeface="Inter"/>
                <a:cs typeface="Inter"/>
                <a:sym typeface="Inter"/>
              </a:rPr>
              <a:t>Phân tích định tính (giá trị gia tăng, lãng phí, sơ đồ xương cá) và định lượng (thời gian, chất lượng, chi phí) trên 2 quy trình cốt lõi trọng yếu.</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875"/>
        <p:cNvGrpSpPr/>
        <p:nvPr/>
      </p:nvGrpSpPr>
      <p:grpSpPr>
        <a:xfrm>
          <a:off x="0" y="0"/>
          <a:ext cx="0" cy="0"/>
          <a:chOff x="0" y="0"/>
          <a:chExt cx="0" cy="0"/>
        </a:xfrm>
      </p:grpSpPr>
      <p:sp>
        <p:nvSpPr>
          <p:cNvPr id="876" name="Google Shape;876;p46"/>
          <p:cNvSpPr/>
          <p:nvPr/>
        </p:nvSpPr>
        <p:spPr>
          <a:xfrm>
            <a:off x="-101425" y="-72425"/>
            <a:ext cx="9144000" cy="5143500"/>
          </a:xfrm>
          <a:prstGeom prst="rect">
            <a:avLst/>
          </a:pr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nvGrpSpPr>
          <p:cNvPr id="877" name="Google Shape;877;p46"/>
          <p:cNvGrpSpPr/>
          <p:nvPr/>
        </p:nvGrpSpPr>
        <p:grpSpPr>
          <a:xfrm>
            <a:off x="8458200" y="381000"/>
            <a:ext cx="304800" cy="304800"/>
            <a:chOff x="0" y="0"/>
            <a:chExt cx="304800" cy="304800"/>
          </a:xfrm>
        </p:grpSpPr>
        <p:sp>
          <p:nvSpPr>
            <p:cNvPr id="878" name="Google Shape;878;p46"/>
            <p:cNvSpPr/>
            <p:nvPr/>
          </p:nvSpPr>
          <p:spPr>
            <a:xfrm>
              <a:off x="0" y="0"/>
              <a:ext cx="304800" cy="304800"/>
            </a:xfrm>
            <a:prstGeom prst="roundRect">
              <a:avLst>
                <a:gd name="adj" fmla="val 12500"/>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79" name="Google Shape;879;p46"/>
            <p:cNvSpPr/>
            <p:nvPr/>
          </p:nvSpPr>
          <p:spPr>
            <a:xfrm>
              <a:off x="95250" y="95250"/>
              <a:ext cx="114300" cy="114300"/>
            </a:xfrm>
            <a:custGeom>
              <a:avLst/>
              <a:gdLst/>
              <a:ahLst/>
              <a:cxnLst/>
              <a:rect l="l" t="t" r="r" b="b"/>
              <a:pathLst>
                <a:path w="120000" h="120000" extrusionOk="0">
                  <a:moveTo>
                    <a:pt x="0" y="40000"/>
                  </a:moveTo>
                  <a:lnTo>
                    <a:pt x="40000" y="40000"/>
                  </a:lnTo>
                  <a:lnTo>
                    <a:pt x="40000" y="0"/>
                  </a:lnTo>
                  <a:lnTo>
                    <a:pt x="80000" y="0"/>
                  </a:lnTo>
                  <a:lnTo>
                    <a:pt x="80000" y="40000"/>
                  </a:lnTo>
                  <a:lnTo>
                    <a:pt x="120000" y="40000"/>
                  </a:lnTo>
                  <a:lnTo>
                    <a:pt x="120000" y="80000"/>
                  </a:lnTo>
                  <a:lnTo>
                    <a:pt x="80000" y="80000"/>
                  </a:lnTo>
                  <a:lnTo>
                    <a:pt x="80000" y="120000"/>
                  </a:lnTo>
                  <a:lnTo>
                    <a:pt x="40000" y="120000"/>
                  </a:lnTo>
                  <a:lnTo>
                    <a:pt x="40000" y="80000"/>
                  </a:lnTo>
                  <a:lnTo>
                    <a:pt x="0" y="80000"/>
                  </a:lnTo>
                  <a:close/>
                </a:path>
              </a:pathLst>
            </a:cu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80" name="Google Shape;880;p46"/>
            <p:cNvSpPr/>
            <p:nvPr/>
          </p:nvSpPr>
          <p:spPr>
            <a:xfrm>
              <a:off x="123825" y="123825"/>
              <a:ext cx="57300" cy="57300"/>
            </a:xfrm>
            <a:prstGeom prst="ellipse">
              <a:avLst/>
            </a:prstGeom>
            <a:solidFill>
              <a:srgbClr val="007B7C"/>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cxnSp>
        <p:nvCxnSpPr>
          <p:cNvPr id="881" name="Google Shape;881;p46"/>
          <p:cNvCxnSpPr/>
          <p:nvPr/>
        </p:nvCxnSpPr>
        <p:spPr>
          <a:xfrm>
            <a:off x="381000" y="1143000"/>
            <a:ext cx="8382000" cy="0"/>
          </a:xfrm>
          <a:prstGeom prst="straightConnector1">
            <a:avLst/>
          </a:prstGeom>
          <a:solidFill>
            <a:srgbClr val="FFFFFF"/>
          </a:solidFill>
          <a:ln w="14300" cap="flat" cmpd="sng">
            <a:solidFill>
              <a:srgbClr val="E2E8F0"/>
            </a:solidFill>
            <a:prstDash val="solid"/>
            <a:round/>
            <a:headEnd type="none" w="sm" len="sm"/>
            <a:tailEnd type="none" w="sm" len="sm"/>
          </a:ln>
        </p:spPr>
      </p:cxnSp>
      <p:sp>
        <p:nvSpPr>
          <p:cNvPr id="882" name="Google Shape;882;p46"/>
          <p:cNvSpPr txBox="1"/>
          <p:nvPr/>
        </p:nvSpPr>
        <p:spPr>
          <a:xfrm>
            <a:off x="381000" y="333375"/>
            <a:ext cx="7620000" cy="762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000"/>
              <a:buFont typeface="Arial"/>
              <a:buNone/>
            </a:pPr>
            <a:r>
              <a:rPr lang="en" sz="2000" b="0" i="0" u="none" strike="noStrike" cap="none">
                <a:solidFill>
                  <a:srgbClr val="0F172A"/>
                </a:solidFill>
                <a:latin typeface="Inter ExtraBold"/>
                <a:ea typeface="Inter ExtraBold"/>
                <a:cs typeface="Inter ExtraBold"/>
                <a:sym typeface="Inter ExtraBold"/>
              </a:rPr>
              <a:t>Hạn chế và hướng phát triển</a:t>
            </a:r>
            <a:endParaRPr sz="2000" b="0" i="0" u="none" strike="noStrike" cap="none">
              <a:solidFill>
                <a:srgbClr val="0F172A"/>
              </a:solidFill>
              <a:latin typeface="Inter ExtraBold"/>
              <a:ea typeface="Inter ExtraBold"/>
              <a:cs typeface="Inter ExtraBold"/>
              <a:sym typeface="Inter ExtraBold"/>
            </a:endParaRPr>
          </a:p>
          <a:p>
            <a:pPr marL="0" marR="0" lvl="0" indent="0" algn="l" rtl="0">
              <a:lnSpc>
                <a:spcPct val="100000"/>
              </a:lnSpc>
              <a:spcBef>
                <a:spcPts val="375"/>
              </a:spcBef>
              <a:spcAft>
                <a:spcPts val="0"/>
              </a:spcAft>
              <a:buClr>
                <a:srgbClr val="000000"/>
              </a:buClr>
              <a:buSzPts val="1100"/>
              <a:buFont typeface="Arial"/>
              <a:buNone/>
            </a:pPr>
            <a:r>
              <a:rPr lang="en" sz="1100" b="0" i="0" u="none" strike="noStrike" cap="none">
                <a:solidFill>
                  <a:srgbClr val="007B7C"/>
                </a:solidFill>
                <a:latin typeface="Inter SemiBold"/>
                <a:ea typeface="Inter SemiBold"/>
                <a:cs typeface="Inter SemiBold"/>
                <a:sym typeface="Inter SemiBold"/>
              </a:rPr>
              <a:t>Những điểm cần lưu ý và mở rộng khi triển khai thực tế</a:t>
            </a:r>
            <a:endParaRPr sz="1100" b="0" i="0" u="none" strike="noStrike" cap="none">
              <a:solidFill>
                <a:srgbClr val="007B7C"/>
              </a:solidFill>
              <a:latin typeface="Inter SemiBold"/>
              <a:ea typeface="Inter SemiBold"/>
              <a:cs typeface="Inter SemiBold"/>
              <a:sym typeface="Inter SemiBold"/>
            </a:endParaRPr>
          </a:p>
        </p:txBody>
      </p:sp>
      <p:sp>
        <p:nvSpPr>
          <p:cNvPr id="883" name="Google Shape;883;p46"/>
          <p:cNvSpPr/>
          <p:nvPr/>
        </p:nvSpPr>
        <p:spPr>
          <a:xfrm>
            <a:off x="384048" y="1335024"/>
            <a:ext cx="8375904" cy="932688"/>
          </a:xfrm>
          <a:prstGeom prst="rect">
            <a:avLst/>
          </a:prstGeom>
          <a:solidFill>
            <a:srgbClr val="FFFFFF"/>
          </a:solidFill>
          <a:ln w="12700"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884" name="Google Shape;884;p46"/>
          <p:cNvSpPr/>
          <p:nvPr/>
        </p:nvSpPr>
        <p:spPr>
          <a:xfrm>
            <a:off x="384048" y="1335024"/>
            <a:ext cx="8375904" cy="54864"/>
          </a:xfrm>
          <a:prstGeom prst="rect">
            <a:avLst/>
          </a:prstGeom>
          <a:solidFill>
            <a:srgbClr val="D9770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885" name="Google Shape;885;p46"/>
          <p:cNvSpPr txBox="1"/>
          <p:nvPr/>
        </p:nvSpPr>
        <p:spPr>
          <a:xfrm>
            <a:off x="585216" y="1453895"/>
            <a:ext cx="7973568" cy="694944"/>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 sz="1100" b="1" i="0" u="none" strike="noStrike" cap="none">
                <a:solidFill>
                  <a:srgbClr val="0F172A"/>
                </a:solidFill>
                <a:latin typeface="Inter ExtraBold"/>
                <a:ea typeface="Inter ExtraBold"/>
                <a:cs typeface="Inter ExtraBold"/>
                <a:sym typeface="Inter ExtraBold"/>
              </a:rPr>
              <a:t>Số liệu minh họa</a:t>
            </a:r>
            <a:endParaRPr/>
          </a:p>
          <a:p>
            <a:pPr marL="0" marR="0" lvl="0" indent="0" algn="l" rtl="0">
              <a:lnSpc>
                <a:spcPct val="115000"/>
              </a:lnSpc>
              <a:spcBef>
                <a:spcPts val="400"/>
              </a:spcBef>
              <a:spcAft>
                <a:spcPts val="0"/>
              </a:spcAft>
              <a:buNone/>
            </a:pPr>
            <a:r>
              <a:rPr lang="en" sz="930" b="0" i="0" u="none" strike="noStrike" cap="none">
                <a:solidFill>
                  <a:srgbClr val="475569"/>
                </a:solidFill>
                <a:latin typeface="Inter"/>
                <a:ea typeface="Inter"/>
                <a:cs typeface="Inter"/>
                <a:sym typeface="Inter"/>
              </a:rPr>
              <a:t>Số liệu định lượng trong Chương 4 là số liệu ước tính minh họa; cần thay thế bằng dữ liệu thống kê thực tế từ hệ thống khi triển khai chính thức.</a:t>
            </a:r>
            <a:endParaRPr/>
          </a:p>
        </p:txBody>
      </p:sp>
      <p:sp>
        <p:nvSpPr>
          <p:cNvPr id="886" name="Google Shape;886;p46"/>
          <p:cNvSpPr/>
          <p:nvPr/>
        </p:nvSpPr>
        <p:spPr>
          <a:xfrm>
            <a:off x="384048" y="2414015"/>
            <a:ext cx="8375904" cy="932688"/>
          </a:xfrm>
          <a:prstGeom prst="rect">
            <a:avLst/>
          </a:prstGeom>
          <a:solidFill>
            <a:srgbClr val="FFFFFF"/>
          </a:solidFill>
          <a:ln w="12700"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887" name="Google Shape;887;p46"/>
          <p:cNvSpPr/>
          <p:nvPr/>
        </p:nvSpPr>
        <p:spPr>
          <a:xfrm>
            <a:off x="384048" y="2414015"/>
            <a:ext cx="8375904" cy="54864"/>
          </a:xfrm>
          <a:prstGeom prst="rect">
            <a:avLst/>
          </a:prstGeom>
          <a:solidFill>
            <a:srgbClr val="0284C7"/>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888" name="Google Shape;888;p46"/>
          <p:cNvSpPr txBox="1"/>
          <p:nvPr/>
        </p:nvSpPr>
        <p:spPr>
          <a:xfrm>
            <a:off x="585216" y="2532887"/>
            <a:ext cx="7973568" cy="694944"/>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 sz="1100" b="1" i="0" u="none" strike="noStrike" cap="none">
                <a:solidFill>
                  <a:srgbClr val="0F172A"/>
                </a:solidFill>
                <a:latin typeface="Inter ExtraBold"/>
                <a:ea typeface="Inter ExtraBold"/>
                <a:cs typeface="Inter ExtraBold"/>
                <a:sym typeface="Inter ExtraBold"/>
              </a:rPr>
              <a:t>Mở rộng mô hình hóa</a:t>
            </a:r>
            <a:endParaRPr/>
          </a:p>
          <a:p>
            <a:pPr marL="0" marR="0" lvl="0" indent="0" algn="l" rtl="0">
              <a:lnSpc>
                <a:spcPct val="115000"/>
              </a:lnSpc>
              <a:spcBef>
                <a:spcPts val="400"/>
              </a:spcBef>
              <a:spcAft>
                <a:spcPts val="0"/>
              </a:spcAft>
              <a:buNone/>
            </a:pPr>
            <a:r>
              <a:rPr lang="en" sz="930" b="0" i="0" u="none" strike="noStrike" cap="none">
                <a:solidFill>
                  <a:srgbClr val="475569"/>
                </a:solidFill>
                <a:latin typeface="Inter"/>
                <a:ea typeface="Inter"/>
                <a:cs typeface="Inter"/>
                <a:sym typeface="Inter"/>
              </a:rPr>
              <a:t>Có thể mở rộng mô hình hóa cho 4 quy trình còn lại (Quản lý bảo hành thiết bị, Khách hàng đặt booking, Khách hàng thanh toán &amp; đóng booking, Quản lý kho linh kiện) để có bức tranh đầy đủ hơn.</a:t>
            </a:r>
            <a:endParaRPr/>
          </a:p>
        </p:txBody>
      </p:sp>
      <p:sp>
        <p:nvSpPr>
          <p:cNvPr id="889" name="Google Shape;889;p46"/>
          <p:cNvSpPr/>
          <p:nvPr/>
        </p:nvSpPr>
        <p:spPr>
          <a:xfrm>
            <a:off x="384048" y="3493008"/>
            <a:ext cx="8375904" cy="932688"/>
          </a:xfrm>
          <a:prstGeom prst="rect">
            <a:avLst/>
          </a:prstGeom>
          <a:solidFill>
            <a:srgbClr val="FFFFFF"/>
          </a:solidFill>
          <a:ln w="12700"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890" name="Google Shape;890;p46"/>
          <p:cNvSpPr/>
          <p:nvPr/>
        </p:nvSpPr>
        <p:spPr>
          <a:xfrm>
            <a:off x="384048" y="3493008"/>
            <a:ext cx="8375904" cy="54864"/>
          </a:xfrm>
          <a:prstGeom prst="rect">
            <a:avLst/>
          </a:prstGeom>
          <a:solidFill>
            <a:srgbClr val="007B7C"/>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891" name="Google Shape;891;p46"/>
          <p:cNvSpPr txBox="1"/>
          <p:nvPr/>
        </p:nvSpPr>
        <p:spPr>
          <a:xfrm>
            <a:off x="585216" y="3611879"/>
            <a:ext cx="7973568" cy="694944"/>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pPr>
            <a:r>
              <a:rPr lang="en" sz="1100" b="1" i="0" u="none" strike="noStrike" cap="none">
                <a:solidFill>
                  <a:srgbClr val="0F172A"/>
                </a:solidFill>
                <a:latin typeface="Inter ExtraBold"/>
                <a:ea typeface="Inter ExtraBold"/>
                <a:cs typeface="Inter ExtraBold"/>
                <a:sym typeface="Inter ExtraBold"/>
              </a:rPr>
              <a:t>Phỏng vấn thực tế</a:t>
            </a:r>
            <a:endParaRPr/>
          </a:p>
          <a:p>
            <a:pPr marL="0" marR="0" lvl="0" indent="0" algn="l" rtl="0">
              <a:lnSpc>
                <a:spcPct val="115000"/>
              </a:lnSpc>
              <a:spcBef>
                <a:spcPts val="400"/>
              </a:spcBef>
              <a:spcAft>
                <a:spcPts val="0"/>
              </a:spcAft>
              <a:buNone/>
            </a:pPr>
            <a:r>
              <a:rPr lang="en" sz="930" b="0" i="0" u="none" strike="noStrike" cap="none">
                <a:solidFill>
                  <a:srgbClr val="475569"/>
                </a:solidFill>
                <a:latin typeface="Inter"/>
                <a:ea typeface="Inter"/>
                <a:cs typeface="Inter"/>
                <a:sym typeface="Inter"/>
              </a:rPr>
              <a:t>Cần bổ sung phỏng vấn thực tế với các bên liên quan (CS, KTV, QA Manager, nhân viên kho) để kiểm chứng và tinh chỉnh lại số liệu, nguyên nhân đã nêu trong sơ đồ Fishbone.</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895"/>
        <p:cNvGrpSpPr/>
        <p:nvPr/>
      </p:nvGrpSpPr>
      <p:grpSpPr>
        <a:xfrm>
          <a:off x="0" y="0"/>
          <a:ext cx="0" cy="0"/>
          <a:chOff x="0" y="0"/>
          <a:chExt cx="0" cy="0"/>
        </a:xfrm>
      </p:grpSpPr>
      <p:sp>
        <p:nvSpPr>
          <p:cNvPr id="896" name="Google Shape;896;p47"/>
          <p:cNvSpPr/>
          <p:nvPr/>
        </p:nvSpPr>
        <p:spPr>
          <a:xfrm>
            <a:off x="-101425" y="-72425"/>
            <a:ext cx="9144000" cy="5143500"/>
          </a:xfrm>
          <a:prstGeom prst="rect">
            <a:avLst/>
          </a:prstGeom>
          <a:solidFill>
            <a:srgbClr val="FFFFFF"/>
          </a:solid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97" name="Google Shape;897;p47"/>
          <p:cNvSpPr/>
          <p:nvPr/>
        </p:nvSpPr>
        <p:spPr>
          <a:xfrm>
            <a:off x="0" y="0"/>
            <a:ext cx="9144000" cy="128016"/>
          </a:xfrm>
          <a:prstGeom prst="rect">
            <a:avLst/>
          </a:prstGeom>
          <a:solidFill>
            <a:srgbClr val="007B7C"/>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898" name="Google Shape;898;p47"/>
          <p:cNvSpPr txBox="1"/>
          <p:nvPr/>
        </p:nvSpPr>
        <p:spPr>
          <a:xfrm>
            <a:off x="731520" y="1737360"/>
            <a:ext cx="7680960" cy="9144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 sz="2600" b="0" i="0" u="none" strike="noStrike" cap="none">
                <a:solidFill>
                  <a:srgbClr val="0F172A"/>
                </a:solidFill>
                <a:latin typeface="Inter ExtraBold"/>
                <a:ea typeface="Inter ExtraBold"/>
                <a:cs typeface="Inter ExtraBold"/>
                <a:sym typeface="Inter ExtraBold"/>
              </a:rPr>
              <a:t>Cảm ơn Thầy và các bạn đã lắng nghe</a:t>
            </a:r>
            <a:endParaRPr/>
          </a:p>
        </p:txBody>
      </p:sp>
      <p:sp>
        <p:nvSpPr>
          <p:cNvPr id="899" name="Google Shape;899;p47"/>
          <p:cNvSpPr txBox="1"/>
          <p:nvPr/>
        </p:nvSpPr>
        <p:spPr>
          <a:xfrm>
            <a:off x="731520" y="2514600"/>
            <a:ext cx="7680960" cy="4572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 sz="1250" b="0" i="0" u="none" strike="noStrike" cap="none">
                <a:solidFill>
                  <a:srgbClr val="007B7C"/>
                </a:solidFill>
                <a:latin typeface="Inter SemiBold"/>
                <a:ea typeface="Inter SemiBold"/>
                <a:cs typeface="Inter SemiBold"/>
                <a:sym typeface="Inter SemiBold"/>
              </a:rPr>
              <a:t>Phân tích và mô hình hóa Quy trình Nghiệp vụ — Hệ thống đặt lịch sửa chữa thiết bị (Booking)</a:t>
            </a:r>
            <a:endParaRPr/>
          </a:p>
        </p:txBody>
      </p:sp>
      <p:sp>
        <p:nvSpPr>
          <p:cNvPr id="900" name="Google Shape;900;p47"/>
          <p:cNvSpPr txBox="1"/>
          <p:nvPr/>
        </p:nvSpPr>
        <p:spPr>
          <a:xfrm>
            <a:off x="731520" y="3246120"/>
            <a:ext cx="7680960" cy="27432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 sz="1050" b="0" i="0" u="none" strike="noStrike" cap="none">
                <a:solidFill>
                  <a:srgbClr val="64748B"/>
                </a:solidFill>
                <a:latin typeface="Inter"/>
                <a:ea typeface="Inter"/>
                <a:cs typeface="Inter"/>
                <a:sym typeface="Inter"/>
              </a:rPr>
              <a:t>Rất mong nhận được câu hỏi và góp ý từ Thầy và các bạn</a:t>
            </a:r>
            <a:endParaRPr/>
          </a:p>
        </p:txBody>
      </p:sp>
      <p:sp>
        <p:nvSpPr>
          <p:cNvPr id="901" name="Google Shape;901;p47"/>
          <p:cNvSpPr/>
          <p:nvPr/>
        </p:nvSpPr>
        <p:spPr>
          <a:xfrm>
            <a:off x="3977639" y="3794760"/>
            <a:ext cx="1188720" cy="18288"/>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902" name="Google Shape;902;p47"/>
          <p:cNvSpPr txBox="1"/>
          <p:nvPr/>
        </p:nvSpPr>
        <p:spPr>
          <a:xfrm>
            <a:off x="731520" y="4023360"/>
            <a:ext cx="7680960" cy="54864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 sz="1000" b="1" i="0" u="none" strike="noStrike" cap="none">
                <a:solidFill>
                  <a:srgbClr val="0F172A"/>
                </a:solidFill>
                <a:latin typeface="Inter SemiBold"/>
                <a:ea typeface="Inter SemiBold"/>
                <a:cs typeface="Inter SemiBold"/>
                <a:sym typeface="Inter SemiBold"/>
              </a:rPr>
              <a:t>GVHD: ThS. Hà Lê Hoài Trung    •    Nhóm 14</a:t>
            </a:r>
            <a:endParaRPr/>
          </a:p>
          <a:p>
            <a:pPr marL="0" marR="0" lvl="0" indent="0" algn="ctr" rtl="0">
              <a:lnSpc>
                <a:spcPct val="100000"/>
              </a:lnSpc>
              <a:spcBef>
                <a:spcPts val="400"/>
              </a:spcBef>
              <a:spcAft>
                <a:spcPts val="0"/>
              </a:spcAft>
              <a:buNone/>
            </a:pPr>
            <a:r>
              <a:rPr lang="en" sz="950" b="0" i="0" u="none" strike="noStrike" cap="none">
                <a:solidFill>
                  <a:srgbClr val="475569"/>
                </a:solidFill>
                <a:latin typeface="Inter"/>
                <a:ea typeface="Inter"/>
                <a:cs typeface="Inter"/>
                <a:sym typeface="Inter"/>
              </a:rPr>
              <a:t>Đỗ Kim Long – Nguyễn Hoàng Tân – Nguyễn Ngọc Thanh Thùy – Lê Thị Bích Tuyền</a:t>
            </a:r>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33</TotalTime>
  <Words>5810</Words>
  <Application>Microsoft Office PowerPoint</Application>
  <PresentationFormat>On-screen Show (16:9)</PresentationFormat>
  <Paragraphs>566</Paragraphs>
  <Slides>33</Slides>
  <Notes>33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33</vt:i4>
      </vt:variant>
    </vt:vector>
  </HeadingPairs>
  <TitlesOfParts>
    <vt:vector size="39" baseType="lpstr">
      <vt:lpstr>Inter</vt:lpstr>
      <vt:lpstr>Inter SemiBold</vt:lpstr>
      <vt:lpstr>Inter Medium</vt:lpstr>
      <vt:lpstr>Arial</vt:lpstr>
      <vt:lpstr>Inter ExtraBold</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Thuy Nguyen</cp:lastModifiedBy>
  <cp:revision>16</cp:revision>
  <dcterms:modified xsi:type="dcterms:W3CDTF">2026-09-09T16:45:16Z</dcterms:modified>
</cp:coreProperties>
</file>