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5143500" cx="9144000"/>
  <p:notesSz cx="6858000" cy="9144000"/>
  <p:embeddedFontLst>
    <p:embeddedFont>
      <p:font typeface="Inter SemiBold"/>
      <p:regular r:id="rId40"/>
      <p:bold r:id="rId41"/>
      <p:italic r:id="rId42"/>
      <p:boldItalic r:id="rId43"/>
    </p:embeddedFont>
    <p:embeddedFont>
      <p:font typeface="Inter"/>
      <p:regular r:id="rId44"/>
      <p:bold r:id="rId45"/>
      <p:italic r:id="rId46"/>
      <p:boldItalic r:id="rId47"/>
    </p:embeddedFont>
    <p:embeddedFont>
      <p:font typeface="Inter ExtraBold"/>
      <p:bold r:id="rId48"/>
      <p:boldItalic r:id="rId49"/>
    </p:embeddedFont>
    <p:embeddedFont>
      <p:font typeface="Inter Medium"/>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22CD621-9F64-4B2E-9631-1F7B959E530B}">
  <a:tblStyle styleId="{C22CD621-9F64-4B2E-9631-1F7B959E530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InterSemiBold-regular.fntdata"/><Relationship Id="rId42" Type="http://schemas.openxmlformats.org/officeDocument/2006/relationships/font" Target="fonts/InterSemiBold-italic.fntdata"/><Relationship Id="rId41" Type="http://schemas.openxmlformats.org/officeDocument/2006/relationships/font" Target="fonts/InterSemiBold-bold.fntdata"/><Relationship Id="rId44" Type="http://schemas.openxmlformats.org/officeDocument/2006/relationships/font" Target="fonts/Inter-regular.fntdata"/><Relationship Id="rId43" Type="http://schemas.openxmlformats.org/officeDocument/2006/relationships/font" Target="fonts/InterSemiBold-boldItalic.fntdata"/><Relationship Id="rId46" Type="http://schemas.openxmlformats.org/officeDocument/2006/relationships/font" Target="fonts/Inter-italic.fntdata"/><Relationship Id="rId45" Type="http://schemas.openxmlformats.org/officeDocument/2006/relationships/font" Target="fonts/Inter-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font" Target="fonts/InterExtraBold-bold.fntdata"/><Relationship Id="rId47" Type="http://schemas.openxmlformats.org/officeDocument/2006/relationships/font" Target="fonts/Inter-boldItalic.fntdata"/><Relationship Id="rId49" Type="http://schemas.openxmlformats.org/officeDocument/2006/relationships/font" Target="fonts/InterExtraBold-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InterMedium-bold.fntdata"/><Relationship Id="rId50" Type="http://schemas.openxmlformats.org/officeDocument/2006/relationships/font" Target="fonts/InterMedium-regular.fntdata"/><Relationship Id="rId53" Type="http://schemas.openxmlformats.org/officeDocument/2006/relationships/font" Target="fonts/InterMedium-boldItalic.fntdata"/><Relationship Id="rId52" Type="http://schemas.openxmlformats.org/officeDocument/2006/relationships/font" Target="fonts/InterMedium-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 name="Google Shape;5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1" name="Google Shape;9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3" name="Google Shape;133;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0" name="Google Shape;16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6" name="Google Shape;276;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8" name="Google Shape;30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8" name="Google Shape;368;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1" name="Google Shape;411;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9" name="Google Shape;489;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6" name="Google Shape;49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9" name="Google Shape;519;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6" name="Google Shape;526;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1" name="Google Shape;551;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8" name="Google Shape;558;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1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1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fa6d22aaa5_1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g3fa6d22aaa5_1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g3fa6d22aaa5_1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3fa6d22aaa5_1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2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2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2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2" name="Shape 832"/>
        <p:cNvGrpSpPr/>
        <p:nvPr/>
      </p:nvGrpSpPr>
      <p:grpSpPr>
        <a:xfrm>
          <a:off x="0" y="0"/>
          <a:ext cx="0" cy="0"/>
          <a:chOff x="0" y="0"/>
          <a:chExt cx="0" cy="0"/>
        </a:xfrm>
      </p:grpSpPr>
      <p:sp>
        <p:nvSpPr>
          <p:cNvPr id="833" name="Google Shape;833;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3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3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409c3fc51ff_0_0)">
  <p:cSld name="Generated (g409c3fc51ff_0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
        <p:nvSpPr>
          <p:cNvPr id="11" name="Google Shape;11;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
        <p:nvSpPr>
          <p:cNvPr id="13" name="Google Shape;13;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4" name="Google Shape;14;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5" name="Google Shape;15;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8" name="Google Shape;1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sp>
        <p:nvSpPr>
          <p:cNvPr id="20" name="Google Shape;20;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 name="Shape 23"/>
        <p:cNvGrpSpPr/>
        <p:nvPr/>
      </p:nvGrpSpPr>
      <p:grpSpPr>
        <a:xfrm>
          <a:off x="0" y="0"/>
          <a:ext cx="0" cy="0"/>
          <a:chOff x="0" y="0"/>
          <a:chExt cx="0" cy="0"/>
        </a:xfrm>
      </p:grpSpPr>
      <p:sp>
        <p:nvSpPr>
          <p:cNvPr id="24" name="Google Shape;24;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5" name="Google Shape;25;p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7" name="Google Shape;27;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8" name="Shape 28"/>
        <p:cNvGrpSpPr/>
        <p:nvPr/>
      </p:nvGrpSpPr>
      <p:grpSpPr>
        <a:xfrm>
          <a:off x="0" y="0"/>
          <a:ext cx="0" cy="0"/>
          <a:chOff x="0" y="0"/>
          <a:chExt cx="0" cy="0"/>
        </a:xfrm>
      </p:grpSpPr>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1" name="Shape 31"/>
        <p:cNvGrpSpPr/>
        <p:nvPr/>
      </p:nvGrpSpPr>
      <p:grpSpPr>
        <a:xfrm>
          <a:off x="0" y="0"/>
          <a:ext cx="0" cy="0"/>
          <a:chOff x="0" y="0"/>
          <a:chExt cx="0" cy="0"/>
        </a:xfrm>
      </p:grpSpPr>
      <p:sp>
        <p:nvSpPr>
          <p:cNvPr id="32" name="Google Shape;32;p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3" name="Google Shape;33;p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4" name="Google Shape;34;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5" name="Shape 35"/>
        <p:cNvGrpSpPr/>
        <p:nvPr/>
      </p:nvGrpSpPr>
      <p:grpSpPr>
        <a:xfrm>
          <a:off x="0" y="0"/>
          <a:ext cx="0" cy="0"/>
          <a:chOff x="0" y="0"/>
          <a:chExt cx="0" cy="0"/>
        </a:xfrm>
      </p:grpSpPr>
      <p:sp>
        <p:nvSpPr>
          <p:cNvPr id="36" name="Google Shape;36;p1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7" name="Google Shape;3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8" name="Shape 38"/>
        <p:cNvGrpSpPr/>
        <p:nvPr/>
      </p:nvGrpSpPr>
      <p:grpSpPr>
        <a:xfrm>
          <a:off x="0" y="0"/>
          <a:ext cx="0" cy="0"/>
          <a:chOff x="0" y="0"/>
          <a:chExt cx="0" cy="0"/>
        </a:xfrm>
      </p:grpSpPr>
      <p:sp>
        <p:nvSpPr>
          <p:cNvPr id="39" name="Google Shape;39;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1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1" name="Google Shape;41;p1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2" name="Google Shape;42;p1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3" name="Google Shape;43;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4" name="Shape 44"/>
        <p:cNvGrpSpPr/>
        <p:nvPr/>
      </p:nvGrpSpPr>
      <p:grpSpPr>
        <a:xfrm>
          <a:off x="0" y="0"/>
          <a:ext cx="0" cy="0"/>
          <a:chOff x="0" y="0"/>
          <a:chExt cx="0" cy="0"/>
        </a:xfrm>
      </p:grpSpPr>
      <p:sp>
        <p:nvSpPr>
          <p:cNvPr id="45" name="Google Shape;45;p1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6" name="Google Shape;46;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7" name="Shape 47"/>
        <p:cNvGrpSpPr/>
        <p:nvPr/>
      </p:nvGrpSpPr>
      <p:grpSpPr>
        <a:xfrm>
          <a:off x="0" y="0"/>
          <a:ext cx="0" cy="0"/>
          <a:chOff x="0" y="0"/>
          <a:chExt cx="0" cy="0"/>
        </a:xfrm>
      </p:grpSpPr>
      <p:sp>
        <p:nvSpPr>
          <p:cNvPr id="48" name="Google Shape;48;p1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9" name="Google Shape;49;p1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0" name="Google Shape;5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409c4a42baa_17_0)">
  <p:cSld name="Generated (g409c4a42baa_17_0)">
    <p:spTree>
      <p:nvGrpSpPr>
        <p:cNvPr id="5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4.png"/><Relationship Id="rId10" Type="http://schemas.openxmlformats.org/officeDocument/2006/relationships/image" Target="../media/image9.png"/><Relationship Id="rId13" Type="http://schemas.openxmlformats.org/officeDocument/2006/relationships/image" Target="../media/image6.png"/><Relationship Id="rId12" Type="http://schemas.openxmlformats.org/officeDocument/2006/relationships/image" Target="../media/image12.png"/><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3.png"/><Relationship Id="rId15" Type="http://schemas.openxmlformats.org/officeDocument/2006/relationships/image" Target="../media/image13.png"/><Relationship Id="rId14" Type="http://schemas.openxmlformats.org/officeDocument/2006/relationships/image" Target="../media/image2.png"/><Relationship Id="rId16"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0.png"/><Relationship Id="rId7" Type="http://schemas.openxmlformats.org/officeDocument/2006/relationships/image" Target="../media/image5.png"/><Relationship Id="rId8"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grpSp>
        <p:nvGrpSpPr>
          <p:cNvPr id="56" name="Google Shape;56;p15"/>
          <p:cNvGrpSpPr/>
          <p:nvPr/>
        </p:nvGrpSpPr>
        <p:grpSpPr>
          <a:xfrm>
            <a:off x="0" y="0"/>
            <a:ext cx="9144000" cy="5143500"/>
            <a:chOff x="0" y="0"/>
            <a:chExt cx="9144000" cy="5143500"/>
          </a:xfrm>
        </p:grpSpPr>
        <p:sp>
          <p:nvSpPr>
            <p:cNvPr id="57" name="Google Shape;57;p15"/>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5"/>
            <p:cNvSpPr/>
            <p:nvPr/>
          </p:nvSpPr>
          <p:spPr>
            <a:xfrm>
              <a:off x="5715000" y="0"/>
              <a:ext cx="3429000" cy="5143500"/>
            </a:xfrm>
            <a:custGeom>
              <a:rect b="b" l="l" r="r" t="t"/>
              <a:pathLst>
                <a:path extrusionOk="0" h="120000" w="120000">
                  <a:moveTo>
                    <a:pt x="33333" y="0"/>
                  </a:moveTo>
                  <a:lnTo>
                    <a:pt x="120000" y="0"/>
                  </a:lnTo>
                  <a:lnTo>
                    <a:pt x="120000" y="120000"/>
                  </a:lnTo>
                  <a:lnTo>
                    <a:pt x="0" y="120000"/>
                  </a:lnTo>
                  <a:close/>
                </a:path>
              </a:pathLst>
            </a:custGeom>
            <a:solidFill>
              <a:srgbClr val="F8FAF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5"/>
            <p:cNvSpPr/>
            <p:nvPr/>
          </p:nvSpPr>
          <p:spPr>
            <a:xfrm>
              <a:off x="571500" y="1143000"/>
              <a:ext cx="762000" cy="381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0" name="Google Shape;60;p15"/>
          <p:cNvGrpSpPr/>
          <p:nvPr/>
        </p:nvGrpSpPr>
        <p:grpSpPr>
          <a:xfrm>
            <a:off x="6238875" y="1085850"/>
            <a:ext cx="2343150" cy="2019300"/>
            <a:chOff x="142875" y="514350"/>
            <a:chExt cx="2343150" cy="2019300"/>
          </a:xfrm>
        </p:grpSpPr>
        <p:pic>
          <p:nvPicPr>
            <p:cNvPr id="61" name="Google Shape;61;p15"/>
            <p:cNvPicPr preferRelativeResize="0"/>
            <p:nvPr/>
          </p:nvPicPr>
          <p:blipFill rotWithShape="1">
            <a:blip r:embed="rId3">
              <a:alphaModFix/>
            </a:blip>
            <a:srcRect b="0" l="0" r="0" t="0"/>
            <a:stretch/>
          </p:blipFill>
          <p:spPr>
            <a:xfrm>
              <a:off x="381000" y="1485900"/>
              <a:ext cx="509700" cy="76200"/>
            </a:xfrm>
            <a:prstGeom prst="rect">
              <a:avLst/>
            </a:prstGeom>
            <a:noFill/>
            <a:ln>
              <a:noFill/>
            </a:ln>
          </p:spPr>
        </p:pic>
        <p:pic>
          <p:nvPicPr>
            <p:cNvPr id="62" name="Google Shape;62;p15"/>
            <p:cNvPicPr preferRelativeResize="0"/>
            <p:nvPr/>
          </p:nvPicPr>
          <p:blipFill rotWithShape="1">
            <a:blip r:embed="rId4">
              <a:alphaModFix/>
            </a:blip>
            <a:srcRect b="0" l="0" r="0" t="0"/>
            <a:stretch/>
          </p:blipFill>
          <p:spPr>
            <a:xfrm>
              <a:off x="1809750" y="1485900"/>
              <a:ext cx="414300" cy="76200"/>
            </a:xfrm>
            <a:prstGeom prst="rect">
              <a:avLst/>
            </a:prstGeom>
            <a:noFill/>
            <a:ln>
              <a:noFill/>
            </a:ln>
          </p:spPr>
        </p:pic>
        <p:pic>
          <p:nvPicPr>
            <p:cNvPr id="63" name="Google Shape;63;p15"/>
            <p:cNvPicPr preferRelativeResize="0"/>
            <p:nvPr/>
          </p:nvPicPr>
          <p:blipFill rotWithShape="1">
            <a:blip r:embed="rId5">
              <a:alphaModFix/>
            </a:blip>
            <a:srcRect b="0" l="0" r="0" t="0"/>
            <a:stretch/>
          </p:blipFill>
          <p:spPr>
            <a:xfrm>
              <a:off x="1776413" y="723900"/>
              <a:ext cx="566700" cy="657300"/>
            </a:xfrm>
            <a:prstGeom prst="rect">
              <a:avLst/>
            </a:prstGeom>
            <a:noFill/>
            <a:ln>
              <a:noFill/>
            </a:ln>
          </p:spPr>
        </p:pic>
        <p:pic>
          <p:nvPicPr>
            <p:cNvPr id="64" name="Google Shape;64;p15"/>
            <p:cNvPicPr preferRelativeResize="0"/>
            <p:nvPr/>
          </p:nvPicPr>
          <p:blipFill rotWithShape="1">
            <a:blip r:embed="rId6">
              <a:alphaModFix/>
            </a:blip>
            <a:srcRect b="0" l="0" r="0" t="0"/>
            <a:stretch/>
          </p:blipFill>
          <p:spPr>
            <a:xfrm>
              <a:off x="1776413" y="1666875"/>
              <a:ext cx="566700" cy="657300"/>
            </a:xfrm>
            <a:prstGeom prst="rect">
              <a:avLst/>
            </a:prstGeom>
            <a:noFill/>
            <a:ln>
              <a:noFill/>
            </a:ln>
          </p:spPr>
        </p:pic>
        <p:pic>
          <p:nvPicPr>
            <p:cNvPr id="65" name="Google Shape;65;p15"/>
            <p:cNvPicPr preferRelativeResize="0"/>
            <p:nvPr/>
          </p:nvPicPr>
          <p:blipFill rotWithShape="1">
            <a:blip r:embed="rId7">
              <a:alphaModFix/>
            </a:blip>
            <a:srcRect b="0" l="0" r="0" t="0"/>
            <a:stretch/>
          </p:blipFill>
          <p:spPr>
            <a:xfrm>
              <a:off x="142875" y="1400175"/>
              <a:ext cx="247800" cy="247800"/>
            </a:xfrm>
            <a:prstGeom prst="rect">
              <a:avLst/>
            </a:prstGeom>
            <a:noFill/>
            <a:ln>
              <a:noFill/>
            </a:ln>
          </p:spPr>
        </p:pic>
        <p:pic>
          <p:nvPicPr>
            <p:cNvPr id="66" name="Google Shape;66;p15"/>
            <p:cNvPicPr preferRelativeResize="0"/>
            <p:nvPr/>
          </p:nvPicPr>
          <p:blipFill rotWithShape="1">
            <a:blip r:embed="rId8">
              <a:alphaModFix/>
            </a:blip>
            <a:srcRect b="0" l="0" r="0" t="0"/>
            <a:stretch/>
          </p:blipFill>
          <p:spPr>
            <a:xfrm>
              <a:off x="209550" y="1466850"/>
              <a:ext cx="114300" cy="114300"/>
            </a:xfrm>
            <a:prstGeom prst="rect">
              <a:avLst/>
            </a:prstGeom>
            <a:noFill/>
            <a:ln>
              <a:noFill/>
            </a:ln>
          </p:spPr>
        </p:pic>
        <p:pic>
          <p:nvPicPr>
            <p:cNvPr id="67" name="Google Shape;67;p15"/>
            <p:cNvPicPr preferRelativeResize="0"/>
            <p:nvPr/>
          </p:nvPicPr>
          <p:blipFill rotWithShape="1">
            <a:blip r:embed="rId9">
              <a:alphaModFix/>
            </a:blip>
            <a:srcRect b="0" l="0" r="0" t="0"/>
            <a:stretch/>
          </p:blipFill>
          <p:spPr>
            <a:xfrm>
              <a:off x="847725" y="1276350"/>
              <a:ext cx="971700" cy="495300"/>
            </a:xfrm>
            <a:prstGeom prst="rect">
              <a:avLst/>
            </a:prstGeom>
            <a:noFill/>
            <a:ln>
              <a:noFill/>
            </a:ln>
          </p:spPr>
        </p:pic>
        <p:pic>
          <p:nvPicPr>
            <p:cNvPr id="68" name="Google Shape;68;p15"/>
            <p:cNvPicPr preferRelativeResize="0"/>
            <p:nvPr/>
          </p:nvPicPr>
          <p:blipFill rotWithShape="1">
            <a:blip r:embed="rId10">
              <a:alphaModFix/>
            </a:blip>
            <a:srcRect b="0" l="0" r="0" t="0"/>
            <a:stretch/>
          </p:blipFill>
          <p:spPr>
            <a:xfrm>
              <a:off x="857250" y="1395413"/>
              <a:ext cx="952500" cy="9600"/>
            </a:xfrm>
            <a:prstGeom prst="rect">
              <a:avLst/>
            </a:prstGeom>
            <a:noFill/>
            <a:ln>
              <a:noFill/>
            </a:ln>
          </p:spPr>
        </p:pic>
        <p:pic>
          <p:nvPicPr>
            <p:cNvPr id="69" name="Google Shape;69;p15"/>
            <p:cNvPicPr preferRelativeResize="0"/>
            <p:nvPr/>
          </p:nvPicPr>
          <p:blipFill rotWithShape="1">
            <a:blip r:embed="rId11">
              <a:alphaModFix/>
            </a:blip>
            <a:srcRect b="0" l="0" r="0" t="0"/>
            <a:stretch/>
          </p:blipFill>
          <p:spPr>
            <a:xfrm>
              <a:off x="942975" y="1314450"/>
              <a:ext cx="57300" cy="57300"/>
            </a:xfrm>
            <a:prstGeom prst="rect">
              <a:avLst/>
            </a:prstGeom>
            <a:noFill/>
            <a:ln>
              <a:noFill/>
            </a:ln>
          </p:spPr>
        </p:pic>
        <p:pic>
          <p:nvPicPr>
            <p:cNvPr id="70" name="Google Shape;70;p15"/>
            <p:cNvPicPr preferRelativeResize="0"/>
            <p:nvPr/>
          </p:nvPicPr>
          <p:blipFill rotWithShape="1">
            <a:blip r:embed="rId12">
              <a:alphaModFix/>
            </a:blip>
            <a:srcRect b="0" l="0" r="0" t="0"/>
            <a:stretch/>
          </p:blipFill>
          <p:spPr>
            <a:xfrm>
              <a:off x="847725" y="514350"/>
              <a:ext cx="971700" cy="495300"/>
            </a:xfrm>
            <a:prstGeom prst="rect">
              <a:avLst/>
            </a:prstGeom>
            <a:noFill/>
            <a:ln>
              <a:noFill/>
            </a:ln>
          </p:spPr>
        </p:pic>
        <p:pic>
          <p:nvPicPr>
            <p:cNvPr id="71" name="Google Shape;71;p15"/>
            <p:cNvPicPr preferRelativeResize="0"/>
            <p:nvPr/>
          </p:nvPicPr>
          <p:blipFill rotWithShape="1">
            <a:blip r:embed="rId13">
              <a:alphaModFix/>
            </a:blip>
            <a:srcRect b="0" l="0" r="0" t="0"/>
            <a:stretch/>
          </p:blipFill>
          <p:spPr>
            <a:xfrm>
              <a:off x="857250" y="633413"/>
              <a:ext cx="952500" cy="9600"/>
            </a:xfrm>
            <a:prstGeom prst="rect">
              <a:avLst/>
            </a:prstGeom>
            <a:noFill/>
            <a:ln>
              <a:noFill/>
            </a:ln>
          </p:spPr>
        </p:pic>
        <p:pic>
          <p:nvPicPr>
            <p:cNvPr id="72" name="Google Shape;72;p15"/>
            <p:cNvPicPr preferRelativeResize="0"/>
            <p:nvPr/>
          </p:nvPicPr>
          <p:blipFill rotWithShape="1">
            <a:blip r:embed="rId14">
              <a:alphaModFix/>
            </a:blip>
            <a:srcRect b="0" l="0" r="0" t="0"/>
            <a:stretch/>
          </p:blipFill>
          <p:spPr>
            <a:xfrm>
              <a:off x="942975" y="552450"/>
              <a:ext cx="57300" cy="57300"/>
            </a:xfrm>
            <a:prstGeom prst="rect">
              <a:avLst/>
            </a:prstGeom>
            <a:noFill/>
            <a:ln>
              <a:noFill/>
            </a:ln>
          </p:spPr>
        </p:pic>
        <p:pic>
          <p:nvPicPr>
            <p:cNvPr id="73" name="Google Shape;73;p15"/>
            <p:cNvPicPr preferRelativeResize="0"/>
            <p:nvPr/>
          </p:nvPicPr>
          <p:blipFill rotWithShape="1">
            <a:blip r:embed="rId12">
              <a:alphaModFix/>
            </a:blip>
            <a:srcRect b="0" l="0" r="0" t="0"/>
            <a:stretch/>
          </p:blipFill>
          <p:spPr>
            <a:xfrm>
              <a:off x="847725" y="2038350"/>
              <a:ext cx="971700" cy="495300"/>
            </a:xfrm>
            <a:prstGeom prst="rect">
              <a:avLst/>
            </a:prstGeom>
            <a:noFill/>
            <a:ln>
              <a:noFill/>
            </a:ln>
          </p:spPr>
        </p:pic>
        <p:pic>
          <p:nvPicPr>
            <p:cNvPr id="74" name="Google Shape;74;p15"/>
            <p:cNvPicPr preferRelativeResize="0"/>
            <p:nvPr/>
          </p:nvPicPr>
          <p:blipFill rotWithShape="1">
            <a:blip r:embed="rId13">
              <a:alphaModFix/>
            </a:blip>
            <a:srcRect b="0" l="0" r="0" t="0"/>
            <a:stretch/>
          </p:blipFill>
          <p:spPr>
            <a:xfrm>
              <a:off x="857250" y="2157413"/>
              <a:ext cx="952500" cy="9600"/>
            </a:xfrm>
            <a:prstGeom prst="rect">
              <a:avLst/>
            </a:prstGeom>
            <a:noFill/>
            <a:ln>
              <a:noFill/>
            </a:ln>
          </p:spPr>
        </p:pic>
        <p:pic>
          <p:nvPicPr>
            <p:cNvPr id="75" name="Google Shape;75;p15"/>
            <p:cNvPicPr preferRelativeResize="0"/>
            <p:nvPr/>
          </p:nvPicPr>
          <p:blipFill rotWithShape="1">
            <a:blip r:embed="rId14">
              <a:alphaModFix/>
            </a:blip>
            <a:srcRect b="0" l="0" r="0" t="0"/>
            <a:stretch/>
          </p:blipFill>
          <p:spPr>
            <a:xfrm>
              <a:off x="942975" y="2076450"/>
              <a:ext cx="57300" cy="57300"/>
            </a:xfrm>
            <a:prstGeom prst="rect">
              <a:avLst/>
            </a:prstGeom>
            <a:noFill/>
            <a:ln>
              <a:noFill/>
            </a:ln>
          </p:spPr>
        </p:pic>
        <p:pic>
          <p:nvPicPr>
            <p:cNvPr id="76" name="Google Shape;76;p15"/>
            <p:cNvPicPr preferRelativeResize="0"/>
            <p:nvPr/>
          </p:nvPicPr>
          <p:blipFill rotWithShape="1">
            <a:blip r:embed="rId15">
              <a:alphaModFix/>
            </a:blip>
            <a:srcRect b="0" l="0" r="0" t="0"/>
            <a:stretch/>
          </p:blipFill>
          <p:spPr>
            <a:xfrm>
              <a:off x="2181225" y="1371600"/>
              <a:ext cx="304800" cy="304800"/>
            </a:xfrm>
            <a:prstGeom prst="rect">
              <a:avLst/>
            </a:prstGeom>
            <a:noFill/>
            <a:ln>
              <a:noFill/>
            </a:ln>
          </p:spPr>
        </p:pic>
        <p:pic>
          <p:nvPicPr>
            <p:cNvPr id="77" name="Google Shape;77;p15"/>
            <p:cNvPicPr preferRelativeResize="0"/>
            <p:nvPr/>
          </p:nvPicPr>
          <p:blipFill rotWithShape="1">
            <a:blip r:embed="rId16">
              <a:alphaModFix/>
            </a:blip>
            <a:srcRect b="0" l="0" r="0" t="0"/>
            <a:stretch/>
          </p:blipFill>
          <p:spPr>
            <a:xfrm>
              <a:off x="2290763" y="1481138"/>
              <a:ext cx="85800" cy="85800"/>
            </a:xfrm>
            <a:prstGeom prst="rect">
              <a:avLst/>
            </a:prstGeom>
            <a:noFill/>
            <a:ln>
              <a:noFill/>
            </a:ln>
          </p:spPr>
        </p:pic>
      </p:grpSp>
      <p:grpSp>
        <p:nvGrpSpPr>
          <p:cNvPr id="78" name="Google Shape;78;p15"/>
          <p:cNvGrpSpPr/>
          <p:nvPr/>
        </p:nvGrpSpPr>
        <p:grpSpPr>
          <a:xfrm>
            <a:off x="571500" y="571500"/>
            <a:ext cx="304800" cy="304800"/>
            <a:chOff x="0" y="0"/>
            <a:chExt cx="304800" cy="304800"/>
          </a:xfrm>
        </p:grpSpPr>
        <p:sp>
          <p:nvSpPr>
            <p:cNvPr id="79" name="Google Shape;79;p15"/>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5"/>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5"/>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 name="Google Shape;82;p15"/>
          <p:cNvSpPr txBox="1"/>
          <p:nvPr/>
        </p:nvSpPr>
        <p:spPr>
          <a:xfrm>
            <a:off x="571500" y="1428750"/>
            <a:ext cx="4953000" cy="190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0" i="0" lang="en" sz="2400" u="none" cap="none" strike="noStrike">
                <a:solidFill>
                  <a:srgbClr val="0F172A"/>
                </a:solidFill>
                <a:latin typeface="Inter ExtraBold"/>
                <a:ea typeface="Inter ExtraBold"/>
                <a:cs typeface="Inter ExtraBold"/>
                <a:sym typeface="Inter ExtraBold"/>
              </a:rPr>
              <a:t>Phân tích và mô hình hóa</a:t>
            </a:r>
            <a:endParaRPr b="0" i="0" sz="24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00"/>
              </a:spcBef>
              <a:spcAft>
                <a:spcPts val="0"/>
              </a:spcAft>
              <a:buClr>
                <a:srgbClr val="000000"/>
              </a:buClr>
              <a:buSzPts val="2400"/>
              <a:buFont typeface="Arial"/>
              <a:buNone/>
            </a:pPr>
            <a:r>
              <a:rPr b="0" i="0" lang="en" sz="2400" u="none" cap="none" strike="noStrike">
                <a:solidFill>
                  <a:srgbClr val="007B7C"/>
                </a:solidFill>
                <a:latin typeface="Inter ExtraBold"/>
                <a:ea typeface="Inter ExtraBold"/>
                <a:cs typeface="Inter ExtraBold"/>
                <a:sym typeface="Inter ExtraBold"/>
              </a:rPr>
              <a:t>Quy trình Nghiệp vụ</a:t>
            </a:r>
            <a:endParaRPr b="0" i="0" sz="2400" u="none" cap="none" strike="noStrike">
              <a:solidFill>
                <a:srgbClr val="007B7C"/>
              </a:solidFill>
              <a:latin typeface="Inter ExtraBold"/>
              <a:ea typeface="Inter ExtraBold"/>
              <a:cs typeface="Inter ExtraBold"/>
              <a:sym typeface="Inter ExtraBold"/>
            </a:endParaRPr>
          </a:p>
          <a:p>
            <a:pPr indent="0" lvl="0" marL="0" marR="0" rtl="0" algn="l">
              <a:lnSpc>
                <a:spcPct val="100000"/>
              </a:lnSpc>
              <a:spcBef>
                <a:spcPts val="1050"/>
              </a:spcBef>
              <a:spcAft>
                <a:spcPts val="0"/>
              </a:spcAft>
              <a:buClr>
                <a:srgbClr val="000000"/>
              </a:buClr>
              <a:buSzPts val="1350"/>
              <a:buFont typeface="Arial"/>
              <a:buNone/>
            </a:pPr>
            <a:r>
              <a:rPr b="0" i="0" lang="en" sz="1350" u="none" cap="none" strike="noStrike">
                <a:solidFill>
                  <a:srgbClr val="475569"/>
                </a:solidFill>
                <a:latin typeface="Inter SemiBold"/>
                <a:ea typeface="Inter SemiBold"/>
                <a:cs typeface="Inter SemiBold"/>
                <a:sym typeface="Inter SemiBold"/>
              </a:rPr>
              <a:t>Hệ thống đặt lịch sửa chữa thiết bị (Booking)</a:t>
            </a:r>
            <a:endParaRPr b="0" i="0" sz="1350" u="none" cap="none" strike="noStrike">
              <a:solidFill>
                <a:srgbClr val="475569"/>
              </a:solidFill>
              <a:latin typeface="Inter SemiBold"/>
              <a:ea typeface="Inter SemiBold"/>
              <a:cs typeface="Inter SemiBold"/>
              <a:sym typeface="Inter SemiBold"/>
            </a:endParaRPr>
          </a:p>
        </p:txBody>
      </p:sp>
      <p:grpSp>
        <p:nvGrpSpPr>
          <p:cNvPr id="83" name="Google Shape;83;p15"/>
          <p:cNvGrpSpPr/>
          <p:nvPr/>
        </p:nvGrpSpPr>
        <p:grpSpPr>
          <a:xfrm>
            <a:off x="571500" y="3524250"/>
            <a:ext cx="2571900" cy="1095300"/>
            <a:chOff x="0" y="0"/>
            <a:chExt cx="2571900" cy="1095300"/>
          </a:xfrm>
        </p:grpSpPr>
        <p:sp>
          <p:nvSpPr>
            <p:cNvPr id="84" name="Google Shape;84;p15"/>
            <p:cNvSpPr/>
            <p:nvPr/>
          </p:nvSpPr>
          <p:spPr>
            <a:xfrm>
              <a:off x="0" y="0"/>
              <a:ext cx="38100" cy="1095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5"/>
            <p:cNvSpPr txBox="1"/>
            <p:nvPr/>
          </p:nvSpPr>
          <p:spPr>
            <a:xfrm>
              <a:off x="152400" y="0"/>
              <a:ext cx="2419500" cy="1095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1" i="0" lang="en" sz="750" u="none" cap="none" strike="noStrike">
                  <a:solidFill>
                    <a:srgbClr val="64748B"/>
                  </a:solidFill>
                  <a:latin typeface="Inter"/>
                  <a:ea typeface="Inter"/>
                  <a:cs typeface="Inter"/>
                  <a:sym typeface="Inter"/>
                </a:rPr>
                <a:t>Giảng viên hướng dẫn</a:t>
              </a:r>
              <a:endParaRPr b="1" i="0" sz="750" u="none" cap="none" strike="noStrike">
                <a:solidFill>
                  <a:srgbClr val="64748B"/>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1050"/>
                <a:buFont typeface="Arial"/>
                <a:buNone/>
              </a:pPr>
              <a:r>
                <a:rPr b="1" i="0" lang="en" sz="1050" u="none" cap="none" strike="noStrike">
                  <a:solidFill>
                    <a:srgbClr val="0F172A"/>
                  </a:solidFill>
                  <a:latin typeface="Inter"/>
                  <a:ea typeface="Inter"/>
                  <a:cs typeface="Inter"/>
                  <a:sym typeface="Inter"/>
                </a:rPr>
                <a:t>ThS. Hà Lê Hoài Trung</a:t>
              </a:r>
              <a:endParaRPr b="1" i="0" sz="105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750"/>
                <a:buFont typeface="Arial"/>
                <a:buNone/>
              </a:pPr>
              <a:r>
                <a:rPr b="1" i="0" lang="en" sz="750" u="none" cap="none" strike="noStrike">
                  <a:solidFill>
                    <a:srgbClr val="64748B"/>
                  </a:solidFill>
                  <a:latin typeface="Inter"/>
                  <a:ea typeface="Inter"/>
                  <a:cs typeface="Inter"/>
                  <a:sym typeface="Inter"/>
                </a:rPr>
                <a:t>Đơn vị đào tạo</a:t>
              </a:r>
              <a:endParaRPr b="1" i="0" sz="750" u="none" cap="none" strike="noStrike">
                <a:solidFill>
                  <a:srgbClr val="64748B"/>
                </a:solidFill>
                <a:latin typeface="Inter"/>
                <a:ea typeface="Inter"/>
                <a:cs typeface="Inter"/>
                <a:sym typeface="Inter"/>
              </a:endParaRPr>
            </a:p>
            <a:p>
              <a:pPr indent="0" lvl="0" marL="0" marR="0" rtl="0" algn="l">
                <a:lnSpc>
                  <a:spcPct val="100000"/>
                </a:lnSpc>
                <a:spcBef>
                  <a:spcPts val="225"/>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Khoa Hệ thống Thông tin</a:t>
              </a:r>
              <a:endParaRPr b="0" i="0" sz="850" u="none" cap="none" strike="noStrike">
                <a:solidFill>
                  <a:srgbClr val="475569"/>
                </a:solidFill>
                <a:latin typeface="Inter Medium"/>
                <a:ea typeface="Inter Medium"/>
                <a:cs typeface="Inter Medium"/>
                <a:sym typeface="Inter Medium"/>
              </a:endParaRPr>
            </a:p>
            <a:p>
              <a:pPr indent="0" lvl="0" marL="0" marR="0" rtl="0" algn="l">
                <a:lnSpc>
                  <a:spcPct val="100000"/>
                </a:lnSpc>
                <a:spcBef>
                  <a:spcPts val="150"/>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Trường Đại học Công nghệ Thông tin</a:t>
              </a:r>
              <a:endParaRPr b="0" i="0" sz="850" u="none" cap="none" strike="noStrike">
                <a:solidFill>
                  <a:srgbClr val="475569"/>
                </a:solidFill>
                <a:latin typeface="Inter Medium"/>
                <a:ea typeface="Inter Medium"/>
                <a:cs typeface="Inter Medium"/>
                <a:sym typeface="Inter Medium"/>
              </a:endParaRPr>
            </a:p>
            <a:p>
              <a:pPr indent="0" lvl="0" marL="0" marR="0" rtl="0" algn="l">
                <a:lnSpc>
                  <a:spcPct val="100000"/>
                </a:lnSpc>
                <a:spcBef>
                  <a:spcPts val="150"/>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ĐHQG TP.HCM</a:t>
              </a:r>
              <a:endParaRPr b="0" i="0" sz="850" u="none" cap="none" strike="noStrike">
                <a:solidFill>
                  <a:srgbClr val="475569"/>
                </a:solidFill>
                <a:latin typeface="Inter Medium"/>
                <a:ea typeface="Inter Medium"/>
                <a:cs typeface="Inter Medium"/>
                <a:sym typeface="Inter Medium"/>
              </a:endParaRPr>
            </a:p>
          </p:txBody>
        </p:sp>
      </p:grpSp>
      <p:grpSp>
        <p:nvGrpSpPr>
          <p:cNvPr id="86" name="Google Shape;86;p15"/>
          <p:cNvGrpSpPr/>
          <p:nvPr/>
        </p:nvGrpSpPr>
        <p:grpSpPr>
          <a:xfrm>
            <a:off x="3238500" y="3524250"/>
            <a:ext cx="2438400" cy="1095300"/>
            <a:chOff x="0" y="0"/>
            <a:chExt cx="2438400" cy="1095300"/>
          </a:xfrm>
        </p:grpSpPr>
        <p:sp>
          <p:nvSpPr>
            <p:cNvPr id="87" name="Google Shape;87;p15"/>
            <p:cNvSpPr/>
            <p:nvPr/>
          </p:nvSpPr>
          <p:spPr>
            <a:xfrm>
              <a:off x="0" y="0"/>
              <a:ext cx="38100" cy="1095300"/>
            </a:xfrm>
            <a:prstGeom prst="roundRect">
              <a:avLst>
                <a:gd fmla="val 50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15"/>
            <p:cNvSpPr txBox="1"/>
            <p:nvPr/>
          </p:nvSpPr>
          <p:spPr>
            <a:xfrm>
              <a:off x="152400" y="0"/>
              <a:ext cx="2286000" cy="1095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1" i="0" lang="en" sz="750" u="none" cap="none" strike="noStrike">
                  <a:solidFill>
                    <a:srgbClr val="64748B"/>
                  </a:solidFill>
                  <a:latin typeface="Inter"/>
                  <a:ea typeface="Inter"/>
                  <a:cs typeface="Inter"/>
                  <a:sym typeface="Inter"/>
                </a:rPr>
                <a:t>Nhóm nghiên cứu</a:t>
              </a:r>
              <a:endParaRPr b="1" i="0" sz="750" u="none" cap="none" strike="noStrike">
                <a:solidFill>
                  <a:srgbClr val="64748B"/>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1050"/>
                <a:buFont typeface="Arial"/>
                <a:buNone/>
              </a:pPr>
              <a:r>
                <a:rPr b="1" i="0" lang="en" sz="1050" u="none" cap="none" strike="noStrike">
                  <a:solidFill>
                    <a:srgbClr val="0F172A"/>
                  </a:solidFill>
                  <a:latin typeface="Inter"/>
                  <a:ea typeface="Inter"/>
                  <a:cs typeface="Inter"/>
                  <a:sym typeface="Inter"/>
                </a:rPr>
                <a:t>Nhóm 14</a:t>
              </a:r>
              <a:endParaRPr b="1" i="0" sz="1050" u="none" cap="none" strike="noStrike">
                <a:solidFill>
                  <a:srgbClr val="0F172A"/>
                </a:solidFill>
                <a:latin typeface="Inter"/>
                <a:ea typeface="Inter"/>
                <a:cs typeface="Inter"/>
                <a:sym typeface="Inter"/>
              </a:endParaRPr>
            </a:p>
            <a:p>
              <a:pPr indent="0" lvl="0" marL="0" marR="0" rtl="0" algn="l">
                <a:lnSpc>
                  <a:spcPct val="100000"/>
                </a:lnSpc>
                <a:spcBef>
                  <a:spcPts val="600"/>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Đỗ Kim Long (25210135)</a:t>
              </a:r>
              <a:endParaRPr b="0" i="0" sz="850" u="none" cap="none" strike="noStrike">
                <a:solidFill>
                  <a:srgbClr val="475569"/>
                </a:solidFill>
                <a:latin typeface="Inter Medium"/>
                <a:ea typeface="Inter Medium"/>
                <a:cs typeface="Inter Medium"/>
                <a:sym typeface="Inter Medium"/>
              </a:endParaRPr>
            </a:p>
            <a:p>
              <a:pPr indent="0" lvl="0" marL="0" marR="0" rtl="0" algn="l">
                <a:lnSpc>
                  <a:spcPct val="100000"/>
                </a:lnSpc>
                <a:spcBef>
                  <a:spcPts val="225"/>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Nguyễn Hoàng Tân (25210188)</a:t>
              </a:r>
              <a:endParaRPr b="0" i="0" sz="850" u="none" cap="none" strike="noStrike">
                <a:solidFill>
                  <a:srgbClr val="475569"/>
                </a:solidFill>
                <a:latin typeface="Inter Medium"/>
                <a:ea typeface="Inter Medium"/>
                <a:cs typeface="Inter Medium"/>
                <a:sym typeface="Inter Medium"/>
              </a:endParaRPr>
            </a:p>
            <a:p>
              <a:pPr indent="0" lvl="0" marL="0" marR="0" rtl="0" algn="l">
                <a:lnSpc>
                  <a:spcPct val="100000"/>
                </a:lnSpc>
                <a:spcBef>
                  <a:spcPts val="225"/>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Nguyễn Ngọc Thanh Thùy (25210208)</a:t>
              </a:r>
              <a:endParaRPr b="0" i="0" sz="850" u="none" cap="none" strike="noStrike">
                <a:solidFill>
                  <a:srgbClr val="475569"/>
                </a:solidFill>
                <a:latin typeface="Inter Medium"/>
                <a:ea typeface="Inter Medium"/>
                <a:cs typeface="Inter Medium"/>
                <a:sym typeface="Inter Medium"/>
              </a:endParaRPr>
            </a:p>
            <a:p>
              <a:pPr indent="0" lvl="0" marL="0" marR="0" rtl="0" algn="l">
                <a:lnSpc>
                  <a:spcPct val="100000"/>
                </a:lnSpc>
                <a:spcBef>
                  <a:spcPts val="225"/>
                </a:spcBef>
                <a:spcAft>
                  <a:spcPts val="0"/>
                </a:spcAft>
                <a:buClr>
                  <a:srgbClr val="000000"/>
                </a:buClr>
                <a:buSzPts val="850"/>
                <a:buFont typeface="Arial"/>
                <a:buNone/>
              </a:pPr>
              <a:r>
                <a:rPr b="0" i="0" lang="en" sz="850" u="none" cap="none" strike="noStrike">
                  <a:solidFill>
                    <a:srgbClr val="475569"/>
                  </a:solidFill>
                  <a:latin typeface="Inter Medium"/>
                  <a:ea typeface="Inter Medium"/>
                  <a:cs typeface="Inter Medium"/>
                  <a:sym typeface="Inter Medium"/>
                </a:rPr>
                <a:t>Lê Thị Bích Tuyền (25210236)</a:t>
              </a:r>
              <a:endParaRPr b="0" i="0" sz="850" u="none" cap="none" strike="noStrike">
                <a:solidFill>
                  <a:srgbClr val="475569"/>
                </a:solidFill>
                <a:latin typeface="Inter Medium"/>
                <a:ea typeface="Inter Medium"/>
                <a:cs typeface="Inter Medium"/>
                <a:sym typeface="Inter Medium"/>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grpSp>
        <p:nvGrpSpPr>
          <p:cNvPr id="93" name="Google Shape;93;p16"/>
          <p:cNvGrpSpPr/>
          <p:nvPr/>
        </p:nvGrpSpPr>
        <p:grpSpPr>
          <a:xfrm>
            <a:off x="0" y="0"/>
            <a:ext cx="9144000" cy="5143500"/>
            <a:chOff x="0" y="0"/>
            <a:chExt cx="9144000" cy="5143500"/>
          </a:xfrm>
        </p:grpSpPr>
        <p:sp>
          <p:nvSpPr>
            <p:cNvPr id="94" name="Google Shape;94;p16"/>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 name="Google Shape;95;p16"/>
            <p:cNvGrpSpPr/>
            <p:nvPr/>
          </p:nvGrpSpPr>
          <p:grpSpPr>
            <a:xfrm>
              <a:off x="8458200" y="381000"/>
              <a:ext cx="304800" cy="304800"/>
              <a:chOff x="0" y="0"/>
              <a:chExt cx="304800" cy="304800"/>
            </a:xfrm>
          </p:grpSpPr>
          <p:sp>
            <p:nvSpPr>
              <p:cNvPr id="96" name="Google Shape;96;p16"/>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6"/>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6"/>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99" name="Google Shape;99;p16"/>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grpSp>
      <p:sp>
        <p:nvSpPr>
          <p:cNvPr id="100" name="Google Shape;100;p16"/>
          <p:cNvSpPr txBox="1"/>
          <p:nvPr/>
        </p:nvSpPr>
        <p:spPr>
          <a:xfrm>
            <a:off x="381000" y="333375"/>
            <a:ext cx="7620000" cy="7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Mục lục nội dung báo cáo</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500"/>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Nội dung trình bày được chia thành 5 chương chính, bao quát toàn bộ quá trình nghiên cứu và đề xuất cải tiến:</a:t>
            </a:r>
            <a:endParaRPr b="0" i="0" sz="1100" u="none" cap="none" strike="noStrike">
              <a:solidFill>
                <a:srgbClr val="007B7C"/>
              </a:solidFill>
              <a:latin typeface="Inter SemiBold"/>
              <a:ea typeface="Inter SemiBold"/>
              <a:cs typeface="Inter SemiBold"/>
              <a:sym typeface="Inter SemiBold"/>
            </a:endParaRPr>
          </a:p>
        </p:txBody>
      </p:sp>
      <p:grpSp>
        <p:nvGrpSpPr>
          <p:cNvPr id="101" name="Google Shape;101;p16"/>
          <p:cNvGrpSpPr/>
          <p:nvPr/>
        </p:nvGrpSpPr>
        <p:grpSpPr>
          <a:xfrm>
            <a:off x="381000" y="1381125"/>
            <a:ext cx="4000500" cy="952500"/>
            <a:chOff x="0" y="0"/>
            <a:chExt cx="4000500" cy="952500"/>
          </a:xfrm>
        </p:grpSpPr>
        <p:sp>
          <p:nvSpPr>
            <p:cNvPr id="102" name="Google Shape;102;p16"/>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16"/>
            <p:cNvSpPr/>
            <p:nvPr/>
          </p:nvSpPr>
          <p:spPr>
            <a:xfrm>
              <a:off x="0" y="0"/>
              <a:ext cx="57300" cy="9525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16"/>
            <p:cNvSpPr/>
            <p:nvPr/>
          </p:nvSpPr>
          <p:spPr>
            <a:xfrm>
              <a:off x="190500" y="152400"/>
              <a:ext cx="266700" cy="266700"/>
            </a:xfrm>
            <a:prstGeom prst="roundRect">
              <a:avLst>
                <a:gd fmla="val 14285"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16"/>
            <p:cNvSpPr txBox="1"/>
            <p:nvPr/>
          </p:nvSpPr>
          <p:spPr>
            <a:xfrm>
              <a:off x="190500" y="152400"/>
              <a:ext cx="266700" cy="266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01</a:t>
              </a:r>
              <a:endParaRPr b="1" i="0" sz="1000" u="none" cap="none" strike="noStrike">
                <a:solidFill>
                  <a:srgbClr val="FFFFFF"/>
                </a:solidFill>
                <a:latin typeface="Inter"/>
                <a:ea typeface="Inter"/>
                <a:cs typeface="Inter"/>
                <a:sym typeface="Inter"/>
              </a:endParaRPr>
            </a:p>
          </p:txBody>
        </p:sp>
        <p:sp>
          <p:nvSpPr>
            <p:cNvPr id="106" name="Google Shape;106;p16"/>
            <p:cNvSpPr txBox="1"/>
            <p:nvPr/>
          </p:nvSpPr>
          <p:spPr>
            <a:xfrm>
              <a:off x="571500" y="133350"/>
              <a:ext cx="32385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Chương 1: Liệt kê quy trình doanh nghiệp</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50"/>
                <a:buFont typeface="Arial"/>
                <a:buNone/>
              </a:pPr>
              <a:r>
                <a:rPr b="0" i="0" lang="en" sz="950" u="none" cap="none" strike="noStrike">
                  <a:solidFill>
                    <a:srgbClr val="475569"/>
                  </a:solidFill>
                  <a:latin typeface="Inter"/>
                  <a:ea typeface="Inter"/>
                  <a:cs typeface="Inter"/>
                  <a:sym typeface="Inter"/>
                </a:rPr>
                <a:t>Tổng quan về bối cảnh và 10 quy trình hoạt động.</a:t>
              </a:r>
              <a:endParaRPr b="0" i="0" sz="950" u="none" cap="none" strike="noStrike">
                <a:solidFill>
                  <a:srgbClr val="475569"/>
                </a:solidFill>
                <a:latin typeface="Inter"/>
                <a:ea typeface="Inter"/>
                <a:cs typeface="Inter"/>
                <a:sym typeface="Inter"/>
              </a:endParaRPr>
            </a:p>
          </p:txBody>
        </p:sp>
      </p:grpSp>
      <p:grpSp>
        <p:nvGrpSpPr>
          <p:cNvPr id="107" name="Google Shape;107;p16"/>
          <p:cNvGrpSpPr/>
          <p:nvPr/>
        </p:nvGrpSpPr>
        <p:grpSpPr>
          <a:xfrm>
            <a:off x="4762500" y="1381125"/>
            <a:ext cx="4000500" cy="952500"/>
            <a:chOff x="0" y="0"/>
            <a:chExt cx="4000500" cy="952500"/>
          </a:xfrm>
        </p:grpSpPr>
        <p:sp>
          <p:nvSpPr>
            <p:cNvPr id="108" name="Google Shape;108;p16"/>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16"/>
            <p:cNvSpPr/>
            <p:nvPr/>
          </p:nvSpPr>
          <p:spPr>
            <a:xfrm>
              <a:off x="0" y="0"/>
              <a:ext cx="57300" cy="9525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16"/>
            <p:cNvSpPr/>
            <p:nvPr/>
          </p:nvSpPr>
          <p:spPr>
            <a:xfrm>
              <a:off x="190500" y="152400"/>
              <a:ext cx="266700" cy="266700"/>
            </a:xfrm>
            <a:prstGeom prst="roundRect">
              <a:avLst>
                <a:gd fmla="val 14285"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16"/>
            <p:cNvSpPr txBox="1"/>
            <p:nvPr/>
          </p:nvSpPr>
          <p:spPr>
            <a:xfrm>
              <a:off x="190500" y="152400"/>
              <a:ext cx="266700" cy="266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02</a:t>
              </a:r>
              <a:endParaRPr b="1" i="0" sz="1000" u="none" cap="none" strike="noStrike">
                <a:solidFill>
                  <a:srgbClr val="FFFFFF"/>
                </a:solidFill>
                <a:latin typeface="Inter"/>
                <a:ea typeface="Inter"/>
                <a:cs typeface="Inter"/>
                <a:sym typeface="Inter"/>
              </a:endParaRPr>
            </a:p>
          </p:txBody>
        </p:sp>
        <p:sp>
          <p:nvSpPr>
            <p:cNvPr id="112" name="Google Shape;112;p16"/>
            <p:cNvSpPr txBox="1"/>
            <p:nvPr/>
          </p:nvSpPr>
          <p:spPr>
            <a:xfrm>
              <a:off x="571500" y="133350"/>
              <a:ext cx="32385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Chương 2: Mô hình hóa quy trình</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50"/>
                <a:buFont typeface="Arial"/>
                <a:buNone/>
              </a:pPr>
              <a:r>
                <a:rPr b="0" i="0" lang="en" sz="950" u="none" cap="none" strike="noStrike">
                  <a:solidFill>
                    <a:srgbClr val="475569"/>
                  </a:solidFill>
                  <a:latin typeface="Inter"/>
                  <a:ea typeface="Inter"/>
                  <a:cs typeface="Inter"/>
                  <a:sym typeface="Inter"/>
                </a:rPr>
                <a:t>Áp dụng chuẩn BPMN 2.0 để vẽ sơ đồ cho các quy trình trọng yếu.</a:t>
              </a:r>
              <a:endParaRPr b="0" i="0" sz="950" u="none" cap="none" strike="noStrike">
                <a:solidFill>
                  <a:srgbClr val="475569"/>
                </a:solidFill>
                <a:latin typeface="Inter"/>
                <a:ea typeface="Inter"/>
                <a:cs typeface="Inter"/>
                <a:sym typeface="Inter"/>
              </a:endParaRPr>
            </a:p>
          </p:txBody>
        </p:sp>
      </p:grpSp>
      <p:grpSp>
        <p:nvGrpSpPr>
          <p:cNvPr id="113" name="Google Shape;113;p16"/>
          <p:cNvGrpSpPr/>
          <p:nvPr/>
        </p:nvGrpSpPr>
        <p:grpSpPr>
          <a:xfrm>
            <a:off x="381000" y="2476500"/>
            <a:ext cx="4000500" cy="952500"/>
            <a:chOff x="0" y="0"/>
            <a:chExt cx="4000500" cy="952500"/>
          </a:xfrm>
        </p:grpSpPr>
        <p:sp>
          <p:nvSpPr>
            <p:cNvPr id="114" name="Google Shape;114;p16"/>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16"/>
            <p:cNvSpPr/>
            <p:nvPr/>
          </p:nvSpPr>
          <p:spPr>
            <a:xfrm>
              <a:off x="0" y="0"/>
              <a:ext cx="57300" cy="9525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16"/>
            <p:cNvSpPr/>
            <p:nvPr/>
          </p:nvSpPr>
          <p:spPr>
            <a:xfrm>
              <a:off x="190500" y="152400"/>
              <a:ext cx="266700" cy="266700"/>
            </a:xfrm>
            <a:prstGeom prst="roundRect">
              <a:avLst>
                <a:gd fmla="val 14285"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16"/>
            <p:cNvSpPr txBox="1"/>
            <p:nvPr/>
          </p:nvSpPr>
          <p:spPr>
            <a:xfrm>
              <a:off x="190500" y="152400"/>
              <a:ext cx="266700" cy="266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03</a:t>
              </a:r>
              <a:endParaRPr b="1" i="0" sz="1000" u="none" cap="none" strike="noStrike">
                <a:solidFill>
                  <a:srgbClr val="FFFFFF"/>
                </a:solidFill>
                <a:latin typeface="Inter"/>
                <a:ea typeface="Inter"/>
                <a:cs typeface="Inter"/>
                <a:sym typeface="Inter"/>
              </a:endParaRPr>
            </a:p>
          </p:txBody>
        </p:sp>
        <p:sp>
          <p:nvSpPr>
            <p:cNvPr id="118" name="Google Shape;118;p16"/>
            <p:cNvSpPr txBox="1"/>
            <p:nvPr/>
          </p:nvSpPr>
          <p:spPr>
            <a:xfrm>
              <a:off x="571500" y="133350"/>
              <a:ext cx="32385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Chương 3: Phương pháp thực hiện</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50"/>
                <a:buFont typeface="Arial"/>
                <a:buNone/>
              </a:pPr>
              <a:r>
                <a:rPr b="0" i="0" lang="en" sz="950" u="none" cap="none" strike="noStrike">
                  <a:solidFill>
                    <a:srgbClr val="475569"/>
                  </a:solidFill>
                  <a:latin typeface="Inter"/>
                  <a:ea typeface="Inter"/>
                  <a:cs typeface="Inter"/>
                  <a:sym typeface="Inter"/>
                </a:rPr>
                <a:t>Trình bày phương pháp thu thập dữ liệu dựa trên bằng chứng và bộ câu hỏi phỏng vấn định tính, định lượng.</a:t>
              </a:r>
              <a:endParaRPr b="0" i="0" sz="950" u="none" cap="none" strike="noStrike">
                <a:solidFill>
                  <a:srgbClr val="475569"/>
                </a:solidFill>
                <a:latin typeface="Inter"/>
                <a:ea typeface="Inter"/>
                <a:cs typeface="Inter"/>
                <a:sym typeface="Inter"/>
              </a:endParaRPr>
            </a:p>
          </p:txBody>
        </p:sp>
      </p:grpSp>
      <p:grpSp>
        <p:nvGrpSpPr>
          <p:cNvPr id="119" name="Google Shape;119;p16"/>
          <p:cNvGrpSpPr/>
          <p:nvPr/>
        </p:nvGrpSpPr>
        <p:grpSpPr>
          <a:xfrm>
            <a:off x="4762500" y="2476500"/>
            <a:ext cx="4000500" cy="952500"/>
            <a:chOff x="0" y="0"/>
            <a:chExt cx="4000500" cy="952500"/>
          </a:xfrm>
        </p:grpSpPr>
        <p:sp>
          <p:nvSpPr>
            <p:cNvPr id="120" name="Google Shape;120;p16"/>
            <p:cNvSpPr/>
            <p:nvPr/>
          </p:nvSpPr>
          <p:spPr>
            <a:xfrm>
              <a:off x="0" y="0"/>
              <a:ext cx="40005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16"/>
            <p:cNvSpPr/>
            <p:nvPr/>
          </p:nvSpPr>
          <p:spPr>
            <a:xfrm>
              <a:off x="0" y="0"/>
              <a:ext cx="57300" cy="9525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16"/>
            <p:cNvSpPr/>
            <p:nvPr/>
          </p:nvSpPr>
          <p:spPr>
            <a:xfrm>
              <a:off x="190500" y="152400"/>
              <a:ext cx="266700" cy="266700"/>
            </a:xfrm>
            <a:prstGeom prst="roundRect">
              <a:avLst>
                <a:gd fmla="val 14285"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16"/>
            <p:cNvSpPr txBox="1"/>
            <p:nvPr/>
          </p:nvSpPr>
          <p:spPr>
            <a:xfrm>
              <a:off x="190500" y="152400"/>
              <a:ext cx="266700" cy="266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04</a:t>
              </a:r>
              <a:endParaRPr b="1" i="0" sz="1000" u="none" cap="none" strike="noStrike">
                <a:solidFill>
                  <a:srgbClr val="FFFFFF"/>
                </a:solidFill>
                <a:latin typeface="Inter"/>
                <a:ea typeface="Inter"/>
                <a:cs typeface="Inter"/>
                <a:sym typeface="Inter"/>
              </a:endParaRPr>
            </a:p>
          </p:txBody>
        </p:sp>
        <p:sp>
          <p:nvSpPr>
            <p:cNvPr id="124" name="Google Shape;124;p16"/>
            <p:cNvSpPr txBox="1"/>
            <p:nvPr/>
          </p:nvSpPr>
          <p:spPr>
            <a:xfrm>
              <a:off x="571500" y="133350"/>
              <a:ext cx="32385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Chương 4: Phân tích quy trình</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50"/>
                <a:buFont typeface="Arial"/>
                <a:buNone/>
              </a:pPr>
              <a:r>
                <a:rPr b="0" i="0" lang="en" sz="950" u="none" cap="none" strike="noStrike">
                  <a:solidFill>
                    <a:srgbClr val="475569"/>
                  </a:solidFill>
                  <a:latin typeface="Inter"/>
                  <a:ea typeface="Inter"/>
                  <a:cs typeface="Inter"/>
                  <a:sym typeface="Inter"/>
                </a:rPr>
                <a:t>Đánh giá giá trị gia tăng (VA/NVA), phân tích lãng phí, sơ đồ xương cá, cùng các chỉ số về thời gian, chất lượng và chi phí.</a:t>
              </a:r>
              <a:endParaRPr b="0" i="0" sz="950" u="none" cap="none" strike="noStrike">
                <a:solidFill>
                  <a:srgbClr val="475569"/>
                </a:solidFill>
                <a:latin typeface="Inter"/>
                <a:ea typeface="Inter"/>
                <a:cs typeface="Inter"/>
                <a:sym typeface="Inter"/>
              </a:endParaRPr>
            </a:p>
          </p:txBody>
        </p:sp>
      </p:grpSp>
      <p:grpSp>
        <p:nvGrpSpPr>
          <p:cNvPr id="125" name="Google Shape;125;p16"/>
          <p:cNvGrpSpPr/>
          <p:nvPr/>
        </p:nvGrpSpPr>
        <p:grpSpPr>
          <a:xfrm>
            <a:off x="381000" y="3571875"/>
            <a:ext cx="8382000" cy="952500"/>
            <a:chOff x="0" y="0"/>
            <a:chExt cx="8382000" cy="952500"/>
          </a:xfrm>
        </p:grpSpPr>
        <p:sp>
          <p:nvSpPr>
            <p:cNvPr id="126" name="Google Shape;126;p16"/>
            <p:cNvSpPr/>
            <p:nvPr/>
          </p:nvSpPr>
          <p:spPr>
            <a:xfrm>
              <a:off x="0" y="0"/>
              <a:ext cx="83820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16"/>
            <p:cNvSpPr/>
            <p:nvPr/>
          </p:nvSpPr>
          <p:spPr>
            <a:xfrm>
              <a:off x="0" y="0"/>
              <a:ext cx="57300" cy="9525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p16"/>
            <p:cNvSpPr/>
            <p:nvPr/>
          </p:nvSpPr>
          <p:spPr>
            <a:xfrm>
              <a:off x="190500" y="152400"/>
              <a:ext cx="266700" cy="266700"/>
            </a:xfrm>
            <a:prstGeom prst="roundRect">
              <a:avLst>
                <a:gd fmla="val 14285"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16"/>
            <p:cNvSpPr txBox="1"/>
            <p:nvPr/>
          </p:nvSpPr>
          <p:spPr>
            <a:xfrm>
              <a:off x="190500" y="152400"/>
              <a:ext cx="266700" cy="266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05</a:t>
              </a:r>
              <a:endParaRPr b="1" i="0" sz="1000" u="none" cap="none" strike="noStrike">
                <a:solidFill>
                  <a:srgbClr val="FFFFFF"/>
                </a:solidFill>
                <a:latin typeface="Inter"/>
                <a:ea typeface="Inter"/>
                <a:cs typeface="Inter"/>
                <a:sym typeface="Inter"/>
              </a:endParaRPr>
            </a:p>
          </p:txBody>
        </p:sp>
        <p:sp>
          <p:nvSpPr>
            <p:cNvPr id="130" name="Google Shape;130;p16"/>
            <p:cNvSpPr txBox="1"/>
            <p:nvPr/>
          </p:nvSpPr>
          <p:spPr>
            <a:xfrm>
              <a:off x="571500" y="133350"/>
              <a:ext cx="7620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Chương 5: Kết luận &amp; Đề xuất giải pháp cải tiến</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50"/>
                <a:buFont typeface="Arial"/>
                <a:buNone/>
              </a:pPr>
              <a:r>
                <a:rPr b="0" i="0" lang="en" sz="950" u="none" cap="none" strike="noStrike">
                  <a:solidFill>
                    <a:srgbClr val="475569"/>
                  </a:solidFill>
                  <a:latin typeface="Inter"/>
                  <a:ea typeface="Inter"/>
                  <a:cs typeface="Inter"/>
                  <a:sym typeface="Inter"/>
                </a:rPr>
                <a:t>Tổng kết kết quả đạt được và đưa ra các định hướng tối ưu hóa hệ thống.</a:t>
              </a:r>
              <a:endParaRPr b="0" i="0" sz="950" u="none" cap="none" strike="noStrike">
                <a:solidFill>
                  <a:srgbClr val="475569"/>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7"/>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6" name="Google Shape;136;p17"/>
          <p:cNvGrpSpPr/>
          <p:nvPr/>
        </p:nvGrpSpPr>
        <p:grpSpPr>
          <a:xfrm>
            <a:off x="8458200" y="381000"/>
            <a:ext cx="304800" cy="304800"/>
            <a:chOff x="0" y="0"/>
            <a:chExt cx="304800" cy="304800"/>
          </a:xfrm>
        </p:grpSpPr>
        <p:sp>
          <p:nvSpPr>
            <p:cNvPr id="137" name="Google Shape;137;p17"/>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17"/>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17"/>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40" name="Google Shape;140;p17"/>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141" name="Google Shape;141;p17"/>
          <p:cNvSpPr txBox="1"/>
          <p:nvPr/>
        </p:nvSpPr>
        <p:spPr>
          <a:xfrm>
            <a:off x="381000" y="333375"/>
            <a:ext cx="7810500" cy="71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200"/>
              <a:buFont typeface="Arial"/>
              <a:buNone/>
            </a:pPr>
            <a:r>
              <a:rPr b="0" i="0" lang="en" sz="2200" u="none" cap="none" strike="noStrike">
                <a:solidFill>
                  <a:srgbClr val="0F172A"/>
                </a:solidFill>
                <a:latin typeface="Inter ExtraBold"/>
                <a:ea typeface="Inter ExtraBold"/>
                <a:cs typeface="Inter ExtraBold"/>
                <a:sym typeface="Inter ExtraBold"/>
              </a:rPr>
              <a:t>Phần mở đầu và mục tiêu nghiên cứu</a:t>
            </a:r>
            <a:endParaRPr b="0" i="0" sz="22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225"/>
              </a:spcBef>
              <a:spcAft>
                <a:spcPts val="0"/>
              </a:spcAft>
              <a:buClr>
                <a:srgbClr val="000000"/>
              </a:buClr>
              <a:buSzPts val="1300"/>
              <a:buFont typeface="Arial"/>
              <a:buNone/>
            </a:pPr>
            <a:r>
              <a:rPr b="0" i="0" lang="en" sz="1300" u="none" cap="none" strike="noStrike">
                <a:solidFill>
                  <a:srgbClr val="007B7C"/>
                </a:solidFill>
                <a:latin typeface="Inter SemiBold"/>
                <a:ea typeface="Inter SemiBold"/>
                <a:cs typeface="Inter SemiBold"/>
                <a:sym typeface="Inter SemiBold"/>
              </a:rPr>
              <a:t>Daikin Việt Nam • Báo cáo phân tích BPM</a:t>
            </a:r>
            <a:endParaRPr b="0" i="0" sz="1300" u="none" cap="none" strike="noStrike">
              <a:solidFill>
                <a:srgbClr val="007B7C"/>
              </a:solidFill>
              <a:latin typeface="Inter SemiBold"/>
              <a:ea typeface="Inter SemiBold"/>
              <a:cs typeface="Inter SemiBold"/>
              <a:sym typeface="Inter SemiBold"/>
            </a:endParaRPr>
          </a:p>
        </p:txBody>
      </p:sp>
      <p:grpSp>
        <p:nvGrpSpPr>
          <p:cNvPr id="142" name="Google Shape;142;p17"/>
          <p:cNvGrpSpPr/>
          <p:nvPr/>
        </p:nvGrpSpPr>
        <p:grpSpPr>
          <a:xfrm>
            <a:off x="381000" y="1333500"/>
            <a:ext cx="4095900" cy="2619300"/>
            <a:chOff x="381000" y="1333500"/>
            <a:chExt cx="4095900" cy="2619300"/>
          </a:xfrm>
        </p:grpSpPr>
        <p:sp>
          <p:nvSpPr>
            <p:cNvPr id="143" name="Google Shape;143;p17"/>
            <p:cNvSpPr txBox="1"/>
            <p:nvPr/>
          </p:nvSpPr>
          <p:spPr>
            <a:xfrm>
              <a:off x="381000" y="1333500"/>
              <a:ext cx="4095900" cy="80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Việc áp dụng Quản lý quy trình nghiệp vụ (BPM) vào hệ thống đặt lịch sửa chữa thiết bị nhằm mục đích tối ưu hóa vận hành và nâng cao trải nghiệm khách hàng.</a:t>
              </a:r>
              <a:endParaRPr b="0" i="0" sz="1000" u="none" cap="none" strike="noStrike">
                <a:solidFill>
                  <a:srgbClr val="475569"/>
                </a:solidFill>
                <a:latin typeface="Inter"/>
                <a:ea typeface="Inter"/>
                <a:cs typeface="Inter"/>
                <a:sym typeface="Inter"/>
              </a:endParaRPr>
            </a:p>
            <a:p>
              <a:pPr indent="0" lvl="0" marL="0" marR="0" rtl="0" algn="l">
                <a:lnSpc>
                  <a:spcPct val="100000"/>
                </a:lnSpc>
                <a:spcBef>
                  <a:spcPts val="600"/>
                </a:spcBef>
                <a:spcAft>
                  <a:spcPts val="0"/>
                </a:spcAft>
                <a:buClr>
                  <a:srgbClr val="000000"/>
                </a:buClr>
                <a:buSzPts val="1000"/>
                <a:buFont typeface="Arial"/>
                <a:buNone/>
              </a:pPr>
              <a:r>
                <a:rPr b="1" i="0" lang="en" sz="1000" u="none" cap="none" strike="noStrike">
                  <a:solidFill>
                    <a:srgbClr val="0F172A"/>
                  </a:solidFill>
                  <a:latin typeface="Inter"/>
                  <a:ea typeface="Inter"/>
                  <a:cs typeface="Inter"/>
                  <a:sym typeface="Inter"/>
                </a:rPr>
                <a:t>Mục tiêu cốt lõi của nghiên cứu bao gồm:</a:t>
              </a:r>
              <a:endParaRPr b="1" i="0" sz="1000" u="none" cap="none" strike="noStrike">
                <a:solidFill>
                  <a:srgbClr val="0F172A"/>
                </a:solidFill>
                <a:latin typeface="Inter"/>
                <a:ea typeface="Inter"/>
                <a:cs typeface="Inter"/>
                <a:sym typeface="Inter"/>
              </a:endParaRPr>
            </a:p>
          </p:txBody>
        </p:sp>
        <p:grpSp>
          <p:nvGrpSpPr>
            <p:cNvPr id="144" name="Google Shape;144;p17"/>
            <p:cNvGrpSpPr/>
            <p:nvPr/>
          </p:nvGrpSpPr>
          <p:grpSpPr>
            <a:xfrm>
              <a:off x="381000" y="2333625"/>
              <a:ext cx="4095900" cy="714300"/>
              <a:chOff x="0" y="0"/>
              <a:chExt cx="4095900" cy="714300"/>
            </a:xfrm>
          </p:grpSpPr>
          <p:sp>
            <p:nvSpPr>
              <p:cNvPr id="145" name="Google Shape;145;p17"/>
              <p:cNvSpPr/>
              <p:nvPr/>
            </p:nvSpPr>
            <p:spPr>
              <a:xfrm>
                <a:off x="0" y="0"/>
                <a:ext cx="4095900" cy="714300"/>
              </a:xfrm>
              <a:prstGeom prst="roundRect">
                <a:avLst>
                  <a:gd fmla="val 5333" name="adj"/>
                </a:avLst>
              </a:prstGeom>
              <a:solidFill>
                <a:srgbClr val="F8FAF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17"/>
              <p:cNvSpPr/>
              <p:nvPr/>
            </p:nvSpPr>
            <p:spPr>
              <a:xfrm>
                <a:off x="0" y="0"/>
                <a:ext cx="38100" cy="714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17"/>
              <p:cNvSpPr txBox="1"/>
              <p:nvPr/>
            </p:nvSpPr>
            <p:spPr>
              <a:xfrm>
                <a:off x="152400" y="114300"/>
                <a:ext cx="3810000" cy="52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07B7C"/>
                    </a:solidFill>
                    <a:latin typeface="Inter"/>
                    <a:ea typeface="Inter"/>
                    <a:cs typeface="Inter"/>
                    <a:sym typeface="Inter"/>
                  </a:rPr>
                  <a:t>Ghi nhận &amp; Tài liệu hóa</a:t>
                </a:r>
                <a:endParaRPr b="1" i="0" sz="1000" u="none" cap="none" strike="noStrike">
                  <a:solidFill>
                    <a:srgbClr val="007B7C"/>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Ghi nhận và tài liệu hóa hiện trạng (As-Is) của toàn bộ hệ thống vận hành.</a:t>
                </a:r>
                <a:endParaRPr b="0" i="0" sz="900" u="none" cap="none" strike="noStrike">
                  <a:solidFill>
                    <a:srgbClr val="475569"/>
                  </a:solidFill>
                  <a:latin typeface="Inter"/>
                  <a:ea typeface="Inter"/>
                  <a:cs typeface="Inter"/>
                  <a:sym typeface="Inter"/>
                </a:endParaRPr>
              </a:p>
            </p:txBody>
          </p:sp>
        </p:grpSp>
        <p:grpSp>
          <p:nvGrpSpPr>
            <p:cNvPr id="148" name="Google Shape;148;p17"/>
            <p:cNvGrpSpPr/>
            <p:nvPr/>
          </p:nvGrpSpPr>
          <p:grpSpPr>
            <a:xfrm>
              <a:off x="381000" y="3238500"/>
              <a:ext cx="4095900" cy="714300"/>
              <a:chOff x="0" y="0"/>
              <a:chExt cx="4095900" cy="714300"/>
            </a:xfrm>
          </p:grpSpPr>
          <p:sp>
            <p:nvSpPr>
              <p:cNvPr id="149" name="Google Shape;149;p17"/>
              <p:cNvSpPr/>
              <p:nvPr/>
            </p:nvSpPr>
            <p:spPr>
              <a:xfrm>
                <a:off x="0" y="0"/>
                <a:ext cx="4095900" cy="714300"/>
              </a:xfrm>
              <a:prstGeom prst="roundRect">
                <a:avLst>
                  <a:gd fmla="val 5333" name="adj"/>
                </a:avLst>
              </a:prstGeom>
              <a:solidFill>
                <a:srgbClr val="F8FAF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17"/>
              <p:cNvSpPr/>
              <p:nvPr/>
            </p:nvSpPr>
            <p:spPr>
              <a:xfrm>
                <a:off x="0" y="0"/>
                <a:ext cx="38100" cy="714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17"/>
              <p:cNvSpPr txBox="1"/>
              <p:nvPr/>
            </p:nvSpPr>
            <p:spPr>
              <a:xfrm>
                <a:off x="152400" y="114300"/>
                <a:ext cx="3810000" cy="523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07B7C"/>
                    </a:solidFill>
                    <a:latin typeface="Inter"/>
                    <a:ea typeface="Inter"/>
                    <a:cs typeface="Inter"/>
                    <a:sym typeface="Inter"/>
                  </a:rPr>
                  <a:t>Nhận diện Điểm nghẽn</a:t>
                </a:r>
                <a:endParaRPr b="1" i="0" sz="1000" u="none" cap="none" strike="noStrike">
                  <a:solidFill>
                    <a:srgbClr val="007B7C"/>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Nhận diện các điểm nghẽn (bottleneck) gây chậm trễ trong việc điều phối kỹ thuật viên và xử lý yêu cầu.</a:t>
                </a:r>
                <a:endParaRPr b="0" i="0" sz="900" u="none" cap="none" strike="noStrike">
                  <a:solidFill>
                    <a:srgbClr val="475569"/>
                  </a:solidFill>
                  <a:latin typeface="Inter"/>
                  <a:ea typeface="Inter"/>
                  <a:cs typeface="Inter"/>
                  <a:sym typeface="Inter"/>
                </a:endParaRPr>
              </a:p>
            </p:txBody>
          </p:sp>
        </p:grpSp>
      </p:grpSp>
      <p:grpSp>
        <p:nvGrpSpPr>
          <p:cNvPr id="152" name="Google Shape;152;p17"/>
          <p:cNvGrpSpPr/>
          <p:nvPr/>
        </p:nvGrpSpPr>
        <p:grpSpPr>
          <a:xfrm>
            <a:off x="4762500" y="1333500"/>
            <a:ext cx="4000500" cy="2619450"/>
            <a:chOff x="4762500" y="1333500"/>
            <a:chExt cx="4000500" cy="2619450"/>
          </a:xfrm>
        </p:grpSpPr>
        <p:sp>
          <p:nvSpPr>
            <p:cNvPr id="153" name="Google Shape;153;p17"/>
            <p:cNvSpPr txBox="1"/>
            <p:nvPr/>
          </p:nvSpPr>
          <p:spPr>
            <a:xfrm>
              <a:off x="4762500" y="1333500"/>
              <a:ext cx="4000500" cy="333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rgbClr val="0F172A"/>
                  </a:solidFill>
                  <a:latin typeface="Inter"/>
                  <a:ea typeface="Inter"/>
                  <a:cs typeface="Inter"/>
                  <a:sym typeface="Inter"/>
                </a:rPr>
                <a:t>Trọng tâm tối ưu hóa</a:t>
              </a:r>
              <a:endParaRPr b="1" i="0" sz="1200" u="none" cap="none" strike="noStrike">
                <a:solidFill>
                  <a:srgbClr val="0F172A"/>
                </a:solidFill>
                <a:latin typeface="Inter"/>
                <a:ea typeface="Inter"/>
                <a:cs typeface="Inter"/>
                <a:sym typeface="Inter"/>
              </a:endParaRPr>
            </a:p>
          </p:txBody>
        </p:sp>
        <p:grpSp>
          <p:nvGrpSpPr>
            <p:cNvPr id="154" name="Google Shape;154;p17"/>
            <p:cNvGrpSpPr/>
            <p:nvPr/>
          </p:nvGrpSpPr>
          <p:grpSpPr>
            <a:xfrm>
              <a:off x="4762500" y="1809750"/>
              <a:ext cx="4000500" cy="2143200"/>
              <a:chOff x="0" y="0"/>
              <a:chExt cx="4000500" cy="2143200"/>
            </a:xfrm>
          </p:grpSpPr>
          <p:sp>
            <p:nvSpPr>
              <p:cNvPr id="155" name="Google Shape;155;p17"/>
              <p:cNvSpPr/>
              <p:nvPr/>
            </p:nvSpPr>
            <p:spPr>
              <a:xfrm>
                <a:off x="0" y="0"/>
                <a:ext cx="4000500" cy="2143200"/>
              </a:xfrm>
              <a:prstGeom prst="roundRect">
                <a:avLst>
                  <a:gd fmla="val 1777" name="adj"/>
                </a:avLst>
              </a:prstGeom>
              <a:solidFill>
                <a:srgbClr val="ECFD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7"/>
              <p:cNvSpPr/>
              <p:nvPr/>
            </p:nvSpPr>
            <p:spPr>
              <a:xfrm>
                <a:off x="0" y="0"/>
                <a:ext cx="38100" cy="2143200"/>
              </a:xfrm>
              <a:prstGeom prst="roundRect">
                <a:avLst>
                  <a:gd fmla="val 50000" name="adj"/>
                </a:avLst>
              </a:prstGeom>
              <a:solidFill>
                <a:srgbClr val="10B98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17"/>
              <p:cNvSpPr txBox="1"/>
              <p:nvPr/>
            </p:nvSpPr>
            <p:spPr>
              <a:xfrm>
                <a:off x="152400" y="152400"/>
                <a:ext cx="3695700" cy="183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0B981"/>
                    </a:solidFill>
                    <a:latin typeface="Inter"/>
                    <a:ea typeface="Inter"/>
                    <a:cs typeface="Inter"/>
                    <a:sym typeface="Inter"/>
                  </a:rPr>
                  <a:t>Cải thiện SLA &amp; Giảm chi phí</a:t>
                </a:r>
                <a:endParaRPr b="1" i="0" sz="1050" u="none" cap="none" strike="noStrike">
                  <a:solidFill>
                    <a:srgbClr val="10B981"/>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950"/>
                  <a:buFont typeface="Arial"/>
                  <a:buNone/>
                </a:pPr>
                <a:r>
                  <a:rPr b="0" i="0" lang="en" sz="950" u="none" cap="none" strike="noStrike">
                    <a:solidFill>
                      <a:srgbClr val="065F46"/>
                    </a:solidFill>
                    <a:latin typeface="Inter"/>
                    <a:ea typeface="Inter"/>
                    <a:cs typeface="Inter"/>
                    <a:sym typeface="Inter"/>
                  </a:rPr>
                  <a:t>Đề xuất các chiến lược tối ưu hóa nhằm cải thiện các cam kết mức độ dịch vụ (</a:t>
                </a:r>
                <a:r>
                  <a:rPr b="1" i="0" lang="en" sz="950" u="none" cap="none" strike="noStrike">
                    <a:solidFill>
                      <a:srgbClr val="065F46"/>
                    </a:solidFill>
                    <a:latin typeface="Inter"/>
                    <a:ea typeface="Inter"/>
                    <a:cs typeface="Inter"/>
                    <a:sym typeface="Inter"/>
                  </a:rPr>
                  <a:t>SLA</a:t>
                </a:r>
                <a:r>
                  <a:rPr b="0" i="0" lang="en" sz="950" u="none" cap="none" strike="noStrike">
                    <a:solidFill>
                      <a:srgbClr val="065F46"/>
                    </a:solidFill>
                    <a:latin typeface="Inter"/>
                    <a:ea typeface="Inter"/>
                    <a:cs typeface="Inter"/>
                    <a:sym typeface="Inter"/>
                  </a:rPr>
                  <a:t>) và giảm thiểu chi phí vận hành.</a:t>
                </a:r>
                <a:endParaRPr b="0" i="0" sz="950" u="none" cap="none" strike="noStrike">
                  <a:solidFill>
                    <a:srgbClr val="065F46"/>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950"/>
                  <a:buFont typeface="Arial"/>
                  <a:buNone/>
                </a:pPr>
                <a:r>
                  <a:rPr b="0" i="0" lang="en" sz="950" u="none" cap="none" strike="noStrike">
                    <a:solidFill>
                      <a:srgbClr val="065F46"/>
                    </a:solidFill>
                    <a:latin typeface="Inter"/>
                    <a:ea typeface="Inter"/>
                    <a:cs typeface="Inter"/>
                    <a:sym typeface="Inter"/>
                  </a:rPr>
                  <a:t>Đặc biệt chú trọng khắc phục triệt để chi phí phát sinh do các hoạt động lãng phí trong quy trình.</a:t>
                </a:r>
                <a:endParaRPr b="0" i="0" sz="950" u="none" cap="none" strike="noStrike">
                  <a:solidFill>
                    <a:srgbClr val="065F46"/>
                  </a:solidFill>
                  <a:latin typeface="Inter"/>
                  <a:ea typeface="Inter"/>
                  <a:cs typeface="Inter"/>
                  <a:sym typeface="Inter"/>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grpSp>
        <p:nvGrpSpPr>
          <p:cNvPr id="162" name="Google Shape;162;p18"/>
          <p:cNvGrpSpPr/>
          <p:nvPr/>
        </p:nvGrpSpPr>
        <p:grpSpPr>
          <a:xfrm>
            <a:off x="0" y="0"/>
            <a:ext cx="9144000" cy="5143500"/>
            <a:chOff x="0" y="0"/>
            <a:chExt cx="9144000" cy="5143500"/>
          </a:xfrm>
        </p:grpSpPr>
        <p:sp>
          <p:nvSpPr>
            <p:cNvPr id="163" name="Google Shape;163;p18"/>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64" name="Google Shape;164;p18"/>
            <p:cNvGrpSpPr/>
            <p:nvPr/>
          </p:nvGrpSpPr>
          <p:grpSpPr>
            <a:xfrm>
              <a:off x="8458200" y="381000"/>
              <a:ext cx="304800" cy="304800"/>
              <a:chOff x="0" y="0"/>
              <a:chExt cx="304800" cy="304800"/>
            </a:xfrm>
          </p:grpSpPr>
          <p:sp>
            <p:nvSpPr>
              <p:cNvPr id="165" name="Google Shape;165;p18"/>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8"/>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18"/>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68" name="Google Shape;168;p18"/>
            <p:cNvCxnSpPr/>
            <p:nvPr/>
          </p:nvCxnSpPr>
          <p:spPr>
            <a:xfrm>
              <a:off x="381000" y="104775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grpSp>
      <p:grpSp>
        <p:nvGrpSpPr>
          <p:cNvPr id="169" name="Google Shape;169;p18"/>
          <p:cNvGrpSpPr/>
          <p:nvPr/>
        </p:nvGrpSpPr>
        <p:grpSpPr>
          <a:xfrm>
            <a:off x="381000" y="381000"/>
            <a:ext cx="7620000" cy="571500"/>
            <a:chOff x="0" y="0"/>
            <a:chExt cx="7620000" cy="571500"/>
          </a:xfrm>
        </p:grpSpPr>
        <p:sp>
          <p:nvSpPr>
            <p:cNvPr id="170" name="Google Shape;170;p18"/>
            <p:cNvSpPr/>
            <p:nvPr/>
          </p:nvSpPr>
          <p:spPr>
            <a:xfrm>
              <a:off x="0" y="0"/>
              <a:ext cx="76200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18"/>
            <p:cNvSpPr txBox="1"/>
            <p:nvPr/>
          </p:nvSpPr>
          <p:spPr>
            <a:xfrm>
              <a:off x="0" y="0"/>
              <a:ext cx="76200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50"/>
                <a:buFont typeface="Arial"/>
                <a:buNone/>
              </a:pPr>
              <a:r>
                <a:rPr b="0" i="0" lang="en" sz="1850" u="none" cap="none" strike="noStrike">
                  <a:solidFill>
                    <a:srgbClr val="0F172A"/>
                  </a:solidFill>
                  <a:latin typeface="Inter ExtraBold"/>
                  <a:ea typeface="Inter ExtraBold"/>
                  <a:cs typeface="Inter ExtraBold"/>
                  <a:sym typeface="Inter ExtraBold"/>
                </a:rPr>
                <a:t>BỐI CẢNH DOANH NGHIỆP &amp; LUỒNG QUY TRÌNH</a:t>
              </a:r>
              <a:endParaRPr b="0" i="0" sz="185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00"/>
                </a:spcBef>
                <a:spcAft>
                  <a:spcPts val="300"/>
                </a:spcAft>
                <a:buClr>
                  <a:srgbClr val="000000"/>
                </a:buClr>
                <a:buSzPts val="1018"/>
                <a:buFont typeface="Arial"/>
                <a:buNone/>
              </a:pPr>
              <a:r>
                <a:rPr b="0" i="0" lang="en" sz="1018" u="none" cap="none" strike="noStrike">
                  <a:solidFill>
                    <a:srgbClr val="007B7C"/>
                  </a:solidFill>
                  <a:latin typeface="Inter SemiBold"/>
                  <a:ea typeface="Inter SemiBold"/>
                  <a:cs typeface="Inter SemiBold"/>
                  <a:sym typeface="Inter SemiBold"/>
                </a:rPr>
                <a:t>Mô hình sửa chữa thiết bị điện tử trực tuyến kết hợp điều phối logistics kỹ thuật viên tối ưu</a:t>
              </a:r>
              <a:endParaRPr b="0" i="0" sz="1018" u="none" cap="none" strike="noStrike">
                <a:solidFill>
                  <a:srgbClr val="0F172A"/>
                </a:solidFill>
                <a:latin typeface="Inter ExtraBold"/>
                <a:ea typeface="Inter ExtraBold"/>
                <a:cs typeface="Inter ExtraBold"/>
                <a:sym typeface="Inter ExtraBold"/>
              </a:endParaRPr>
            </a:p>
          </p:txBody>
        </p:sp>
      </p:grpSp>
      <p:grpSp>
        <p:nvGrpSpPr>
          <p:cNvPr id="172" name="Google Shape;172;p18"/>
          <p:cNvGrpSpPr/>
          <p:nvPr/>
        </p:nvGrpSpPr>
        <p:grpSpPr>
          <a:xfrm>
            <a:off x="381000" y="1285875"/>
            <a:ext cx="4095900" cy="3476700"/>
            <a:chOff x="0" y="0"/>
            <a:chExt cx="4095900" cy="3476700"/>
          </a:xfrm>
        </p:grpSpPr>
        <p:sp>
          <p:nvSpPr>
            <p:cNvPr id="173" name="Google Shape;173;p18"/>
            <p:cNvSpPr/>
            <p:nvPr/>
          </p:nvSpPr>
          <p:spPr>
            <a:xfrm>
              <a:off x="0" y="0"/>
              <a:ext cx="4095900" cy="3476700"/>
            </a:xfrm>
            <a:prstGeom prst="roundRect">
              <a:avLst>
                <a:gd fmla="val 219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18"/>
            <p:cNvSpPr/>
            <p:nvPr/>
          </p:nvSpPr>
          <p:spPr>
            <a:xfrm>
              <a:off x="0" y="0"/>
              <a:ext cx="4095900" cy="57300"/>
            </a:xfrm>
            <a:prstGeom prst="roundRect">
              <a:avLst>
                <a:gd fmla="val 49999"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5" name="Google Shape;175;p18"/>
            <p:cNvGrpSpPr/>
            <p:nvPr/>
          </p:nvGrpSpPr>
          <p:grpSpPr>
            <a:xfrm>
              <a:off x="228600" y="228600"/>
              <a:ext cx="3638700" cy="3019500"/>
              <a:chOff x="0" y="0"/>
              <a:chExt cx="3638700" cy="3019500"/>
            </a:xfrm>
          </p:grpSpPr>
          <p:sp>
            <p:nvSpPr>
              <p:cNvPr id="176" name="Google Shape;176;p18"/>
              <p:cNvSpPr/>
              <p:nvPr/>
            </p:nvSpPr>
            <p:spPr>
              <a:xfrm>
                <a:off x="0" y="0"/>
                <a:ext cx="3638700" cy="3019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8"/>
              <p:cNvSpPr txBox="1"/>
              <p:nvPr/>
            </p:nvSpPr>
            <p:spPr>
              <a:xfrm>
                <a:off x="0" y="0"/>
                <a:ext cx="3638700" cy="301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0F172A"/>
                    </a:solidFill>
                    <a:latin typeface="Inter"/>
                    <a:ea typeface="Inter"/>
                    <a:cs typeface="Inter"/>
                    <a:sym typeface="Inter"/>
                  </a:rPr>
                  <a:t>Bối cảnh &amp; Mô hình lai chéo</a:t>
                </a:r>
                <a:endParaRPr b="1" i="0" sz="1400" u="none" cap="none" strike="noStrike">
                  <a:solidFill>
                    <a:srgbClr val="0F172A"/>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1050"/>
                  <a:buFont typeface="Arial"/>
                  <a:buNone/>
                </a:pPr>
                <a:r>
                  <a:rPr b="1" i="0" lang="en" sz="1050" u="none" cap="none" strike="noStrike">
                    <a:solidFill>
                      <a:srgbClr val="007B7C"/>
                    </a:solidFill>
                    <a:latin typeface="Inter"/>
                    <a:ea typeface="Inter"/>
                    <a:cs typeface="Inter"/>
                    <a:sym typeface="Inter"/>
                  </a:rPr>
                  <a:t>Dịch vụ cốt lõi:</a:t>
                </a:r>
                <a:r>
                  <a:rPr b="1" i="0" lang="en" sz="1050" u="none" cap="none" strike="noStrike">
                    <a:solidFill>
                      <a:srgbClr val="0F172A"/>
                    </a:solidFill>
                    <a:latin typeface="Inter"/>
                    <a:ea typeface="Inter"/>
                    <a:cs typeface="Inter"/>
                    <a:sym typeface="Inter"/>
                  </a:rPr>
                  <a:t> </a:t>
                </a:r>
                <a:r>
                  <a:rPr b="0" i="0" lang="en" sz="1050" u="none" cap="none" strike="noStrike">
                    <a:solidFill>
                      <a:srgbClr val="475569"/>
                    </a:solidFill>
                    <a:latin typeface="Inter"/>
                    <a:ea typeface="Inter"/>
                    <a:cs typeface="Inter"/>
                    <a:sym typeface="Inter"/>
                  </a:rPr>
                  <a:t>Doanh nghiệp cung cấp dịch vụ sửa chữa, bảo trì máy lạnh qua hình thức đặt lịch trực tuyến.</a:t>
                </a:r>
                <a:endParaRPr b="1" i="0" sz="1050" u="none" cap="none" strike="noStrike">
                  <a:solidFill>
                    <a:srgbClr val="0F172A"/>
                  </a:solidFill>
                  <a:latin typeface="Inter"/>
                  <a:ea typeface="Inter"/>
                  <a:cs typeface="Inter"/>
                  <a:sym typeface="Inter"/>
                </a:endParaRPr>
              </a:p>
              <a:p>
                <a:pPr indent="0" lvl="0" marL="0" marR="0" rtl="0" algn="l">
                  <a:lnSpc>
                    <a:spcPct val="100000"/>
                  </a:lnSpc>
                  <a:spcBef>
                    <a:spcPts val="600"/>
                  </a:spcBef>
                  <a:spcAft>
                    <a:spcPts val="0"/>
                  </a:spcAft>
                  <a:buClr>
                    <a:srgbClr val="000000"/>
                  </a:buClr>
                  <a:buSzPts val="1050"/>
                  <a:buFont typeface="Arial"/>
                  <a:buNone/>
                </a:pPr>
                <a:r>
                  <a:rPr b="0" i="0" lang="en" sz="1050" u="none" cap="none" strike="noStrike">
                    <a:solidFill>
                      <a:srgbClr val="475569"/>
                    </a:solidFill>
                    <a:latin typeface="Inter"/>
                    <a:ea typeface="Inter"/>
                    <a:cs typeface="Inter"/>
                    <a:sym typeface="Inter"/>
                  </a:rPr>
                  <a:t>Mô hình vận hành đột phá là sự giao thoa, kết hợp chặt chẽ năng lực từ hai mô hình tham chiếu lớn trên thị trường:</a:t>
                </a:r>
                <a:endParaRPr b="1" i="0" sz="105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950"/>
                  <a:buFont typeface="Arial"/>
                  <a:buNone/>
                </a:pPr>
                <a:r>
                  <a:rPr b="1" i="0" lang="en" sz="950" u="none" cap="none" strike="noStrike">
                    <a:solidFill>
                      <a:srgbClr val="007B7C"/>
                    </a:solidFill>
                    <a:highlight>
                      <a:srgbClr val="F8FAFC"/>
                    </a:highlight>
                    <a:latin typeface="Inter"/>
                    <a:ea typeface="Inter"/>
                    <a:cs typeface="Inter"/>
                    <a:sym typeface="Inter"/>
                  </a:rPr>
                  <a:t>01. DỊCH VỤ TẠI CHỖ CHUYÊN NGHIỆP</a:t>
                </a:r>
                <a:endParaRPr b="1" i="0" sz="95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1050"/>
                  <a:buFont typeface="Arial"/>
                  <a:buNone/>
                </a:pPr>
                <a:r>
                  <a:rPr b="0" i="0" lang="en" sz="1050" u="none" cap="none" strike="noStrike">
                    <a:solidFill>
                      <a:srgbClr val="475569"/>
                    </a:solidFill>
                    <a:latin typeface="Inter"/>
                    <a:ea typeface="Inter"/>
                    <a:cs typeface="Inter"/>
                    <a:sym typeface="Inter"/>
                  </a:rPr>
                  <a:t>Có đội ngũ KTV được đào tạo chuyên nghiệp và có hệ thống cố vấn kỹ thuật cao</a:t>
                </a:r>
                <a:endParaRPr b="1" i="0" sz="1050" u="none" cap="none" strike="noStrike">
                  <a:solidFill>
                    <a:srgbClr val="0F172A"/>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950"/>
                  <a:buFont typeface="Arial"/>
                  <a:buNone/>
                </a:pPr>
                <a:r>
                  <a:rPr b="1" i="0" lang="en" sz="950" u="none" cap="none" strike="noStrike">
                    <a:solidFill>
                      <a:srgbClr val="007B7C"/>
                    </a:solidFill>
                    <a:highlight>
                      <a:srgbClr val="F8FAFC"/>
                    </a:highlight>
                    <a:latin typeface="Inter"/>
                    <a:ea typeface="Inter"/>
                    <a:cs typeface="Inter"/>
                    <a:sym typeface="Inter"/>
                  </a:rPr>
                  <a:t>02. LOGISTICS VÀ ĐIỀU PHỐI THÔNG MINH</a:t>
                </a:r>
                <a:endParaRPr b="1" i="0" sz="950" u="none" cap="none" strike="noStrike">
                  <a:solidFill>
                    <a:srgbClr val="0F172A"/>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1050"/>
                  <a:buFont typeface="Arial"/>
                  <a:buNone/>
                </a:pPr>
                <a:r>
                  <a:rPr b="0" i="0" lang="en" sz="1050" u="none" cap="none" strike="noStrike">
                    <a:solidFill>
                      <a:srgbClr val="475569"/>
                    </a:solidFill>
                    <a:latin typeface="Inter"/>
                    <a:ea typeface="Inter"/>
                    <a:cs typeface="Inter"/>
                    <a:sym typeface="Inter"/>
                  </a:rPr>
                  <a:t>Vận hành hệ thống quản trị logistics, tối ưu hóa tuyến đường điều phối kỹ thuật viên tức thời đến khách hàng.</a:t>
                </a:r>
                <a:endParaRPr b="1" i="0" sz="1050" u="none" cap="none" strike="noStrike">
                  <a:solidFill>
                    <a:srgbClr val="0F172A"/>
                  </a:solidFill>
                  <a:latin typeface="Inter"/>
                  <a:ea typeface="Inter"/>
                  <a:cs typeface="Inter"/>
                  <a:sym typeface="Inter"/>
                </a:endParaRPr>
              </a:p>
            </p:txBody>
          </p:sp>
        </p:grpSp>
      </p:grpSp>
      <p:grpSp>
        <p:nvGrpSpPr>
          <p:cNvPr id="178" name="Google Shape;178;p18"/>
          <p:cNvGrpSpPr/>
          <p:nvPr/>
        </p:nvGrpSpPr>
        <p:grpSpPr>
          <a:xfrm>
            <a:off x="4667250" y="1285875"/>
            <a:ext cx="4095900" cy="3476700"/>
            <a:chOff x="0" y="0"/>
            <a:chExt cx="4095900" cy="3476700"/>
          </a:xfrm>
        </p:grpSpPr>
        <p:sp>
          <p:nvSpPr>
            <p:cNvPr id="179" name="Google Shape;179;p18"/>
            <p:cNvSpPr/>
            <p:nvPr/>
          </p:nvSpPr>
          <p:spPr>
            <a:xfrm>
              <a:off x="0" y="0"/>
              <a:ext cx="4095900" cy="3476700"/>
            </a:xfrm>
            <a:prstGeom prst="roundRect">
              <a:avLst>
                <a:gd fmla="val 219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8"/>
            <p:cNvSpPr/>
            <p:nvPr/>
          </p:nvSpPr>
          <p:spPr>
            <a:xfrm>
              <a:off x="0" y="0"/>
              <a:ext cx="4095900" cy="57300"/>
            </a:xfrm>
            <a:prstGeom prst="roundRect">
              <a:avLst>
                <a:gd fmla="val 49999"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1" name="Google Shape;181;p18"/>
            <p:cNvGrpSpPr/>
            <p:nvPr/>
          </p:nvGrpSpPr>
          <p:grpSpPr>
            <a:xfrm>
              <a:off x="228600" y="228600"/>
              <a:ext cx="3638700" cy="3019500"/>
              <a:chOff x="0" y="0"/>
              <a:chExt cx="3638700" cy="3019500"/>
            </a:xfrm>
          </p:grpSpPr>
          <p:sp>
            <p:nvSpPr>
              <p:cNvPr id="182" name="Google Shape;182;p18"/>
              <p:cNvSpPr/>
              <p:nvPr/>
            </p:nvSpPr>
            <p:spPr>
              <a:xfrm>
                <a:off x="0" y="0"/>
                <a:ext cx="3638700" cy="3019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8"/>
              <p:cNvSpPr txBox="1"/>
              <p:nvPr/>
            </p:nvSpPr>
            <p:spPr>
              <a:xfrm>
                <a:off x="0" y="0"/>
                <a:ext cx="3638700" cy="301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95"/>
                  <a:buFont typeface="Arial"/>
                  <a:buNone/>
                </a:pPr>
                <a:r>
                  <a:rPr b="1" i="0" lang="en" sz="1295" u="none" cap="none" strike="noStrike">
                    <a:solidFill>
                      <a:srgbClr val="0F172A"/>
                    </a:solidFill>
                    <a:latin typeface="Inter"/>
                    <a:ea typeface="Inter"/>
                    <a:cs typeface="Inter"/>
                    <a:sym typeface="Inter"/>
                  </a:rPr>
                  <a:t>Quy trình vận hành 4 bước</a:t>
                </a:r>
                <a:endParaRPr b="1" i="0" sz="1295" u="none" cap="none" strike="noStrike">
                  <a:solidFill>
                    <a:srgbClr val="0F172A"/>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833"/>
                  <a:buFont typeface="Arial"/>
                  <a:buNone/>
                </a:pPr>
                <a:r>
                  <a:rPr b="1" i="0" lang="en" sz="833" u="none" cap="none" strike="noStrike">
                    <a:solidFill>
                      <a:srgbClr val="10B981"/>
                    </a:solidFill>
                    <a:latin typeface="Inter"/>
                    <a:ea typeface="Inter"/>
                    <a:cs typeface="Inter"/>
                    <a:sym typeface="Inter"/>
                  </a:rPr>
                  <a:t>01</a:t>
                </a:r>
                <a:r>
                  <a:rPr b="1" i="0" lang="en" sz="833" u="none" cap="none" strike="noStrike">
                    <a:solidFill>
                      <a:srgbClr val="0F172A"/>
                    </a:solidFill>
                    <a:latin typeface="Inter"/>
                    <a:ea typeface="Inter"/>
                    <a:cs typeface="Inter"/>
                    <a:sym typeface="Inter"/>
                  </a:rPr>
                  <a:t> </a:t>
                </a:r>
                <a:r>
                  <a:rPr b="1" i="0" lang="en" sz="971" u="none" cap="none" strike="noStrike">
                    <a:solidFill>
                      <a:srgbClr val="0F172A"/>
                    </a:solidFill>
                    <a:latin typeface="Inter"/>
                    <a:ea typeface="Inter"/>
                    <a:cs typeface="Inter"/>
                    <a:sym typeface="Inter"/>
                  </a:rPr>
                  <a:t>Đặt lịch trực tuyến</a:t>
                </a:r>
                <a:endParaRPr b="1" i="0" sz="833" u="none" cap="none" strike="noStrike">
                  <a:solidFill>
                    <a:srgbClr val="0F172A"/>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879"/>
                  <a:buFont typeface="Arial"/>
                  <a:buNone/>
                </a:pPr>
                <a:r>
                  <a:rPr b="0" i="0" lang="en" sz="879" u="none" cap="none" strike="noStrike">
                    <a:solidFill>
                      <a:srgbClr val="475569"/>
                    </a:solidFill>
                    <a:latin typeface="Inter"/>
                    <a:ea typeface="Inter"/>
                    <a:cs typeface="Inter"/>
                    <a:sym typeface="Inter"/>
                  </a:rPr>
                  <a:t>Khách hàng dễ dàng thực hiện đặt lịch dịch vụ thông qua ứng dụng di động hoặc liên hệ trực tiếp tổng đài chăm sóc khách hàng (Call Center).</a:t>
                </a:r>
                <a:endParaRPr b="1" i="0" sz="879" u="none" cap="none" strike="noStrike">
                  <a:solidFill>
                    <a:srgbClr val="0F172A"/>
                  </a:solidFill>
                  <a:latin typeface="Inter"/>
                  <a:ea typeface="Inter"/>
                  <a:cs typeface="Inter"/>
                  <a:sym typeface="Inter"/>
                </a:endParaRPr>
              </a:p>
              <a:p>
                <a:pPr indent="0" lvl="0" marL="0" marR="0" rtl="0" algn="l">
                  <a:lnSpc>
                    <a:spcPct val="100000"/>
                  </a:lnSpc>
                  <a:spcBef>
                    <a:spcPts val="800"/>
                  </a:spcBef>
                  <a:spcAft>
                    <a:spcPts val="0"/>
                  </a:spcAft>
                  <a:buClr>
                    <a:srgbClr val="000000"/>
                  </a:buClr>
                  <a:buSzPts val="833"/>
                  <a:buFont typeface="Arial"/>
                  <a:buNone/>
                </a:pPr>
                <a:r>
                  <a:rPr b="1" i="0" lang="en" sz="833" u="none" cap="none" strike="noStrike">
                    <a:solidFill>
                      <a:srgbClr val="0284C7"/>
                    </a:solidFill>
                    <a:latin typeface="Inter"/>
                    <a:ea typeface="Inter"/>
                    <a:cs typeface="Inter"/>
                    <a:sym typeface="Inter"/>
                  </a:rPr>
                  <a:t>02</a:t>
                </a:r>
                <a:r>
                  <a:rPr b="1" i="0" lang="en" sz="833" u="none" cap="none" strike="noStrike">
                    <a:solidFill>
                      <a:srgbClr val="0F172A"/>
                    </a:solidFill>
                    <a:latin typeface="Inter"/>
                    <a:ea typeface="Inter"/>
                    <a:cs typeface="Inter"/>
                    <a:sym typeface="Inter"/>
                  </a:rPr>
                  <a:t> </a:t>
                </a:r>
                <a:r>
                  <a:rPr b="1" i="0" lang="en" sz="971" u="none" cap="none" strike="noStrike">
                    <a:solidFill>
                      <a:srgbClr val="0F172A"/>
                    </a:solidFill>
                    <a:latin typeface="Inter"/>
                    <a:ea typeface="Inter"/>
                    <a:cs typeface="Inter"/>
                    <a:sym typeface="Inter"/>
                  </a:rPr>
                  <a:t>Xử lý &amp; Điều phối</a:t>
                </a:r>
                <a:endParaRPr b="1" i="0" sz="833" u="none" cap="none" strike="noStrike">
                  <a:solidFill>
                    <a:srgbClr val="0F172A"/>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879"/>
                  <a:buFont typeface="Arial"/>
                  <a:buNone/>
                </a:pPr>
                <a:r>
                  <a:rPr b="0" i="0" lang="en" sz="879" u="none" cap="none" strike="noStrike">
                    <a:solidFill>
                      <a:srgbClr val="475569"/>
                    </a:solidFill>
                    <a:latin typeface="Inter"/>
                    <a:ea typeface="Inter"/>
                    <a:cs typeface="Inter"/>
                    <a:sym typeface="Inter"/>
                  </a:rPr>
                  <a:t>Hệ thống kết hợp cùng Customer Service xử lý dữ liệu và điều phối kỹ thuật viên (KTV) phù hợp nhất theo khu vực của khách hàng.</a:t>
                </a:r>
                <a:endParaRPr b="1" i="0" sz="879" u="none" cap="none" strike="noStrike">
                  <a:solidFill>
                    <a:srgbClr val="0F172A"/>
                  </a:solidFill>
                  <a:latin typeface="Inter"/>
                  <a:ea typeface="Inter"/>
                  <a:cs typeface="Inter"/>
                  <a:sym typeface="Inter"/>
                </a:endParaRPr>
              </a:p>
              <a:p>
                <a:pPr indent="0" lvl="0" marL="0" marR="0" rtl="0" algn="l">
                  <a:lnSpc>
                    <a:spcPct val="100000"/>
                  </a:lnSpc>
                  <a:spcBef>
                    <a:spcPts val="800"/>
                  </a:spcBef>
                  <a:spcAft>
                    <a:spcPts val="0"/>
                  </a:spcAft>
                  <a:buClr>
                    <a:srgbClr val="000000"/>
                  </a:buClr>
                  <a:buSzPts val="833"/>
                  <a:buFont typeface="Arial"/>
                  <a:buNone/>
                </a:pPr>
                <a:r>
                  <a:rPr b="1" i="0" lang="en" sz="833" u="none" cap="none" strike="noStrike">
                    <a:solidFill>
                      <a:srgbClr val="007B7C"/>
                    </a:solidFill>
                    <a:latin typeface="Inter"/>
                    <a:ea typeface="Inter"/>
                    <a:cs typeface="Inter"/>
                    <a:sym typeface="Inter"/>
                  </a:rPr>
                  <a:t>03</a:t>
                </a:r>
                <a:r>
                  <a:rPr b="1" i="0" lang="en" sz="833" u="none" cap="none" strike="noStrike">
                    <a:solidFill>
                      <a:srgbClr val="0F172A"/>
                    </a:solidFill>
                    <a:latin typeface="Inter"/>
                    <a:ea typeface="Inter"/>
                    <a:cs typeface="Inter"/>
                    <a:sym typeface="Inter"/>
                  </a:rPr>
                  <a:t> </a:t>
                </a:r>
                <a:r>
                  <a:rPr b="1" i="0" lang="en" sz="971" u="none" cap="none" strike="noStrike">
                    <a:solidFill>
                      <a:srgbClr val="0F172A"/>
                    </a:solidFill>
                    <a:latin typeface="Inter"/>
                    <a:ea typeface="Inter"/>
                    <a:cs typeface="Inter"/>
                    <a:sym typeface="Inter"/>
                  </a:rPr>
                  <a:t>Sửa chữa tại chỗ</a:t>
                </a:r>
                <a:endParaRPr b="1" i="0" sz="833" u="none" cap="none" strike="noStrike">
                  <a:solidFill>
                    <a:srgbClr val="0F172A"/>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879"/>
                  <a:buFont typeface="Arial"/>
                  <a:buNone/>
                </a:pPr>
                <a:r>
                  <a:rPr b="0" i="0" lang="en" sz="879" u="none" cap="none" strike="noStrike">
                    <a:solidFill>
                      <a:srgbClr val="475569"/>
                    </a:solidFill>
                    <a:latin typeface="Inter"/>
                    <a:ea typeface="Inter"/>
                    <a:cs typeface="Inter"/>
                    <a:sym typeface="Inter"/>
                  </a:rPr>
                  <a:t>Kỹ thuật viên tiếp nhận thông tin yêu cầu, đến tận nơi để kiểm tra, chẩn đoán xác thực và sửa chữa thiết bị trực tiếp tại hiện trường.</a:t>
                </a:r>
                <a:endParaRPr b="1" i="0" sz="879" u="none" cap="none" strike="noStrike">
                  <a:solidFill>
                    <a:srgbClr val="0F172A"/>
                  </a:solidFill>
                  <a:latin typeface="Inter"/>
                  <a:ea typeface="Inter"/>
                  <a:cs typeface="Inter"/>
                  <a:sym typeface="Inter"/>
                </a:endParaRPr>
              </a:p>
              <a:p>
                <a:pPr indent="0" lvl="0" marL="0" marR="0" rtl="0" algn="l">
                  <a:lnSpc>
                    <a:spcPct val="100000"/>
                  </a:lnSpc>
                  <a:spcBef>
                    <a:spcPts val="800"/>
                  </a:spcBef>
                  <a:spcAft>
                    <a:spcPts val="0"/>
                  </a:spcAft>
                  <a:buClr>
                    <a:srgbClr val="000000"/>
                  </a:buClr>
                  <a:buSzPts val="833"/>
                  <a:buFont typeface="Arial"/>
                  <a:buNone/>
                </a:pPr>
                <a:r>
                  <a:rPr b="1" i="0" lang="en" sz="833" u="none" cap="none" strike="noStrike">
                    <a:solidFill>
                      <a:srgbClr val="E11D48"/>
                    </a:solidFill>
                    <a:latin typeface="Inter"/>
                    <a:ea typeface="Inter"/>
                    <a:cs typeface="Inter"/>
                    <a:sym typeface="Inter"/>
                  </a:rPr>
                  <a:t>04</a:t>
                </a:r>
                <a:r>
                  <a:rPr b="1" i="0" lang="en" sz="833" u="none" cap="none" strike="noStrike">
                    <a:solidFill>
                      <a:srgbClr val="0F172A"/>
                    </a:solidFill>
                    <a:latin typeface="Inter"/>
                    <a:ea typeface="Inter"/>
                    <a:cs typeface="Inter"/>
                    <a:sym typeface="Inter"/>
                  </a:rPr>
                  <a:t> </a:t>
                </a:r>
                <a:r>
                  <a:rPr b="1" i="0" lang="en" sz="971" u="none" cap="none" strike="noStrike">
                    <a:solidFill>
                      <a:srgbClr val="0F172A"/>
                    </a:solidFill>
                    <a:latin typeface="Inter"/>
                    <a:ea typeface="Inter"/>
                    <a:cs typeface="Inter"/>
                    <a:sym typeface="Inter"/>
                  </a:rPr>
                  <a:t>Nghiệm thu &amp; Thanh toán</a:t>
                </a:r>
                <a:endParaRPr b="1" i="0" sz="833" u="none" cap="none" strike="noStrike">
                  <a:solidFill>
                    <a:srgbClr val="0F172A"/>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879"/>
                  <a:buFont typeface="Arial"/>
                  <a:buNone/>
                </a:pPr>
                <a:r>
                  <a:rPr b="0" i="0" lang="en" sz="879" u="none" cap="none" strike="noStrike">
                    <a:solidFill>
                      <a:srgbClr val="475569"/>
                    </a:solidFill>
                    <a:latin typeface="Inter"/>
                    <a:ea typeface="Inter"/>
                    <a:cs typeface="Inter"/>
                    <a:sym typeface="Inter"/>
                  </a:rPr>
                  <a:t>Hoàn tất quy trình dịch vụ bằng các bước nghiệm thu kỹ thuật, khách hàng thanh toán và thực hiện đánh giá phản hồi chất lượng.</a:t>
                </a:r>
                <a:endParaRPr b="1" i="0" sz="879" u="none" cap="none" strike="noStrike">
                  <a:solidFill>
                    <a:srgbClr val="0F172A"/>
                  </a:solidFill>
                  <a:latin typeface="Inter"/>
                  <a:ea typeface="Inter"/>
                  <a:cs typeface="Inter"/>
                  <a:sym typeface="Inter"/>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9"/>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9" name="Google Shape;189;p19"/>
          <p:cNvGrpSpPr/>
          <p:nvPr/>
        </p:nvGrpSpPr>
        <p:grpSpPr>
          <a:xfrm>
            <a:off x="8458200" y="381000"/>
            <a:ext cx="304800" cy="304800"/>
            <a:chOff x="0" y="0"/>
            <a:chExt cx="304800" cy="304800"/>
          </a:xfrm>
        </p:grpSpPr>
        <p:sp>
          <p:nvSpPr>
            <p:cNvPr id="190" name="Google Shape;190;p19"/>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19"/>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9"/>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3" name="Google Shape;193;p19"/>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194" name="Google Shape;194;p19"/>
          <p:cNvSpPr txBox="1"/>
          <p:nvPr/>
        </p:nvSpPr>
        <p:spPr>
          <a:xfrm>
            <a:off x="381000" y="238125"/>
            <a:ext cx="7620000" cy="85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0" i="0" lang="en" sz="2400" u="none" cap="none" strike="noStrike">
                <a:solidFill>
                  <a:srgbClr val="0F172A"/>
                </a:solidFill>
                <a:latin typeface="Inter ExtraBold"/>
                <a:ea typeface="Inter ExtraBold"/>
                <a:cs typeface="Inter ExtraBold"/>
                <a:sym typeface="Inter ExtraBold"/>
              </a:rPr>
              <a:t>Sơ đồ kiến trúc quy trình tổng thể</a:t>
            </a:r>
            <a:endParaRPr b="0" i="0" sz="24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00"/>
              </a:spcBef>
              <a:spcAft>
                <a:spcPts val="0"/>
              </a:spcAft>
              <a:buClr>
                <a:srgbClr val="000000"/>
              </a:buClr>
              <a:buSzPts val="1300"/>
              <a:buFont typeface="Arial"/>
              <a:buNone/>
            </a:pPr>
            <a:r>
              <a:rPr b="0" i="0" lang="en" sz="1300" u="none" cap="none" strike="noStrike">
                <a:solidFill>
                  <a:srgbClr val="007B7C"/>
                </a:solidFill>
                <a:latin typeface="Inter SemiBold"/>
                <a:ea typeface="Inter SemiBold"/>
                <a:cs typeface="Inter SemiBold"/>
                <a:sym typeface="Inter SemiBold"/>
              </a:rPr>
              <a:t>Toàn bộ hoạt động của doanh nghiệp được tổ chức thành 10 quy trình, chia thành 3 nhóm chính</a:t>
            </a:r>
            <a:endParaRPr b="0" i="0" sz="1300" u="none" cap="none" strike="noStrike">
              <a:solidFill>
                <a:srgbClr val="007B7C"/>
              </a:solidFill>
              <a:latin typeface="Inter SemiBold"/>
              <a:ea typeface="Inter SemiBold"/>
              <a:cs typeface="Inter SemiBold"/>
              <a:sym typeface="Inter SemiBold"/>
            </a:endParaRPr>
          </a:p>
        </p:txBody>
      </p:sp>
      <p:grpSp>
        <p:nvGrpSpPr>
          <p:cNvPr id="195" name="Google Shape;195;p19"/>
          <p:cNvGrpSpPr/>
          <p:nvPr/>
        </p:nvGrpSpPr>
        <p:grpSpPr>
          <a:xfrm>
            <a:off x="381000" y="1333500"/>
            <a:ext cx="8382000" cy="952500"/>
            <a:chOff x="0" y="0"/>
            <a:chExt cx="8382000" cy="952500"/>
          </a:xfrm>
        </p:grpSpPr>
        <p:sp>
          <p:nvSpPr>
            <p:cNvPr id="196" name="Google Shape;196;p19"/>
            <p:cNvSpPr/>
            <p:nvPr/>
          </p:nvSpPr>
          <p:spPr>
            <a:xfrm>
              <a:off x="0" y="0"/>
              <a:ext cx="8382000" cy="952500"/>
            </a:xfrm>
            <a:prstGeom prst="roundRect">
              <a:avLst>
                <a:gd fmla="val 6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19"/>
            <p:cNvSpPr/>
            <p:nvPr/>
          </p:nvSpPr>
          <p:spPr>
            <a:xfrm>
              <a:off x="0" y="0"/>
              <a:ext cx="1524000" cy="952500"/>
            </a:xfrm>
            <a:prstGeom prst="roundRect">
              <a:avLst>
                <a:gd fmla="val 6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19"/>
            <p:cNvSpPr/>
            <p:nvPr/>
          </p:nvSpPr>
          <p:spPr>
            <a:xfrm>
              <a:off x="1428750" y="0"/>
              <a:ext cx="95400" cy="952500"/>
            </a:xfrm>
            <a:prstGeom prst="rect">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19"/>
            <p:cNvSpPr txBox="1"/>
            <p:nvPr/>
          </p:nvSpPr>
          <p:spPr>
            <a:xfrm>
              <a:off x="95250" y="0"/>
              <a:ext cx="13335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Quản lý</a:t>
              </a:r>
              <a:endParaRPr b="0" i="0" sz="1000" u="none" cap="none" strike="noStrike">
                <a:solidFill>
                  <a:srgbClr val="FFFFFF"/>
                </a:solidFill>
                <a:latin typeface="Inter ExtraBold"/>
                <a:ea typeface="Inter ExtraBold"/>
                <a:cs typeface="Inter ExtraBold"/>
                <a:sym typeface="Inter ExtraBold"/>
              </a:endParaRPr>
            </a:p>
            <a:p>
              <a:pPr indent="0" lvl="0" marL="0" marR="0" rtl="0" algn="ctr">
                <a:lnSpc>
                  <a:spcPct val="100000"/>
                </a:lnSpc>
                <a:spcBef>
                  <a:spcPts val="300"/>
                </a:spcBef>
                <a:spcAft>
                  <a:spcPts val="0"/>
                </a:spcAft>
                <a:buClr>
                  <a:srgbClr val="000000"/>
                </a:buClr>
                <a:buSzPts val="750"/>
                <a:buFont typeface="Arial"/>
                <a:buNone/>
              </a:pPr>
              <a:r>
                <a:rPr b="0" i="0" lang="en" sz="750" u="none" cap="none" strike="noStrike">
                  <a:solidFill>
                    <a:srgbClr val="94A3B8"/>
                  </a:solidFill>
                  <a:latin typeface="Inter Medium"/>
                  <a:ea typeface="Inter Medium"/>
                  <a:cs typeface="Inter Medium"/>
                  <a:sym typeface="Inter Medium"/>
                </a:rPr>
                <a:t>Management</a:t>
              </a:r>
              <a:endParaRPr b="0" i="0" sz="750" u="none" cap="none" strike="noStrike">
                <a:solidFill>
                  <a:srgbClr val="94A3B8"/>
                </a:solidFill>
                <a:latin typeface="Inter Medium"/>
                <a:ea typeface="Inter Medium"/>
                <a:cs typeface="Inter Medium"/>
                <a:sym typeface="Inter Medium"/>
              </a:endParaRPr>
            </a:p>
          </p:txBody>
        </p:sp>
        <p:grpSp>
          <p:nvGrpSpPr>
            <p:cNvPr id="200" name="Google Shape;200;p19"/>
            <p:cNvGrpSpPr/>
            <p:nvPr/>
          </p:nvGrpSpPr>
          <p:grpSpPr>
            <a:xfrm>
              <a:off x="1714500" y="142875"/>
              <a:ext cx="2000100" cy="666900"/>
              <a:chOff x="0" y="0"/>
              <a:chExt cx="2000100" cy="666900"/>
            </a:xfrm>
          </p:grpSpPr>
          <p:sp>
            <p:nvSpPr>
              <p:cNvPr id="201" name="Google Shape;201;p19"/>
              <p:cNvSpPr/>
              <p:nvPr/>
            </p:nvSpPr>
            <p:spPr>
              <a:xfrm>
                <a:off x="0" y="0"/>
                <a:ext cx="20001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19"/>
              <p:cNvSpPr/>
              <p:nvPr/>
            </p:nvSpPr>
            <p:spPr>
              <a:xfrm>
                <a:off x="0" y="0"/>
                <a:ext cx="428700" cy="666900"/>
              </a:xfrm>
              <a:prstGeom prst="roundRect">
                <a:avLst>
                  <a:gd fmla="val 8887" name="adj"/>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19"/>
              <p:cNvSpPr/>
              <p:nvPr/>
            </p:nvSpPr>
            <p:spPr>
              <a:xfrm>
                <a:off x="381000" y="0"/>
                <a:ext cx="47700" cy="666900"/>
              </a:xfrm>
              <a:prstGeom prst="rect">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19"/>
              <p:cNvSpPr txBox="1"/>
              <p:nvPr/>
            </p:nvSpPr>
            <p:spPr>
              <a:xfrm>
                <a:off x="0" y="0"/>
                <a:ext cx="4287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M01</a:t>
                </a:r>
                <a:endParaRPr b="0" i="0" sz="1100" u="none" cap="none" strike="noStrike">
                  <a:solidFill>
                    <a:srgbClr val="FFFFFF"/>
                  </a:solidFill>
                  <a:latin typeface="Inter ExtraBold"/>
                  <a:ea typeface="Inter ExtraBold"/>
                  <a:cs typeface="Inter ExtraBold"/>
                  <a:sym typeface="Inter ExtraBold"/>
                </a:endParaRPr>
              </a:p>
            </p:txBody>
          </p:sp>
          <p:sp>
            <p:nvSpPr>
              <p:cNvPr id="205" name="Google Shape;205;p19"/>
              <p:cNvSpPr txBox="1"/>
              <p:nvPr/>
            </p:nvSpPr>
            <p:spPr>
              <a:xfrm>
                <a:off x="523875" y="0"/>
                <a:ext cx="13812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0F172A"/>
                    </a:solidFill>
                    <a:latin typeface="Inter SemiBold"/>
                    <a:ea typeface="Inter SemiBold"/>
                    <a:cs typeface="Inter SemiBold"/>
                    <a:sym typeface="Inter SemiBold"/>
                  </a:rPr>
                  <a:t>Quản lý bảo hành thiết bị</a:t>
                </a:r>
                <a:endParaRPr b="0" i="0" sz="850" u="none" cap="none" strike="noStrike">
                  <a:solidFill>
                    <a:srgbClr val="0F172A"/>
                  </a:solidFill>
                  <a:latin typeface="Inter SemiBold"/>
                  <a:ea typeface="Inter SemiBold"/>
                  <a:cs typeface="Inter SemiBold"/>
                  <a:sym typeface="Inter SemiBold"/>
                </a:endParaRPr>
              </a:p>
            </p:txBody>
          </p:sp>
        </p:grpSp>
        <p:grpSp>
          <p:nvGrpSpPr>
            <p:cNvPr id="206" name="Google Shape;206;p19"/>
            <p:cNvGrpSpPr/>
            <p:nvPr/>
          </p:nvGrpSpPr>
          <p:grpSpPr>
            <a:xfrm>
              <a:off x="3857625" y="142875"/>
              <a:ext cx="2000100" cy="666900"/>
              <a:chOff x="0" y="0"/>
              <a:chExt cx="2000100" cy="666900"/>
            </a:xfrm>
          </p:grpSpPr>
          <p:sp>
            <p:nvSpPr>
              <p:cNvPr id="207" name="Google Shape;207;p19"/>
              <p:cNvSpPr/>
              <p:nvPr/>
            </p:nvSpPr>
            <p:spPr>
              <a:xfrm>
                <a:off x="0" y="0"/>
                <a:ext cx="20001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19"/>
              <p:cNvSpPr/>
              <p:nvPr/>
            </p:nvSpPr>
            <p:spPr>
              <a:xfrm>
                <a:off x="0" y="0"/>
                <a:ext cx="428700" cy="666900"/>
              </a:xfrm>
              <a:prstGeom prst="roundRect">
                <a:avLst>
                  <a:gd fmla="val 8887" name="adj"/>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19"/>
              <p:cNvSpPr/>
              <p:nvPr/>
            </p:nvSpPr>
            <p:spPr>
              <a:xfrm>
                <a:off x="381000" y="0"/>
                <a:ext cx="47700" cy="666900"/>
              </a:xfrm>
              <a:prstGeom prst="rect">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19"/>
              <p:cNvSpPr txBox="1"/>
              <p:nvPr/>
            </p:nvSpPr>
            <p:spPr>
              <a:xfrm>
                <a:off x="0" y="0"/>
                <a:ext cx="4287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M02</a:t>
                </a:r>
                <a:endParaRPr b="0" i="0" sz="1100" u="none" cap="none" strike="noStrike">
                  <a:solidFill>
                    <a:srgbClr val="FFFFFF"/>
                  </a:solidFill>
                  <a:latin typeface="Inter ExtraBold"/>
                  <a:ea typeface="Inter ExtraBold"/>
                  <a:cs typeface="Inter ExtraBold"/>
                  <a:sym typeface="Inter ExtraBold"/>
                </a:endParaRPr>
              </a:p>
            </p:txBody>
          </p:sp>
          <p:sp>
            <p:nvSpPr>
              <p:cNvPr id="211" name="Google Shape;211;p19"/>
              <p:cNvSpPr txBox="1"/>
              <p:nvPr/>
            </p:nvSpPr>
            <p:spPr>
              <a:xfrm>
                <a:off x="523875" y="0"/>
                <a:ext cx="13812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0F172A"/>
                    </a:solidFill>
                    <a:latin typeface="Inter SemiBold"/>
                    <a:ea typeface="Inter SemiBold"/>
                    <a:cs typeface="Inter SemiBold"/>
                    <a:sym typeface="Inter SemiBold"/>
                  </a:rPr>
                  <a:t>Quản lý KTV</a:t>
                </a:r>
                <a:endParaRPr b="0" i="0" sz="850" u="none" cap="none" strike="noStrike">
                  <a:solidFill>
                    <a:srgbClr val="0F172A"/>
                  </a:solidFill>
                  <a:latin typeface="Inter SemiBold"/>
                  <a:ea typeface="Inter SemiBold"/>
                  <a:cs typeface="Inter SemiBold"/>
                  <a:sym typeface="Inter SemiBold"/>
                </a:endParaRPr>
              </a:p>
            </p:txBody>
          </p:sp>
        </p:grpSp>
        <p:grpSp>
          <p:nvGrpSpPr>
            <p:cNvPr id="212" name="Google Shape;212;p19"/>
            <p:cNvGrpSpPr/>
            <p:nvPr/>
          </p:nvGrpSpPr>
          <p:grpSpPr>
            <a:xfrm>
              <a:off x="6000750" y="142875"/>
              <a:ext cx="2000100" cy="666900"/>
              <a:chOff x="0" y="0"/>
              <a:chExt cx="2000100" cy="666900"/>
            </a:xfrm>
          </p:grpSpPr>
          <p:sp>
            <p:nvSpPr>
              <p:cNvPr id="213" name="Google Shape;213;p19"/>
              <p:cNvSpPr/>
              <p:nvPr/>
            </p:nvSpPr>
            <p:spPr>
              <a:xfrm>
                <a:off x="0" y="0"/>
                <a:ext cx="20001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p19"/>
              <p:cNvSpPr/>
              <p:nvPr/>
            </p:nvSpPr>
            <p:spPr>
              <a:xfrm>
                <a:off x="0" y="0"/>
                <a:ext cx="428700" cy="666900"/>
              </a:xfrm>
              <a:prstGeom prst="roundRect">
                <a:avLst>
                  <a:gd fmla="val 8887" name="adj"/>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19"/>
              <p:cNvSpPr/>
              <p:nvPr/>
            </p:nvSpPr>
            <p:spPr>
              <a:xfrm>
                <a:off x="381000" y="0"/>
                <a:ext cx="47700" cy="666900"/>
              </a:xfrm>
              <a:prstGeom prst="rect">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19"/>
              <p:cNvSpPr txBox="1"/>
              <p:nvPr/>
            </p:nvSpPr>
            <p:spPr>
              <a:xfrm>
                <a:off x="0" y="0"/>
                <a:ext cx="4287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M03</a:t>
                </a:r>
                <a:endParaRPr b="0" i="0" sz="1100" u="none" cap="none" strike="noStrike">
                  <a:solidFill>
                    <a:srgbClr val="FFFFFF"/>
                  </a:solidFill>
                  <a:latin typeface="Inter ExtraBold"/>
                  <a:ea typeface="Inter ExtraBold"/>
                  <a:cs typeface="Inter ExtraBold"/>
                  <a:sym typeface="Inter ExtraBold"/>
                </a:endParaRPr>
              </a:p>
            </p:txBody>
          </p:sp>
          <p:sp>
            <p:nvSpPr>
              <p:cNvPr id="217" name="Google Shape;217;p19"/>
              <p:cNvSpPr txBox="1"/>
              <p:nvPr/>
            </p:nvSpPr>
            <p:spPr>
              <a:xfrm>
                <a:off x="523875" y="0"/>
                <a:ext cx="13812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0F172A"/>
                    </a:solidFill>
                    <a:latin typeface="Inter SemiBold"/>
                    <a:ea typeface="Inter SemiBold"/>
                    <a:cs typeface="Inter SemiBold"/>
                    <a:sym typeface="Inter SemiBold"/>
                  </a:rPr>
                  <a:t>Quản lý chất lượng dịch vụ booking</a:t>
                </a:r>
                <a:endParaRPr b="0" i="0" sz="850" u="none" cap="none" strike="noStrike">
                  <a:solidFill>
                    <a:srgbClr val="0F172A"/>
                  </a:solidFill>
                  <a:latin typeface="Inter SemiBold"/>
                  <a:ea typeface="Inter SemiBold"/>
                  <a:cs typeface="Inter SemiBold"/>
                  <a:sym typeface="Inter SemiBold"/>
                </a:endParaRPr>
              </a:p>
            </p:txBody>
          </p:sp>
        </p:grpSp>
      </p:grpSp>
      <p:grpSp>
        <p:nvGrpSpPr>
          <p:cNvPr id="218" name="Google Shape;218;p19"/>
          <p:cNvGrpSpPr/>
          <p:nvPr/>
        </p:nvGrpSpPr>
        <p:grpSpPr>
          <a:xfrm>
            <a:off x="381000" y="2428875"/>
            <a:ext cx="8382000" cy="952500"/>
            <a:chOff x="0" y="0"/>
            <a:chExt cx="8382000" cy="952500"/>
          </a:xfrm>
        </p:grpSpPr>
        <p:sp>
          <p:nvSpPr>
            <p:cNvPr id="219" name="Google Shape;219;p19"/>
            <p:cNvSpPr/>
            <p:nvPr/>
          </p:nvSpPr>
          <p:spPr>
            <a:xfrm>
              <a:off x="0" y="0"/>
              <a:ext cx="8382000" cy="952500"/>
            </a:xfrm>
            <a:prstGeom prst="roundRect">
              <a:avLst>
                <a:gd fmla="val 6000" name="adj"/>
              </a:avLst>
            </a:prstGeom>
            <a:solidFill>
              <a:srgbClr val="F0FDF4"/>
            </a:solidFill>
            <a:ln cap="flat" cmpd="sng" w="9525">
              <a:solidFill>
                <a:srgbClr val="DCFCE7"/>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19"/>
            <p:cNvSpPr/>
            <p:nvPr/>
          </p:nvSpPr>
          <p:spPr>
            <a:xfrm>
              <a:off x="0" y="0"/>
              <a:ext cx="1524000" cy="952500"/>
            </a:xfrm>
            <a:prstGeom prst="roundRect">
              <a:avLst>
                <a:gd fmla="val 6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19"/>
            <p:cNvSpPr/>
            <p:nvPr/>
          </p:nvSpPr>
          <p:spPr>
            <a:xfrm>
              <a:off x="1428750" y="0"/>
              <a:ext cx="95400" cy="9525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19"/>
            <p:cNvSpPr txBox="1"/>
            <p:nvPr/>
          </p:nvSpPr>
          <p:spPr>
            <a:xfrm>
              <a:off x="95250" y="0"/>
              <a:ext cx="13335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Cốt lõi</a:t>
              </a:r>
              <a:endParaRPr b="0" i="0" sz="1000" u="none" cap="none" strike="noStrike">
                <a:solidFill>
                  <a:srgbClr val="FFFFFF"/>
                </a:solidFill>
                <a:latin typeface="Inter ExtraBold"/>
                <a:ea typeface="Inter ExtraBold"/>
                <a:cs typeface="Inter ExtraBold"/>
                <a:sym typeface="Inter ExtraBold"/>
              </a:endParaRPr>
            </a:p>
            <a:p>
              <a:pPr indent="0" lvl="0" marL="0" marR="0" rtl="0" algn="ctr">
                <a:lnSpc>
                  <a:spcPct val="100000"/>
                </a:lnSpc>
                <a:spcBef>
                  <a:spcPts val="300"/>
                </a:spcBef>
                <a:spcAft>
                  <a:spcPts val="0"/>
                </a:spcAft>
                <a:buClr>
                  <a:srgbClr val="000000"/>
                </a:buClr>
                <a:buSzPts val="750"/>
                <a:buFont typeface="Arial"/>
                <a:buNone/>
              </a:pPr>
              <a:r>
                <a:rPr b="0" i="0" lang="en" sz="750" u="none" cap="none" strike="noStrike">
                  <a:solidFill>
                    <a:srgbClr val="99F6E4"/>
                  </a:solidFill>
                  <a:latin typeface="Inter Medium"/>
                  <a:ea typeface="Inter Medium"/>
                  <a:cs typeface="Inter Medium"/>
                  <a:sym typeface="Inter Medium"/>
                </a:rPr>
                <a:t>Core Processes</a:t>
              </a:r>
              <a:endParaRPr b="0" i="0" sz="750" u="none" cap="none" strike="noStrike">
                <a:solidFill>
                  <a:srgbClr val="99F6E4"/>
                </a:solidFill>
                <a:latin typeface="Inter Medium"/>
                <a:ea typeface="Inter Medium"/>
                <a:cs typeface="Inter Medium"/>
                <a:sym typeface="Inter Medium"/>
              </a:endParaRPr>
            </a:p>
          </p:txBody>
        </p:sp>
        <p:grpSp>
          <p:nvGrpSpPr>
            <p:cNvPr id="223" name="Google Shape;223;p19"/>
            <p:cNvGrpSpPr/>
            <p:nvPr/>
          </p:nvGrpSpPr>
          <p:grpSpPr>
            <a:xfrm>
              <a:off x="1714500" y="142875"/>
              <a:ext cx="1476300" cy="666900"/>
              <a:chOff x="0" y="0"/>
              <a:chExt cx="1476300" cy="666900"/>
            </a:xfrm>
          </p:grpSpPr>
          <p:sp>
            <p:nvSpPr>
              <p:cNvPr id="224" name="Google Shape;224;p19"/>
              <p:cNvSpPr/>
              <p:nvPr/>
            </p:nvSpPr>
            <p:spPr>
              <a:xfrm>
                <a:off x="0" y="0"/>
                <a:ext cx="14763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19"/>
              <p:cNvSpPr/>
              <p:nvPr/>
            </p:nvSpPr>
            <p:spPr>
              <a:xfrm>
                <a:off x="0" y="0"/>
                <a:ext cx="381000" cy="666900"/>
              </a:xfrm>
              <a:prstGeom prst="roundRect">
                <a:avLst>
                  <a:gd fmla="val 1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19"/>
              <p:cNvSpPr/>
              <p:nvPr/>
            </p:nvSpPr>
            <p:spPr>
              <a:xfrm>
                <a:off x="333375" y="0"/>
                <a:ext cx="47700" cy="6669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19"/>
              <p:cNvSpPr txBox="1"/>
              <p:nvPr/>
            </p:nvSpPr>
            <p:spPr>
              <a:xfrm>
                <a:off x="0" y="0"/>
                <a:ext cx="3810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C01</a:t>
                </a:r>
                <a:endParaRPr b="0" i="0" sz="1000" u="none" cap="none" strike="noStrike">
                  <a:solidFill>
                    <a:srgbClr val="FFFFFF"/>
                  </a:solidFill>
                  <a:latin typeface="Inter ExtraBold"/>
                  <a:ea typeface="Inter ExtraBold"/>
                  <a:cs typeface="Inter ExtraBold"/>
                  <a:sym typeface="Inter ExtraBold"/>
                </a:endParaRPr>
              </a:p>
            </p:txBody>
          </p:sp>
          <p:sp>
            <p:nvSpPr>
              <p:cNvPr id="228" name="Google Shape;228;p19"/>
              <p:cNvSpPr txBox="1"/>
              <p:nvPr/>
            </p:nvSpPr>
            <p:spPr>
              <a:xfrm>
                <a:off x="457200" y="0"/>
                <a:ext cx="9717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0F172A"/>
                    </a:solidFill>
                    <a:latin typeface="Inter SemiBold"/>
                    <a:ea typeface="Inter SemiBold"/>
                    <a:cs typeface="Inter SemiBold"/>
                    <a:sym typeface="Inter SemiBold"/>
                  </a:rPr>
                  <a:t>Khách hàng đặt booking</a:t>
                </a:r>
                <a:endParaRPr b="0" i="0" sz="800" u="none" cap="none" strike="noStrike">
                  <a:solidFill>
                    <a:srgbClr val="0F172A"/>
                  </a:solidFill>
                  <a:latin typeface="Inter SemiBold"/>
                  <a:ea typeface="Inter SemiBold"/>
                  <a:cs typeface="Inter SemiBold"/>
                  <a:sym typeface="Inter SemiBold"/>
                </a:endParaRPr>
              </a:p>
            </p:txBody>
          </p:sp>
        </p:grpSp>
        <p:grpSp>
          <p:nvGrpSpPr>
            <p:cNvPr id="229" name="Google Shape;229;p19"/>
            <p:cNvGrpSpPr/>
            <p:nvPr/>
          </p:nvGrpSpPr>
          <p:grpSpPr>
            <a:xfrm>
              <a:off x="3314700" y="142875"/>
              <a:ext cx="1476300" cy="666900"/>
              <a:chOff x="0" y="0"/>
              <a:chExt cx="1476300" cy="666900"/>
            </a:xfrm>
          </p:grpSpPr>
          <p:sp>
            <p:nvSpPr>
              <p:cNvPr id="230" name="Google Shape;230;p19"/>
              <p:cNvSpPr/>
              <p:nvPr/>
            </p:nvSpPr>
            <p:spPr>
              <a:xfrm>
                <a:off x="0" y="0"/>
                <a:ext cx="14763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19"/>
              <p:cNvSpPr/>
              <p:nvPr/>
            </p:nvSpPr>
            <p:spPr>
              <a:xfrm>
                <a:off x="0" y="0"/>
                <a:ext cx="381000" cy="666900"/>
              </a:xfrm>
              <a:prstGeom prst="roundRect">
                <a:avLst>
                  <a:gd fmla="val 1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p19"/>
              <p:cNvSpPr/>
              <p:nvPr/>
            </p:nvSpPr>
            <p:spPr>
              <a:xfrm>
                <a:off x="333375" y="0"/>
                <a:ext cx="47700" cy="6669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19"/>
              <p:cNvSpPr txBox="1"/>
              <p:nvPr/>
            </p:nvSpPr>
            <p:spPr>
              <a:xfrm>
                <a:off x="0" y="0"/>
                <a:ext cx="3810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C02</a:t>
                </a:r>
                <a:endParaRPr b="0" i="0" sz="1000" u="none" cap="none" strike="noStrike">
                  <a:solidFill>
                    <a:srgbClr val="FFFFFF"/>
                  </a:solidFill>
                  <a:latin typeface="Inter ExtraBold"/>
                  <a:ea typeface="Inter ExtraBold"/>
                  <a:cs typeface="Inter ExtraBold"/>
                  <a:sym typeface="Inter ExtraBold"/>
                </a:endParaRPr>
              </a:p>
            </p:txBody>
          </p:sp>
          <p:sp>
            <p:nvSpPr>
              <p:cNvPr id="234" name="Google Shape;234;p19"/>
              <p:cNvSpPr txBox="1"/>
              <p:nvPr/>
            </p:nvSpPr>
            <p:spPr>
              <a:xfrm>
                <a:off x="457200" y="0"/>
                <a:ext cx="9717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0F172A"/>
                    </a:solidFill>
                    <a:latin typeface="Inter SemiBold"/>
                    <a:ea typeface="Inter SemiBold"/>
                    <a:cs typeface="Inter SemiBold"/>
                    <a:sym typeface="Inter SemiBold"/>
                  </a:rPr>
                  <a:t>CS assign KTV cho booking</a:t>
                </a:r>
                <a:endParaRPr b="0" i="0" sz="800" u="none" cap="none" strike="noStrike">
                  <a:solidFill>
                    <a:srgbClr val="0F172A"/>
                  </a:solidFill>
                  <a:latin typeface="Inter SemiBold"/>
                  <a:ea typeface="Inter SemiBold"/>
                  <a:cs typeface="Inter SemiBold"/>
                  <a:sym typeface="Inter SemiBold"/>
                </a:endParaRPr>
              </a:p>
            </p:txBody>
          </p:sp>
        </p:grpSp>
        <p:grpSp>
          <p:nvGrpSpPr>
            <p:cNvPr id="235" name="Google Shape;235;p19"/>
            <p:cNvGrpSpPr/>
            <p:nvPr/>
          </p:nvGrpSpPr>
          <p:grpSpPr>
            <a:xfrm>
              <a:off x="4914900" y="142875"/>
              <a:ext cx="1476300" cy="666900"/>
              <a:chOff x="0" y="0"/>
              <a:chExt cx="1476300" cy="666900"/>
            </a:xfrm>
          </p:grpSpPr>
          <p:sp>
            <p:nvSpPr>
              <p:cNvPr id="236" name="Google Shape;236;p19"/>
              <p:cNvSpPr/>
              <p:nvPr/>
            </p:nvSpPr>
            <p:spPr>
              <a:xfrm>
                <a:off x="0" y="0"/>
                <a:ext cx="14763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p19"/>
              <p:cNvSpPr/>
              <p:nvPr/>
            </p:nvSpPr>
            <p:spPr>
              <a:xfrm>
                <a:off x="0" y="0"/>
                <a:ext cx="381000" cy="666900"/>
              </a:xfrm>
              <a:prstGeom prst="roundRect">
                <a:avLst>
                  <a:gd fmla="val 1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19"/>
              <p:cNvSpPr/>
              <p:nvPr/>
            </p:nvSpPr>
            <p:spPr>
              <a:xfrm>
                <a:off x="333375" y="0"/>
                <a:ext cx="47700" cy="6669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19"/>
              <p:cNvSpPr txBox="1"/>
              <p:nvPr/>
            </p:nvSpPr>
            <p:spPr>
              <a:xfrm>
                <a:off x="0" y="0"/>
                <a:ext cx="3810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C03</a:t>
                </a:r>
                <a:endParaRPr b="0" i="0" sz="1000" u="none" cap="none" strike="noStrike">
                  <a:solidFill>
                    <a:srgbClr val="FFFFFF"/>
                  </a:solidFill>
                  <a:latin typeface="Inter ExtraBold"/>
                  <a:ea typeface="Inter ExtraBold"/>
                  <a:cs typeface="Inter ExtraBold"/>
                  <a:sym typeface="Inter ExtraBold"/>
                </a:endParaRPr>
              </a:p>
            </p:txBody>
          </p:sp>
          <p:sp>
            <p:nvSpPr>
              <p:cNvPr id="240" name="Google Shape;240;p19"/>
              <p:cNvSpPr txBox="1"/>
              <p:nvPr/>
            </p:nvSpPr>
            <p:spPr>
              <a:xfrm>
                <a:off x="457200" y="0"/>
                <a:ext cx="9717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0F172A"/>
                    </a:solidFill>
                    <a:latin typeface="Inter SemiBold"/>
                    <a:ea typeface="Inter SemiBold"/>
                    <a:cs typeface="Inter SemiBold"/>
                    <a:sym typeface="Inter SemiBold"/>
                  </a:rPr>
                  <a:t>KTV nhận và xử lý booking</a:t>
                </a:r>
                <a:endParaRPr b="0" i="0" sz="800" u="none" cap="none" strike="noStrike">
                  <a:solidFill>
                    <a:srgbClr val="0F172A"/>
                  </a:solidFill>
                  <a:latin typeface="Inter SemiBold"/>
                  <a:ea typeface="Inter SemiBold"/>
                  <a:cs typeface="Inter SemiBold"/>
                  <a:sym typeface="Inter SemiBold"/>
                </a:endParaRPr>
              </a:p>
            </p:txBody>
          </p:sp>
        </p:grpSp>
        <p:grpSp>
          <p:nvGrpSpPr>
            <p:cNvPr id="241" name="Google Shape;241;p19"/>
            <p:cNvGrpSpPr/>
            <p:nvPr/>
          </p:nvGrpSpPr>
          <p:grpSpPr>
            <a:xfrm>
              <a:off x="6515100" y="142875"/>
              <a:ext cx="1476300" cy="666900"/>
              <a:chOff x="0" y="0"/>
              <a:chExt cx="1476300" cy="666900"/>
            </a:xfrm>
          </p:grpSpPr>
          <p:sp>
            <p:nvSpPr>
              <p:cNvPr id="242" name="Google Shape;242;p19"/>
              <p:cNvSpPr/>
              <p:nvPr/>
            </p:nvSpPr>
            <p:spPr>
              <a:xfrm>
                <a:off x="0" y="0"/>
                <a:ext cx="14763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19"/>
              <p:cNvSpPr/>
              <p:nvPr/>
            </p:nvSpPr>
            <p:spPr>
              <a:xfrm>
                <a:off x="0" y="0"/>
                <a:ext cx="381000" cy="666900"/>
              </a:xfrm>
              <a:prstGeom prst="roundRect">
                <a:avLst>
                  <a:gd fmla="val 1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19"/>
              <p:cNvSpPr/>
              <p:nvPr/>
            </p:nvSpPr>
            <p:spPr>
              <a:xfrm>
                <a:off x="333375" y="0"/>
                <a:ext cx="47700" cy="6669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19"/>
              <p:cNvSpPr txBox="1"/>
              <p:nvPr/>
            </p:nvSpPr>
            <p:spPr>
              <a:xfrm>
                <a:off x="0" y="0"/>
                <a:ext cx="3810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C04</a:t>
                </a:r>
                <a:endParaRPr b="0" i="0" sz="1000" u="none" cap="none" strike="noStrike">
                  <a:solidFill>
                    <a:srgbClr val="FFFFFF"/>
                  </a:solidFill>
                  <a:latin typeface="Inter ExtraBold"/>
                  <a:ea typeface="Inter ExtraBold"/>
                  <a:cs typeface="Inter ExtraBold"/>
                  <a:sym typeface="Inter ExtraBold"/>
                </a:endParaRPr>
              </a:p>
            </p:txBody>
          </p:sp>
          <p:sp>
            <p:nvSpPr>
              <p:cNvPr id="246" name="Google Shape;246;p19"/>
              <p:cNvSpPr txBox="1"/>
              <p:nvPr/>
            </p:nvSpPr>
            <p:spPr>
              <a:xfrm>
                <a:off x="457200" y="0"/>
                <a:ext cx="9717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0F172A"/>
                    </a:solidFill>
                    <a:latin typeface="Inter SemiBold"/>
                    <a:ea typeface="Inter SemiBold"/>
                    <a:cs typeface="Inter SemiBold"/>
                    <a:sym typeface="Inter SemiBold"/>
                  </a:rPr>
                  <a:t>Khách hàng thanh toán &amp; đóng booking</a:t>
                </a:r>
                <a:endParaRPr b="0" i="0" sz="800" u="none" cap="none" strike="noStrike">
                  <a:solidFill>
                    <a:srgbClr val="0F172A"/>
                  </a:solidFill>
                  <a:latin typeface="Inter SemiBold"/>
                  <a:ea typeface="Inter SemiBold"/>
                  <a:cs typeface="Inter SemiBold"/>
                  <a:sym typeface="Inter SemiBold"/>
                </a:endParaRPr>
              </a:p>
            </p:txBody>
          </p:sp>
        </p:grpSp>
      </p:grpSp>
      <p:grpSp>
        <p:nvGrpSpPr>
          <p:cNvPr id="247" name="Google Shape;247;p19"/>
          <p:cNvGrpSpPr/>
          <p:nvPr/>
        </p:nvGrpSpPr>
        <p:grpSpPr>
          <a:xfrm>
            <a:off x="381000" y="3524250"/>
            <a:ext cx="8382000" cy="952500"/>
            <a:chOff x="0" y="0"/>
            <a:chExt cx="8382000" cy="952500"/>
          </a:xfrm>
        </p:grpSpPr>
        <p:sp>
          <p:nvSpPr>
            <p:cNvPr id="248" name="Google Shape;248;p19"/>
            <p:cNvSpPr/>
            <p:nvPr/>
          </p:nvSpPr>
          <p:spPr>
            <a:xfrm>
              <a:off x="0" y="0"/>
              <a:ext cx="8382000" cy="952500"/>
            </a:xfrm>
            <a:prstGeom prst="roundRect">
              <a:avLst>
                <a:gd fmla="val 6000" name="adj"/>
              </a:avLst>
            </a:prstGeom>
            <a:solidFill>
              <a:srgbClr val="F0F9FF"/>
            </a:solidFill>
            <a:ln cap="flat" cmpd="sng" w="9525">
              <a:solidFill>
                <a:srgbClr val="E0F2F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19"/>
            <p:cNvSpPr/>
            <p:nvPr/>
          </p:nvSpPr>
          <p:spPr>
            <a:xfrm>
              <a:off x="0" y="0"/>
              <a:ext cx="1524000" cy="952500"/>
            </a:xfrm>
            <a:prstGeom prst="roundRect">
              <a:avLst>
                <a:gd fmla="val 6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19"/>
            <p:cNvSpPr/>
            <p:nvPr/>
          </p:nvSpPr>
          <p:spPr>
            <a:xfrm>
              <a:off x="1428750" y="0"/>
              <a:ext cx="95400" cy="9525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19"/>
            <p:cNvSpPr txBox="1"/>
            <p:nvPr/>
          </p:nvSpPr>
          <p:spPr>
            <a:xfrm>
              <a:off x="95250" y="0"/>
              <a:ext cx="13335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Hỗ trợ</a:t>
              </a:r>
              <a:endParaRPr b="0" i="0" sz="1000" u="none" cap="none" strike="noStrike">
                <a:solidFill>
                  <a:srgbClr val="FFFFFF"/>
                </a:solidFill>
                <a:latin typeface="Inter ExtraBold"/>
                <a:ea typeface="Inter ExtraBold"/>
                <a:cs typeface="Inter ExtraBold"/>
                <a:sym typeface="Inter ExtraBold"/>
              </a:endParaRPr>
            </a:p>
            <a:p>
              <a:pPr indent="0" lvl="0" marL="0" marR="0" rtl="0" algn="ctr">
                <a:lnSpc>
                  <a:spcPct val="100000"/>
                </a:lnSpc>
                <a:spcBef>
                  <a:spcPts val="300"/>
                </a:spcBef>
                <a:spcAft>
                  <a:spcPts val="0"/>
                </a:spcAft>
                <a:buClr>
                  <a:srgbClr val="000000"/>
                </a:buClr>
                <a:buSzPts val="750"/>
                <a:buFont typeface="Arial"/>
                <a:buNone/>
              </a:pPr>
              <a:r>
                <a:rPr b="0" i="0" lang="en" sz="750" u="none" cap="none" strike="noStrike">
                  <a:solidFill>
                    <a:srgbClr val="BAE6FD"/>
                  </a:solidFill>
                  <a:latin typeface="Inter Medium"/>
                  <a:ea typeface="Inter Medium"/>
                  <a:cs typeface="Inter Medium"/>
                  <a:sym typeface="Inter Medium"/>
                </a:rPr>
                <a:t>Supporting</a:t>
              </a:r>
              <a:endParaRPr b="0" i="0" sz="750" u="none" cap="none" strike="noStrike">
                <a:solidFill>
                  <a:srgbClr val="BAE6FD"/>
                </a:solidFill>
                <a:latin typeface="Inter Medium"/>
                <a:ea typeface="Inter Medium"/>
                <a:cs typeface="Inter Medium"/>
                <a:sym typeface="Inter Medium"/>
              </a:endParaRPr>
            </a:p>
          </p:txBody>
        </p:sp>
        <p:grpSp>
          <p:nvGrpSpPr>
            <p:cNvPr id="252" name="Google Shape;252;p19"/>
            <p:cNvGrpSpPr/>
            <p:nvPr/>
          </p:nvGrpSpPr>
          <p:grpSpPr>
            <a:xfrm>
              <a:off x="1714500" y="142875"/>
              <a:ext cx="2000100" cy="666900"/>
              <a:chOff x="0" y="0"/>
              <a:chExt cx="2000100" cy="666900"/>
            </a:xfrm>
          </p:grpSpPr>
          <p:sp>
            <p:nvSpPr>
              <p:cNvPr id="253" name="Google Shape;253;p19"/>
              <p:cNvSpPr/>
              <p:nvPr/>
            </p:nvSpPr>
            <p:spPr>
              <a:xfrm>
                <a:off x="0" y="0"/>
                <a:ext cx="20001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19"/>
              <p:cNvSpPr/>
              <p:nvPr/>
            </p:nvSpPr>
            <p:spPr>
              <a:xfrm>
                <a:off x="0" y="0"/>
                <a:ext cx="428700" cy="666900"/>
              </a:xfrm>
              <a:prstGeom prst="roundRect">
                <a:avLst>
                  <a:gd fmla="val 8887"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19"/>
              <p:cNvSpPr/>
              <p:nvPr/>
            </p:nvSpPr>
            <p:spPr>
              <a:xfrm>
                <a:off x="381000" y="0"/>
                <a:ext cx="47700" cy="6669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19"/>
              <p:cNvSpPr txBox="1"/>
              <p:nvPr/>
            </p:nvSpPr>
            <p:spPr>
              <a:xfrm>
                <a:off x="0" y="0"/>
                <a:ext cx="4287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S01</a:t>
                </a:r>
                <a:endParaRPr b="0" i="0" sz="1100" u="none" cap="none" strike="noStrike">
                  <a:solidFill>
                    <a:srgbClr val="FFFFFF"/>
                  </a:solidFill>
                  <a:latin typeface="Inter ExtraBold"/>
                  <a:ea typeface="Inter ExtraBold"/>
                  <a:cs typeface="Inter ExtraBold"/>
                  <a:sym typeface="Inter ExtraBold"/>
                </a:endParaRPr>
              </a:p>
            </p:txBody>
          </p:sp>
          <p:sp>
            <p:nvSpPr>
              <p:cNvPr id="257" name="Google Shape;257;p19"/>
              <p:cNvSpPr txBox="1"/>
              <p:nvPr/>
            </p:nvSpPr>
            <p:spPr>
              <a:xfrm>
                <a:off x="523875" y="0"/>
                <a:ext cx="13812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0F172A"/>
                    </a:solidFill>
                    <a:latin typeface="Inter SemiBold"/>
                    <a:ea typeface="Inter SemiBold"/>
                    <a:cs typeface="Inter SemiBold"/>
                    <a:sym typeface="Inter SemiBold"/>
                  </a:rPr>
                  <a:t>Chat support</a:t>
                </a:r>
                <a:endParaRPr b="0" i="0" sz="850" u="none" cap="none" strike="noStrike">
                  <a:solidFill>
                    <a:srgbClr val="0F172A"/>
                  </a:solidFill>
                  <a:latin typeface="Inter SemiBold"/>
                  <a:ea typeface="Inter SemiBold"/>
                  <a:cs typeface="Inter SemiBold"/>
                  <a:sym typeface="Inter SemiBold"/>
                </a:endParaRPr>
              </a:p>
            </p:txBody>
          </p:sp>
        </p:grpSp>
        <p:grpSp>
          <p:nvGrpSpPr>
            <p:cNvPr id="258" name="Google Shape;258;p19"/>
            <p:cNvGrpSpPr/>
            <p:nvPr/>
          </p:nvGrpSpPr>
          <p:grpSpPr>
            <a:xfrm>
              <a:off x="3857625" y="142875"/>
              <a:ext cx="2000100" cy="666900"/>
              <a:chOff x="0" y="0"/>
              <a:chExt cx="2000100" cy="666900"/>
            </a:xfrm>
          </p:grpSpPr>
          <p:sp>
            <p:nvSpPr>
              <p:cNvPr id="259" name="Google Shape;259;p19"/>
              <p:cNvSpPr/>
              <p:nvPr/>
            </p:nvSpPr>
            <p:spPr>
              <a:xfrm>
                <a:off x="0" y="0"/>
                <a:ext cx="20001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p19"/>
              <p:cNvSpPr/>
              <p:nvPr/>
            </p:nvSpPr>
            <p:spPr>
              <a:xfrm>
                <a:off x="0" y="0"/>
                <a:ext cx="428700" cy="666900"/>
              </a:xfrm>
              <a:prstGeom prst="roundRect">
                <a:avLst>
                  <a:gd fmla="val 8887"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19"/>
              <p:cNvSpPr/>
              <p:nvPr/>
            </p:nvSpPr>
            <p:spPr>
              <a:xfrm>
                <a:off x="381000" y="0"/>
                <a:ext cx="47700" cy="6669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19"/>
              <p:cNvSpPr txBox="1"/>
              <p:nvPr/>
            </p:nvSpPr>
            <p:spPr>
              <a:xfrm>
                <a:off x="0" y="0"/>
                <a:ext cx="4287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S02</a:t>
                </a:r>
                <a:endParaRPr b="0" i="0" sz="1100" u="none" cap="none" strike="noStrike">
                  <a:solidFill>
                    <a:srgbClr val="FFFFFF"/>
                  </a:solidFill>
                  <a:latin typeface="Inter ExtraBold"/>
                  <a:ea typeface="Inter ExtraBold"/>
                  <a:cs typeface="Inter ExtraBold"/>
                  <a:sym typeface="Inter ExtraBold"/>
                </a:endParaRPr>
              </a:p>
            </p:txBody>
          </p:sp>
          <p:sp>
            <p:nvSpPr>
              <p:cNvPr id="263" name="Google Shape;263;p19"/>
              <p:cNvSpPr txBox="1"/>
              <p:nvPr/>
            </p:nvSpPr>
            <p:spPr>
              <a:xfrm>
                <a:off x="523875" y="0"/>
                <a:ext cx="13812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0F172A"/>
                    </a:solidFill>
                    <a:latin typeface="Inter SemiBold"/>
                    <a:ea typeface="Inter SemiBold"/>
                    <a:cs typeface="Inter SemiBold"/>
                    <a:sym typeface="Inter SemiBold"/>
                  </a:rPr>
                  <a:t>Báo cáo linh kiện KTV</a:t>
                </a:r>
                <a:endParaRPr b="0" i="0" sz="850" u="none" cap="none" strike="noStrike">
                  <a:solidFill>
                    <a:srgbClr val="0F172A"/>
                  </a:solidFill>
                  <a:latin typeface="Inter SemiBold"/>
                  <a:ea typeface="Inter SemiBold"/>
                  <a:cs typeface="Inter SemiBold"/>
                  <a:sym typeface="Inter SemiBold"/>
                </a:endParaRPr>
              </a:p>
            </p:txBody>
          </p:sp>
        </p:grpSp>
        <p:grpSp>
          <p:nvGrpSpPr>
            <p:cNvPr id="264" name="Google Shape;264;p19"/>
            <p:cNvGrpSpPr/>
            <p:nvPr/>
          </p:nvGrpSpPr>
          <p:grpSpPr>
            <a:xfrm>
              <a:off x="6000750" y="142875"/>
              <a:ext cx="2000100" cy="666900"/>
              <a:chOff x="0" y="0"/>
              <a:chExt cx="2000100" cy="666900"/>
            </a:xfrm>
          </p:grpSpPr>
          <p:sp>
            <p:nvSpPr>
              <p:cNvPr id="265" name="Google Shape;265;p19"/>
              <p:cNvSpPr/>
              <p:nvPr/>
            </p:nvSpPr>
            <p:spPr>
              <a:xfrm>
                <a:off x="0" y="0"/>
                <a:ext cx="2000100" cy="666900"/>
              </a:xfrm>
              <a:prstGeom prst="roundRect">
                <a:avLst>
                  <a:gd fmla="val 571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19"/>
              <p:cNvSpPr/>
              <p:nvPr/>
            </p:nvSpPr>
            <p:spPr>
              <a:xfrm>
                <a:off x="0" y="0"/>
                <a:ext cx="428700" cy="666900"/>
              </a:xfrm>
              <a:prstGeom prst="roundRect">
                <a:avLst>
                  <a:gd fmla="val 8887"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19"/>
              <p:cNvSpPr/>
              <p:nvPr/>
            </p:nvSpPr>
            <p:spPr>
              <a:xfrm>
                <a:off x="381000" y="0"/>
                <a:ext cx="47700" cy="6669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19"/>
              <p:cNvSpPr txBox="1"/>
              <p:nvPr/>
            </p:nvSpPr>
            <p:spPr>
              <a:xfrm>
                <a:off x="0" y="0"/>
                <a:ext cx="4287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S03</a:t>
                </a:r>
                <a:endParaRPr b="0" i="0" sz="1100" u="none" cap="none" strike="noStrike">
                  <a:solidFill>
                    <a:srgbClr val="FFFFFF"/>
                  </a:solidFill>
                  <a:latin typeface="Inter ExtraBold"/>
                  <a:ea typeface="Inter ExtraBold"/>
                  <a:cs typeface="Inter ExtraBold"/>
                  <a:sym typeface="Inter ExtraBold"/>
                </a:endParaRPr>
              </a:p>
            </p:txBody>
          </p:sp>
          <p:sp>
            <p:nvSpPr>
              <p:cNvPr id="269" name="Google Shape;269;p19"/>
              <p:cNvSpPr txBox="1"/>
              <p:nvPr/>
            </p:nvSpPr>
            <p:spPr>
              <a:xfrm>
                <a:off x="523875" y="0"/>
                <a:ext cx="13812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0F172A"/>
                    </a:solidFill>
                    <a:latin typeface="Inter SemiBold"/>
                    <a:ea typeface="Inter SemiBold"/>
                    <a:cs typeface="Inter SemiBold"/>
                    <a:sym typeface="Inter SemiBold"/>
                  </a:rPr>
                  <a:t>Quản lý kho linh kiện</a:t>
                </a:r>
                <a:endParaRPr b="0" i="0" sz="850" u="none" cap="none" strike="noStrike">
                  <a:solidFill>
                    <a:srgbClr val="0F172A"/>
                  </a:solidFill>
                  <a:latin typeface="Inter SemiBold"/>
                  <a:ea typeface="Inter SemiBold"/>
                  <a:cs typeface="Inter SemiBold"/>
                  <a:sym typeface="Inter SemiBold"/>
                </a:endParaRPr>
              </a:p>
            </p:txBody>
          </p:sp>
        </p:grpSp>
      </p:grpSp>
      <p:grpSp>
        <p:nvGrpSpPr>
          <p:cNvPr id="270" name="Google Shape;270;p19"/>
          <p:cNvGrpSpPr/>
          <p:nvPr/>
        </p:nvGrpSpPr>
        <p:grpSpPr>
          <a:xfrm>
            <a:off x="381000" y="4619625"/>
            <a:ext cx="8382000" cy="400200"/>
            <a:chOff x="0" y="0"/>
            <a:chExt cx="8382000" cy="400200"/>
          </a:xfrm>
        </p:grpSpPr>
        <p:sp>
          <p:nvSpPr>
            <p:cNvPr id="271" name="Google Shape;271;p19"/>
            <p:cNvSpPr/>
            <p:nvPr/>
          </p:nvSpPr>
          <p:spPr>
            <a:xfrm>
              <a:off x="0" y="0"/>
              <a:ext cx="8382000" cy="400200"/>
            </a:xfrm>
            <a:prstGeom prst="roundRect">
              <a:avLst>
                <a:gd fmla="val 9523"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19"/>
            <p:cNvSpPr/>
            <p:nvPr/>
          </p:nvSpPr>
          <p:spPr>
            <a:xfrm>
              <a:off x="0" y="0"/>
              <a:ext cx="38100" cy="4002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19"/>
            <p:cNvSpPr txBox="1"/>
            <p:nvPr/>
          </p:nvSpPr>
          <p:spPr>
            <a:xfrm>
              <a:off x="190500" y="0"/>
              <a:ext cx="8001000" cy="40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07B7C"/>
                  </a:solidFill>
                  <a:latin typeface="Inter"/>
                  <a:ea typeface="Inter"/>
                  <a:cs typeface="Inter"/>
                  <a:sym typeface="Inter"/>
                </a:rPr>
                <a:t>Mối quan hệ:</a:t>
              </a:r>
              <a:r>
                <a:rPr b="0" i="0" lang="en" sz="900" u="none" cap="none" strike="noStrike">
                  <a:solidFill>
                    <a:srgbClr val="475569"/>
                  </a:solidFill>
                  <a:latin typeface="Inter"/>
                  <a:ea typeface="Inter"/>
                  <a:cs typeface="Inter"/>
                  <a:sym typeface="Inter"/>
                </a:rPr>
                <a:t> Quy trình quản lý giám sát quy trình cốt lõi; quy trình hỗ trợ cung cấp nguồn lực (linh kiện, thông tin) cho quy trình cốt lõi.</a:t>
              </a:r>
              <a:endParaRPr b="0" i="0" sz="900" u="none" cap="none" strike="noStrike">
                <a:solidFill>
                  <a:srgbClr val="475569"/>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0"/>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79" name="Google Shape;279;p20"/>
          <p:cNvGrpSpPr/>
          <p:nvPr/>
        </p:nvGrpSpPr>
        <p:grpSpPr>
          <a:xfrm>
            <a:off x="8458200" y="381000"/>
            <a:ext cx="304800" cy="304800"/>
            <a:chOff x="0" y="0"/>
            <a:chExt cx="304800" cy="304800"/>
          </a:xfrm>
        </p:grpSpPr>
        <p:sp>
          <p:nvSpPr>
            <p:cNvPr id="280" name="Google Shape;280;p20"/>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20"/>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0"/>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83" name="Google Shape;283;p20"/>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284" name="Google Shape;284;p20"/>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Danh sách và mô tả nhóm Quy trình Quản lý</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Nhóm quy trình Quản lý gồm 3 quy trình trọng yếu nhằm giám sát và tối ưu hóa nguồn lực</a:t>
            </a:r>
            <a:endParaRPr b="0" i="0" sz="1100" u="none" cap="none" strike="noStrike">
              <a:solidFill>
                <a:srgbClr val="007B7C"/>
              </a:solidFill>
              <a:latin typeface="Inter SemiBold"/>
              <a:ea typeface="Inter SemiBold"/>
              <a:cs typeface="Inter SemiBold"/>
              <a:sym typeface="Inter SemiBold"/>
            </a:endParaRPr>
          </a:p>
        </p:txBody>
      </p:sp>
      <p:grpSp>
        <p:nvGrpSpPr>
          <p:cNvPr id="285" name="Google Shape;285;p20"/>
          <p:cNvGrpSpPr/>
          <p:nvPr/>
        </p:nvGrpSpPr>
        <p:grpSpPr>
          <a:xfrm>
            <a:off x="381000" y="1381125"/>
            <a:ext cx="2571900" cy="3381300"/>
            <a:chOff x="0" y="0"/>
            <a:chExt cx="2571900" cy="3381300"/>
          </a:xfrm>
        </p:grpSpPr>
        <p:sp>
          <p:nvSpPr>
            <p:cNvPr id="286" name="Google Shape;286;p20"/>
            <p:cNvSpPr/>
            <p:nvPr/>
          </p:nvSpPr>
          <p:spPr>
            <a:xfrm>
              <a:off x="0" y="0"/>
              <a:ext cx="2571900" cy="3381300"/>
            </a:xfrm>
            <a:prstGeom prst="roundRect">
              <a:avLst>
                <a:gd fmla="val 2962"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20"/>
            <p:cNvSpPr/>
            <p:nvPr/>
          </p:nvSpPr>
          <p:spPr>
            <a:xfrm>
              <a:off x="0" y="0"/>
              <a:ext cx="2571900" cy="523800"/>
            </a:xfrm>
            <a:custGeom>
              <a:rect b="b" l="l" r="r" t="t"/>
              <a:pathLst>
                <a:path extrusionOk="0" h="120000" w="120000">
                  <a:moveTo>
                    <a:pt x="3556" y="0"/>
                  </a:moveTo>
                  <a:lnTo>
                    <a:pt x="116444" y="0"/>
                  </a:lnTo>
                  <a:cubicBezTo>
                    <a:pt x="117387" y="-1"/>
                    <a:pt x="118292" y="1838"/>
                    <a:pt x="118958" y="5112"/>
                  </a:cubicBezTo>
                  <a:cubicBezTo>
                    <a:pt x="119625" y="8385"/>
                    <a:pt x="120000" y="12825"/>
                    <a:pt x="120000" y="17455"/>
                  </a:cubicBezTo>
                  <a:lnTo>
                    <a:pt x="120000" y="120000"/>
                  </a:lnTo>
                  <a:lnTo>
                    <a:pt x="0" y="120000"/>
                  </a:lnTo>
                  <a:lnTo>
                    <a:pt x="0" y="17455"/>
                  </a:lnTo>
                  <a:cubicBezTo>
                    <a:pt x="0" y="12826"/>
                    <a:pt x="375" y="8386"/>
                    <a:pt x="1041" y="5112"/>
                  </a:cubicBezTo>
                  <a:cubicBezTo>
                    <a:pt x="1708" y="1839"/>
                    <a:pt x="2613" y="0"/>
                    <a:pt x="3556" y="0"/>
                  </a:cubicBezTo>
                  <a:close/>
                </a:path>
              </a:pathLst>
            </a:cu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20"/>
            <p:cNvSpPr/>
            <p:nvPr/>
          </p:nvSpPr>
          <p:spPr>
            <a:xfrm>
              <a:off x="0" y="0"/>
              <a:ext cx="523800" cy="523800"/>
            </a:xfrm>
            <a:custGeom>
              <a:rect b="b" l="l" r="r" t="t"/>
              <a:pathLst>
                <a:path extrusionOk="0" h="120000" w="120000">
                  <a:moveTo>
                    <a:pt x="17455" y="0"/>
                  </a:moveTo>
                  <a:lnTo>
                    <a:pt x="120000" y="0"/>
                  </a:lnTo>
                  <a:lnTo>
                    <a:pt x="120000" y="120000"/>
                  </a:lnTo>
                  <a:lnTo>
                    <a:pt x="0" y="120000"/>
                  </a:lnTo>
                  <a:lnTo>
                    <a:pt x="0" y="17455"/>
                  </a:lnTo>
                  <a:cubicBezTo>
                    <a:pt x="0" y="12826"/>
                    <a:pt x="1839" y="8386"/>
                    <a:pt x="5112" y="5112"/>
                  </a:cubicBezTo>
                  <a:cubicBezTo>
                    <a:pt x="8386" y="1839"/>
                    <a:pt x="12825" y="0"/>
                    <a:pt x="17455" y="0"/>
                  </a:cubicBezTo>
                  <a:close/>
                </a:path>
              </a:pathLst>
            </a:cu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20"/>
            <p:cNvSpPr txBox="1"/>
            <p:nvPr/>
          </p:nvSpPr>
          <p:spPr>
            <a:xfrm>
              <a:off x="0" y="0"/>
              <a:ext cx="523800" cy="523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FFFFFF"/>
                  </a:solidFill>
                  <a:latin typeface="Inter ExtraBold"/>
                  <a:ea typeface="Inter ExtraBold"/>
                  <a:cs typeface="Inter ExtraBold"/>
                  <a:sym typeface="Inter ExtraBold"/>
                </a:rPr>
                <a:t>M01</a:t>
              </a:r>
              <a:endParaRPr b="0" i="0" sz="1200" u="none" cap="none" strike="noStrike">
                <a:solidFill>
                  <a:srgbClr val="FFFFFF"/>
                </a:solidFill>
                <a:latin typeface="Inter ExtraBold"/>
                <a:ea typeface="Inter ExtraBold"/>
                <a:cs typeface="Inter ExtraBold"/>
                <a:sym typeface="Inter ExtraBold"/>
              </a:endParaRPr>
            </a:p>
          </p:txBody>
        </p:sp>
        <p:sp>
          <p:nvSpPr>
            <p:cNvPr id="290" name="Google Shape;290;p20"/>
            <p:cNvSpPr txBox="1"/>
            <p:nvPr/>
          </p:nvSpPr>
          <p:spPr>
            <a:xfrm>
              <a:off x="619125" y="0"/>
              <a:ext cx="1857300" cy="523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Quản lý bảo hành thiết bị</a:t>
              </a:r>
              <a:endParaRPr b="1" i="0" sz="1000" u="none" cap="none" strike="noStrike">
                <a:solidFill>
                  <a:srgbClr val="FFFFFF"/>
                </a:solidFill>
                <a:latin typeface="Inter"/>
                <a:ea typeface="Inter"/>
                <a:cs typeface="Inter"/>
                <a:sym typeface="Inter"/>
              </a:endParaRPr>
            </a:p>
          </p:txBody>
        </p:sp>
        <p:sp>
          <p:nvSpPr>
            <p:cNvPr id="291" name="Google Shape;291;p20"/>
            <p:cNvSpPr txBox="1"/>
            <p:nvPr/>
          </p:nvSpPr>
          <p:spPr>
            <a:xfrm>
              <a:off x="142875" y="666750"/>
              <a:ext cx="2286000" cy="2571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007B7C"/>
                  </a:solidFill>
                  <a:latin typeface="Inter"/>
                  <a:ea typeface="Inter"/>
                  <a:cs typeface="Inter"/>
                  <a:sym typeface="Inter"/>
                </a:rPr>
                <a:t>Bộ phận phụ trách: Admin</a:t>
              </a:r>
              <a:endParaRPr b="1" i="0" sz="950" u="none" cap="none" strike="noStrike">
                <a:solidFill>
                  <a:srgbClr val="007B7C"/>
                </a:solidFill>
                <a:latin typeface="Inter"/>
                <a:ea typeface="Inter"/>
                <a:cs typeface="Inter"/>
                <a:sym typeface="Inter"/>
              </a:endParaRPr>
            </a:p>
            <a:p>
              <a:pPr indent="-288925" lvl="0" marL="457200" marR="0" rtl="0" algn="l">
                <a:lnSpc>
                  <a:spcPct val="100000"/>
                </a:lnSpc>
                <a:spcBef>
                  <a:spcPts val="900"/>
                </a:spcBef>
                <a:spcAft>
                  <a:spcPts val="0"/>
                </a:spcAft>
                <a:buClr>
                  <a:srgbClr val="0F172A"/>
                </a:buClr>
                <a:buSzPts val="950"/>
                <a:buFont typeface="Inter"/>
                <a:buChar char="●"/>
              </a:pPr>
              <a:r>
                <a:rPr b="0" i="0" lang="en" sz="950" u="none" cap="none" strike="noStrike">
                  <a:solidFill>
                    <a:srgbClr val="475569"/>
                  </a:solidFill>
                  <a:latin typeface="Inter"/>
                  <a:ea typeface="Inter"/>
                  <a:cs typeface="Inter"/>
                  <a:sym typeface="Inter"/>
                </a:rPr>
                <a:t>Cập nhật chính sách, đồng bộ dữ liệu bảo hành để hệ thống thực hiện kiểm tra tự động.</a:t>
              </a:r>
              <a:endParaRPr b="0" i="0" sz="950" u="none" cap="none" strike="noStrike">
                <a:solidFill>
                  <a:srgbClr val="475569"/>
                </a:solidFill>
                <a:latin typeface="Inter"/>
                <a:ea typeface="Inter"/>
                <a:cs typeface="Inter"/>
                <a:sym typeface="Inter"/>
              </a:endParaRPr>
            </a:p>
            <a:p>
              <a:pPr indent="-288925" lvl="0" marL="457200" marR="0" rtl="0" algn="l">
                <a:lnSpc>
                  <a:spcPct val="100000"/>
                </a:lnSpc>
                <a:spcBef>
                  <a:spcPts val="750"/>
                </a:spcBef>
                <a:spcAft>
                  <a:spcPts val="0"/>
                </a:spcAft>
                <a:buClr>
                  <a:srgbClr val="0F172A"/>
                </a:buClr>
                <a:buSzPts val="950"/>
                <a:buFont typeface="Inter"/>
                <a:buChar char="●"/>
              </a:pPr>
              <a:r>
                <a:rPr b="0" i="0" lang="en" sz="950" u="none" cap="none" strike="noStrike">
                  <a:solidFill>
                    <a:srgbClr val="475569"/>
                  </a:solidFill>
                  <a:latin typeface="Inter"/>
                  <a:ea typeface="Inter"/>
                  <a:cs typeface="Inter"/>
                  <a:sym typeface="Inter"/>
                </a:rPr>
                <a:t>Theo dõi các cuộc tranh chấp phát sinh liên quan đến hiệu lực bảo hành.</a:t>
              </a:r>
              <a:endParaRPr b="0" i="0" sz="950" u="none" cap="none" strike="noStrike">
                <a:solidFill>
                  <a:srgbClr val="475569"/>
                </a:solidFill>
                <a:latin typeface="Inter"/>
                <a:ea typeface="Inter"/>
                <a:cs typeface="Inter"/>
                <a:sym typeface="Inter"/>
              </a:endParaRPr>
            </a:p>
            <a:p>
              <a:pPr indent="-288925" lvl="0" marL="457200" marR="0" rtl="0" algn="l">
                <a:lnSpc>
                  <a:spcPct val="100000"/>
                </a:lnSpc>
                <a:spcBef>
                  <a:spcPts val="750"/>
                </a:spcBef>
                <a:spcAft>
                  <a:spcPts val="750"/>
                </a:spcAft>
                <a:buClr>
                  <a:srgbClr val="0F172A"/>
                </a:buClr>
                <a:buSzPts val="950"/>
                <a:buFont typeface="Inter"/>
                <a:buChar char="●"/>
              </a:pPr>
              <a:r>
                <a:rPr b="1" i="0" lang="en" sz="950" u="none" cap="none" strike="noStrike">
                  <a:solidFill>
                    <a:srgbClr val="0F172A"/>
                  </a:solidFill>
                  <a:latin typeface="Inter"/>
                  <a:ea typeface="Inter"/>
                  <a:cs typeface="Inter"/>
                  <a:sym typeface="Inter"/>
                </a:rPr>
                <a:t>Đảm bảo dữ liệu luôn chính xác tuyệt đối để tránh việc tính sai chi phí dịch vụ cho khách hàng.</a:t>
              </a:r>
              <a:endParaRPr b="1" i="0" sz="950" u="none" cap="none" strike="noStrike">
                <a:solidFill>
                  <a:srgbClr val="0F172A"/>
                </a:solidFill>
                <a:latin typeface="Inter"/>
                <a:ea typeface="Inter"/>
                <a:cs typeface="Inter"/>
                <a:sym typeface="Inter"/>
              </a:endParaRPr>
            </a:p>
          </p:txBody>
        </p:sp>
      </p:grpSp>
      <p:grpSp>
        <p:nvGrpSpPr>
          <p:cNvPr id="292" name="Google Shape;292;p20"/>
          <p:cNvGrpSpPr/>
          <p:nvPr/>
        </p:nvGrpSpPr>
        <p:grpSpPr>
          <a:xfrm>
            <a:off x="3286125" y="1381125"/>
            <a:ext cx="2571900" cy="3381300"/>
            <a:chOff x="0" y="0"/>
            <a:chExt cx="2571900" cy="3381300"/>
          </a:xfrm>
        </p:grpSpPr>
        <p:sp>
          <p:nvSpPr>
            <p:cNvPr id="293" name="Google Shape;293;p20"/>
            <p:cNvSpPr/>
            <p:nvPr/>
          </p:nvSpPr>
          <p:spPr>
            <a:xfrm>
              <a:off x="0" y="0"/>
              <a:ext cx="2571900" cy="3381300"/>
            </a:xfrm>
            <a:prstGeom prst="roundRect">
              <a:avLst>
                <a:gd fmla="val 2962"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20"/>
            <p:cNvSpPr/>
            <p:nvPr/>
          </p:nvSpPr>
          <p:spPr>
            <a:xfrm>
              <a:off x="0" y="0"/>
              <a:ext cx="2571900" cy="523800"/>
            </a:xfrm>
            <a:custGeom>
              <a:rect b="b" l="l" r="r" t="t"/>
              <a:pathLst>
                <a:path extrusionOk="0" h="120000" w="120000">
                  <a:moveTo>
                    <a:pt x="3556" y="0"/>
                  </a:moveTo>
                  <a:lnTo>
                    <a:pt x="116444" y="0"/>
                  </a:lnTo>
                  <a:cubicBezTo>
                    <a:pt x="117387" y="-1"/>
                    <a:pt x="118292" y="1838"/>
                    <a:pt x="118958" y="5112"/>
                  </a:cubicBezTo>
                  <a:cubicBezTo>
                    <a:pt x="119625" y="8385"/>
                    <a:pt x="120000" y="12825"/>
                    <a:pt x="120000" y="17455"/>
                  </a:cubicBezTo>
                  <a:lnTo>
                    <a:pt x="120000" y="120000"/>
                  </a:lnTo>
                  <a:lnTo>
                    <a:pt x="0" y="120000"/>
                  </a:lnTo>
                  <a:lnTo>
                    <a:pt x="0" y="17455"/>
                  </a:lnTo>
                  <a:cubicBezTo>
                    <a:pt x="0" y="12826"/>
                    <a:pt x="375" y="8386"/>
                    <a:pt x="1041" y="5112"/>
                  </a:cubicBezTo>
                  <a:cubicBezTo>
                    <a:pt x="1708" y="1839"/>
                    <a:pt x="2613" y="0"/>
                    <a:pt x="3556" y="0"/>
                  </a:cubicBezTo>
                  <a:close/>
                </a:path>
              </a:pathLst>
            </a:cu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20"/>
            <p:cNvSpPr/>
            <p:nvPr/>
          </p:nvSpPr>
          <p:spPr>
            <a:xfrm>
              <a:off x="0" y="0"/>
              <a:ext cx="523800" cy="523800"/>
            </a:xfrm>
            <a:custGeom>
              <a:rect b="b" l="l" r="r" t="t"/>
              <a:pathLst>
                <a:path extrusionOk="0" h="120000" w="120000">
                  <a:moveTo>
                    <a:pt x="17455" y="0"/>
                  </a:moveTo>
                  <a:lnTo>
                    <a:pt x="120000" y="0"/>
                  </a:lnTo>
                  <a:lnTo>
                    <a:pt x="120000" y="120000"/>
                  </a:lnTo>
                  <a:lnTo>
                    <a:pt x="0" y="120000"/>
                  </a:lnTo>
                  <a:lnTo>
                    <a:pt x="0" y="17455"/>
                  </a:lnTo>
                  <a:cubicBezTo>
                    <a:pt x="0" y="12826"/>
                    <a:pt x="1839" y="8386"/>
                    <a:pt x="5112" y="5112"/>
                  </a:cubicBezTo>
                  <a:cubicBezTo>
                    <a:pt x="8386" y="1839"/>
                    <a:pt x="12825" y="0"/>
                    <a:pt x="17455" y="0"/>
                  </a:cubicBezTo>
                  <a:close/>
                </a:path>
              </a:pathLst>
            </a:cu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20"/>
            <p:cNvSpPr txBox="1"/>
            <p:nvPr/>
          </p:nvSpPr>
          <p:spPr>
            <a:xfrm>
              <a:off x="0" y="0"/>
              <a:ext cx="523800" cy="523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FFFFFF"/>
                  </a:solidFill>
                  <a:latin typeface="Inter ExtraBold"/>
                  <a:ea typeface="Inter ExtraBold"/>
                  <a:cs typeface="Inter ExtraBold"/>
                  <a:sym typeface="Inter ExtraBold"/>
                </a:rPr>
                <a:t>M02</a:t>
              </a:r>
              <a:endParaRPr b="0" i="0" sz="1200" u="none" cap="none" strike="noStrike">
                <a:solidFill>
                  <a:srgbClr val="FFFFFF"/>
                </a:solidFill>
                <a:latin typeface="Inter ExtraBold"/>
                <a:ea typeface="Inter ExtraBold"/>
                <a:cs typeface="Inter ExtraBold"/>
                <a:sym typeface="Inter ExtraBold"/>
              </a:endParaRPr>
            </a:p>
          </p:txBody>
        </p:sp>
        <p:sp>
          <p:nvSpPr>
            <p:cNvPr id="297" name="Google Shape;297;p20"/>
            <p:cNvSpPr txBox="1"/>
            <p:nvPr/>
          </p:nvSpPr>
          <p:spPr>
            <a:xfrm>
              <a:off x="619125" y="0"/>
              <a:ext cx="1857300" cy="523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Quản lý Kỹ thuật viên (KTV)</a:t>
              </a:r>
              <a:endParaRPr b="1" i="0" sz="1000" u="none" cap="none" strike="noStrike">
                <a:solidFill>
                  <a:srgbClr val="FFFFFF"/>
                </a:solidFill>
                <a:latin typeface="Inter"/>
                <a:ea typeface="Inter"/>
                <a:cs typeface="Inter"/>
                <a:sym typeface="Inter"/>
              </a:endParaRPr>
            </a:p>
          </p:txBody>
        </p:sp>
        <p:sp>
          <p:nvSpPr>
            <p:cNvPr id="298" name="Google Shape;298;p20"/>
            <p:cNvSpPr txBox="1"/>
            <p:nvPr/>
          </p:nvSpPr>
          <p:spPr>
            <a:xfrm>
              <a:off x="142875" y="666750"/>
              <a:ext cx="2286000" cy="2571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007B7C"/>
                  </a:solidFill>
                  <a:latin typeface="Inter"/>
                  <a:ea typeface="Inter"/>
                  <a:cs typeface="Inter"/>
                  <a:sym typeface="Inter"/>
                </a:rPr>
                <a:t>Bộ phận phụ trách: Operations Manager</a:t>
              </a:r>
              <a:endParaRPr b="1" i="0" sz="950" u="none" cap="none" strike="noStrike">
                <a:solidFill>
                  <a:srgbClr val="007B7C"/>
                </a:solidFill>
                <a:latin typeface="Inter"/>
                <a:ea typeface="Inter"/>
                <a:cs typeface="Inter"/>
                <a:sym typeface="Inter"/>
              </a:endParaRPr>
            </a:p>
            <a:p>
              <a:pPr indent="-288925" lvl="0" marL="457200" marR="0" rtl="0" algn="l">
                <a:lnSpc>
                  <a:spcPct val="100000"/>
                </a:lnSpc>
                <a:spcBef>
                  <a:spcPts val="900"/>
                </a:spcBef>
                <a:spcAft>
                  <a:spcPts val="0"/>
                </a:spcAft>
                <a:buClr>
                  <a:srgbClr val="0F172A"/>
                </a:buClr>
                <a:buSzPts val="950"/>
                <a:buFont typeface="Inter"/>
                <a:buChar char="●"/>
              </a:pPr>
              <a:r>
                <a:rPr b="0" i="0" lang="en" sz="950" u="none" cap="none" strike="noStrike">
                  <a:solidFill>
                    <a:srgbClr val="475569"/>
                  </a:solidFill>
                  <a:latin typeface="Inter"/>
                  <a:ea typeface="Inter"/>
                  <a:cs typeface="Inter"/>
                  <a:sym typeface="Inter"/>
                </a:rPr>
                <a:t>Lập kế hoạch chi tiết để phân bổ KTV theo khu vực địa lý và ca làm việc phù hợp.</a:t>
              </a:r>
              <a:endParaRPr b="0" i="0" sz="950" u="none" cap="none" strike="noStrike">
                <a:solidFill>
                  <a:srgbClr val="475569"/>
                </a:solidFill>
                <a:latin typeface="Inter"/>
                <a:ea typeface="Inter"/>
                <a:cs typeface="Inter"/>
                <a:sym typeface="Inter"/>
              </a:endParaRPr>
            </a:p>
            <a:p>
              <a:pPr indent="-288925" lvl="0" marL="457200" marR="0" rtl="0" algn="l">
                <a:lnSpc>
                  <a:spcPct val="100000"/>
                </a:lnSpc>
                <a:spcBef>
                  <a:spcPts val="750"/>
                </a:spcBef>
                <a:spcAft>
                  <a:spcPts val="0"/>
                </a:spcAft>
                <a:buClr>
                  <a:srgbClr val="0F172A"/>
                </a:buClr>
                <a:buSzPts val="950"/>
                <a:buFont typeface="Inter"/>
                <a:buChar char="●"/>
              </a:pPr>
              <a:r>
                <a:rPr b="0" i="0" lang="en" sz="950" u="none" cap="none" strike="noStrike">
                  <a:solidFill>
                    <a:srgbClr val="475569"/>
                  </a:solidFill>
                  <a:latin typeface="Inter"/>
                  <a:ea typeface="Inter"/>
                  <a:cs typeface="Inter"/>
                  <a:sym typeface="Inter"/>
                </a:rPr>
                <a:t>Theo dõi sát sao hiệu suất (thời gian xử lý sự cố, tỷ lệ phải di chuyển lại lần 2).</a:t>
              </a:r>
              <a:endParaRPr b="0" i="0" sz="950" u="none" cap="none" strike="noStrike">
                <a:solidFill>
                  <a:srgbClr val="475569"/>
                </a:solidFill>
                <a:latin typeface="Inter"/>
                <a:ea typeface="Inter"/>
                <a:cs typeface="Inter"/>
                <a:sym typeface="Inter"/>
              </a:endParaRPr>
            </a:p>
            <a:p>
              <a:pPr indent="-288925" lvl="0" marL="457200" marR="0" rtl="0" algn="l">
                <a:lnSpc>
                  <a:spcPct val="100000"/>
                </a:lnSpc>
                <a:spcBef>
                  <a:spcPts val="750"/>
                </a:spcBef>
                <a:spcAft>
                  <a:spcPts val="750"/>
                </a:spcAft>
                <a:buClr>
                  <a:srgbClr val="0F172A"/>
                </a:buClr>
                <a:buSzPts val="950"/>
                <a:buFont typeface="Inter"/>
                <a:buChar char="●"/>
              </a:pPr>
              <a:r>
                <a:rPr b="1" i="0" lang="en" sz="950" u="none" cap="none" strike="noStrike">
                  <a:solidFill>
                    <a:srgbClr val="0F172A"/>
                  </a:solidFill>
                  <a:latin typeface="Inter"/>
                  <a:ea typeface="Inter"/>
                  <a:cs typeface="Inter"/>
                  <a:sym typeface="Inter"/>
                </a:rPr>
                <a:t>Xử lý nhanh chóng các tình trạng thiếu hụt nhân sự hoặc quá tải KTV tại các khu vực.</a:t>
              </a:r>
              <a:endParaRPr b="1" i="0" sz="950" u="none" cap="none" strike="noStrike">
                <a:solidFill>
                  <a:srgbClr val="0F172A"/>
                </a:solidFill>
                <a:latin typeface="Inter"/>
                <a:ea typeface="Inter"/>
                <a:cs typeface="Inter"/>
                <a:sym typeface="Inter"/>
              </a:endParaRPr>
            </a:p>
          </p:txBody>
        </p:sp>
      </p:grpSp>
      <p:grpSp>
        <p:nvGrpSpPr>
          <p:cNvPr id="299" name="Google Shape;299;p20"/>
          <p:cNvGrpSpPr/>
          <p:nvPr/>
        </p:nvGrpSpPr>
        <p:grpSpPr>
          <a:xfrm>
            <a:off x="6191250" y="1381125"/>
            <a:ext cx="2571900" cy="3381300"/>
            <a:chOff x="0" y="0"/>
            <a:chExt cx="2571900" cy="3381300"/>
          </a:xfrm>
        </p:grpSpPr>
        <p:sp>
          <p:nvSpPr>
            <p:cNvPr id="300" name="Google Shape;300;p20"/>
            <p:cNvSpPr/>
            <p:nvPr/>
          </p:nvSpPr>
          <p:spPr>
            <a:xfrm>
              <a:off x="0" y="0"/>
              <a:ext cx="2571900" cy="3381300"/>
            </a:xfrm>
            <a:prstGeom prst="roundRect">
              <a:avLst>
                <a:gd fmla="val 2962"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20"/>
            <p:cNvSpPr/>
            <p:nvPr/>
          </p:nvSpPr>
          <p:spPr>
            <a:xfrm>
              <a:off x="0" y="0"/>
              <a:ext cx="2571900" cy="523800"/>
            </a:xfrm>
            <a:custGeom>
              <a:rect b="b" l="l" r="r" t="t"/>
              <a:pathLst>
                <a:path extrusionOk="0" h="120000" w="120000">
                  <a:moveTo>
                    <a:pt x="3556" y="0"/>
                  </a:moveTo>
                  <a:lnTo>
                    <a:pt x="116444" y="0"/>
                  </a:lnTo>
                  <a:cubicBezTo>
                    <a:pt x="117387" y="-1"/>
                    <a:pt x="118292" y="1838"/>
                    <a:pt x="118958" y="5112"/>
                  </a:cubicBezTo>
                  <a:cubicBezTo>
                    <a:pt x="119625" y="8385"/>
                    <a:pt x="120000" y="12825"/>
                    <a:pt x="120000" y="17455"/>
                  </a:cubicBezTo>
                  <a:lnTo>
                    <a:pt x="120000" y="120000"/>
                  </a:lnTo>
                  <a:lnTo>
                    <a:pt x="0" y="120000"/>
                  </a:lnTo>
                  <a:lnTo>
                    <a:pt x="0" y="17455"/>
                  </a:lnTo>
                  <a:cubicBezTo>
                    <a:pt x="0" y="12826"/>
                    <a:pt x="375" y="8386"/>
                    <a:pt x="1041" y="5112"/>
                  </a:cubicBezTo>
                  <a:cubicBezTo>
                    <a:pt x="1708" y="1839"/>
                    <a:pt x="2613" y="0"/>
                    <a:pt x="3556" y="0"/>
                  </a:cubicBezTo>
                  <a:close/>
                </a:path>
              </a:pathLst>
            </a:cu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20"/>
            <p:cNvSpPr/>
            <p:nvPr/>
          </p:nvSpPr>
          <p:spPr>
            <a:xfrm>
              <a:off x="0" y="0"/>
              <a:ext cx="523800" cy="523800"/>
            </a:xfrm>
            <a:custGeom>
              <a:rect b="b" l="l" r="r" t="t"/>
              <a:pathLst>
                <a:path extrusionOk="0" h="120000" w="120000">
                  <a:moveTo>
                    <a:pt x="17455" y="0"/>
                  </a:moveTo>
                  <a:lnTo>
                    <a:pt x="120000" y="0"/>
                  </a:lnTo>
                  <a:lnTo>
                    <a:pt x="120000" y="120000"/>
                  </a:lnTo>
                  <a:lnTo>
                    <a:pt x="0" y="120000"/>
                  </a:lnTo>
                  <a:lnTo>
                    <a:pt x="0" y="17455"/>
                  </a:lnTo>
                  <a:cubicBezTo>
                    <a:pt x="0" y="12826"/>
                    <a:pt x="1839" y="8386"/>
                    <a:pt x="5112" y="5112"/>
                  </a:cubicBezTo>
                  <a:cubicBezTo>
                    <a:pt x="8386" y="1839"/>
                    <a:pt x="12825" y="0"/>
                    <a:pt x="17455" y="0"/>
                  </a:cubicBezTo>
                  <a:close/>
                </a:path>
              </a:pathLst>
            </a:cu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20"/>
            <p:cNvSpPr txBox="1"/>
            <p:nvPr/>
          </p:nvSpPr>
          <p:spPr>
            <a:xfrm>
              <a:off x="0" y="0"/>
              <a:ext cx="523800" cy="523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FFFFFF"/>
                  </a:solidFill>
                  <a:latin typeface="Inter ExtraBold"/>
                  <a:ea typeface="Inter ExtraBold"/>
                  <a:cs typeface="Inter ExtraBold"/>
                  <a:sym typeface="Inter ExtraBold"/>
                </a:rPr>
                <a:t>M03</a:t>
              </a:r>
              <a:endParaRPr b="0" i="0" sz="1200" u="none" cap="none" strike="noStrike">
                <a:solidFill>
                  <a:srgbClr val="FFFFFF"/>
                </a:solidFill>
                <a:latin typeface="Inter ExtraBold"/>
                <a:ea typeface="Inter ExtraBold"/>
                <a:cs typeface="Inter ExtraBold"/>
                <a:sym typeface="Inter ExtraBold"/>
              </a:endParaRPr>
            </a:p>
          </p:txBody>
        </p:sp>
        <p:sp>
          <p:nvSpPr>
            <p:cNvPr id="304" name="Google Shape;304;p20"/>
            <p:cNvSpPr txBox="1"/>
            <p:nvPr/>
          </p:nvSpPr>
          <p:spPr>
            <a:xfrm>
              <a:off x="619125" y="0"/>
              <a:ext cx="1857300" cy="523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FFFFFF"/>
                  </a:solidFill>
                  <a:latin typeface="Inter"/>
                  <a:ea typeface="Inter"/>
                  <a:cs typeface="Inter"/>
                  <a:sym typeface="Inter"/>
                </a:rPr>
                <a:t>Quản lý chất lượng booking</a:t>
              </a:r>
              <a:endParaRPr b="1" i="0" sz="1000" u="none" cap="none" strike="noStrike">
                <a:solidFill>
                  <a:srgbClr val="FFFFFF"/>
                </a:solidFill>
                <a:latin typeface="Inter"/>
                <a:ea typeface="Inter"/>
                <a:cs typeface="Inter"/>
                <a:sym typeface="Inter"/>
              </a:endParaRPr>
            </a:p>
          </p:txBody>
        </p:sp>
        <p:sp>
          <p:nvSpPr>
            <p:cNvPr id="305" name="Google Shape;305;p20"/>
            <p:cNvSpPr txBox="1"/>
            <p:nvPr/>
          </p:nvSpPr>
          <p:spPr>
            <a:xfrm>
              <a:off x="142875" y="666750"/>
              <a:ext cx="2286000" cy="2571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007B7C"/>
                  </a:solidFill>
                  <a:latin typeface="Inter"/>
                  <a:ea typeface="Inter"/>
                  <a:cs typeface="Inter"/>
                  <a:sym typeface="Inter"/>
                </a:rPr>
                <a:t>Bộ phận phụ trách: QA Manager</a:t>
              </a:r>
              <a:endParaRPr b="1" i="0" sz="950" u="none" cap="none" strike="noStrike">
                <a:solidFill>
                  <a:srgbClr val="007B7C"/>
                </a:solidFill>
                <a:latin typeface="Inter"/>
                <a:ea typeface="Inter"/>
                <a:cs typeface="Inter"/>
                <a:sym typeface="Inter"/>
              </a:endParaRPr>
            </a:p>
            <a:p>
              <a:pPr indent="-288925" lvl="0" marL="457200" marR="0" rtl="0" algn="l">
                <a:lnSpc>
                  <a:spcPct val="100000"/>
                </a:lnSpc>
                <a:spcBef>
                  <a:spcPts val="900"/>
                </a:spcBef>
                <a:spcAft>
                  <a:spcPts val="0"/>
                </a:spcAft>
                <a:buClr>
                  <a:srgbClr val="0F172A"/>
                </a:buClr>
                <a:buSzPts val="950"/>
                <a:buFont typeface="Inter"/>
                <a:buChar char="●"/>
              </a:pPr>
              <a:r>
                <a:rPr b="0" i="0" lang="en" sz="950" u="none" cap="none" strike="noStrike">
                  <a:solidFill>
                    <a:srgbClr val="475569"/>
                  </a:solidFill>
                  <a:latin typeface="Inter"/>
                  <a:ea typeface="Inter"/>
                  <a:cs typeface="Inter"/>
                  <a:sym typeface="Inter"/>
                </a:rPr>
                <a:t>Theo dõi liên tục các chỉ số KPI đánh giá chất lượng dịch vụ tổng thể.</a:t>
              </a:r>
              <a:endParaRPr b="0" i="0" sz="950" u="none" cap="none" strike="noStrike">
                <a:solidFill>
                  <a:srgbClr val="475569"/>
                </a:solidFill>
                <a:latin typeface="Inter"/>
                <a:ea typeface="Inter"/>
                <a:cs typeface="Inter"/>
                <a:sym typeface="Inter"/>
              </a:endParaRPr>
            </a:p>
            <a:p>
              <a:pPr indent="-288925" lvl="0" marL="457200" marR="0" rtl="0" algn="l">
                <a:lnSpc>
                  <a:spcPct val="100000"/>
                </a:lnSpc>
                <a:spcBef>
                  <a:spcPts val="750"/>
                </a:spcBef>
                <a:spcAft>
                  <a:spcPts val="0"/>
                </a:spcAft>
                <a:buClr>
                  <a:srgbClr val="0F172A"/>
                </a:buClr>
                <a:buSzPts val="950"/>
                <a:buFont typeface="Inter"/>
                <a:buChar char="●"/>
              </a:pPr>
              <a:r>
                <a:rPr b="0" i="0" lang="en" sz="950" u="none" cap="none" strike="noStrike">
                  <a:solidFill>
                    <a:srgbClr val="475569"/>
                  </a:solidFill>
                  <a:latin typeface="Inter"/>
                  <a:ea typeface="Inter"/>
                  <a:cs typeface="Inter"/>
                  <a:sym typeface="Inter"/>
                </a:rPr>
                <a:t>Phân tích nguyên nhân cốt lõi khiến các lượt booking bị khách hàng đánh giá thấp.</a:t>
              </a:r>
              <a:endParaRPr b="0" i="0" sz="950" u="none" cap="none" strike="noStrike">
                <a:solidFill>
                  <a:srgbClr val="475569"/>
                </a:solidFill>
                <a:latin typeface="Inter"/>
                <a:ea typeface="Inter"/>
                <a:cs typeface="Inter"/>
                <a:sym typeface="Inter"/>
              </a:endParaRPr>
            </a:p>
            <a:p>
              <a:pPr indent="-288925" lvl="0" marL="457200" marR="0" rtl="0" algn="l">
                <a:lnSpc>
                  <a:spcPct val="100000"/>
                </a:lnSpc>
                <a:spcBef>
                  <a:spcPts val="750"/>
                </a:spcBef>
                <a:spcAft>
                  <a:spcPts val="750"/>
                </a:spcAft>
                <a:buClr>
                  <a:srgbClr val="0F172A"/>
                </a:buClr>
                <a:buSzPts val="950"/>
                <a:buFont typeface="Inter"/>
                <a:buChar char="●"/>
              </a:pPr>
              <a:r>
                <a:rPr b="1" i="0" lang="en" sz="950" u="none" cap="none" strike="noStrike">
                  <a:solidFill>
                    <a:srgbClr val="0F172A"/>
                  </a:solidFill>
                  <a:latin typeface="Inter"/>
                  <a:ea typeface="Inter"/>
                  <a:cs typeface="Inter"/>
                  <a:sym typeface="Inter"/>
                </a:rPr>
                <a:t>Đề xuất các phương án khắc phục kịp thời và thực hiện báo cáo định kỳ cho ban quản lý.</a:t>
              </a:r>
              <a:endParaRPr b="1" i="0" sz="950" u="none" cap="none" strike="noStrike">
                <a:solidFill>
                  <a:srgbClr val="0F172A"/>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21"/>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11" name="Google Shape;311;p21"/>
          <p:cNvGrpSpPr/>
          <p:nvPr/>
        </p:nvGrpSpPr>
        <p:grpSpPr>
          <a:xfrm>
            <a:off x="8458200" y="381000"/>
            <a:ext cx="304800" cy="304800"/>
            <a:chOff x="0" y="0"/>
            <a:chExt cx="304800" cy="304800"/>
          </a:xfrm>
        </p:grpSpPr>
        <p:sp>
          <p:nvSpPr>
            <p:cNvPr id="312" name="Google Shape;312;p21"/>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21"/>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21"/>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315" name="Google Shape;315;p21"/>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316" name="Google Shape;316;p21"/>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Danh sách và Mô tả Nhóm Quy trình Cốt lõi</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22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Nhóm quy trình Cốt lõi bao gồm 4 quy trình trực tiếp tạo ra giá trị:</a:t>
            </a:r>
            <a:endParaRPr b="0" i="0" sz="1100" u="none" cap="none" strike="noStrike">
              <a:solidFill>
                <a:srgbClr val="007B7C"/>
              </a:solidFill>
              <a:latin typeface="Inter SemiBold"/>
              <a:ea typeface="Inter SemiBold"/>
              <a:cs typeface="Inter SemiBold"/>
              <a:sym typeface="Inter SemiBold"/>
            </a:endParaRPr>
          </a:p>
        </p:txBody>
      </p:sp>
      <p:grpSp>
        <p:nvGrpSpPr>
          <p:cNvPr id="317" name="Google Shape;317;p21"/>
          <p:cNvGrpSpPr/>
          <p:nvPr/>
        </p:nvGrpSpPr>
        <p:grpSpPr>
          <a:xfrm>
            <a:off x="381000" y="1333500"/>
            <a:ext cx="1809600" cy="571500"/>
            <a:chOff x="0" y="0"/>
            <a:chExt cx="1809600" cy="571500"/>
          </a:xfrm>
        </p:grpSpPr>
        <p:sp>
          <p:nvSpPr>
            <p:cNvPr id="318" name="Google Shape;318;p21"/>
            <p:cNvSpPr/>
            <p:nvPr/>
          </p:nvSpPr>
          <p:spPr>
            <a:xfrm>
              <a:off x="0" y="0"/>
              <a:ext cx="1809600" cy="571500"/>
            </a:xfrm>
            <a:prstGeom prst="roundRect">
              <a:avLst>
                <a:gd fmla="val 10000" name="adj"/>
              </a:avLst>
            </a:prstGeom>
            <a:solidFill>
              <a:srgbClr val="FFFFFF"/>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 name="Google Shape;319;p21"/>
            <p:cNvSpPr/>
            <p:nvPr/>
          </p:nvSpPr>
          <p:spPr>
            <a:xfrm>
              <a:off x="0" y="0"/>
              <a:ext cx="381000" cy="571500"/>
            </a:xfrm>
            <a:prstGeom prst="roundRect">
              <a:avLst>
                <a:gd fmla="val 15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21"/>
            <p:cNvSpPr/>
            <p:nvPr/>
          </p:nvSpPr>
          <p:spPr>
            <a:xfrm>
              <a:off x="333375" y="0"/>
              <a:ext cx="47700" cy="571500"/>
            </a:xfrm>
            <a:prstGeom prst="rect">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21"/>
            <p:cNvSpPr txBox="1"/>
            <p:nvPr/>
          </p:nvSpPr>
          <p:spPr>
            <a:xfrm>
              <a:off x="0" y="0"/>
              <a:ext cx="381000" cy="571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C01</a:t>
              </a:r>
              <a:endParaRPr b="0" i="0" sz="1100" u="none" cap="none" strike="noStrike">
                <a:solidFill>
                  <a:srgbClr val="FFFFFF"/>
                </a:solidFill>
                <a:latin typeface="Inter ExtraBold"/>
                <a:ea typeface="Inter ExtraBold"/>
                <a:cs typeface="Inter ExtraBold"/>
                <a:sym typeface="Inter ExtraBold"/>
              </a:endParaRPr>
            </a:p>
          </p:txBody>
        </p:sp>
        <p:sp>
          <p:nvSpPr>
            <p:cNvPr id="322" name="Google Shape;322;p21"/>
            <p:cNvSpPr txBox="1"/>
            <p:nvPr/>
          </p:nvSpPr>
          <p:spPr>
            <a:xfrm>
              <a:off x="476250" y="0"/>
              <a:ext cx="12858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0F172A"/>
                  </a:solidFill>
                  <a:latin typeface="Inter"/>
                  <a:ea typeface="Inter"/>
                  <a:cs typeface="Inter"/>
                  <a:sym typeface="Inter"/>
                </a:rPr>
                <a:t>Khách hàng đặt booking</a:t>
              </a:r>
              <a:endParaRPr b="1" i="0" sz="850" u="none" cap="none" strike="noStrike">
                <a:solidFill>
                  <a:srgbClr val="0F172A"/>
                </a:solidFill>
                <a:latin typeface="Inter"/>
                <a:ea typeface="Inter"/>
                <a:cs typeface="Inter"/>
                <a:sym typeface="Inter"/>
              </a:endParaRPr>
            </a:p>
          </p:txBody>
        </p:sp>
      </p:grpSp>
      <p:grpSp>
        <p:nvGrpSpPr>
          <p:cNvPr id="323" name="Google Shape;323;p21"/>
          <p:cNvGrpSpPr/>
          <p:nvPr/>
        </p:nvGrpSpPr>
        <p:grpSpPr>
          <a:xfrm>
            <a:off x="381000" y="2047875"/>
            <a:ext cx="1809600" cy="2571900"/>
            <a:chOff x="0" y="0"/>
            <a:chExt cx="1809600" cy="2571900"/>
          </a:xfrm>
        </p:grpSpPr>
        <p:sp>
          <p:nvSpPr>
            <p:cNvPr id="324" name="Google Shape;324;p21"/>
            <p:cNvSpPr/>
            <p:nvPr/>
          </p:nvSpPr>
          <p:spPr>
            <a:xfrm>
              <a:off x="0" y="0"/>
              <a:ext cx="1809600" cy="2571900"/>
            </a:xfrm>
            <a:prstGeom prst="roundRect">
              <a:avLst>
                <a:gd fmla="val 4210" name="adj"/>
              </a:avLst>
            </a:prstGeom>
            <a:solidFill>
              <a:srgbClr val="F8FAFC"/>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21"/>
            <p:cNvSpPr/>
            <p:nvPr/>
          </p:nvSpPr>
          <p:spPr>
            <a:xfrm>
              <a:off x="0" y="0"/>
              <a:ext cx="1809600" cy="381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21"/>
            <p:cNvSpPr txBox="1"/>
            <p:nvPr/>
          </p:nvSpPr>
          <p:spPr>
            <a:xfrm>
              <a:off x="142875" y="142875"/>
              <a:ext cx="1524000" cy="228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F172A"/>
                  </a:solidFill>
                  <a:latin typeface="Inter"/>
                  <a:ea typeface="Inter"/>
                  <a:cs typeface="Inter"/>
                  <a:sym typeface="Inter"/>
                </a:rPr>
                <a:t>Khởi tạo yêu cầu</a:t>
              </a:r>
              <a:endParaRPr b="1" i="0" sz="10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Khách hàng gửi yêu cầu qua Call Center hoặc ứng dụng.</a:t>
              </a:r>
              <a:endParaRPr b="0" i="0" sz="90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850"/>
                <a:buFont typeface="Arial"/>
                <a:buNone/>
              </a:pPr>
              <a:r>
                <a:rPr b="1" i="0" lang="en" sz="850" u="none" cap="none" strike="noStrike">
                  <a:solidFill>
                    <a:srgbClr val="64748B"/>
                  </a:solidFill>
                  <a:latin typeface="Inter"/>
                  <a:ea typeface="Inter"/>
                  <a:cs typeface="Inter"/>
                  <a:sym typeface="Inter"/>
                </a:rPr>
                <a:t>Hệ thống ghi nhận:</a:t>
              </a:r>
              <a:br>
                <a:rPr b="0" i="0" lang="en" sz="850" u="none" cap="none" strike="noStrike">
                  <a:solidFill>
                    <a:srgbClr val="475569"/>
                  </a:solidFill>
                  <a:latin typeface="Inter"/>
                  <a:ea typeface="Inter"/>
                  <a:cs typeface="Inter"/>
                  <a:sym typeface="Inter"/>
                </a:rPr>
              </a:br>
              <a:r>
                <a:rPr b="0" i="0" lang="en" sz="850" u="none" cap="none" strike="noStrike">
                  <a:solidFill>
                    <a:srgbClr val="475569"/>
                  </a:solidFill>
                  <a:latin typeface="Inter"/>
                  <a:ea typeface="Inter"/>
                  <a:cs typeface="Inter"/>
                  <a:sym typeface="Inter"/>
                </a:rPr>
                <a:t>Trạng thái </a:t>
              </a:r>
              <a:r>
                <a:rPr b="1" i="0" lang="en" sz="850" u="none" cap="none" strike="noStrike">
                  <a:solidFill>
                    <a:srgbClr val="0284C7"/>
                  </a:solidFill>
                  <a:latin typeface="Inter"/>
                  <a:ea typeface="Inter"/>
                  <a:cs typeface="Inter"/>
                  <a:sym typeface="Inter"/>
                </a:rPr>
                <a:t>"New"</a:t>
              </a:r>
              <a:endParaRPr b="0" i="0" sz="850" u="none" cap="none" strike="noStrike">
                <a:solidFill>
                  <a:srgbClr val="475569"/>
                </a:solidFill>
                <a:latin typeface="Inter"/>
                <a:ea typeface="Inter"/>
                <a:cs typeface="Inter"/>
                <a:sym typeface="Inter"/>
              </a:endParaRPr>
            </a:p>
          </p:txBody>
        </p:sp>
      </p:grpSp>
      <p:grpSp>
        <p:nvGrpSpPr>
          <p:cNvPr id="327" name="Google Shape;327;p21"/>
          <p:cNvGrpSpPr/>
          <p:nvPr/>
        </p:nvGrpSpPr>
        <p:grpSpPr>
          <a:xfrm>
            <a:off x="2266950" y="1562100"/>
            <a:ext cx="228750" cy="114300"/>
            <a:chOff x="0" y="0"/>
            <a:chExt cx="228750" cy="114300"/>
          </a:xfrm>
        </p:grpSpPr>
        <p:cxnSp>
          <p:nvCxnSpPr>
            <p:cNvPr id="328" name="Google Shape;328;p21"/>
            <p:cNvCxnSpPr/>
            <p:nvPr/>
          </p:nvCxnSpPr>
          <p:spPr>
            <a:xfrm>
              <a:off x="0" y="57150"/>
              <a:ext cx="228600" cy="0"/>
            </a:xfrm>
            <a:prstGeom prst="straightConnector1">
              <a:avLst/>
            </a:prstGeom>
            <a:solidFill>
              <a:srgbClr val="FFFFFF"/>
            </a:solidFill>
            <a:ln cap="rnd" cmpd="sng" w="19050">
              <a:solidFill>
                <a:srgbClr val="0284C7"/>
              </a:solidFill>
              <a:prstDash val="solid"/>
              <a:round/>
              <a:headEnd len="sm" w="sm" type="none"/>
              <a:tailEnd len="sm" w="sm" type="none"/>
            </a:ln>
          </p:spPr>
        </p:cxnSp>
        <p:sp>
          <p:nvSpPr>
            <p:cNvPr id="329" name="Google Shape;329;p21"/>
            <p:cNvSpPr/>
            <p:nvPr/>
          </p:nvSpPr>
          <p:spPr>
            <a:xfrm>
              <a:off x="171450" y="0"/>
              <a:ext cx="57300" cy="114300"/>
            </a:xfrm>
            <a:custGeom>
              <a:rect b="b" l="l" r="r" t="t"/>
              <a:pathLst>
                <a:path extrusionOk="0" h="120000" w="120000">
                  <a:moveTo>
                    <a:pt x="0" y="0"/>
                  </a:moveTo>
                  <a:lnTo>
                    <a:pt x="120000" y="60000"/>
                  </a:lnTo>
                  <a:lnTo>
                    <a:pt x="0" y="120000"/>
                  </a:lnTo>
                </a:path>
              </a:pathLst>
            </a:custGeom>
            <a:solidFill>
              <a:srgbClr val="000000">
                <a:alpha val="0"/>
              </a:srgbClr>
            </a:solidFill>
            <a:ln cap="rnd" cmpd="sng" w="19050">
              <a:solidFill>
                <a:srgbClr val="0284C7"/>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0" name="Google Shape;330;p21"/>
          <p:cNvGrpSpPr/>
          <p:nvPr/>
        </p:nvGrpSpPr>
        <p:grpSpPr>
          <a:xfrm>
            <a:off x="2571750" y="1333500"/>
            <a:ext cx="1809600" cy="571500"/>
            <a:chOff x="0" y="0"/>
            <a:chExt cx="1809600" cy="571500"/>
          </a:xfrm>
        </p:grpSpPr>
        <p:sp>
          <p:nvSpPr>
            <p:cNvPr id="331" name="Google Shape;331;p21"/>
            <p:cNvSpPr/>
            <p:nvPr/>
          </p:nvSpPr>
          <p:spPr>
            <a:xfrm>
              <a:off x="0" y="0"/>
              <a:ext cx="1809600" cy="571500"/>
            </a:xfrm>
            <a:prstGeom prst="roundRect">
              <a:avLst>
                <a:gd fmla="val 10000" name="adj"/>
              </a:avLst>
            </a:prstGeom>
            <a:solidFill>
              <a:srgbClr val="FFFFFF"/>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21"/>
            <p:cNvSpPr/>
            <p:nvPr/>
          </p:nvSpPr>
          <p:spPr>
            <a:xfrm>
              <a:off x="0" y="0"/>
              <a:ext cx="381000" cy="571500"/>
            </a:xfrm>
            <a:prstGeom prst="roundRect">
              <a:avLst>
                <a:gd fmla="val 15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21"/>
            <p:cNvSpPr/>
            <p:nvPr/>
          </p:nvSpPr>
          <p:spPr>
            <a:xfrm>
              <a:off x="333375" y="0"/>
              <a:ext cx="47700" cy="571500"/>
            </a:xfrm>
            <a:prstGeom prst="rect">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21"/>
            <p:cNvSpPr txBox="1"/>
            <p:nvPr/>
          </p:nvSpPr>
          <p:spPr>
            <a:xfrm>
              <a:off x="0" y="0"/>
              <a:ext cx="381000" cy="571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C02</a:t>
              </a:r>
              <a:endParaRPr b="0" i="0" sz="1100" u="none" cap="none" strike="noStrike">
                <a:solidFill>
                  <a:srgbClr val="FFFFFF"/>
                </a:solidFill>
                <a:latin typeface="Inter ExtraBold"/>
                <a:ea typeface="Inter ExtraBold"/>
                <a:cs typeface="Inter ExtraBold"/>
                <a:sym typeface="Inter ExtraBold"/>
              </a:endParaRPr>
            </a:p>
          </p:txBody>
        </p:sp>
        <p:sp>
          <p:nvSpPr>
            <p:cNvPr id="335" name="Google Shape;335;p21"/>
            <p:cNvSpPr txBox="1"/>
            <p:nvPr/>
          </p:nvSpPr>
          <p:spPr>
            <a:xfrm>
              <a:off x="476250" y="0"/>
              <a:ext cx="12858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0F172A"/>
                  </a:solidFill>
                  <a:latin typeface="Inter"/>
                  <a:ea typeface="Inter"/>
                  <a:cs typeface="Inter"/>
                  <a:sym typeface="Inter"/>
                </a:rPr>
                <a:t>CS assign KTV cho booking</a:t>
              </a:r>
              <a:endParaRPr b="1" i="0" sz="850" u="none" cap="none" strike="noStrike">
                <a:solidFill>
                  <a:srgbClr val="0F172A"/>
                </a:solidFill>
                <a:latin typeface="Inter"/>
                <a:ea typeface="Inter"/>
                <a:cs typeface="Inter"/>
                <a:sym typeface="Inter"/>
              </a:endParaRPr>
            </a:p>
          </p:txBody>
        </p:sp>
      </p:grpSp>
      <p:grpSp>
        <p:nvGrpSpPr>
          <p:cNvPr id="336" name="Google Shape;336;p21"/>
          <p:cNvGrpSpPr/>
          <p:nvPr/>
        </p:nvGrpSpPr>
        <p:grpSpPr>
          <a:xfrm>
            <a:off x="2571750" y="2047875"/>
            <a:ext cx="1809600" cy="2571900"/>
            <a:chOff x="0" y="0"/>
            <a:chExt cx="1809600" cy="2571900"/>
          </a:xfrm>
        </p:grpSpPr>
        <p:sp>
          <p:nvSpPr>
            <p:cNvPr id="337" name="Google Shape;337;p21"/>
            <p:cNvSpPr/>
            <p:nvPr/>
          </p:nvSpPr>
          <p:spPr>
            <a:xfrm>
              <a:off x="0" y="0"/>
              <a:ext cx="1809600" cy="2571900"/>
            </a:xfrm>
            <a:prstGeom prst="roundRect">
              <a:avLst>
                <a:gd fmla="val 4210" name="adj"/>
              </a:avLst>
            </a:prstGeom>
            <a:solidFill>
              <a:srgbClr val="F8FAFC"/>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21"/>
            <p:cNvSpPr/>
            <p:nvPr/>
          </p:nvSpPr>
          <p:spPr>
            <a:xfrm>
              <a:off x="0" y="0"/>
              <a:ext cx="1809600" cy="381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 name="Google Shape;339;p21"/>
            <p:cNvSpPr txBox="1"/>
            <p:nvPr/>
          </p:nvSpPr>
          <p:spPr>
            <a:xfrm>
              <a:off x="142875" y="142875"/>
              <a:ext cx="1524000" cy="228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F172A"/>
                  </a:solidFill>
                  <a:latin typeface="Inter"/>
                  <a:ea typeface="Inter"/>
                  <a:cs typeface="Inter"/>
                  <a:sym typeface="Inter"/>
                </a:rPr>
                <a:t>Điều phối &amp; Giao việc</a:t>
              </a:r>
              <a:endParaRPr b="1" i="0" sz="10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Customer Service điều phối KTV phù hợp trên Portal dựa theo khu vực và lịch làm việc.</a:t>
              </a:r>
              <a:endParaRPr b="0" i="0" sz="90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850"/>
                <a:buFont typeface="Arial"/>
                <a:buNone/>
              </a:pPr>
              <a:r>
                <a:rPr b="1" i="0" lang="en" sz="850" u="none" cap="none" strike="noStrike">
                  <a:solidFill>
                    <a:srgbClr val="64748B"/>
                  </a:solidFill>
                  <a:latin typeface="Inter"/>
                  <a:ea typeface="Inter"/>
                  <a:cs typeface="Inter"/>
                  <a:sym typeface="Inter"/>
                </a:rPr>
                <a:t>Hệ thống ghi nhận:</a:t>
              </a:r>
              <a:br>
                <a:rPr b="0" i="0" lang="en" sz="850" u="none" cap="none" strike="noStrike">
                  <a:solidFill>
                    <a:srgbClr val="475569"/>
                  </a:solidFill>
                  <a:latin typeface="Inter"/>
                  <a:ea typeface="Inter"/>
                  <a:cs typeface="Inter"/>
                  <a:sym typeface="Inter"/>
                </a:rPr>
              </a:br>
              <a:r>
                <a:rPr b="0" i="0" lang="en" sz="850" u="none" cap="none" strike="noStrike">
                  <a:solidFill>
                    <a:srgbClr val="475569"/>
                  </a:solidFill>
                  <a:latin typeface="Inter"/>
                  <a:ea typeface="Inter"/>
                  <a:cs typeface="Inter"/>
                  <a:sym typeface="Inter"/>
                </a:rPr>
                <a:t>Chuyển sang </a:t>
              </a:r>
              <a:r>
                <a:rPr b="1" i="0" lang="en" sz="850" u="none" cap="none" strike="noStrike">
                  <a:solidFill>
                    <a:srgbClr val="0284C7"/>
                  </a:solidFill>
                  <a:latin typeface="Inter"/>
                  <a:ea typeface="Inter"/>
                  <a:cs typeface="Inter"/>
                  <a:sym typeface="Inter"/>
                </a:rPr>
                <a:t>"Received"</a:t>
              </a:r>
              <a:r>
                <a:rPr b="0" i="0" lang="en" sz="850" u="none" cap="none" strike="noStrike">
                  <a:solidFill>
                    <a:srgbClr val="475569"/>
                  </a:solidFill>
                  <a:latin typeface="Inter"/>
                  <a:ea typeface="Inter"/>
                  <a:cs typeface="Inter"/>
                  <a:sym typeface="Inter"/>
                </a:rPr>
                <a:t> khi CS nhận xử lý booking và sau đó là </a:t>
              </a:r>
              <a:r>
                <a:rPr b="1" i="0" lang="en" sz="850" u="none" cap="none" strike="noStrike">
                  <a:solidFill>
                    <a:srgbClr val="0284C7"/>
                  </a:solidFill>
                  <a:latin typeface="Inter"/>
                  <a:ea typeface="Inter"/>
                  <a:cs typeface="Inter"/>
                  <a:sym typeface="Inter"/>
                </a:rPr>
                <a:t>"Accepted/Assigned"</a:t>
              </a:r>
              <a:r>
                <a:rPr b="0" i="0" lang="en" sz="850" u="none" cap="none" strike="noStrike">
                  <a:solidFill>
                    <a:srgbClr val="475569"/>
                  </a:solidFill>
                  <a:latin typeface="Inter"/>
                  <a:ea typeface="Inter"/>
                  <a:cs typeface="Inter"/>
                  <a:sym typeface="Inter"/>
                </a:rPr>
                <a:t> khi KTV xác nhận.</a:t>
              </a:r>
              <a:endParaRPr b="0" i="0" sz="850" u="none" cap="none" strike="noStrike">
                <a:solidFill>
                  <a:srgbClr val="475569"/>
                </a:solidFill>
                <a:latin typeface="Inter"/>
                <a:ea typeface="Inter"/>
                <a:cs typeface="Inter"/>
                <a:sym typeface="Inter"/>
              </a:endParaRPr>
            </a:p>
          </p:txBody>
        </p:sp>
      </p:grpSp>
      <p:grpSp>
        <p:nvGrpSpPr>
          <p:cNvPr id="340" name="Google Shape;340;p21"/>
          <p:cNvGrpSpPr/>
          <p:nvPr/>
        </p:nvGrpSpPr>
        <p:grpSpPr>
          <a:xfrm>
            <a:off x="4457700" y="1562100"/>
            <a:ext cx="228750" cy="114300"/>
            <a:chOff x="0" y="0"/>
            <a:chExt cx="228750" cy="114300"/>
          </a:xfrm>
        </p:grpSpPr>
        <p:cxnSp>
          <p:nvCxnSpPr>
            <p:cNvPr id="341" name="Google Shape;341;p21"/>
            <p:cNvCxnSpPr/>
            <p:nvPr/>
          </p:nvCxnSpPr>
          <p:spPr>
            <a:xfrm>
              <a:off x="0" y="57150"/>
              <a:ext cx="228600" cy="0"/>
            </a:xfrm>
            <a:prstGeom prst="straightConnector1">
              <a:avLst/>
            </a:prstGeom>
            <a:solidFill>
              <a:srgbClr val="FFFFFF"/>
            </a:solidFill>
            <a:ln cap="rnd" cmpd="sng" w="19050">
              <a:solidFill>
                <a:srgbClr val="0284C7"/>
              </a:solidFill>
              <a:prstDash val="solid"/>
              <a:round/>
              <a:headEnd len="sm" w="sm" type="none"/>
              <a:tailEnd len="sm" w="sm" type="none"/>
            </a:ln>
          </p:spPr>
        </p:cxnSp>
        <p:sp>
          <p:nvSpPr>
            <p:cNvPr id="342" name="Google Shape;342;p21"/>
            <p:cNvSpPr/>
            <p:nvPr/>
          </p:nvSpPr>
          <p:spPr>
            <a:xfrm>
              <a:off x="171450" y="0"/>
              <a:ext cx="57300" cy="114300"/>
            </a:xfrm>
            <a:custGeom>
              <a:rect b="b" l="l" r="r" t="t"/>
              <a:pathLst>
                <a:path extrusionOk="0" h="120000" w="120000">
                  <a:moveTo>
                    <a:pt x="0" y="0"/>
                  </a:moveTo>
                  <a:lnTo>
                    <a:pt x="120000" y="60000"/>
                  </a:lnTo>
                  <a:lnTo>
                    <a:pt x="0" y="120000"/>
                  </a:lnTo>
                </a:path>
              </a:pathLst>
            </a:custGeom>
            <a:solidFill>
              <a:srgbClr val="000000">
                <a:alpha val="0"/>
              </a:srgbClr>
            </a:solidFill>
            <a:ln cap="rnd" cmpd="sng" w="19050">
              <a:solidFill>
                <a:srgbClr val="0284C7"/>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3" name="Google Shape;343;p21"/>
          <p:cNvGrpSpPr/>
          <p:nvPr/>
        </p:nvGrpSpPr>
        <p:grpSpPr>
          <a:xfrm>
            <a:off x="4762500" y="1333500"/>
            <a:ext cx="1809600" cy="571500"/>
            <a:chOff x="0" y="0"/>
            <a:chExt cx="1809600" cy="571500"/>
          </a:xfrm>
        </p:grpSpPr>
        <p:sp>
          <p:nvSpPr>
            <p:cNvPr id="344" name="Google Shape;344;p21"/>
            <p:cNvSpPr/>
            <p:nvPr/>
          </p:nvSpPr>
          <p:spPr>
            <a:xfrm>
              <a:off x="0" y="0"/>
              <a:ext cx="1809600" cy="571500"/>
            </a:xfrm>
            <a:prstGeom prst="roundRect">
              <a:avLst>
                <a:gd fmla="val 10000" name="adj"/>
              </a:avLst>
            </a:prstGeom>
            <a:solidFill>
              <a:srgbClr val="FFFFFF"/>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21"/>
            <p:cNvSpPr/>
            <p:nvPr/>
          </p:nvSpPr>
          <p:spPr>
            <a:xfrm>
              <a:off x="0" y="0"/>
              <a:ext cx="381000" cy="571500"/>
            </a:xfrm>
            <a:prstGeom prst="roundRect">
              <a:avLst>
                <a:gd fmla="val 15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21"/>
            <p:cNvSpPr/>
            <p:nvPr/>
          </p:nvSpPr>
          <p:spPr>
            <a:xfrm>
              <a:off x="333375" y="0"/>
              <a:ext cx="47700" cy="571500"/>
            </a:xfrm>
            <a:prstGeom prst="rect">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21"/>
            <p:cNvSpPr txBox="1"/>
            <p:nvPr/>
          </p:nvSpPr>
          <p:spPr>
            <a:xfrm>
              <a:off x="0" y="0"/>
              <a:ext cx="381000" cy="571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C03</a:t>
              </a:r>
              <a:endParaRPr b="0" i="0" sz="1100" u="none" cap="none" strike="noStrike">
                <a:solidFill>
                  <a:srgbClr val="FFFFFF"/>
                </a:solidFill>
                <a:latin typeface="Inter ExtraBold"/>
                <a:ea typeface="Inter ExtraBold"/>
                <a:cs typeface="Inter ExtraBold"/>
                <a:sym typeface="Inter ExtraBold"/>
              </a:endParaRPr>
            </a:p>
          </p:txBody>
        </p:sp>
        <p:sp>
          <p:nvSpPr>
            <p:cNvPr id="348" name="Google Shape;348;p21"/>
            <p:cNvSpPr txBox="1"/>
            <p:nvPr/>
          </p:nvSpPr>
          <p:spPr>
            <a:xfrm>
              <a:off x="476250" y="0"/>
              <a:ext cx="12858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0F172A"/>
                  </a:solidFill>
                  <a:latin typeface="Inter"/>
                  <a:ea typeface="Inter"/>
                  <a:cs typeface="Inter"/>
                  <a:sym typeface="Inter"/>
                </a:rPr>
                <a:t>KTV nhận và xử lý booking</a:t>
              </a:r>
              <a:endParaRPr b="1" i="0" sz="850" u="none" cap="none" strike="noStrike">
                <a:solidFill>
                  <a:srgbClr val="0F172A"/>
                </a:solidFill>
                <a:latin typeface="Inter"/>
                <a:ea typeface="Inter"/>
                <a:cs typeface="Inter"/>
                <a:sym typeface="Inter"/>
              </a:endParaRPr>
            </a:p>
          </p:txBody>
        </p:sp>
      </p:grpSp>
      <p:grpSp>
        <p:nvGrpSpPr>
          <p:cNvPr id="349" name="Google Shape;349;p21"/>
          <p:cNvGrpSpPr/>
          <p:nvPr/>
        </p:nvGrpSpPr>
        <p:grpSpPr>
          <a:xfrm>
            <a:off x="4762500" y="2047875"/>
            <a:ext cx="1809600" cy="2571900"/>
            <a:chOff x="0" y="0"/>
            <a:chExt cx="1809600" cy="2571900"/>
          </a:xfrm>
        </p:grpSpPr>
        <p:sp>
          <p:nvSpPr>
            <p:cNvPr id="350" name="Google Shape;350;p21"/>
            <p:cNvSpPr/>
            <p:nvPr/>
          </p:nvSpPr>
          <p:spPr>
            <a:xfrm>
              <a:off x="0" y="0"/>
              <a:ext cx="1809600" cy="2571900"/>
            </a:xfrm>
            <a:prstGeom prst="roundRect">
              <a:avLst>
                <a:gd fmla="val 4210" name="adj"/>
              </a:avLst>
            </a:prstGeom>
            <a:solidFill>
              <a:srgbClr val="F8FAFC"/>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21"/>
            <p:cNvSpPr/>
            <p:nvPr/>
          </p:nvSpPr>
          <p:spPr>
            <a:xfrm>
              <a:off x="0" y="0"/>
              <a:ext cx="1809600" cy="381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21"/>
            <p:cNvSpPr txBox="1"/>
            <p:nvPr/>
          </p:nvSpPr>
          <p:spPr>
            <a:xfrm>
              <a:off x="142875" y="142875"/>
              <a:ext cx="1524000" cy="228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F172A"/>
                  </a:solidFill>
                  <a:latin typeface="Inter"/>
                  <a:ea typeface="Inter"/>
                  <a:cs typeface="Inter"/>
                  <a:sym typeface="Inter"/>
                </a:rPr>
                <a:t>Thực hiện kỹ thuật</a:t>
              </a:r>
              <a:endParaRPr b="1" i="0" sz="10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KTV di chuyển </a:t>
              </a:r>
              <a:r>
                <a:rPr b="1" i="0" lang="en" sz="900" u="none" cap="none" strike="noStrike">
                  <a:solidFill>
                    <a:srgbClr val="0284C7"/>
                  </a:solidFill>
                  <a:latin typeface="Inter"/>
                  <a:ea typeface="Inter"/>
                  <a:cs typeface="Inter"/>
                  <a:sym typeface="Inter"/>
                </a:rPr>
                <a:t>(On The Way)</a:t>
              </a:r>
              <a:r>
                <a:rPr b="0" i="0" lang="en" sz="900" u="none" cap="none" strike="noStrike">
                  <a:solidFill>
                    <a:srgbClr val="475569"/>
                  </a:solidFill>
                  <a:latin typeface="Inter"/>
                  <a:ea typeface="Inter"/>
                  <a:cs typeface="Inter"/>
                  <a:sym typeface="Inter"/>
                </a:rPr>
                <a:t>, chẩn đoán lỗi, lập hóa đơn chi phí.</a:t>
              </a:r>
              <a:endParaRPr b="0" i="0" sz="900" u="none" cap="none" strike="noStrike">
                <a:solidFill>
                  <a:srgbClr val="475569"/>
                </a:solidFill>
                <a:latin typeface="Inter"/>
                <a:ea typeface="Inter"/>
                <a:cs typeface="Inter"/>
                <a:sym typeface="Inter"/>
              </a:endParaRPr>
            </a:p>
            <a:p>
              <a:pPr indent="0" lvl="0" marL="0" marR="0" rtl="0" algn="l">
                <a:lnSpc>
                  <a:spcPct val="100000"/>
                </a:lnSpc>
                <a:spcBef>
                  <a:spcPts val="600"/>
                </a:spcBef>
                <a:spcAft>
                  <a:spcPts val="900"/>
                </a:spcAft>
                <a:buClr>
                  <a:srgbClr val="000000"/>
                </a:buClr>
                <a:buSzPts val="900"/>
                <a:buFont typeface="Arial"/>
                <a:buNone/>
              </a:pPr>
              <a:r>
                <a:rPr b="0" i="0" lang="en" sz="900" u="none" cap="none" strike="noStrike">
                  <a:solidFill>
                    <a:srgbClr val="475569"/>
                  </a:solidFill>
                  <a:latin typeface="Inter"/>
                  <a:ea typeface="Inter"/>
                  <a:cs typeface="Inter"/>
                  <a:sym typeface="Inter"/>
                </a:rPr>
                <a:t>Nếu thiếu linh kiện, KTV hẹn lại lần 2. Nếu đủ, KTV sửa chữa và lập Báo cáo kỹ thuật.</a:t>
              </a:r>
              <a:endParaRPr b="0" i="0" sz="900" u="none" cap="none" strike="noStrike">
                <a:solidFill>
                  <a:srgbClr val="475569"/>
                </a:solidFill>
                <a:latin typeface="Inter"/>
                <a:ea typeface="Inter"/>
                <a:cs typeface="Inter"/>
                <a:sym typeface="Inter"/>
              </a:endParaRPr>
            </a:p>
          </p:txBody>
        </p:sp>
      </p:grpSp>
      <p:grpSp>
        <p:nvGrpSpPr>
          <p:cNvPr id="353" name="Google Shape;353;p21"/>
          <p:cNvGrpSpPr/>
          <p:nvPr/>
        </p:nvGrpSpPr>
        <p:grpSpPr>
          <a:xfrm>
            <a:off x="6648450" y="1562100"/>
            <a:ext cx="228750" cy="114300"/>
            <a:chOff x="0" y="0"/>
            <a:chExt cx="228750" cy="114300"/>
          </a:xfrm>
        </p:grpSpPr>
        <p:cxnSp>
          <p:nvCxnSpPr>
            <p:cNvPr id="354" name="Google Shape;354;p21"/>
            <p:cNvCxnSpPr/>
            <p:nvPr/>
          </p:nvCxnSpPr>
          <p:spPr>
            <a:xfrm>
              <a:off x="0" y="57150"/>
              <a:ext cx="228600" cy="0"/>
            </a:xfrm>
            <a:prstGeom prst="straightConnector1">
              <a:avLst/>
            </a:prstGeom>
            <a:solidFill>
              <a:srgbClr val="FFFFFF"/>
            </a:solidFill>
            <a:ln cap="rnd" cmpd="sng" w="19050">
              <a:solidFill>
                <a:srgbClr val="0284C7"/>
              </a:solidFill>
              <a:prstDash val="solid"/>
              <a:round/>
              <a:headEnd len="sm" w="sm" type="none"/>
              <a:tailEnd len="sm" w="sm" type="none"/>
            </a:ln>
          </p:spPr>
        </p:cxnSp>
        <p:sp>
          <p:nvSpPr>
            <p:cNvPr id="355" name="Google Shape;355;p21"/>
            <p:cNvSpPr/>
            <p:nvPr/>
          </p:nvSpPr>
          <p:spPr>
            <a:xfrm>
              <a:off x="171450" y="0"/>
              <a:ext cx="57300" cy="114300"/>
            </a:xfrm>
            <a:custGeom>
              <a:rect b="b" l="l" r="r" t="t"/>
              <a:pathLst>
                <a:path extrusionOk="0" h="120000" w="120000">
                  <a:moveTo>
                    <a:pt x="0" y="0"/>
                  </a:moveTo>
                  <a:lnTo>
                    <a:pt x="120000" y="60000"/>
                  </a:lnTo>
                  <a:lnTo>
                    <a:pt x="0" y="120000"/>
                  </a:lnTo>
                </a:path>
              </a:pathLst>
            </a:custGeom>
            <a:solidFill>
              <a:srgbClr val="000000">
                <a:alpha val="0"/>
              </a:srgbClr>
            </a:solidFill>
            <a:ln cap="rnd" cmpd="sng" w="19050">
              <a:solidFill>
                <a:srgbClr val="0284C7"/>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6" name="Google Shape;356;p21"/>
          <p:cNvGrpSpPr/>
          <p:nvPr/>
        </p:nvGrpSpPr>
        <p:grpSpPr>
          <a:xfrm>
            <a:off x="6953250" y="1333500"/>
            <a:ext cx="1809600" cy="571500"/>
            <a:chOff x="0" y="0"/>
            <a:chExt cx="1809600" cy="571500"/>
          </a:xfrm>
        </p:grpSpPr>
        <p:sp>
          <p:nvSpPr>
            <p:cNvPr id="357" name="Google Shape;357;p21"/>
            <p:cNvSpPr/>
            <p:nvPr/>
          </p:nvSpPr>
          <p:spPr>
            <a:xfrm>
              <a:off x="0" y="0"/>
              <a:ext cx="1809600" cy="571500"/>
            </a:xfrm>
            <a:prstGeom prst="roundRect">
              <a:avLst>
                <a:gd fmla="val 10000" name="adj"/>
              </a:avLst>
            </a:prstGeom>
            <a:solidFill>
              <a:srgbClr val="FFFFFF"/>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21"/>
            <p:cNvSpPr/>
            <p:nvPr/>
          </p:nvSpPr>
          <p:spPr>
            <a:xfrm>
              <a:off x="0" y="0"/>
              <a:ext cx="381000" cy="571500"/>
            </a:xfrm>
            <a:prstGeom prst="roundRect">
              <a:avLst>
                <a:gd fmla="val 15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21"/>
            <p:cNvSpPr/>
            <p:nvPr/>
          </p:nvSpPr>
          <p:spPr>
            <a:xfrm>
              <a:off x="333375" y="0"/>
              <a:ext cx="47700" cy="571500"/>
            </a:xfrm>
            <a:prstGeom prst="rect">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21"/>
            <p:cNvSpPr txBox="1"/>
            <p:nvPr/>
          </p:nvSpPr>
          <p:spPr>
            <a:xfrm>
              <a:off x="0" y="0"/>
              <a:ext cx="381000" cy="571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Inter ExtraBold"/>
                  <a:ea typeface="Inter ExtraBold"/>
                  <a:cs typeface="Inter ExtraBold"/>
                  <a:sym typeface="Inter ExtraBold"/>
                </a:rPr>
                <a:t>C04</a:t>
              </a:r>
              <a:endParaRPr b="0" i="0" sz="1100" u="none" cap="none" strike="noStrike">
                <a:solidFill>
                  <a:srgbClr val="FFFFFF"/>
                </a:solidFill>
                <a:latin typeface="Inter ExtraBold"/>
                <a:ea typeface="Inter ExtraBold"/>
                <a:cs typeface="Inter ExtraBold"/>
                <a:sym typeface="Inter ExtraBold"/>
              </a:endParaRPr>
            </a:p>
          </p:txBody>
        </p:sp>
        <p:sp>
          <p:nvSpPr>
            <p:cNvPr id="361" name="Google Shape;361;p21"/>
            <p:cNvSpPr txBox="1"/>
            <p:nvPr/>
          </p:nvSpPr>
          <p:spPr>
            <a:xfrm>
              <a:off x="476250" y="0"/>
              <a:ext cx="12858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0F172A"/>
                  </a:solidFill>
                  <a:latin typeface="Inter"/>
                  <a:ea typeface="Inter"/>
                  <a:cs typeface="Inter"/>
                  <a:sym typeface="Inter"/>
                </a:rPr>
                <a:t>Khách hàng thanh toán và đóng booking</a:t>
              </a:r>
              <a:endParaRPr b="1" i="0" sz="850" u="none" cap="none" strike="noStrike">
                <a:solidFill>
                  <a:srgbClr val="0F172A"/>
                </a:solidFill>
                <a:latin typeface="Inter"/>
                <a:ea typeface="Inter"/>
                <a:cs typeface="Inter"/>
                <a:sym typeface="Inter"/>
              </a:endParaRPr>
            </a:p>
          </p:txBody>
        </p:sp>
      </p:grpSp>
      <p:grpSp>
        <p:nvGrpSpPr>
          <p:cNvPr id="362" name="Google Shape;362;p21"/>
          <p:cNvGrpSpPr/>
          <p:nvPr/>
        </p:nvGrpSpPr>
        <p:grpSpPr>
          <a:xfrm>
            <a:off x="6953250" y="2047875"/>
            <a:ext cx="1809600" cy="2571900"/>
            <a:chOff x="0" y="0"/>
            <a:chExt cx="1809600" cy="2571900"/>
          </a:xfrm>
        </p:grpSpPr>
        <p:sp>
          <p:nvSpPr>
            <p:cNvPr id="363" name="Google Shape;363;p21"/>
            <p:cNvSpPr/>
            <p:nvPr/>
          </p:nvSpPr>
          <p:spPr>
            <a:xfrm>
              <a:off x="0" y="0"/>
              <a:ext cx="1809600" cy="2571900"/>
            </a:xfrm>
            <a:prstGeom prst="roundRect">
              <a:avLst>
                <a:gd fmla="val 4210" name="adj"/>
              </a:avLst>
            </a:prstGeom>
            <a:solidFill>
              <a:srgbClr val="F8FAFC"/>
            </a:solidFill>
            <a:ln cap="flat" cmpd="sng" w="114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21"/>
            <p:cNvSpPr/>
            <p:nvPr/>
          </p:nvSpPr>
          <p:spPr>
            <a:xfrm>
              <a:off x="0" y="0"/>
              <a:ext cx="1809600" cy="381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21"/>
            <p:cNvSpPr txBox="1"/>
            <p:nvPr/>
          </p:nvSpPr>
          <p:spPr>
            <a:xfrm>
              <a:off x="142875" y="142875"/>
              <a:ext cx="1524000" cy="228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F172A"/>
                  </a:solidFill>
                  <a:latin typeface="Inter"/>
                  <a:ea typeface="Inter"/>
                  <a:cs typeface="Inter"/>
                  <a:sym typeface="Inter"/>
                </a:rPr>
                <a:t>Thanh toán &amp; Nghiệm thu</a:t>
              </a:r>
              <a:endParaRPr b="1" i="0" sz="10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Sau khi thanh toán hoàn tất, khách hàng đánh giá dịch vụ.</a:t>
              </a:r>
              <a:endParaRPr b="0" i="0" sz="90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850"/>
                <a:buFont typeface="Arial"/>
                <a:buNone/>
              </a:pPr>
              <a:r>
                <a:rPr b="1" i="0" lang="en" sz="850" u="none" cap="none" strike="noStrike">
                  <a:solidFill>
                    <a:srgbClr val="64748B"/>
                  </a:solidFill>
                  <a:latin typeface="Inter"/>
                  <a:ea typeface="Inter"/>
                  <a:cs typeface="Inter"/>
                  <a:sym typeface="Inter"/>
                </a:rPr>
                <a:t>Hệ thống ghi nhận:</a:t>
              </a:r>
              <a:br>
                <a:rPr b="0" i="0" lang="en" sz="850" u="none" cap="none" strike="noStrike">
                  <a:solidFill>
                    <a:srgbClr val="475569"/>
                  </a:solidFill>
                  <a:latin typeface="Inter"/>
                  <a:ea typeface="Inter"/>
                  <a:cs typeface="Inter"/>
                  <a:sym typeface="Inter"/>
                </a:rPr>
              </a:br>
              <a:r>
                <a:rPr b="0" i="0" lang="en" sz="850" u="none" cap="none" strike="noStrike">
                  <a:solidFill>
                    <a:srgbClr val="475569"/>
                  </a:solidFill>
                  <a:latin typeface="Inter"/>
                  <a:ea typeface="Inter"/>
                  <a:cs typeface="Inter"/>
                  <a:sym typeface="Inter"/>
                </a:rPr>
                <a:t>Trạng thái chuyển sang </a:t>
              </a:r>
              <a:r>
                <a:rPr b="1" i="0" lang="en" sz="850" u="none" cap="none" strike="noStrike">
                  <a:solidFill>
                    <a:srgbClr val="0284C7"/>
                  </a:solidFill>
                  <a:latin typeface="Inter"/>
                  <a:ea typeface="Inter"/>
                  <a:cs typeface="Inter"/>
                  <a:sym typeface="Inter"/>
                </a:rPr>
                <a:t>"Payment Confirm"</a:t>
              </a:r>
              <a:r>
                <a:rPr b="0" i="0" lang="en" sz="850" u="none" cap="none" strike="noStrike">
                  <a:solidFill>
                    <a:srgbClr val="475569"/>
                  </a:solidFill>
                  <a:latin typeface="Inter"/>
                  <a:ea typeface="Inter"/>
                  <a:cs typeface="Inter"/>
                  <a:sym typeface="Inter"/>
                </a:rPr>
                <a:t> và trạng thái cuối cùng là </a:t>
              </a:r>
              <a:r>
                <a:rPr b="1" i="0" lang="en" sz="850" u="none" cap="none" strike="noStrike">
                  <a:solidFill>
                    <a:srgbClr val="10B981"/>
                  </a:solidFill>
                  <a:latin typeface="Inter"/>
                  <a:ea typeface="Inter"/>
                  <a:cs typeface="Inter"/>
                  <a:sym typeface="Inter"/>
                </a:rPr>
                <a:t>"Completed"</a:t>
              </a:r>
              <a:r>
                <a:rPr b="0" i="0" lang="en" sz="850" u="none" cap="none" strike="noStrike">
                  <a:solidFill>
                    <a:srgbClr val="475569"/>
                  </a:solidFill>
                  <a:latin typeface="Inter"/>
                  <a:ea typeface="Inter"/>
                  <a:cs typeface="Inter"/>
                  <a:sym typeface="Inter"/>
                </a:rPr>
                <a:t>.</a:t>
              </a:r>
              <a:endParaRPr b="0" i="0" sz="850" u="none" cap="none" strike="noStrike">
                <a:solidFill>
                  <a:srgbClr val="475569"/>
                </a:solidFill>
                <a:latin typeface="Inter"/>
                <a:ea typeface="Inter"/>
                <a:cs typeface="Inter"/>
                <a:sym typeface="Inte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9" name="Shape 369"/>
        <p:cNvGrpSpPr/>
        <p:nvPr/>
      </p:nvGrpSpPr>
      <p:grpSpPr>
        <a:xfrm>
          <a:off x="0" y="0"/>
          <a:ext cx="0" cy="0"/>
          <a:chOff x="0" y="0"/>
          <a:chExt cx="0" cy="0"/>
        </a:xfrm>
      </p:grpSpPr>
      <p:grpSp>
        <p:nvGrpSpPr>
          <p:cNvPr id="370" name="Google Shape;370;p22"/>
          <p:cNvGrpSpPr/>
          <p:nvPr/>
        </p:nvGrpSpPr>
        <p:grpSpPr>
          <a:xfrm>
            <a:off x="8458200" y="381000"/>
            <a:ext cx="304800" cy="304800"/>
            <a:chOff x="0" y="0"/>
            <a:chExt cx="304800" cy="304800"/>
          </a:xfrm>
        </p:grpSpPr>
        <p:sp>
          <p:nvSpPr>
            <p:cNvPr id="371" name="Google Shape;371;p22"/>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22"/>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 name="Google Shape;373;p22"/>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74" name="Google Shape;374;p22"/>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Danh sách &amp; Mô tả Nhóm Quy trình Hỗ trợ</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Nhóm quy trình Hỗ trợ gồm 3 quy trình đảm bảo hoạt động trơn tru cho tuyến đầu</a:t>
            </a:r>
            <a:endParaRPr b="0" i="0" sz="1100" u="none" cap="none" strike="noStrike">
              <a:solidFill>
                <a:srgbClr val="007B7C"/>
              </a:solidFill>
              <a:latin typeface="Inter SemiBold"/>
              <a:ea typeface="Inter SemiBold"/>
              <a:cs typeface="Inter SemiBold"/>
              <a:sym typeface="Inter SemiBold"/>
            </a:endParaRPr>
          </a:p>
        </p:txBody>
      </p:sp>
      <p:cxnSp>
        <p:nvCxnSpPr>
          <p:cNvPr id="375" name="Google Shape;375;p22"/>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grpSp>
        <p:nvGrpSpPr>
          <p:cNvPr id="376" name="Google Shape;376;p22"/>
          <p:cNvGrpSpPr/>
          <p:nvPr/>
        </p:nvGrpSpPr>
        <p:grpSpPr>
          <a:xfrm>
            <a:off x="381000" y="1381125"/>
            <a:ext cx="2628900" cy="3286125"/>
            <a:chOff x="0" y="0"/>
            <a:chExt cx="2628900" cy="3286125"/>
          </a:xfrm>
        </p:grpSpPr>
        <p:grpSp>
          <p:nvGrpSpPr>
            <p:cNvPr id="377" name="Google Shape;377;p22"/>
            <p:cNvGrpSpPr/>
            <p:nvPr/>
          </p:nvGrpSpPr>
          <p:grpSpPr>
            <a:xfrm>
              <a:off x="0" y="0"/>
              <a:ext cx="2628900" cy="666900"/>
              <a:chOff x="0" y="0"/>
              <a:chExt cx="2628900" cy="666900"/>
            </a:xfrm>
          </p:grpSpPr>
          <p:sp>
            <p:nvSpPr>
              <p:cNvPr id="378" name="Google Shape;378;p22"/>
              <p:cNvSpPr/>
              <p:nvPr/>
            </p:nvSpPr>
            <p:spPr>
              <a:xfrm>
                <a:off x="0" y="0"/>
                <a:ext cx="2628900" cy="666900"/>
              </a:xfrm>
              <a:prstGeom prst="roundRect">
                <a:avLst>
                  <a:gd fmla="val 8571" name="adj"/>
                </a:avLst>
              </a:prstGeom>
              <a:solidFill>
                <a:srgbClr val="FFFFFF"/>
              </a:solidFill>
              <a:ln cap="flat" cmpd="sng" w="14300">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22"/>
              <p:cNvSpPr/>
              <p:nvPr/>
            </p:nvSpPr>
            <p:spPr>
              <a:xfrm>
                <a:off x="0" y="0"/>
                <a:ext cx="523800" cy="666900"/>
              </a:xfrm>
              <a:prstGeom prst="roundRect">
                <a:avLst>
                  <a:gd fmla="val 10909"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22"/>
              <p:cNvSpPr/>
              <p:nvPr/>
            </p:nvSpPr>
            <p:spPr>
              <a:xfrm>
                <a:off x="428625" y="0"/>
                <a:ext cx="95400" cy="6669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22"/>
              <p:cNvSpPr txBox="1"/>
              <p:nvPr/>
            </p:nvSpPr>
            <p:spPr>
              <a:xfrm>
                <a:off x="0" y="0"/>
                <a:ext cx="5238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FFFFFF"/>
                    </a:solidFill>
                    <a:latin typeface="Inter ExtraBold"/>
                    <a:ea typeface="Inter ExtraBold"/>
                    <a:cs typeface="Inter ExtraBold"/>
                    <a:sym typeface="Inter ExtraBold"/>
                  </a:rPr>
                  <a:t>S01</a:t>
                </a:r>
                <a:endParaRPr b="0" i="0" sz="1200" u="none" cap="none" strike="noStrike">
                  <a:solidFill>
                    <a:srgbClr val="FFFFFF"/>
                  </a:solidFill>
                  <a:latin typeface="Inter ExtraBold"/>
                  <a:ea typeface="Inter ExtraBold"/>
                  <a:cs typeface="Inter ExtraBold"/>
                  <a:sym typeface="Inter ExtraBold"/>
                </a:endParaRPr>
              </a:p>
            </p:txBody>
          </p:sp>
          <p:sp>
            <p:nvSpPr>
              <p:cNvPr id="382" name="Google Shape;382;p22"/>
              <p:cNvSpPr txBox="1"/>
              <p:nvPr/>
            </p:nvSpPr>
            <p:spPr>
              <a:xfrm>
                <a:off x="619125" y="0"/>
                <a:ext cx="19146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Chat support</a:t>
                </a:r>
                <a:endParaRPr b="1" i="0" sz="1100" u="none" cap="none" strike="noStrike">
                  <a:solidFill>
                    <a:srgbClr val="0F172A"/>
                  </a:solidFill>
                  <a:latin typeface="Inter"/>
                  <a:ea typeface="Inter"/>
                  <a:cs typeface="Inter"/>
                  <a:sym typeface="Inter"/>
                </a:endParaRPr>
              </a:p>
            </p:txBody>
          </p:sp>
        </p:grpSp>
        <p:grpSp>
          <p:nvGrpSpPr>
            <p:cNvPr id="383" name="Google Shape;383;p22"/>
            <p:cNvGrpSpPr/>
            <p:nvPr/>
          </p:nvGrpSpPr>
          <p:grpSpPr>
            <a:xfrm>
              <a:off x="0" y="809625"/>
              <a:ext cx="2628900" cy="2476500"/>
              <a:chOff x="0" y="0"/>
              <a:chExt cx="2628900" cy="2476500"/>
            </a:xfrm>
          </p:grpSpPr>
          <p:sp>
            <p:nvSpPr>
              <p:cNvPr id="384" name="Google Shape;384;p22"/>
              <p:cNvSpPr/>
              <p:nvPr/>
            </p:nvSpPr>
            <p:spPr>
              <a:xfrm>
                <a:off x="0" y="0"/>
                <a:ext cx="2628900" cy="2476500"/>
              </a:xfrm>
              <a:prstGeom prst="roundRect">
                <a:avLst>
                  <a:gd fmla="val 3076" name="adj"/>
                </a:avLst>
              </a:prstGeom>
              <a:solidFill>
                <a:srgbClr val="F8FAFC"/>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22"/>
              <p:cNvSpPr/>
              <p:nvPr/>
            </p:nvSpPr>
            <p:spPr>
              <a:xfrm>
                <a:off x="0" y="0"/>
                <a:ext cx="38100" cy="24765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22"/>
              <p:cNvSpPr txBox="1"/>
              <p:nvPr/>
            </p:nvSpPr>
            <p:spPr>
              <a:xfrm>
                <a:off x="171450" y="190500"/>
                <a:ext cx="2286000" cy="209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Hỗ trợ trực tuyến</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KTV gửi yêu cầu hỗ trợ kỹ thuật hoặc hỗ trợ booking qua hệ thống chat.</a:t>
                </a:r>
                <a:endParaRPr b="0" i="0" sz="100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1000"/>
                  <a:buFont typeface="Arial"/>
                  <a:buNone/>
                </a:pPr>
                <a:r>
                  <a:rPr b="1" i="0" lang="en" sz="1000" u="none" cap="none" strike="noStrike">
                    <a:solidFill>
                      <a:srgbClr val="007B7C"/>
                    </a:solidFill>
                    <a:latin typeface="Inter"/>
                    <a:ea typeface="Inter"/>
                    <a:cs typeface="Inter"/>
                    <a:sym typeface="Inter"/>
                  </a:rPr>
                  <a:t>● Đánh giá &amp; Hoàn tất</a:t>
                </a:r>
                <a:endParaRPr b="1" i="0" sz="1000" u="none" cap="none" strike="noStrike">
                  <a:solidFill>
                    <a:srgbClr val="007B7C"/>
                  </a:solidFill>
                  <a:latin typeface="Inter"/>
                  <a:ea typeface="Inter"/>
                  <a:cs typeface="Inter"/>
                  <a:sym typeface="Inter"/>
                </a:endParaRPr>
              </a:p>
              <a:p>
                <a:pPr indent="0" lvl="0" marL="0" marR="0" rtl="0" algn="l">
                  <a:lnSpc>
                    <a:spcPct val="100000"/>
                  </a:lnSpc>
                  <a:spcBef>
                    <a:spcPts val="45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Sau khi xử lý xong, KTV kết thúc và đánh giá chất lượng phiên hỗ trợ (rating conversation).</a:t>
                </a:r>
                <a:endParaRPr b="0" i="0" sz="1000" u="none" cap="none" strike="noStrike">
                  <a:solidFill>
                    <a:srgbClr val="475569"/>
                  </a:solidFill>
                  <a:latin typeface="Inter"/>
                  <a:ea typeface="Inter"/>
                  <a:cs typeface="Inter"/>
                  <a:sym typeface="Inter"/>
                </a:endParaRPr>
              </a:p>
            </p:txBody>
          </p:sp>
        </p:grpSp>
      </p:grpSp>
      <p:grpSp>
        <p:nvGrpSpPr>
          <p:cNvPr id="387" name="Google Shape;387;p22"/>
          <p:cNvGrpSpPr/>
          <p:nvPr/>
        </p:nvGrpSpPr>
        <p:grpSpPr>
          <a:xfrm>
            <a:off x="3257550" y="1381125"/>
            <a:ext cx="2628900" cy="3286125"/>
            <a:chOff x="0" y="0"/>
            <a:chExt cx="2628900" cy="3286125"/>
          </a:xfrm>
        </p:grpSpPr>
        <p:grpSp>
          <p:nvGrpSpPr>
            <p:cNvPr id="388" name="Google Shape;388;p22"/>
            <p:cNvGrpSpPr/>
            <p:nvPr/>
          </p:nvGrpSpPr>
          <p:grpSpPr>
            <a:xfrm>
              <a:off x="0" y="0"/>
              <a:ext cx="2628900" cy="666900"/>
              <a:chOff x="0" y="0"/>
              <a:chExt cx="2628900" cy="666900"/>
            </a:xfrm>
          </p:grpSpPr>
          <p:sp>
            <p:nvSpPr>
              <p:cNvPr id="389" name="Google Shape;389;p22"/>
              <p:cNvSpPr/>
              <p:nvPr/>
            </p:nvSpPr>
            <p:spPr>
              <a:xfrm>
                <a:off x="0" y="0"/>
                <a:ext cx="2628900" cy="666900"/>
              </a:xfrm>
              <a:prstGeom prst="roundRect">
                <a:avLst>
                  <a:gd fmla="val 8571" name="adj"/>
                </a:avLst>
              </a:prstGeom>
              <a:solidFill>
                <a:srgbClr val="FFFFFF"/>
              </a:solidFill>
              <a:ln cap="flat" cmpd="sng" w="14300">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22"/>
              <p:cNvSpPr/>
              <p:nvPr/>
            </p:nvSpPr>
            <p:spPr>
              <a:xfrm>
                <a:off x="0" y="0"/>
                <a:ext cx="523800" cy="666900"/>
              </a:xfrm>
              <a:prstGeom prst="roundRect">
                <a:avLst>
                  <a:gd fmla="val 10909"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22"/>
              <p:cNvSpPr/>
              <p:nvPr/>
            </p:nvSpPr>
            <p:spPr>
              <a:xfrm>
                <a:off x="428625" y="0"/>
                <a:ext cx="95400" cy="6669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22"/>
              <p:cNvSpPr txBox="1"/>
              <p:nvPr/>
            </p:nvSpPr>
            <p:spPr>
              <a:xfrm>
                <a:off x="0" y="0"/>
                <a:ext cx="5238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FFFFFF"/>
                    </a:solidFill>
                    <a:latin typeface="Inter ExtraBold"/>
                    <a:ea typeface="Inter ExtraBold"/>
                    <a:cs typeface="Inter ExtraBold"/>
                    <a:sym typeface="Inter ExtraBold"/>
                  </a:rPr>
                  <a:t>S02</a:t>
                </a:r>
                <a:endParaRPr b="0" i="0" sz="1200" u="none" cap="none" strike="noStrike">
                  <a:solidFill>
                    <a:srgbClr val="FFFFFF"/>
                  </a:solidFill>
                  <a:latin typeface="Inter ExtraBold"/>
                  <a:ea typeface="Inter ExtraBold"/>
                  <a:cs typeface="Inter ExtraBold"/>
                  <a:sym typeface="Inter ExtraBold"/>
                </a:endParaRPr>
              </a:p>
            </p:txBody>
          </p:sp>
          <p:sp>
            <p:nvSpPr>
              <p:cNvPr id="393" name="Google Shape;393;p22"/>
              <p:cNvSpPr txBox="1"/>
              <p:nvPr/>
            </p:nvSpPr>
            <p:spPr>
              <a:xfrm>
                <a:off x="619125" y="0"/>
                <a:ext cx="19146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Báo cáo linh kiện KTV</a:t>
                </a:r>
                <a:endParaRPr b="1" i="0" sz="1100" u="none" cap="none" strike="noStrike">
                  <a:solidFill>
                    <a:srgbClr val="0F172A"/>
                  </a:solidFill>
                  <a:latin typeface="Inter"/>
                  <a:ea typeface="Inter"/>
                  <a:cs typeface="Inter"/>
                  <a:sym typeface="Inter"/>
                </a:endParaRPr>
              </a:p>
            </p:txBody>
          </p:sp>
        </p:grpSp>
        <p:grpSp>
          <p:nvGrpSpPr>
            <p:cNvPr id="394" name="Google Shape;394;p22"/>
            <p:cNvGrpSpPr/>
            <p:nvPr/>
          </p:nvGrpSpPr>
          <p:grpSpPr>
            <a:xfrm>
              <a:off x="0" y="809625"/>
              <a:ext cx="2628900" cy="2476500"/>
              <a:chOff x="0" y="0"/>
              <a:chExt cx="2628900" cy="2476500"/>
            </a:xfrm>
          </p:grpSpPr>
          <p:sp>
            <p:nvSpPr>
              <p:cNvPr id="395" name="Google Shape;395;p22"/>
              <p:cNvSpPr/>
              <p:nvPr/>
            </p:nvSpPr>
            <p:spPr>
              <a:xfrm>
                <a:off x="0" y="0"/>
                <a:ext cx="2628900" cy="2476500"/>
              </a:xfrm>
              <a:prstGeom prst="roundRect">
                <a:avLst>
                  <a:gd fmla="val 3076" name="adj"/>
                </a:avLst>
              </a:prstGeom>
              <a:solidFill>
                <a:srgbClr val="F8FAFC"/>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22"/>
              <p:cNvSpPr/>
              <p:nvPr/>
            </p:nvSpPr>
            <p:spPr>
              <a:xfrm>
                <a:off x="0" y="0"/>
                <a:ext cx="38100" cy="2476500"/>
              </a:xfrm>
              <a:prstGeom prst="roundRect">
                <a:avLst>
                  <a:gd fmla="val 50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 name="Google Shape;397;p22"/>
              <p:cNvSpPr txBox="1"/>
              <p:nvPr/>
            </p:nvSpPr>
            <p:spPr>
              <a:xfrm>
                <a:off x="171450" y="190500"/>
                <a:ext cx="2286000" cy="209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Quản lý linh kiện cá nhân</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Kho giao linh kiện, KTV quét nhận hàng. KTV phải báo cáo tình trạng sử dụng cụ thể của từng linh kiện.</a:t>
                </a:r>
                <a:endParaRPr b="0" i="0" sz="100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1000"/>
                  <a:buFont typeface="Arial"/>
                  <a:buNone/>
                </a:pPr>
                <a:r>
                  <a:rPr b="1" i="0" lang="en" sz="1000" u="none" cap="none" strike="noStrike">
                    <a:solidFill>
                      <a:srgbClr val="0284C7"/>
                    </a:solidFill>
                    <a:latin typeface="Inter"/>
                    <a:ea typeface="Inter"/>
                    <a:cs typeface="Inter"/>
                    <a:sym typeface="Inter"/>
                  </a:rPr>
                  <a:t>● Phân loại đối soát</a:t>
                </a:r>
                <a:endParaRPr b="1" i="0" sz="1000" u="none" cap="none" strike="noStrike">
                  <a:solidFill>
                    <a:srgbClr val="0284C7"/>
                  </a:solidFill>
                  <a:latin typeface="Inter"/>
                  <a:ea typeface="Inter"/>
                  <a:cs typeface="Inter"/>
                  <a:sym typeface="Inter"/>
                </a:endParaRPr>
              </a:p>
              <a:p>
                <a:pPr indent="0" lvl="0" marL="0" marR="0" rtl="0" algn="l">
                  <a:lnSpc>
                    <a:spcPct val="100000"/>
                  </a:lnSpc>
                  <a:spcBef>
                    <a:spcPts val="45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Quét vào bill nếu đã dùng, hoặc báo cáo nếu không sử dụng, bị lỗi, bị mất để kho tiến hành đối soát.</a:t>
                </a:r>
                <a:endParaRPr b="0" i="0" sz="1000" u="none" cap="none" strike="noStrike">
                  <a:solidFill>
                    <a:srgbClr val="475569"/>
                  </a:solidFill>
                  <a:latin typeface="Inter"/>
                  <a:ea typeface="Inter"/>
                  <a:cs typeface="Inter"/>
                  <a:sym typeface="Inter"/>
                </a:endParaRPr>
              </a:p>
            </p:txBody>
          </p:sp>
        </p:grpSp>
      </p:grpSp>
      <p:grpSp>
        <p:nvGrpSpPr>
          <p:cNvPr id="398" name="Google Shape;398;p22"/>
          <p:cNvGrpSpPr/>
          <p:nvPr/>
        </p:nvGrpSpPr>
        <p:grpSpPr>
          <a:xfrm>
            <a:off x="6134100" y="1381125"/>
            <a:ext cx="2628900" cy="3286125"/>
            <a:chOff x="0" y="0"/>
            <a:chExt cx="2628900" cy="3286125"/>
          </a:xfrm>
        </p:grpSpPr>
        <p:grpSp>
          <p:nvGrpSpPr>
            <p:cNvPr id="399" name="Google Shape;399;p22"/>
            <p:cNvGrpSpPr/>
            <p:nvPr/>
          </p:nvGrpSpPr>
          <p:grpSpPr>
            <a:xfrm>
              <a:off x="0" y="0"/>
              <a:ext cx="2628900" cy="666900"/>
              <a:chOff x="0" y="0"/>
              <a:chExt cx="2628900" cy="666900"/>
            </a:xfrm>
          </p:grpSpPr>
          <p:sp>
            <p:nvSpPr>
              <p:cNvPr id="400" name="Google Shape;400;p22"/>
              <p:cNvSpPr/>
              <p:nvPr/>
            </p:nvSpPr>
            <p:spPr>
              <a:xfrm>
                <a:off x="0" y="0"/>
                <a:ext cx="2628900" cy="666900"/>
              </a:xfrm>
              <a:prstGeom prst="roundRect">
                <a:avLst>
                  <a:gd fmla="val 8571" name="adj"/>
                </a:avLst>
              </a:prstGeom>
              <a:solidFill>
                <a:srgbClr val="FFFFFF"/>
              </a:solidFill>
              <a:ln cap="flat" cmpd="sng" w="14300">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 name="Google Shape;401;p22"/>
              <p:cNvSpPr/>
              <p:nvPr/>
            </p:nvSpPr>
            <p:spPr>
              <a:xfrm>
                <a:off x="0" y="0"/>
                <a:ext cx="523800" cy="666900"/>
              </a:xfrm>
              <a:prstGeom prst="roundRect">
                <a:avLst>
                  <a:gd fmla="val 10909" name="adj"/>
                </a:avLst>
              </a:prstGeom>
              <a:solidFill>
                <a:srgbClr val="10B98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 name="Google Shape;402;p22"/>
              <p:cNvSpPr/>
              <p:nvPr/>
            </p:nvSpPr>
            <p:spPr>
              <a:xfrm>
                <a:off x="428625" y="0"/>
                <a:ext cx="95400" cy="666900"/>
              </a:xfrm>
              <a:prstGeom prst="rect">
                <a:avLst/>
              </a:prstGeom>
              <a:solidFill>
                <a:srgbClr val="10B98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22"/>
              <p:cNvSpPr txBox="1"/>
              <p:nvPr/>
            </p:nvSpPr>
            <p:spPr>
              <a:xfrm>
                <a:off x="0" y="0"/>
                <a:ext cx="523800" cy="66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FFFFFF"/>
                    </a:solidFill>
                    <a:latin typeface="Inter ExtraBold"/>
                    <a:ea typeface="Inter ExtraBold"/>
                    <a:cs typeface="Inter ExtraBold"/>
                    <a:sym typeface="Inter ExtraBold"/>
                  </a:rPr>
                  <a:t>S03</a:t>
                </a:r>
                <a:endParaRPr b="0" i="0" sz="1200" u="none" cap="none" strike="noStrike">
                  <a:solidFill>
                    <a:srgbClr val="FFFFFF"/>
                  </a:solidFill>
                  <a:latin typeface="Inter ExtraBold"/>
                  <a:ea typeface="Inter ExtraBold"/>
                  <a:cs typeface="Inter ExtraBold"/>
                  <a:sym typeface="Inter ExtraBold"/>
                </a:endParaRPr>
              </a:p>
            </p:txBody>
          </p:sp>
          <p:sp>
            <p:nvSpPr>
              <p:cNvPr id="404" name="Google Shape;404;p22"/>
              <p:cNvSpPr txBox="1"/>
              <p:nvPr/>
            </p:nvSpPr>
            <p:spPr>
              <a:xfrm>
                <a:off x="619125" y="0"/>
                <a:ext cx="1914600" cy="66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Quản lý kho linh kiện</a:t>
                </a:r>
                <a:endParaRPr b="1" i="0" sz="1100" u="none" cap="none" strike="noStrike">
                  <a:solidFill>
                    <a:srgbClr val="0F172A"/>
                  </a:solidFill>
                  <a:latin typeface="Inter"/>
                  <a:ea typeface="Inter"/>
                  <a:cs typeface="Inter"/>
                  <a:sym typeface="Inter"/>
                </a:endParaRPr>
              </a:p>
            </p:txBody>
          </p:sp>
        </p:grpSp>
        <p:grpSp>
          <p:nvGrpSpPr>
            <p:cNvPr id="405" name="Google Shape;405;p22"/>
            <p:cNvGrpSpPr/>
            <p:nvPr/>
          </p:nvGrpSpPr>
          <p:grpSpPr>
            <a:xfrm>
              <a:off x="0" y="809625"/>
              <a:ext cx="2628900" cy="2476500"/>
              <a:chOff x="0" y="0"/>
              <a:chExt cx="2628900" cy="2476500"/>
            </a:xfrm>
          </p:grpSpPr>
          <p:sp>
            <p:nvSpPr>
              <p:cNvPr id="406" name="Google Shape;406;p22"/>
              <p:cNvSpPr/>
              <p:nvPr/>
            </p:nvSpPr>
            <p:spPr>
              <a:xfrm>
                <a:off x="0" y="0"/>
                <a:ext cx="2628900" cy="2476500"/>
              </a:xfrm>
              <a:prstGeom prst="roundRect">
                <a:avLst>
                  <a:gd fmla="val 3076" name="adj"/>
                </a:avLst>
              </a:prstGeom>
              <a:solidFill>
                <a:srgbClr val="F8FAFC"/>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22"/>
              <p:cNvSpPr/>
              <p:nvPr/>
            </p:nvSpPr>
            <p:spPr>
              <a:xfrm>
                <a:off x="0" y="0"/>
                <a:ext cx="38100" cy="2476500"/>
              </a:xfrm>
              <a:prstGeom prst="roundRect">
                <a:avLst>
                  <a:gd fmla="val 50000" name="adj"/>
                </a:avLst>
              </a:prstGeom>
              <a:solidFill>
                <a:srgbClr val="10B98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22"/>
              <p:cNvSpPr txBox="1"/>
              <p:nvPr/>
            </p:nvSpPr>
            <p:spPr>
              <a:xfrm>
                <a:off x="171450" y="190500"/>
                <a:ext cx="2286000" cy="209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0F172A"/>
                    </a:solidFill>
                    <a:latin typeface="Inter"/>
                    <a:ea typeface="Inter"/>
                    <a:cs typeface="Inter"/>
                    <a:sym typeface="Inter"/>
                  </a:rPr>
                  <a:t>Vận hành &amp; Cung ứng Kho</a:t>
                </a:r>
                <a:endParaRPr b="1" i="0" sz="1100" u="none" cap="none" strike="noStrike">
                  <a:solidFill>
                    <a:srgbClr val="0F172A"/>
                  </a:solidFill>
                  <a:latin typeface="Inter"/>
                  <a:ea typeface="Inter"/>
                  <a:cs typeface="Inter"/>
                  <a:sym typeface="Inter"/>
                </a:endParaRPr>
              </a:p>
              <a:p>
                <a:pPr indent="0" lvl="0" marL="0" marR="0" rtl="0" algn="l">
                  <a:lnSpc>
                    <a:spcPct val="100000"/>
                  </a:lnSpc>
                  <a:spcBef>
                    <a:spcPts val="75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Nhập hàng từ nhà cung cấp, cấp phát linh kiện theo yêu cầu từ KTV</a:t>
                </a:r>
                <a:endParaRPr b="0" i="0" sz="100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1000"/>
                  <a:buFont typeface="Arial"/>
                  <a:buNone/>
                </a:pPr>
                <a:r>
                  <a:rPr b="1" i="0" lang="en" sz="1000" u="none" cap="none" strike="noStrike">
                    <a:solidFill>
                      <a:srgbClr val="10B981"/>
                    </a:solidFill>
                    <a:latin typeface="Inter"/>
                    <a:ea typeface="Inter"/>
                    <a:cs typeface="Inter"/>
                    <a:sym typeface="Inter"/>
                  </a:rPr>
                  <a:t>● Tối ưu hóa tồn kho</a:t>
                </a:r>
                <a:endParaRPr b="1" i="0" sz="1000" u="none" cap="none" strike="noStrike">
                  <a:solidFill>
                    <a:srgbClr val="10B981"/>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Chủ động theo dõi tồn kho và đặt hàng bổ sung kịp thời khi phát hiện dấu hiệu thiếu hụt.</a:t>
                </a:r>
                <a:endParaRPr b="0" i="0" sz="1000" u="none" cap="none" strike="noStrike">
                  <a:solidFill>
                    <a:srgbClr val="475569"/>
                  </a:solidFill>
                  <a:latin typeface="Inter"/>
                  <a:ea typeface="Inter"/>
                  <a:cs typeface="Inter"/>
                  <a:sym typeface="Inter"/>
                </a:endParaRPr>
              </a:p>
            </p:txBody>
          </p:sp>
        </p:gr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23"/>
          <p:cNvSpPr/>
          <p:nvPr/>
        </p:nvSpPr>
        <p:spPr>
          <a:xfrm>
            <a:off x="0" y="0"/>
            <a:ext cx="3524400" cy="5143500"/>
          </a:xfrm>
          <a:prstGeom prst="rect">
            <a:avLst/>
          </a:prstGeom>
          <a:solidFill>
            <a:srgbClr val="F8FAF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14" name="Google Shape;414;p23"/>
          <p:cNvCxnSpPr/>
          <p:nvPr/>
        </p:nvCxnSpPr>
        <p:spPr>
          <a:xfrm>
            <a:off x="3524250" y="0"/>
            <a:ext cx="0" cy="51435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415" name="Google Shape;415;p23"/>
          <p:cNvSpPr txBox="1"/>
          <p:nvPr/>
        </p:nvSpPr>
        <p:spPr>
          <a:xfrm>
            <a:off x="285750" y="333375"/>
            <a:ext cx="29529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007B7C"/>
                </a:solidFill>
                <a:latin typeface="Inter"/>
                <a:ea typeface="Inter"/>
                <a:cs typeface="Inter"/>
                <a:sym typeface="Inter"/>
              </a:rPr>
              <a:t>Chuẩn mô hình hóa</a:t>
            </a:r>
            <a:endParaRPr b="1" i="0" sz="850" u="none" cap="none" strike="noStrike">
              <a:solidFill>
                <a:srgbClr val="007B7C"/>
              </a:solidFill>
              <a:latin typeface="Inter"/>
              <a:ea typeface="Inter"/>
              <a:cs typeface="Inter"/>
              <a:sym typeface="Inter"/>
            </a:endParaRPr>
          </a:p>
          <a:p>
            <a:pPr indent="0" lvl="0" marL="0" marR="0" rtl="0" algn="l">
              <a:lnSpc>
                <a:spcPct val="100000"/>
              </a:lnSpc>
              <a:spcBef>
                <a:spcPts val="30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BPMN 2.0 Standard</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600"/>
              </a:spcBef>
              <a:spcAft>
                <a:spcPts val="0"/>
              </a:spcAft>
              <a:buClr>
                <a:srgbClr val="000000"/>
              </a:buClr>
              <a:buSzPts val="950"/>
              <a:buFont typeface="Arial"/>
              <a:buNone/>
            </a:pPr>
            <a:r>
              <a:rPr b="0" i="0" lang="en" sz="950" u="none" cap="none" strike="noStrike">
                <a:solidFill>
                  <a:srgbClr val="475569"/>
                </a:solidFill>
                <a:latin typeface="Inter"/>
                <a:ea typeface="Inter"/>
                <a:cs typeface="Inter"/>
                <a:sym typeface="Inter"/>
              </a:rPr>
              <a:t>Đồ án áp dụng chuẩn BPMN 2.0 (Business Process Model and Notation) để mô hình hóa chi tiết các quy trình.</a:t>
            </a:r>
            <a:endParaRPr b="0" i="0" sz="950" u="none" cap="none" strike="noStrike">
              <a:solidFill>
                <a:srgbClr val="475569"/>
              </a:solidFill>
              <a:latin typeface="Inter"/>
              <a:ea typeface="Inter"/>
              <a:cs typeface="Inter"/>
              <a:sym typeface="Inter"/>
            </a:endParaRPr>
          </a:p>
        </p:txBody>
      </p:sp>
      <p:cxnSp>
        <p:nvCxnSpPr>
          <p:cNvPr id="416" name="Google Shape;416;p23"/>
          <p:cNvCxnSpPr/>
          <p:nvPr/>
        </p:nvCxnSpPr>
        <p:spPr>
          <a:xfrm>
            <a:off x="285750" y="1285875"/>
            <a:ext cx="2952900" cy="0"/>
          </a:xfrm>
          <a:prstGeom prst="straightConnector1">
            <a:avLst/>
          </a:prstGeom>
          <a:solidFill>
            <a:srgbClr val="FFFFFF"/>
          </a:solidFill>
          <a:ln cap="flat" cmpd="sng" w="9525">
            <a:solidFill>
              <a:srgbClr val="E2E8F0"/>
            </a:solidFill>
            <a:prstDash val="solid"/>
            <a:round/>
            <a:headEnd len="sm" w="sm" type="none"/>
            <a:tailEnd len="sm" w="sm" type="none"/>
          </a:ln>
        </p:spPr>
      </p:cxnSp>
      <p:grpSp>
        <p:nvGrpSpPr>
          <p:cNvPr id="417" name="Google Shape;417;p23"/>
          <p:cNvGrpSpPr/>
          <p:nvPr/>
        </p:nvGrpSpPr>
        <p:grpSpPr>
          <a:xfrm>
            <a:off x="285750" y="1524000"/>
            <a:ext cx="2952900" cy="2933700"/>
            <a:chOff x="0" y="0"/>
            <a:chExt cx="2952900" cy="2933700"/>
          </a:xfrm>
        </p:grpSpPr>
        <p:grpSp>
          <p:nvGrpSpPr>
            <p:cNvPr id="418" name="Google Shape;418;p23"/>
            <p:cNvGrpSpPr/>
            <p:nvPr/>
          </p:nvGrpSpPr>
          <p:grpSpPr>
            <a:xfrm>
              <a:off x="0" y="0"/>
              <a:ext cx="2952900" cy="457200"/>
              <a:chOff x="0" y="0"/>
              <a:chExt cx="2952900" cy="457200"/>
            </a:xfrm>
          </p:grpSpPr>
          <p:sp>
            <p:nvSpPr>
              <p:cNvPr id="419" name="Google Shape;419;p23"/>
              <p:cNvSpPr/>
              <p:nvPr/>
            </p:nvSpPr>
            <p:spPr>
              <a:xfrm>
                <a:off x="0" y="0"/>
                <a:ext cx="304800" cy="304800"/>
              </a:xfrm>
              <a:prstGeom prst="roundRect">
                <a:avLst>
                  <a:gd fmla="val 18750" name="adj"/>
                </a:avLst>
              </a:prstGeom>
              <a:solidFill>
                <a:srgbClr val="E0F2F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p23"/>
              <p:cNvSpPr/>
              <p:nvPr/>
            </p:nvSpPr>
            <p:spPr>
              <a:xfrm>
                <a:off x="66675" y="66675"/>
                <a:ext cx="171600" cy="171600"/>
              </a:xfrm>
              <a:prstGeom prst="roundRect">
                <a:avLst>
                  <a:gd fmla="val 11111" name="adj"/>
                </a:avLst>
              </a:prstGeom>
              <a:solidFill>
                <a:srgbClr val="000000">
                  <a:alpha val="0"/>
                </a:srgbClr>
              </a:solidFill>
              <a:ln cap="flat" cmpd="sng" w="14300">
                <a:solidFill>
                  <a:srgbClr val="007B7C"/>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21" name="Google Shape;421;p23"/>
              <p:cNvCxnSpPr/>
              <p:nvPr/>
            </p:nvCxnSpPr>
            <p:spPr>
              <a:xfrm>
                <a:off x="152400" y="66675"/>
                <a:ext cx="0" cy="171600"/>
              </a:xfrm>
              <a:prstGeom prst="straightConnector1">
                <a:avLst/>
              </a:prstGeom>
              <a:solidFill>
                <a:srgbClr val="FFFFFF"/>
              </a:solidFill>
              <a:ln cap="flat" cmpd="sng" w="14300">
                <a:solidFill>
                  <a:srgbClr val="007B7C"/>
                </a:solidFill>
                <a:prstDash val="solid"/>
                <a:round/>
                <a:headEnd len="sm" w="sm" type="none"/>
                <a:tailEnd len="sm" w="sm" type="none"/>
              </a:ln>
            </p:spPr>
          </p:cxnSp>
          <p:cxnSp>
            <p:nvCxnSpPr>
              <p:cNvPr id="422" name="Google Shape;422;p23"/>
              <p:cNvCxnSpPr/>
              <p:nvPr/>
            </p:nvCxnSpPr>
            <p:spPr>
              <a:xfrm>
                <a:off x="66675" y="152400"/>
                <a:ext cx="171600" cy="0"/>
              </a:xfrm>
              <a:prstGeom prst="straightConnector1">
                <a:avLst/>
              </a:prstGeom>
              <a:solidFill>
                <a:srgbClr val="FFFFFF"/>
              </a:solidFill>
              <a:ln cap="flat" cmpd="sng" w="14300">
                <a:solidFill>
                  <a:srgbClr val="007B7C"/>
                </a:solidFill>
                <a:prstDash val="solid"/>
                <a:round/>
                <a:headEnd len="sm" w="sm" type="none"/>
                <a:tailEnd len="sm" w="sm" type="none"/>
              </a:ln>
            </p:spPr>
          </p:cxnSp>
          <p:sp>
            <p:nvSpPr>
              <p:cNvPr id="423" name="Google Shape;423;p23"/>
              <p:cNvSpPr txBox="1"/>
              <p:nvPr/>
            </p:nvSpPr>
            <p:spPr>
              <a:xfrm>
                <a:off x="419100" y="0"/>
                <a:ext cx="2533800" cy="4572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F172A"/>
                    </a:solidFill>
                    <a:latin typeface="Inter"/>
                    <a:ea typeface="Inter"/>
                    <a:cs typeface="Inter"/>
                    <a:sym typeface="Inter"/>
                  </a:rPr>
                  <a:t>Lanes (Tác nhân): </a:t>
                </a:r>
                <a:r>
                  <a:rPr b="0" i="0" lang="en" sz="900" u="none" cap="none" strike="noStrike">
                    <a:solidFill>
                      <a:srgbClr val="475569"/>
                    </a:solidFill>
                    <a:latin typeface="Inter"/>
                    <a:ea typeface="Inter"/>
                    <a:cs typeface="Inter"/>
                    <a:sym typeface="Inter"/>
                  </a:rPr>
                  <a:t>Thể hiện rõ vai trò của từng cá nhân hoặc hệ thống tham gia vào quy trình.</a:t>
                </a:r>
                <a:endParaRPr b="1" i="0" sz="900" u="none" cap="none" strike="noStrike">
                  <a:solidFill>
                    <a:srgbClr val="0F172A"/>
                  </a:solidFill>
                  <a:latin typeface="Inter"/>
                  <a:ea typeface="Inter"/>
                  <a:cs typeface="Inter"/>
                  <a:sym typeface="Inter"/>
                </a:endParaRPr>
              </a:p>
            </p:txBody>
          </p:sp>
        </p:grpSp>
        <p:grpSp>
          <p:nvGrpSpPr>
            <p:cNvPr id="424" name="Google Shape;424;p23"/>
            <p:cNvGrpSpPr/>
            <p:nvPr/>
          </p:nvGrpSpPr>
          <p:grpSpPr>
            <a:xfrm>
              <a:off x="0" y="619125"/>
              <a:ext cx="2952900" cy="457200"/>
              <a:chOff x="0" y="0"/>
              <a:chExt cx="2952900" cy="457200"/>
            </a:xfrm>
          </p:grpSpPr>
          <p:sp>
            <p:nvSpPr>
              <p:cNvPr id="425" name="Google Shape;425;p23"/>
              <p:cNvSpPr/>
              <p:nvPr/>
            </p:nvSpPr>
            <p:spPr>
              <a:xfrm>
                <a:off x="0" y="0"/>
                <a:ext cx="304800" cy="304800"/>
              </a:xfrm>
              <a:prstGeom prst="roundRect">
                <a:avLst>
                  <a:gd fmla="val 18750" name="adj"/>
                </a:avLst>
              </a:prstGeom>
              <a:solidFill>
                <a:srgbClr val="FEE2E2"/>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23"/>
              <p:cNvSpPr/>
              <p:nvPr/>
            </p:nvSpPr>
            <p:spPr>
              <a:xfrm>
                <a:off x="66675" y="104775"/>
                <a:ext cx="95400" cy="95400"/>
              </a:xfrm>
              <a:prstGeom prst="ellipse">
                <a:avLst/>
              </a:prstGeom>
              <a:solidFill>
                <a:srgbClr val="000000">
                  <a:alpha val="0"/>
                </a:srgbClr>
              </a:solidFill>
              <a:ln cap="flat" cmpd="sng" w="14300">
                <a:solidFill>
                  <a:srgbClr val="10B98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23"/>
              <p:cNvSpPr/>
              <p:nvPr/>
            </p:nvSpPr>
            <p:spPr>
              <a:xfrm>
                <a:off x="142875" y="104775"/>
                <a:ext cx="95400" cy="95400"/>
              </a:xfrm>
              <a:prstGeom prst="ellipse">
                <a:avLst/>
              </a:prstGeom>
              <a:solidFill>
                <a:srgbClr val="000000">
                  <a:alpha val="0"/>
                </a:srgbClr>
              </a:solidFill>
              <a:ln cap="flat" cmpd="sng" w="19050">
                <a:solidFill>
                  <a:srgbClr val="E11D48"/>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23"/>
              <p:cNvSpPr txBox="1"/>
              <p:nvPr/>
            </p:nvSpPr>
            <p:spPr>
              <a:xfrm>
                <a:off x="419100" y="0"/>
                <a:ext cx="2533800" cy="4572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F172A"/>
                    </a:solidFill>
                    <a:latin typeface="Inter"/>
                    <a:ea typeface="Inter"/>
                    <a:cs typeface="Inter"/>
                    <a:sym typeface="Inter"/>
                  </a:rPr>
                  <a:t>Bắt đầu / Kết thúc: </a:t>
                </a:r>
                <a:r>
                  <a:rPr b="0" i="0" lang="en" sz="900" u="none" cap="none" strike="noStrike">
                    <a:solidFill>
                      <a:srgbClr val="475569"/>
                    </a:solidFill>
                    <a:latin typeface="Inter"/>
                    <a:ea typeface="Inter"/>
                    <a:cs typeface="Inter"/>
                    <a:sym typeface="Inter"/>
                  </a:rPr>
                  <a:t>Xác định điểm kích hoạt và hoàn tất của một luồng công việc.</a:t>
                </a:r>
                <a:endParaRPr b="1" i="0" sz="900" u="none" cap="none" strike="noStrike">
                  <a:solidFill>
                    <a:srgbClr val="0F172A"/>
                  </a:solidFill>
                  <a:latin typeface="Inter"/>
                  <a:ea typeface="Inter"/>
                  <a:cs typeface="Inter"/>
                  <a:sym typeface="Inter"/>
                </a:endParaRPr>
              </a:p>
            </p:txBody>
          </p:sp>
        </p:grpSp>
        <p:grpSp>
          <p:nvGrpSpPr>
            <p:cNvPr id="429" name="Google Shape;429;p23"/>
            <p:cNvGrpSpPr/>
            <p:nvPr/>
          </p:nvGrpSpPr>
          <p:grpSpPr>
            <a:xfrm>
              <a:off x="0" y="1238250"/>
              <a:ext cx="2952900" cy="457200"/>
              <a:chOff x="0" y="0"/>
              <a:chExt cx="2952900" cy="457200"/>
            </a:xfrm>
          </p:grpSpPr>
          <p:sp>
            <p:nvSpPr>
              <p:cNvPr id="430" name="Google Shape;430;p23"/>
              <p:cNvSpPr/>
              <p:nvPr/>
            </p:nvSpPr>
            <p:spPr>
              <a:xfrm>
                <a:off x="0" y="0"/>
                <a:ext cx="304800" cy="304800"/>
              </a:xfrm>
              <a:prstGeom prst="roundRect">
                <a:avLst>
                  <a:gd fmla="val 18750" name="adj"/>
                </a:avLst>
              </a:prstGeom>
              <a:solidFill>
                <a:srgbClr val="E0F2F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 name="Google Shape;431;p23"/>
              <p:cNvSpPr/>
              <p:nvPr/>
            </p:nvSpPr>
            <p:spPr>
              <a:xfrm>
                <a:off x="66675" y="80963"/>
                <a:ext cx="171600" cy="142800"/>
              </a:xfrm>
              <a:prstGeom prst="roundRect">
                <a:avLst>
                  <a:gd fmla="val 20000" name="adj"/>
                </a:avLst>
              </a:prstGeom>
              <a:solidFill>
                <a:srgbClr val="000000">
                  <a:alpha val="0"/>
                </a:srgbClr>
              </a:solidFill>
              <a:ln cap="flat" cmpd="sng" w="14300">
                <a:solidFill>
                  <a:srgbClr val="007B7C"/>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32" name="Google Shape;432;p23"/>
              <p:cNvCxnSpPr/>
              <p:nvPr/>
            </p:nvCxnSpPr>
            <p:spPr>
              <a:xfrm>
                <a:off x="104775" y="123825"/>
                <a:ext cx="95400" cy="0"/>
              </a:xfrm>
              <a:prstGeom prst="straightConnector1">
                <a:avLst/>
              </a:prstGeom>
              <a:solidFill>
                <a:srgbClr val="FFFFFF"/>
              </a:solidFill>
              <a:ln cap="flat" cmpd="sng" w="11425">
                <a:solidFill>
                  <a:srgbClr val="007B7C"/>
                </a:solidFill>
                <a:prstDash val="solid"/>
                <a:round/>
                <a:headEnd len="sm" w="sm" type="none"/>
                <a:tailEnd len="sm" w="sm" type="none"/>
              </a:ln>
            </p:spPr>
          </p:cxnSp>
          <p:cxnSp>
            <p:nvCxnSpPr>
              <p:cNvPr id="433" name="Google Shape;433;p23"/>
              <p:cNvCxnSpPr/>
              <p:nvPr/>
            </p:nvCxnSpPr>
            <p:spPr>
              <a:xfrm>
                <a:off x="104775" y="171450"/>
                <a:ext cx="66600" cy="0"/>
              </a:xfrm>
              <a:prstGeom prst="straightConnector1">
                <a:avLst/>
              </a:prstGeom>
              <a:solidFill>
                <a:srgbClr val="FFFFFF"/>
              </a:solidFill>
              <a:ln cap="flat" cmpd="sng" w="11425">
                <a:solidFill>
                  <a:srgbClr val="007B7C"/>
                </a:solidFill>
                <a:prstDash val="solid"/>
                <a:round/>
                <a:headEnd len="sm" w="sm" type="none"/>
                <a:tailEnd len="sm" w="sm" type="none"/>
              </a:ln>
            </p:spPr>
          </p:cxnSp>
          <p:sp>
            <p:nvSpPr>
              <p:cNvPr id="434" name="Google Shape;434;p23"/>
              <p:cNvSpPr txBox="1"/>
              <p:nvPr/>
            </p:nvSpPr>
            <p:spPr>
              <a:xfrm>
                <a:off x="419100" y="0"/>
                <a:ext cx="2533800" cy="4572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F172A"/>
                    </a:solidFill>
                    <a:latin typeface="Inter"/>
                    <a:ea typeface="Inter"/>
                    <a:cs typeface="Inter"/>
                    <a:sym typeface="Inter"/>
                  </a:rPr>
                  <a:t>Hoạt động (Activity): </a:t>
                </a:r>
                <a:r>
                  <a:rPr b="0" i="0" lang="en" sz="900" u="none" cap="none" strike="noStrike">
                    <a:solidFill>
                      <a:srgbClr val="475569"/>
                    </a:solidFill>
                    <a:latin typeface="Inter"/>
                    <a:ea typeface="Inter"/>
                    <a:cs typeface="Inter"/>
                    <a:sym typeface="Inter"/>
                  </a:rPr>
                  <a:t>Các bước thực thi công việc cụ thể và chuẩn hóa trong hệ thống.</a:t>
                </a:r>
                <a:endParaRPr b="1" i="0" sz="900" u="none" cap="none" strike="noStrike">
                  <a:solidFill>
                    <a:srgbClr val="0F172A"/>
                  </a:solidFill>
                  <a:latin typeface="Inter"/>
                  <a:ea typeface="Inter"/>
                  <a:cs typeface="Inter"/>
                  <a:sym typeface="Inter"/>
                </a:endParaRPr>
              </a:p>
            </p:txBody>
          </p:sp>
        </p:grpSp>
        <p:grpSp>
          <p:nvGrpSpPr>
            <p:cNvPr id="435" name="Google Shape;435;p23"/>
            <p:cNvGrpSpPr/>
            <p:nvPr/>
          </p:nvGrpSpPr>
          <p:grpSpPr>
            <a:xfrm>
              <a:off x="0" y="1857375"/>
              <a:ext cx="2952900" cy="457200"/>
              <a:chOff x="0" y="0"/>
              <a:chExt cx="2952900" cy="457200"/>
            </a:xfrm>
          </p:grpSpPr>
          <p:sp>
            <p:nvSpPr>
              <p:cNvPr id="436" name="Google Shape;436;p23"/>
              <p:cNvSpPr/>
              <p:nvPr/>
            </p:nvSpPr>
            <p:spPr>
              <a:xfrm>
                <a:off x="0" y="0"/>
                <a:ext cx="304800" cy="304800"/>
              </a:xfrm>
              <a:prstGeom prst="roundRect">
                <a:avLst>
                  <a:gd fmla="val 18750" name="adj"/>
                </a:avLst>
              </a:prstGeom>
              <a:solidFill>
                <a:srgbClr val="E0F2FE"/>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23"/>
              <p:cNvSpPr/>
              <p:nvPr/>
            </p:nvSpPr>
            <p:spPr>
              <a:xfrm>
                <a:off x="66675" y="66675"/>
                <a:ext cx="171600" cy="171600"/>
              </a:xfrm>
              <a:custGeom>
                <a:rect b="b" l="l" r="r" t="t"/>
                <a:pathLst>
                  <a:path extrusionOk="0" h="120000" w="120000">
                    <a:moveTo>
                      <a:pt x="60000" y="0"/>
                    </a:moveTo>
                    <a:lnTo>
                      <a:pt x="120000" y="60000"/>
                    </a:lnTo>
                    <a:lnTo>
                      <a:pt x="60000" y="120000"/>
                    </a:lnTo>
                    <a:lnTo>
                      <a:pt x="0" y="60000"/>
                    </a:lnTo>
                    <a:close/>
                  </a:path>
                </a:pathLst>
              </a:custGeom>
              <a:solidFill>
                <a:srgbClr val="000000">
                  <a:alpha val="0"/>
                </a:srgbClr>
              </a:solidFill>
              <a:ln cap="flat" cmpd="sng" w="14300">
                <a:solidFill>
                  <a:srgbClr val="0284C7"/>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38" name="Google Shape;438;p23"/>
              <p:cNvCxnSpPr/>
              <p:nvPr/>
            </p:nvCxnSpPr>
            <p:spPr>
              <a:xfrm>
                <a:off x="123825" y="123825"/>
                <a:ext cx="57300" cy="57300"/>
              </a:xfrm>
              <a:prstGeom prst="straightConnector1">
                <a:avLst/>
              </a:prstGeom>
              <a:solidFill>
                <a:srgbClr val="FFFFFF"/>
              </a:solidFill>
              <a:ln cap="flat" cmpd="sng" w="14300">
                <a:solidFill>
                  <a:srgbClr val="0284C7"/>
                </a:solidFill>
                <a:prstDash val="solid"/>
                <a:round/>
                <a:headEnd len="sm" w="sm" type="none"/>
                <a:tailEnd len="sm" w="sm" type="none"/>
              </a:ln>
            </p:spPr>
          </p:cxnSp>
          <p:cxnSp>
            <p:nvCxnSpPr>
              <p:cNvPr id="439" name="Google Shape;439;p23"/>
              <p:cNvCxnSpPr/>
              <p:nvPr/>
            </p:nvCxnSpPr>
            <p:spPr>
              <a:xfrm flipH="1">
                <a:off x="123675" y="123825"/>
                <a:ext cx="57300" cy="57300"/>
              </a:xfrm>
              <a:prstGeom prst="straightConnector1">
                <a:avLst/>
              </a:prstGeom>
              <a:solidFill>
                <a:srgbClr val="FFFFFF"/>
              </a:solidFill>
              <a:ln cap="flat" cmpd="sng" w="14300">
                <a:solidFill>
                  <a:srgbClr val="0284C7"/>
                </a:solidFill>
                <a:prstDash val="solid"/>
                <a:round/>
                <a:headEnd len="sm" w="sm" type="none"/>
                <a:tailEnd len="sm" w="sm" type="none"/>
              </a:ln>
            </p:spPr>
          </p:cxnSp>
          <p:sp>
            <p:nvSpPr>
              <p:cNvPr id="440" name="Google Shape;440;p23"/>
              <p:cNvSpPr txBox="1"/>
              <p:nvPr/>
            </p:nvSpPr>
            <p:spPr>
              <a:xfrm>
                <a:off x="419100" y="0"/>
                <a:ext cx="2533800" cy="4572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F172A"/>
                    </a:solidFill>
                    <a:latin typeface="Inter"/>
                    <a:ea typeface="Inter"/>
                    <a:cs typeface="Inter"/>
                    <a:sym typeface="Inter"/>
                  </a:rPr>
                  <a:t>Cổng điều kiện (Exclusive): </a:t>
                </a:r>
                <a:r>
                  <a:rPr b="0" i="0" lang="en" sz="900" u="none" cap="none" strike="noStrike">
                    <a:solidFill>
                      <a:srgbClr val="475569"/>
                    </a:solidFill>
                    <a:latin typeface="Inter"/>
                    <a:ea typeface="Inter"/>
                    <a:cs typeface="Inter"/>
                    <a:sym typeface="Inter"/>
                  </a:rPr>
                  <a:t>Dùng cho các điểm rẽ nhánh quyết định (chỉ chọn 1 luồng).</a:t>
                </a:r>
                <a:endParaRPr b="1" i="0" sz="900" u="none" cap="none" strike="noStrike">
                  <a:solidFill>
                    <a:srgbClr val="0F172A"/>
                  </a:solidFill>
                  <a:latin typeface="Inter"/>
                  <a:ea typeface="Inter"/>
                  <a:cs typeface="Inter"/>
                  <a:sym typeface="Inter"/>
                </a:endParaRPr>
              </a:p>
            </p:txBody>
          </p:sp>
        </p:grpSp>
        <p:grpSp>
          <p:nvGrpSpPr>
            <p:cNvPr id="441" name="Google Shape;441;p23"/>
            <p:cNvGrpSpPr/>
            <p:nvPr/>
          </p:nvGrpSpPr>
          <p:grpSpPr>
            <a:xfrm>
              <a:off x="0" y="2476500"/>
              <a:ext cx="2952900" cy="457200"/>
              <a:chOff x="0" y="0"/>
              <a:chExt cx="2952900" cy="457200"/>
            </a:xfrm>
          </p:grpSpPr>
          <p:sp>
            <p:nvSpPr>
              <p:cNvPr id="442" name="Google Shape;442;p23"/>
              <p:cNvSpPr/>
              <p:nvPr/>
            </p:nvSpPr>
            <p:spPr>
              <a:xfrm>
                <a:off x="0" y="0"/>
                <a:ext cx="304800" cy="304800"/>
              </a:xfrm>
              <a:prstGeom prst="roundRect">
                <a:avLst>
                  <a:gd fmla="val 18750" name="adj"/>
                </a:avLst>
              </a:prstGeom>
              <a:solidFill>
                <a:srgbClr val="E0F2FE"/>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23"/>
              <p:cNvSpPr/>
              <p:nvPr/>
            </p:nvSpPr>
            <p:spPr>
              <a:xfrm>
                <a:off x="66675" y="66675"/>
                <a:ext cx="171600" cy="171600"/>
              </a:xfrm>
              <a:custGeom>
                <a:rect b="b" l="l" r="r" t="t"/>
                <a:pathLst>
                  <a:path extrusionOk="0" h="120000" w="120000">
                    <a:moveTo>
                      <a:pt x="60000" y="0"/>
                    </a:moveTo>
                    <a:lnTo>
                      <a:pt x="120000" y="60000"/>
                    </a:lnTo>
                    <a:lnTo>
                      <a:pt x="60000" y="120000"/>
                    </a:lnTo>
                    <a:lnTo>
                      <a:pt x="0" y="60000"/>
                    </a:lnTo>
                    <a:close/>
                  </a:path>
                </a:pathLst>
              </a:custGeom>
              <a:solidFill>
                <a:srgbClr val="000000">
                  <a:alpha val="0"/>
                </a:srgbClr>
              </a:solidFill>
              <a:ln cap="flat" cmpd="sng" w="14300">
                <a:solidFill>
                  <a:srgbClr val="0284C7"/>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44" name="Google Shape;444;p23"/>
              <p:cNvCxnSpPr/>
              <p:nvPr/>
            </p:nvCxnSpPr>
            <p:spPr>
              <a:xfrm>
                <a:off x="114300" y="152400"/>
                <a:ext cx="76200" cy="0"/>
              </a:xfrm>
              <a:prstGeom prst="straightConnector1">
                <a:avLst/>
              </a:prstGeom>
              <a:solidFill>
                <a:srgbClr val="FFFFFF"/>
              </a:solidFill>
              <a:ln cap="flat" cmpd="sng" w="14300">
                <a:solidFill>
                  <a:srgbClr val="0284C7"/>
                </a:solidFill>
                <a:prstDash val="solid"/>
                <a:round/>
                <a:headEnd len="sm" w="sm" type="none"/>
                <a:tailEnd len="sm" w="sm" type="none"/>
              </a:ln>
            </p:spPr>
          </p:cxnSp>
          <p:cxnSp>
            <p:nvCxnSpPr>
              <p:cNvPr id="445" name="Google Shape;445;p23"/>
              <p:cNvCxnSpPr/>
              <p:nvPr/>
            </p:nvCxnSpPr>
            <p:spPr>
              <a:xfrm>
                <a:off x="152400" y="114300"/>
                <a:ext cx="0" cy="76200"/>
              </a:xfrm>
              <a:prstGeom prst="straightConnector1">
                <a:avLst/>
              </a:prstGeom>
              <a:solidFill>
                <a:srgbClr val="FFFFFF"/>
              </a:solidFill>
              <a:ln cap="flat" cmpd="sng" w="14300">
                <a:solidFill>
                  <a:srgbClr val="0284C7"/>
                </a:solidFill>
                <a:prstDash val="solid"/>
                <a:round/>
                <a:headEnd len="sm" w="sm" type="none"/>
                <a:tailEnd len="sm" w="sm" type="none"/>
              </a:ln>
            </p:spPr>
          </p:cxnSp>
          <p:sp>
            <p:nvSpPr>
              <p:cNvPr id="446" name="Google Shape;446;p23"/>
              <p:cNvSpPr txBox="1"/>
              <p:nvPr/>
            </p:nvSpPr>
            <p:spPr>
              <a:xfrm>
                <a:off x="419100" y="0"/>
                <a:ext cx="2533800" cy="4572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0F172A"/>
                    </a:solidFill>
                    <a:latin typeface="Inter"/>
                    <a:ea typeface="Inter"/>
                    <a:cs typeface="Inter"/>
                    <a:sym typeface="Inter"/>
                  </a:rPr>
                  <a:t>Cổng song song (Parallel): </a:t>
                </a:r>
                <a:r>
                  <a:rPr b="0" i="0" lang="en" sz="900" u="none" cap="none" strike="noStrike">
                    <a:solidFill>
                      <a:srgbClr val="475569"/>
                    </a:solidFill>
                    <a:latin typeface="Inter"/>
                    <a:ea typeface="Inter"/>
                    <a:cs typeface="Inter"/>
                    <a:sym typeface="Inter"/>
                  </a:rPr>
                  <a:t>Tách &amp; hợp các công việc diễn ra đồng thời trong quy trình.</a:t>
                </a:r>
                <a:endParaRPr b="1" i="0" sz="900" u="none" cap="none" strike="noStrike">
                  <a:solidFill>
                    <a:srgbClr val="0F172A"/>
                  </a:solidFill>
                  <a:latin typeface="Inter"/>
                  <a:ea typeface="Inter"/>
                  <a:cs typeface="Inter"/>
                  <a:sym typeface="Inter"/>
                </a:endParaRPr>
              </a:p>
            </p:txBody>
          </p:sp>
        </p:grpSp>
      </p:grpSp>
      <p:grpSp>
        <p:nvGrpSpPr>
          <p:cNvPr id="447" name="Google Shape;447;p23"/>
          <p:cNvGrpSpPr/>
          <p:nvPr/>
        </p:nvGrpSpPr>
        <p:grpSpPr>
          <a:xfrm>
            <a:off x="3714750" y="238125"/>
            <a:ext cx="5191200" cy="4667400"/>
            <a:chOff x="0" y="0"/>
            <a:chExt cx="5191200" cy="4667400"/>
          </a:xfrm>
        </p:grpSpPr>
        <p:sp>
          <p:nvSpPr>
            <p:cNvPr id="448" name="Google Shape;448;p23"/>
            <p:cNvSpPr/>
            <p:nvPr/>
          </p:nvSpPr>
          <p:spPr>
            <a:xfrm>
              <a:off x="0" y="0"/>
              <a:ext cx="5191200" cy="4667400"/>
            </a:xfrm>
            <a:prstGeom prst="roundRect">
              <a:avLst>
                <a:gd fmla="val 2448"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 name="Google Shape;449;p23"/>
            <p:cNvSpPr/>
            <p:nvPr/>
          </p:nvSpPr>
          <p:spPr>
            <a:xfrm>
              <a:off x="0" y="0"/>
              <a:ext cx="5191200" cy="57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 name="Google Shape;450;p23"/>
            <p:cNvSpPr txBox="1"/>
            <p:nvPr/>
          </p:nvSpPr>
          <p:spPr>
            <a:xfrm>
              <a:off x="228600" y="228600"/>
              <a:ext cx="4734000" cy="857400"/>
            </a:xfrm>
            <a:prstGeom prst="rect">
              <a:avLst/>
            </a:prstGeom>
            <a:solidFill>
              <a:srgbClr val="000000">
                <a:alpha val="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007B7C"/>
                  </a:solidFill>
                  <a:latin typeface="Inter"/>
                  <a:ea typeface="Inter"/>
                  <a:cs typeface="Inter"/>
                  <a:sym typeface="Inter"/>
                </a:rPr>
                <a:t>Phạm vi đánh giá</a:t>
              </a:r>
              <a:endParaRPr b="1" i="0" sz="850" u="none" cap="none" strike="noStrike">
                <a:solidFill>
                  <a:srgbClr val="007B7C"/>
                </a:solidFill>
                <a:latin typeface="Inter"/>
                <a:ea typeface="Inter"/>
                <a:cs typeface="Inter"/>
                <a:sym typeface="Inter"/>
              </a:endParaRPr>
            </a:p>
            <a:p>
              <a:pPr indent="0" lvl="0" marL="0" marR="0" rtl="0" algn="l">
                <a:lnSpc>
                  <a:spcPct val="100000"/>
                </a:lnSpc>
                <a:spcBef>
                  <a:spcPts val="150"/>
                </a:spcBef>
                <a:spcAft>
                  <a:spcPts val="0"/>
                </a:spcAft>
                <a:buClr>
                  <a:srgbClr val="000000"/>
                </a:buClr>
                <a:buSzPts val="1600"/>
                <a:buFont typeface="Arial"/>
                <a:buNone/>
              </a:pPr>
              <a:r>
                <a:rPr b="0" i="0" lang="en" sz="1600" u="none" cap="none" strike="noStrike">
                  <a:solidFill>
                    <a:srgbClr val="0F172A"/>
                  </a:solidFill>
                  <a:latin typeface="Inter ExtraBold"/>
                  <a:ea typeface="Inter ExtraBold"/>
                  <a:cs typeface="Inter ExtraBold"/>
                  <a:sym typeface="Inter ExtraBold"/>
                </a:rPr>
                <a:t>3 Quy Trình Tiêu Biểu Được Lựa Chọn</a:t>
              </a:r>
              <a:endParaRPr b="0" i="0" sz="16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450"/>
                </a:spcBef>
                <a:spcAft>
                  <a:spcPts val="0"/>
                </a:spcAft>
                <a:buClr>
                  <a:srgbClr val="000000"/>
                </a:buClr>
                <a:buSzPts val="900"/>
                <a:buFont typeface="Arial"/>
                <a:buNone/>
              </a:pPr>
              <a:r>
                <a:rPr b="0" i="0" lang="en" sz="900" u="none" cap="none" strike="noStrike">
                  <a:solidFill>
                    <a:srgbClr val="475569"/>
                  </a:solidFill>
                  <a:latin typeface="Inter"/>
                  <a:ea typeface="Inter"/>
                  <a:cs typeface="Inter"/>
                  <a:sym typeface="Inter"/>
                </a:rPr>
                <a:t>Nhóm đã lựa chọn 3 quy trình tiêu biểu (từ các nhóm Quản lý, Cốt lõi, Hỗ trợ) để tiến hành vẽ sơ đồ chi tiết và đánh giá mức độ phức tạp thực tế.</a:t>
              </a:r>
              <a:endParaRPr b="0" i="0" sz="900" u="none" cap="none" strike="noStrike">
                <a:solidFill>
                  <a:srgbClr val="475569"/>
                </a:solidFill>
                <a:latin typeface="Inter"/>
                <a:ea typeface="Inter"/>
                <a:cs typeface="Inter"/>
                <a:sym typeface="Inter"/>
              </a:endParaRPr>
            </a:p>
          </p:txBody>
        </p:sp>
        <p:grpSp>
          <p:nvGrpSpPr>
            <p:cNvPr id="451" name="Google Shape;451;p23"/>
            <p:cNvGrpSpPr/>
            <p:nvPr/>
          </p:nvGrpSpPr>
          <p:grpSpPr>
            <a:xfrm>
              <a:off x="228600" y="1238250"/>
              <a:ext cx="4734000" cy="952500"/>
              <a:chOff x="0" y="0"/>
              <a:chExt cx="4734000" cy="952500"/>
            </a:xfrm>
          </p:grpSpPr>
          <p:sp>
            <p:nvSpPr>
              <p:cNvPr id="452" name="Google Shape;452;p23"/>
              <p:cNvSpPr/>
              <p:nvPr/>
            </p:nvSpPr>
            <p:spPr>
              <a:xfrm>
                <a:off x="0" y="0"/>
                <a:ext cx="4734000" cy="952500"/>
              </a:xfrm>
              <a:prstGeom prst="roundRect">
                <a:avLst>
                  <a:gd fmla="val 8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 name="Google Shape;453;p23"/>
              <p:cNvSpPr/>
              <p:nvPr/>
            </p:nvSpPr>
            <p:spPr>
              <a:xfrm>
                <a:off x="0" y="0"/>
                <a:ext cx="1047900" cy="952500"/>
              </a:xfrm>
              <a:prstGeom prst="roundRect">
                <a:avLst>
                  <a:gd fmla="val 8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23"/>
              <p:cNvSpPr/>
              <p:nvPr/>
            </p:nvSpPr>
            <p:spPr>
              <a:xfrm>
                <a:off x="952500" y="0"/>
                <a:ext cx="95400" cy="952500"/>
              </a:xfrm>
              <a:prstGeom prst="rect">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23"/>
              <p:cNvSpPr txBox="1"/>
              <p:nvPr/>
            </p:nvSpPr>
            <p:spPr>
              <a:xfrm>
                <a:off x="0" y="0"/>
                <a:ext cx="10479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0" i="0" lang="en" sz="950" u="none" cap="none" strike="noStrike">
                    <a:solidFill>
                      <a:srgbClr val="FFFFFF"/>
                    </a:solidFill>
                    <a:latin typeface="Inter ExtraBold"/>
                    <a:ea typeface="Inter ExtraBold"/>
                    <a:cs typeface="Inter ExtraBold"/>
                    <a:sym typeface="Inter ExtraBold"/>
                  </a:rPr>
                  <a:t>Quản lý</a:t>
                </a:r>
                <a:endParaRPr b="0" i="0" sz="950" u="none" cap="none" strike="noStrike">
                  <a:solidFill>
                    <a:srgbClr val="FFFFFF"/>
                  </a:solidFill>
                  <a:latin typeface="Inter ExtraBold"/>
                  <a:ea typeface="Inter ExtraBold"/>
                  <a:cs typeface="Inter ExtraBold"/>
                  <a:sym typeface="Inter ExtraBold"/>
                </a:endParaRPr>
              </a:p>
              <a:p>
                <a:pPr indent="0" lvl="0" marL="0" marR="0" rtl="0" algn="ctr">
                  <a:lnSpc>
                    <a:spcPct val="100000"/>
                  </a:lnSpc>
                  <a:spcBef>
                    <a:spcPts val="150"/>
                  </a:spcBef>
                  <a:spcAft>
                    <a:spcPts val="0"/>
                  </a:spcAft>
                  <a:buClr>
                    <a:srgbClr val="000000"/>
                  </a:buClr>
                  <a:buSzPts val="750"/>
                  <a:buFont typeface="Arial"/>
                  <a:buNone/>
                </a:pPr>
                <a:r>
                  <a:rPr b="0" i="0" lang="en" sz="750" u="none" cap="none" strike="noStrike">
                    <a:solidFill>
                      <a:srgbClr val="94A3B8"/>
                    </a:solidFill>
                    <a:latin typeface="Inter Medium"/>
                    <a:ea typeface="Inter Medium"/>
                    <a:cs typeface="Inter Medium"/>
                    <a:sym typeface="Inter Medium"/>
                  </a:rPr>
                  <a:t>Management</a:t>
                </a:r>
                <a:endParaRPr b="0" i="0" sz="750" u="none" cap="none" strike="noStrike">
                  <a:solidFill>
                    <a:srgbClr val="94A3B8"/>
                  </a:solidFill>
                  <a:latin typeface="Inter Medium"/>
                  <a:ea typeface="Inter Medium"/>
                  <a:cs typeface="Inter Medium"/>
                  <a:sym typeface="Inter Medium"/>
                </a:endParaRPr>
              </a:p>
            </p:txBody>
          </p:sp>
          <p:sp>
            <p:nvSpPr>
              <p:cNvPr id="456" name="Google Shape;456;p23"/>
              <p:cNvSpPr txBox="1"/>
              <p:nvPr/>
            </p:nvSpPr>
            <p:spPr>
              <a:xfrm>
                <a:off x="1238250" y="142875"/>
                <a:ext cx="3238500" cy="190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64748B"/>
                    </a:solidFill>
                    <a:latin typeface="Inter SemiBold"/>
                    <a:ea typeface="Inter SemiBold"/>
                    <a:cs typeface="Inter SemiBold"/>
                    <a:sym typeface="Inter SemiBold"/>
                  </a:rPr>
                  <a:t>Phân tích &amp; Đánh giá độ phức tạp</a:t>
                </a:r>
                <a:endParaRPr b="0" i="0" sz="900" u="none" cap="none" strike="noStrike">
                  <a:solidFill>
                    <a:srgbClr val="64748B"/>
                  </a:solidFill>
                  <a:latin typeface="Inter SemiBold"/>
                  <a:ea typeface="Inter SemiBold"/>
                  <a:cs typeface="Inter SemiBold"/>
                  <a:sym typeface="Inter SemiBold"/>
                </a:endParaRPr>
              </a:p>
            </p:txBody>
          </p:sp>
          <p:grpSp>
            <p:nvGrpSpPr>
              <p:cNvPr id="457" name="Google Shape;457;p23"/>
              <p:cNvGrpSpPr/>
              <p:nvPr/>
            </p:nvGrpSpPr>
            <p:grpSpPr>
              <a:xfrm>
                <a:off x="1238250" y="381000"/>
                <a:ext cx="3238500" cy="419100"/>
                <a:chOff x="0" y="0"/>
                <a:chExt cx="3238500" cy="419100"/>
              </a:xfrm>
            </p:grpSpPr>
            <p:sp>
              <p:nvSpPr>
                <p:cNvPr id="458" name="Google Shape;458;p23"/>
                <p:cNvSpPr/>
                <p:nvPr/>
              </p:nvSpPr>
              <p:spPr>
                <a:xfrm>
                  <a:off x="0" y="0"/>
                  <a:ext cx="3238500" cy="419100"/>
                </a:xfrm>
                <a:prstGeom prst="roundRect">
                  <a:avLst>
                    <a:gd fmla="val 1363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 name="Google Shape;459;p23"/>
                <p:cNvSpPr/>
                <p:nvPr/>
              </p:nvSpPr>
              <p:spPr>
                <a:xfrm>
                  <a:off x="0" y="0"/>
                  <a:ext cx="342900" cy="419100"/>
                </a:xfrm>
                <a:prstGeom prst="roundRect">
                  <a:avLst>
                    <a:gd fmla="val 16666" name="adj"/>
                  </a:avLst>
                </a:prstGeom>
                <a:solidFill>
                  <a:srgbClr val="64748B"/>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23"/>
                <p:cNvSpPr/>
                <p:nvPr/>
              </p:nvSpPr>
              <p:spPr>
                <a:xfrm>
                  <a:off x="304800" y="0"/>
                  <a:ext cx="38100" cy="419100"/>
                </a:xfrm>
                <a:prstGeom prst="rect">
                  <a:avLst/>
                </a:prstGeom>
                <a:solidFill>
                  <a:srgbClr val="64748B"/>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 name="Google Shape;461;p23"/>
                <p:cNvSpPr txBox="1"/>
                <p:nvPr/>
              </p:nvSpPr>
              <p:spPr>
                <a:xfrm>
                  <a:off x="0" y="0"/>
                  <a:ext cx="342900" cy="4191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02</a:t>
                  </a:r>
                  <a:endParaRPr b="0" i="0" sz="1000" u="none" cap="none" strike="noStrike">
                    <a:solidFill>
                      <a:srgbClr val="FFFFFF"/>
                    </a:solidFill>
                    <a:latin typeface="Inter ExtraBold"/>
                    <a:ea typeface="Inter ExtraBold"/>
                    <a:cs typeface="Inter ExtraBold"/>
                    <a:sym typeface="Inter ExtraBold"/>
                  </a:endParaRPr>
                </a:p>
              </p:txBody>
            </p:sp>
            <p:sp>
              <p:nvSpPr>
                <p:cNvPr id="462" name="Google Shape;462;p23"/>
                <p:cNvSpPr txBox="1"/>
                <p:nvPr/>
              </p:nvSpPr>
              <p:spPr>
                <a:xfrm>
                  <a:off x="476250" y="0"/>
                  <a:ext cx="2667000" cy="4191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F172A"/>
                      </a:solidFill>
                      <a:latin typeface="Inter ExtraBold"/>
                      <a:ea typeface="Inter ExtraBold"/>
                      <a:cs typeface="Inter ExtraBold"/>
                      <a:sym typeface="Inter ExtraBold"/>
                    </a:rPr>
                    <a:t>Quy trình Quản lý KTV</a:t>
                  </a:r>
                  <a:endParaRPr b="0" i="0" sz="1100" u="none" cap="none" strike="noStrike">
                    <a:solidFill>
                      <a:srgbClr val="0F172A"/>
                    </a:solidFill>
                    <a:latin typeface="Inter ExtraBold"/>
                    <a:ea typeface="Inter ExtraBold"/>
                    <a:cs typeface="Inter ExtraBold"/>
                    <a:sym typeface="Inter ExtraBold"/>
                  </a:endParaRPr>
                </a:p>
              </p:txBody>
            </p:sp>
          </p:grpSp>
        </p:grpSp>
        <p:grpSp>
          <p:nvGrpSpPr>
            <p:cNvPr id="463" name="Google Shape;463;p23"/>
            <p:cNvGrpSpPr/>
            <p:nvPr/>
          </p:nvGrpSpPr>
          <p:grpSpPr>
            <a:xfrm>
              <a:off x="228600" y="2333625"/>
              <a:ext cx="4734000" cy="952500"/>
              <a:chOff x="0" y="0"/>
              <a:chExt cx="4734000" cy="952500"/>
            </a:xfrm>
          </p:grpSpPr>
          <p:sp>
            <p:nvSpPr>
              <p:cNvPr id="464" name="Google Shape;464;p23"/>
              <p:cNvSpPr/>
              <p:nvPr/>
            </p:nvSpPr>
            <p:spPr>
              <a:xfrm>
                <a:off x="0" y="0"/>
                <a:ext cx="4734000" cy="952500"/>
              </a:xfrm>
              <a:prstGeom prst="roundRect">
                <a:avLst>
                  <a:gd fmla="val 8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23"/>
              <p:cNvSpPr/>
              <p:nvPr/>
            </p:nvSpPr>
            <p:spPr>
              <a:xfrm>
                <a:off x="0" y="0"/>
                <a:ext cx="1047900" cy="952500"/>
              </a:xfrm>
              <a:prstGeom prst="roundRect">
                <a:avLst>
                  <a:gd fmla="val 8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23"/>
              <p:cNvSpPr/>
              <p:nvPr/>
            </p:nvSpPr>
            <p:spPr>
              <a:xfrm>
                <a:off x="952500" y="0"/>
                <a:ext cx="95400" cy="9525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 name="Google Shape;467;p23"/>
              <p:cNvSpPr txBox="1"/>
              <p:nvPr/>
            </p:nvSpPr>
            <p:spPr>
              <a:xfrm>
                <a:off x="0" y="0"/>
                <a:ext cx="10479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0" i="0" lang="en" sz="950" u="none" cap="none" strike="noStrike">
                    <a:solidFill>
                      <a:srgbClr val="FFFFFF"/>
                    </a:solidFill>
                    <a:latin typeface="Inter ExtraBold"/>
                    <a:ea typeface="Inter ExtraBold"/>
                    <a:cs typeface="Inter ExtraBold"/>
                    <a:sym typeface="Inter ExtraBold"/>
                  </a:rPr>
                  <a:t>Cốt lõi</a:t>
                </a:r>
                <a:endParaRPr b="0" i="0" sz="950" u="none" cap="none" strike="noStrike">
                  <a:solidFill>
                    <a:srgbClr val="FFFFFF"/>
                  </a:solidFill>
                  <a:latin typeface="Inter ExtraBold"/>
                  <a:ea typeface="Inter ExtraBold"/>
                  <a:cs typeface="Inter ExtraBold"/>
                  <a:sym typeface="Inter ExtraBold"/>
                </a:endParaRPr>
              </a:p>
              <a:p>
                <a:pPr indent="0" lvl="0" marL="0" marR="0" rtl="0" algn="ctr">
                  <a:lnSpc>
                    <a:spcPct val="100000"/>
                  </a:lnSpc>
                  <a:spcBef>
                    <a:spcPts val="150"/>
                  </a:spcBef>
                  <a:spcAft>
                    <a:spcPts val="0"/>
                  </a:spcAft>
                  <a:buClr>
                    <a:srgbClr val="000000"/>
                  </a:buClr>
                  <a:buSzPts val="750"/>
                  <a:buFont typeface="Arial"/>
                  <a:buNone/>
                </a:pPr>
                <a:r>
                  <a:rPr b="0" i="0" lang="en" sz="750" u="none" cap="none" strike="noStrike">
                    <a:solidFill>
                      <a:srgbClr val="ECFDF5"/>
                    </a:solidFill>
                    <a:latin typeface="Inter Medium"/>
                    <a:ea typeface="Inter Medium"/>
                    <a:cs typeface="Inter Medium"/>
                    <a:sym typeface="Inter Medium"/>
                  </a:rPr>
                  <a:t>Core</a:t>
                </a:r>
                <a:endParaRPr b="0" i="0" sz="750" u="none" cap="none" strike="noStrike">
                  <a:solidFill>
                    <a:srgbClr val="ECFDF5"/>
                  </a:solidFill>
                  <a:latin typeface="Inter Medium"/>
                  <a:ea typeface="Inter Medium"/>
                  <a:cs typeface="Inter Medium"/>
                  <a:sym typeface="Inter Medium"/>
                </a:endParaRPr>
              </a:p>
            </p:txBody>
          </p:sp>
          <p:sp>
            <p:nvSpPr>
              <p:cNvPr id="468" name="Google Shape;468;p23"/>
              <p:cNvSpPr txBox="1"/>
              <p:nvPr/>
            </p:nvSpPr>
            <p:spPr>
              <a:xfrm>
                <a:off x="1238250" y="142875"/>
                <a:ext cx="3238500" cy="190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64748B"/>
                    </a:solidFill>
                    <a:latin typeface="Inter SemiBold"/>
                    <a:ea typeface="Inter SemiBold"/>
                    <a:cs typeface="Inter SemiBold"/>
                    <a:sym typeface="Inter SemiBold"/>
                  </a:rPr>
                  <a:t>Phân tích &amp; Đánh giá độ phức tạp</a:t>
                </a:r>
                <a:endParaRPr b="0" i="0" sz="900" u="none" cap="none" strike="noStrike">
                  <a:solidFill>
                    <a:srgbClr val="64748B"/>
                  </a:solidFill>
                  <a:latin typeface="Inter SemiBold"/>
                  <a:ea typeface="Inter SemiBold"/>
                  <a:cs typeface="Inter SemiBold"/>
                  <a:sym typeface="Inter SemiBold"/>
                </a:endParaRPr>
              </a:p>
            </p:txBody>
          </p:sp>
          <p:grpSp>
            <p:nvGrpSpPr>
              <p:cNvPr id="469" name="Google Shape;469;p23"/>
              <p:cNvGrpSpPr/>
              <p:nvPr/>
            </p:nvGrpSpPr>
            <p:grpSpPr>
              <a:xfrm>
                <a:off x="1238250" y="381000"/>
                <a:ext cx="3238500" cy="419100"/>
                <a:chOff x="0" y="0"/>
                <a:chExt cx="3238500" cy="419100"/>
              </a:xfrm>
            </p:grpSpPr>
            <p:sp>
              <p:nvSpPr>
                <p:cNvPr id="470" name="Google Shape;470;p23"/>
                <p:cNvSpPr/>
                <p:nvPr/>
              </p:nvSpPr>
              <p:spPr>
                <a:xfrm>
                  <a:off x="0" y="0"/>
                  <a:ext cx="3238500" cy="419100"/>
                </a:xfrm>
                <a:prstGeom prst="roundRect">
                  <a:avLst>
                    <a:gd fmla="val 1363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23"/>
                <p:cNvSpPr/>
                <p:nvPr/>
              </p:nvSpPr>
              <p:spPr>
                <a:xfrm>
                  <a:off x="0" y="0"/>
                  <a:ext cx="342900" cy="419100"/>
                </a:xfrm>
                <a:prstGeom prst="roundRect">
                  <a:avLst>
                    <a:gd fmla="val 16666"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23"/>
                <p:cNvSpPr/>
                <p:nvPr/>
              </p:nvSpPr>
              <p:spPr>
                <a:xfrm>
                  <a:off x="304800" y="0"/>
                  <a:ext cx="38100" cy="419100"/>
                </a:xfrm>
                <a:prstGeom prst="rect">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 name="Google Shape;473;p23"/>
                <p:cNvSpPr txBox="1"/>
                <p:nvPr/>
              </p:nvSpPr>
              <p:spPr>
                <a:xfrm>
                  <a:off x="0" y="0"/>
                  <a:ext cx="342900" cy="4191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02</a:t>
                  </a:r>
                  <a:endParaRPr b="0" i="0" sz="1000" u="none" cap="none" strike="noStrike">
                    <a:solidFill>
                      <a:srgbClr val="FFFFFF"/>
                    </a:solidFill>
                    <a:latin typeface="Inter ExtraBold"/>
                    <a:ea typeface="Inter ExtraBold"/>
                    <a:cs typeface="Inter ExtraBold"/>
                    <a:sym typeface="Inter ExtraBold"/>
                  </a:endParaRPr>
                </a:p>
              </p:txBody>
            </p:sp>
            <p:sp>
              <p:nvSpPr>
                <p:cNvPr id="474" name="Google Shape;474;p23"/>
                <p:cNvSpPr txBox="1"/>
                <p:nvPr/>
              </p:nvSpPr>
              <p:spPr>
                <a:xfrm>
                  <a:off x="476250" y="0"/>
                  <a:ext cx="2667000" cy="4191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F172A"/>
                      </a:solidFill>
                      <a:latin typeface="Inter ExtraBold"/>
                      <a:ea typeface="Inter ExtraBold"/>
                      <a:cs typeface="Inter ExtraBold"/>
                      <a:sym typeface="Inter ExtraBold"/>
                    </a:rPr>
                    <a:t>Quy trình KTV Nhận &amp; Xử lý Booking</a:t>
                  </a:r>
                  <a:endParaRPr b="0" i="0" sz="1100" u="none" cap="none" strike="noStrike">
                    <a:solidFill>
                      <a:srgbClr val="0F172A"/>
                    </a:solidFill>
                    <a:latin typeface="Inter ExtraBold"/>
                    <a:ea typeface="Inter ExtraBold"/>
                    <a:cs typeface="Inter ExtraBold"/>
                    <a:sym typeface="Inter ExtraBold"/>
                  </a:endParaRPr>
                </a:p>
              </p:txBody>
            </p:sp>
          </p:grpSp>
        </p:grpSp>
        <p:grpSp>
          <p:nvGrpSpPr>
            <p:cNvPr id="475" name="Google Shape;475;p23"/>
            <p:cNvGrpSpPr/>
            <p:nvPr/>
          </p:nvGrpSpPr>
          <p:grpSpPr>
            <a:xfrm>
              <a:off x="228600" y="3429000"/>
              <a:ext cx="4734000" cy="952500"/>
              <a:chOff x="0" y="0"/>
              <a:chExt cx="4734000" cy="952500"/>
            </a:xfrm>
          </p:grpSpPr>
          <p:sp>
            <p:nvSpPr>
              <p:cNvPr id="476" name="Google Shape;476;p23"/>
              <p:cNvSpPr/>
              <p:nvPr/>
            </p:nvSpPr>
            <p:spPr>
              <a:xfrm>
                <a:off x="0" y="0"/>
                <a:ext cx="4734000" cy="952500"/>
              </a:xfrm>
              <a:prstGeom prst="roundRect">
                <a:avLst>
                  <a:gd fmla="val 8000"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 name="Google Shape;477;p23"/>
              <p:cNvSpPr/>
              <p:nvPr/>
            </p:nvSpPr>
            <p:spPr>
              <a:xfrm>
                <a:off x="0" y="0"/>
                <a:ext cx="1047900" cy="952500"/>
              </a:xfrm>
              <a:prstGeom prst="roundRect">
                <a:avLst>
                  <a:gd fmla="val 8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23"/>
              <p:cNvSpPr/>
              <p:nvPr/>
            </p:nvSpPr>
            <p:spPr>
              <a:xfrm>
                <a:off x="952500" y="0"/>
                <a:ext cx="95400" cy="9525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23"/>
              <p:cNvSpPr txBox="1"/>
              <p:nvPr/>
            </p:nvSpPr>
            <p:spPr>
              <a:xfrm>
                <a:off x="0" y="0"/>
                <a:ext cx="1047900" cy="952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0" i="0" lang="en" sz="950" u="none" cap="none" strike="noStrike">
                    <a:solidFill>
                      <a:srgbClr val="FFFFFF"/>
                    </a:solidFill>
                    <a:latin typeface="Inter ExtraBold"/>
                    <a:ea typeface="Inter ExtraBold"/>
                    <a:cs typeface="Inter ExtraBold"/>
                    <a:sym typeface="Inter ExtraBold"/>
                  </a:rPr>
                  <a:t>Hỗ trợ</a:t>
                </a:r>
                <a:endParaRPr b="0" i="0" sz="950" u="none" cap="none" strike="noStrike">
                  <a:solidFill>
                    <a:srgbClr val="FFFFFF"/>
                  </a:solidFill>
                  <a:latin typeface="Inter ExtraBold"/>
                  <a:ea typeface="Inter ExtraBold"/>
                  <a:cs typeface="Inter ExtraBold"/>
                  <a:sym typeface="Inter ExtraBold"/>
                </a:endParaRPr>
              </a:p>
              <a:p>
                <a:pPr indent="0" lvl="0" marL="0" marR="0" rtl="0" algn="ctr">
                  <a:lnSpc>
                    <a:spcPct val="100000"/>
                  </a:lnSpc>
                  <a:spcBef>
                    <a:spcPts val="150"/>
                  </a:spcBef>
                  <a:spcAft>
                    <a:spcPts val="0"/>
                  </a:spcAft>
                  <a:buClr>
                    <a:srgbClr val="000000"/>
                  </a:buClr>
                  <a:buSzPts val="750"/>
                  <a:buFont typeface="Arial"/>
                  <a:buNone/>
                </a:pPr>
                <a:r>
                  <a:rPr b="0" i="0" lang="en" sz="750" u="none" cap="none" strike="noStrike">
                    <a:solidFill>
                      <a:srgbClr val="F0F9FF"/>
                    </a:solidFill>
                    <a:latin typeface="Inter Medium"/>
                    <a:ea typeface="Inter Medium"/>
                    <a:cs typeface="Inter Medium"/>
                    <a:sym typeface="Inter Medium"/>
                  </a:rPr>
                  <a:t>Support</a:t>
                </a:r>
                <a:endParaRPr b="0" i="0" sz="750" u="none" cap="none" strike="noStrike">
                  <a:solidFill>
                    <a:srgbClr val="F0F9FF"/>
                  </a:solidFill>
                  <a:latin typeface="Inter Medium"/>
                  <a:ea typeface="Inter Medium"/>
                  <a:cs typeface="Inter Medium"/>
                  <a:sym typeface="Inter Medium"/>
                </a:endParaRPr>
              </a:p>
            </p:txBody>
          </p:sp>
          <p:sp>
            <p:nvSpPr>
              <p:cNvPr id="480" name="Google Shape;480;p23"/>
              <p:cNvSpPr txBox="1"/>
              <p:nvPr/>
            </p:nvSpPr>
            <p:spPr>
              <a:xfrm>
                <a:off x="1238250" y="142875"/>
                <a:ext cx="3238500" cy="190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64748B"/>
                    </a:solidFill>
                    <a:latin typeface="Inter SemiBold"/>
                    <a:ea typeface="Inter SemiBold"/>
                    <a:cs typeface="Inter SemiBold"/>
                    <a:sym typeface="Inter SemiBold"/>
                  </a:rPr>
                  <a:t>Phân tích &amp; Đánh giá độ phức tạp</a:t>
                </a:r>
                <a:endParaRPr b="0" i="0" sz="900" u="none" cap="none" strike="noStrike">
                  <a:solidFill>
                    <a:srgbClr val="64748B"/>
                  </a:solidFill>
                  <a:latin typeface="Inter SemiBold"/>
                  <a:ea typeface="Inter SemiBold"/>
                  <a:cs typeface="Inter SemiBold"/>
                  <a:sym typeface="Inter SemiBold"/>
                </a:endParaRPr>
              </a:p>
            </p:txBody>
          </p:sp>
          <p:grpSp>
            <p:nvGrpSpPr>
              <p:cNvPr id="481" name="Google Shape;481;p23"/>
              <p:cNvGrpSpPr/>
              <p:nvPr/>
            </p:nvGrpSpPr>
            <p:grpSpPr>
              <a:xfrm>
                <a:off x="1238250" y="381000"/>
                <a:ext cx="3238500" cy="419100"/>
                <a:chOff x="0" y="0"/>
                <a:chExt cx="3238500" cy="419100"/>
              </a:xfrm>
            </p:grpSpPr>
            <p:sp>
              <p:nvSpPr>
                <p:cNvPr id="482" name="Google Shape;482;p23"/>
                <p:cNvSpPr/>
                <p:nvPr/>
              </p:nvSpPr>
              <p:spPr>
                <a:xfrm>
                  <a:off x="0" y="0"/>
                  <a:ext cx="3238500" cy="419100"/>
                </a:xfrm>
                <a:prstGeom prst="roundRect">
                  <a:avLst>
                    <a:gd fmla="val 13636"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23"/>
                <p:cNvSpPr/>
                <p:nvPr/>
              </p:nvSpPr>
              <p:spPr>
                <a:xfrm>
                  <a:off x="0" y="0"/>
                  <a:ext cx="342900" cy="419100"/>
                </a:xfrm>
                <a:prstGeom prst="roundRect">
                  <a:avLst>
                    <a:gd fmla="val 16666"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23"/>
                <p:cNvSpPr/>
                <p:nvPr/>
              </p:nvSpPr>
              <p:spPr>
                <a:xfrm>
                  <a:off x="304800" y="0"/>
                  <a:ext cx="38100" cy="419100"/>
                </a:xfrm>
                <a:prstGeom prst="rect">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23"/>
                <p:cNvSpPr txBox="1"/>
                <p:nvPr/>
              </p:nvSpPr>
              <p:spPr>
                <a:xfrm>
                  <a:off x="0" y="0"/>
                  <a:ext cx="342900" cy="4191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Inter ExtraBold"/>
                      <a:ea typeface="Inter ExtraBold"/>
                      <a:cs typeface="Inter ExtraBold"/>
                      <a:sym typeface="Inter ExtraBold"/>
                    </a:rPr>
                    <a:t>02</a:t>
                  </a:r>
                  <a:endParaRPr b="0" i="0" sz="1000" u="none" cap="none" strike="noStrike">
                    <a:solidFill>
                      <a:srgbClr val="FFFFFF"/>
                    </a:solidFill>
                    <a:latin typeface="Inter ExtraBold"/>
                    <a:ea typeface="Inter ExtraBold"/>
                    <a:cs typeface="Inter ExtraBold"/>
                    <a:sym typeface="Inter ExtraBold"/>
                  </a:endParaRPr>
                </a:p>
              </p:txBody>
            </p:sp>
            <p:sp>
              <p:nvSpPr>
                <p:cNvPr id="486" name="Google Shape;486;p23"/>
                <p:cNvSpPr txBox="1"/>
                <p:nvPr/>
              </p:nvSpPr>
              <p:spPr>
                <a:xfrm>
                  <a:off x="476250" y="0"/>
                  <a:ext cx="2667000" cy="4191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F172A"/>
                      </a:solidFill>
                      <a:latin typeface="Inter ExtraBold"/>
                      <a:ea typeface="Inter ExtraBold"/>
                      <a:cs typeface="Inter ExtraBold"/>
                      <a:sym typeface="Inter ExtraBold"/>
                    </a:rPr>
                    <a:t>Báo cáo Linh kiện K</a:t>
                  </a:r>
                  <a:r>
                    <a:rPr b="0" i="0" lang="en" sz="1100" u="none" cap="none" strike="noStrike">
                      <a:solidFill>
                        <a:srgbClr val="0F172A"/>
                      </a:solidFill>
                      <a:latin typeface="Inter ExtraBold"/>
                      <a:ea typeface="Inter ExtraBold"/>
                      <a:cs typeface="Inter ExtraBold"/>
                      <a:sym typeface="Inter ExtraBold"/>
                    </a:rPr>
                    <a:t>T</a:t>
                  </a:r>
                  <a:r>
                    <a:rPr b="0" i="0" lang="en" sz="1100" u="none" cap="none" strike="noStrike">
                      <a:solidFill>
                        <a:srgbClr val="0F172A"/>
                      </a:solidFill>
                      <a:latin typeface="Inter ExtraBold"/>
                      <a:ea typeface="Inter ExtraBold"/>
                      <a:cs typeface="Inter ExtraBold"/>
                      <a:sym typeface="Inter ExtraBold"/>
                    </a:rPr>
                    <a:t>V</a:t>
                  </a:r>
                  <a:endParaRPr b="0" i="0" sz="1100" u="none" cap="none" strike="noStrike">
                    <a:solidFill>
                      <a:srgbClr val="0F172A"/>
                    </a:solidFill>
                    <a:latin typeface="Inter ExtraBold"/>
                    <a:ea typeface="Inter ExtraBold"/>
                    <a:cs typeface="Inter ExtraBold"/>
                    <a:sym typeface="Inter ExtraBold"/>
                  </a:endParaRPr>
                </a:p>
              </p:txBody>
            </p:sp>
          </p:grpSp>
        </p:gr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0" name="Shape 490"/>
        <p:cNvGrpSpPr/>
        <p:nvPr/>
      </p:nvGrpSpPr>
      <p:grpSpPr>
        <a:xfrm>
          <a:off x="0" y="0"/>
          <a:ext cx="0" cy="0"/>
          <a:chOff x="0" y="0"/>
          <a:chExt cx="0" cy="0"/>
        </a:xfrm>
      </p:grpSpPr>
      <p:sp>
        <p:nvSpPr>
          <p:cNvPr id="491" name="Google Shape;491;p24"/>
          <p:cNvSpPr txBox="1"/>
          <p:nvPr/>
        </p:nvSpPr>
        <p:spPr>
          <a:xfrm>
            <a:off x="571500" y="476250"/>
            <a:ext cx="4191000" cy="114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0" i="0" lang="en" sz="2800" u="none" cap="none" strike="noStrike">
                <a:solidFill>
                  <a:srgbClr val="0F172A"/>
                </a:solidFill>
                <a:latin typeface="Inter ExtraBold"/>
                <a:ea typeface="Inter ExtraBold"/>
                <a:cs typeface="Inter ExtraBold"/>
                <a:sym typeface="Inter ExtraBold"/>
              </a:rPr>
              <a:t>Quy trình quản lý KTV</a:t>
            </a:r>
            <a:endParaRPr b="0" i="0" sz="28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400"/>
              <a:buFont typeface="Arial"/>
              <a:buNone/>
            </a:pPr>
            <a:r>
              <a:rPr b="0" i="0" lang="en" sz="1400" u="none" cap="none" strike="noStrike">
                <a:solidFill>
                  <a:srgbClr val="0284C7"/>
                </a:solidFill>
                <a:latin typeface="Inter SemiBold"/>
                <a:ea typeface="Inter SemiBold"/>
                <a:cs typeface="Inter SemiBold"/>
                <a:sym typeface="Inter SemiBold"/>
              </a:rPr>
              <a:t>Quản lý vận hành (Operations Manager)</a:t>
            </a:r>
            <a:endParaRPr b="0" i="0" sz="1400" u="none" cap="none" strike="noStrike">
              <a:solidFill>
                <a:srgbClr val="0284C7"/>
              </a:solidFill>
              <a:latin typeface="Inter SemiBold"/>
              <a:ea typeface="Inter SemiBold"/>
              <a:cs typeface="Inter SemiBold"/>
              <a:sym typeface="Inter SemiBold"/>
            </a:endParaRPr>
          </a:p>
        </p:txBody>
      </p:sp>
      <p:sp>
        <p:nvSpPr>
          <p:cNvPr id="492" name="Google Shape;492;p24"/>
          <p:cNvSpPr txBox="1"/>
          <p:nvPr/>
        </p:nvSpPr>
        <p:spPr>
          <a:xfrm>
            <a:off x="571500" y="1714500"/>
            <a:ext cx="4000500" cy="2857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Actor (tác nhân):</a:t>
            </a:r>
            <a:r>
              <a:rPr i="0" lang="en" sz="1100" u="none" cap="none" strike="noStrike">
                <a:solidFill>
                  <a:schemeClr val="dk1"/>
                </a:solidFill>
                <a:latin typeface="Inter"/>
                <a:ea typeface="Inter"/>
                <a:cs typeface="Inter"/>
                <a:sym typeface="Inter"/>
              </a:rPr>
              <a:t> Quản lý vận hành (Operations Manager)</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Đối tượng liên quan:</a:t>
            </a:r>
            <a:r>
              <a:rPr i="0" lang="en" sz="1100" u="none" cap="none" strike="noStrike">
                <a:solidFill>
                  <a:schemeClr val="dk1"/>
                </a:solidFill>
                <a:latin typeface="Inter"/>
                <a:ea typeface="Inter"/>
                <a:cs typeface="Inter"/>
                <a:sym typeface="Inter"/>
              </a:rPr>
              <a:t> Đội ngũ KTV theo từng khu vực/ca làm việc</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Các kết quả có thể xảy ra:</a:t>
            </a:r>
            <a:endParaRPr b="1" i="0" sz="1100" u="none" cap="none" strike="noStrike">
              <a:solidFill>
                <a:schemeClr val="dk1"/>
              </a:solidFill>
              <a:latin typeface="Inter"/>
              <a:ea typeface="Inter"/>
              <a:cs typeface="Inter"/>
              <a:sym typeface="Inter"/>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Kế hoạch phân bổ được cập nhật</a:t>
            </a:r>
            <a:r>
              <a:rPr i="0" lang="en" sz="1100" u="none" cap="none" strike="noStrike">
                <a:solidFill>
                  <a:schemeClr val="dk1"/>
                </a:solidFill>
                <a:latin typeface="Inter"/>
                <a:ea typeface="Inter"/>
                <a:cs typeface="Inter"/>
                <a:sym typeface="Inter"/>
              </a:rPr>
              <a:t> → hiệu suất KTV đạt chuẩn, đủ nguồn lực theo khu vực</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Đào tạo/điều chuyển nhân sự</a:t>
            </a:r>
            <a:r>
              <a:rPr i="0" lang="en" sz="1100" u="none" cap="none" strike="noStrike">
                <a:solidFill>
                  <a:schemeClr val="dk1"/>
                </a:solidFill>
                <a:latin typeface="Inter"/>
                <a:ea typeface="Inter"/>
                <a:cs typeface="Inter"/>
                <a:sym typeface="Inter"/>
              </a:rPr>
              <a:t> → hiệu suất không đạt do thiếu kỹ năng hoặc thiếu động lực</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Đề xuất tuyển dụng thêm KTV</a:t>
            </a:r>
            <a:r>
              <a:rPr i="0" lang="en" sz="1100" u="none" cap="none" strike="noStrike">
                <a:solidFill>
                  <a:schemeClr val="dk1"/>
                </a:solidFill>
                <a:latin typeface="Inter"/>
                <a:ea typeface="Inter"/>
                <a:cs typeface="Inter"/>
                <a:sym typeface="Inter"/>
              </a:rPr>
              <a:t> → khu vực thiếu/quá tải và không đủ nguồn lực sau điều chỉnh</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Báo cáo lên Quản lý cấp cao</a:t>
            </a:r>
            <a:r>
              <a:rPr i="0" lang="en" sz="1100" u="none" cap="none" strike="noStrike">
                <a:solidFill>
                  <a:schemeClr val="dk1"/>
                </a:solidFill>
                <a:latin typeface="Inter"/>
                <a:ea typeface="Inter"/>
                <a:cs typeface="Inter"/>
                <a:sym typeface="Inter"/>
              </a:rPr>
              <a:t> → ngân sách tuyển dụng không được duyệt</a:t>
            </a:r>
            <a:endParaRPr b="1" i="0" sz="1200" u="none" cap="none" strike="noStrike">
              <a:solidFill>
                <a:srgbClr val="0F172A"/>
              </a:solidFill>
              <a:latin typeface="Inter"/>
              <a:ea typeface="Inter"/>
              <a:cs typeface="Inter"/>
              <a:sym typeface="Inter"/>
            </a:endParaRPr>
          </a:p>
        </p:txBody>
      </p:sp>
      <p:pic>
        <p:nvPicPr>
          <p:cNvPr id="493" name="Google Shape;493;p24" title="Quy trình quản lý KTV.drawio.png"/>
          <p:cNvPicPr preferRelativeResize="0"/>
          <p:nvPr/>
        </p:nvPicPr>
        <p:blipFill rotWithShape="1">
          <a:blip r:embed="rId4">
            <a:alphaModFix/>
          </a:blip>
          <a:srcRect b="0" l="0" r="0" t="0"/>
          <a:stretch/>
        </p:blipFill>
        <p:spPr>
          <a:xfrm>
            <a:off x="5615175" y="57863"/>
            <a:ext cx="2879725" cy="50277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25"/>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99" name="Google Shape;499;p25"/>
          <p:cNvGrpSpPr/>
          <p:nvPr/>
        </p:nvGrpSpPr>
        <p:grpSpPr>
          <a:xfrm>
            <a:off x="8458200" y="381000"/>
            <a:ext cx="304800" cy="304800"/>
            <a:chOff x="0" y="0"/>
            <a:chExt cx="304800" cy="304800"/>
          </a:xfrm>
        </p:grpSpPr>
        <p:sp>
          <p:nvSpPr>
            <p:cNvPr id="500" name="Google Shape;500;p25"/>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25"/>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 name="Google Shape;502;p25"/>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503" name="Google Shape;503;p25"/>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504" name="Google Shape;504;p25"/>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Đánh giá độ phức tạp Quy trình Quản lý KTV</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Phân tích kỹ thuật cấu trúc quy trình vận hành dựa trên các thành phần BPMN</a:t>
            </a:r>
            <a:endParaRPr b="0" i="0" sz="1100" u="none" cap="none" strike="noStrike">
              <a:solidFill>
                <a:srgbClr val="007B7C"/>
              </a:solidFill>
              <a:latin typeface="Inter SemiBold"/>
              <a:ea typeface="Inter SemiBold"/>
              <a:cs typeface="Inter SemiBold"/>
              <a:sym typeface="Inter SemiBold"/>
            </a:endParaRPr>
          </a:p>
        </p:txBody>
      </p:sp>
      <p:grpSp>
        <p:nvGrpSpPr>
          <p:cNvPr id="505" name="Google Shape;505;p25"/>
          <p:cNvGrpSpPr/>
          <p:nvPr/>
        </p:nvGrpSpPr>
        <p:grpSpPr>
          <a:xfrm>
            <a:off x="381000" y="1333500"/>
            <a:ext cx="2762400" cy="1524000"/>
            <a:chOff x="0" y="0"/>
            <a:chExt cx="2762400" cy="1524000"/>
          </a:xfrm>
        </p:grpSpPr>
        <p:sp>
          <p:nvSpPr>
            <p:cNvPr id="506" name="Google Shape;506;p25"/>
            <p:cNvSpPr/>
            <p:nvPr/>
          </p:nvSpPr>
          <p:spPr>
            <a:xfrm>
              <a:off x="0" y="0"/>
              <a:ext cx="2762400" cy="1524000"/>
            </a:xfrm>
            <a:prstGeom prst="roundRect">
              <a:avLst>
                <a:gd fmla="val 375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25"/>
            <p:cNvSpPr/>
            <p:nvPr/>
          </p:nvSpPr>
          <p:spPr>
            <a:xfrm>
              <a:off x="0" y="0"/>
              <a:ext cx="57300" cy="15240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 name="Google Shape;508;p25"/>
            <p:cNvSpPr txBox="1"/>
            <p:nvPr/>
          </p:nvSpPr>
          <p:spPr>
            <a:xfrm>
              <a:off x="190500" y="152400"/>
              <a:ext cx="2381400" cy="12192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 sz="1000">
                  <a:solidFill>
                    <a:srgbClr val="475569"/>
                  </a:solidFill>
                  <a:latin typeface="Inter SemiBold"/>
                  <a:ea typeface="Inter SemiBold"/>
                  <a:cs typeface="Inter SemiBold"/>
                  <a:sym typeface="Inter SemiBold"/>
                </a:rPr>
                <a:t>Cổng điều kiện (Exclusive Gateways)</a:t>
              </a:r>
              <a:endParaRPr b="0" sz="1000">
                <a:solidFill>
                  <a:srgbClr val="475569"/>
                </a:solidFill>
                <a:latin typeface="Inter SemiBold"/>
                <a:ea typeface="Inter SemiBold"/>
                <a:cs typeface="Inter SemiBold"/>
                <a:sym typeface="Inter SemiBold"/>
              </a:endParaRPr>
            </a:p>
            <a:p>
              <a:pPr indent="0" lvl="0" marL="0" rtl="0" algn="l">
                <a:spcBef>
                  <a:spcPts val="0"/>
                </a:spcBef>
                <a:spcAft>
                  <a:spcPts val="0"/>
                </a:spcAft>
                <a:buNone/>
              </a:pPr>
              <a:r>
                <a:rPr b="1" lang="en" sz="2200">
                  <a:solidFill>
                    <a:srgbClr val="007B7C"/>
                  </a:solidFill>
                  <a:latin typeface="Inter"/>
                  <a:ea typeface="Inter"/>
                  <a:cs typeface="Inter"/>
                  <a:sym typeface="Inter"/>
                </a:rPr>
                <a:t>06 cổng</a:t>
              </a:r>
              <a:endParaRPr b="0" sz="1000">
                <a:solidFill>
                  <a:srgbClr val="475569"/>
                </a:solidFill>
                <a:latin typeface="Inter SemiBold"/>
                <a:ea typeface="Inter SemiBold"/>
                <a:cs typeface="Inter SemiBold"/>
                <a:sym typeface="Inter SemiBold"/>
              </a:endParaRPr>
            </a:p>
            <a:p>
              <a:pPr indent="0" lvl="0" marL="0" rtl="0" algn="l">
                <a:spcBef>
                  <a:spcPts val="0"/>
                </a:spcBef>
                <a:spcAft>
                  <a:spcPts val="0"/>
                </a:spcAft>
                <a:buNone/>
              </a:pPr>
              <a:r>
                <a:rPr b="0" lang="en" sz="950">
                  <a:solidFill>
                    <a:srgbClr val="64748B"/>
                  </a:solidFill>
                  <a:latin typeface="Inter"/>
                  <a:ea typeface="Inter"/>
                  <a:cs typeface="Inter"/>
                  <a:sym typeface="Inter"/>
                </a:rPr>
                <a:t>Đánh giá hiệu suất, xác định nguyên nhân, xác định khu vực thiếu/quá tải, kiểm tra nguồn lực sau điều chỉnh, duyệt ngân sách tuyển dụng.</a:t>
              </a:r>
              <a:endParaRPr b="0" sz="950">
                <a:solidFill>
                  <a:srgbClr val="475569"/>
                </a:solidFill>
                <a:latin typeface="Inter SemiBold"/>
                <a:ea typeface="Inter SemiBold"/>
                <a:cs typeface="Inter SemiBold"/>
                <a:sym typeface="Inter SemiBold"/>
              </a:endParaRPr>
            </a:p>
          </p:txBody>
        </p:sp>
      </p:grpSp>
      <p:grpSp>
        <p:nvGrpSpPr>
          <p:cNvPr id="509" name="Google Shape;509;p25"/>
          <p:cNvGrpSpPr/>
          <p:nvPr/>
        </p:nvGrpSpPr>
        <p:grpSpPr>
          <a:xfrm>
            <a:off x="381000" y="3048000"/>
            <a:ext cx="2762400" cy="1524000"/>
            <a:chOff x="0" y="0"/>
            <a:chExt cx="2762400" cy="1524000"/>
          </a:xfrm>
        </p:grpSpPr>
        <p:sp>
          <p:nvSpPr>
            <p:cNvPr id="510" name="Google Shape;510;p25"/>
            <p:cNvSpPr/>
            <p:nvPr/>
          </p:nvSpPr>
          <p:spPr>
            <a:xfrm>
              <a:off x="0" y="0"/>
              <a:ext cx="2762400" cy="1524000"/>
            </a:xfrm>
            <a:prstGeom prst="roundRect">
              <a:avLst>
                <a:gd fmla="val 3750"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25"/>
            <p:cNvSpPr/>
            <p:nvPr/>
          </p:nvSpPr>
          <p:spPr>
            <a:xfrm>
              <a:off x="0" y="0"/>
              <a:ext cx="57300" cy="1524000"/>
            </a:xfrm>
            <a:prstGeom prst="roundRect">
              <a:avLst>
                <a:gd fmla="val 50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 name="Google Shape;512;p25"/>
            <p:cNvSpPr txBox="1"/>
            <p:nvPr/>
          </p:nvSpPr>
          <p:spPr>
            <a:xfrm>
              <a:off x="190500" y="152400"/>
              <a:ext cx="2381400" cy="1219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rgbClr val="0284C7"/>
                  </a:solidFill>
                  <a:latin typeface="Inter SemiBold"/>
                  <a:ea typeface="Inter SemiBold"/>
                  <a:cs typeface="Inter SemiBold"/>
                  <a:sym typeface="Inter SemiBold"/>
                </a:rPr>
                <a:t>Cổng song song (Parallel Gateways)</a:t>
              </a:r>
              <a:endParaRPr b="0" i="0" sz="1000" u="none" cap="none" strike="noStrike">
                <a:solidFill>
                  <a:srgbClr val="0284C7"/>
                </a:solidFill>
                <a:latin typeface="Inter SemiBold"/>
                <a:ea typeface="Inter SemiBold"/>
                <a:cs typeface="Inter SemiBold"/>
                <a:sym typeface="Inter SemiBold"/>
              </a:endParaRPr>
            </a:p>
            <a:p>
              <a:pPr indent="0" lvl="0" marL="0" marR="0" rtl="0" algn="l">
                <a:lnSpc>
                  <a:spcPct val="100000"/>
                </a:lnSpc>
                <a:spcBef>
                  <a:spcPts val="375"/>
                </a:spcBef>
                <a:spcAft>
                  <a:spcPts val="0"/>
                </a:spcAft>
                <a:buClr>
                  <a:srgbClr val="000000"/>
                </a:buClr>
                <a:buSzPts val="2200"/>
                <a:buFont typeface="Arial"/>
                <a:buNone/>
              </a:pPr>
              <a:r>
                <a:rPr b="1" i="0" lang="en" sz="2200" u="none" cap="none" strike="noStrike">
                  <a:solidFill>
                    <a:srgbClr val="0284C7"/>
                  </a:solidFill>
                  <a:latin typeface="Inter"/>
                  <a:ea typeface="Inter"/>
                  <a:cs typeface="Inter"/>
                  <a:sym typeface="Inter"/>
                </a:rPr>
                <a:t>01 cặp</a:t>
              </a:r>
              <a:endParaRPr b="1" i="0" sz="2200" u="none" cap="none" strike="noStrike">
                <a:solidFill>
                  <a:srgbClr val="0284C7"/>
                </a:solidFill>
                <a:latin typeface="Inter"/>
                <a:ea typeface="Inter"/>
                <a:cs typeface="Inter"/>
                <a:sym typeface="Inter"/>
              </a:endParaRPr>
            </a:p>
            <a:p>
              <a:pPr indent="0" lvl="0" marL="0" marR="0" rtl="0" algn="l">
                <a:lnSpc>
                  <a:spcPct val="100000"/>
                </a:lnSpc>
                <a:spcBef>
                  <a:spcPts val="375"/>
                </a:spcBef>
                <a:spcAft>
                  <a:spcPts val="0"/>
                </a:spcAft>
                <a:buClr>
                  <a:srgbClr val="000000"/>
                </a:buClr>
                <a:buSzPts val="950"/>
                <a:buFont typeface="Arial"/>
                <a:buNone/>
              </a:pPr>
              <a:r>
                <a:rPr b="0" i="0" lang="en" sz="950" u="none" cap="none" strike="noStrike">
                  <a:solidFill>
                    <a:srgbClr val="64748B"/>
                  </a:solidFill>
                  <a:latin typeface="Inter"/>
                  <a:ea typeface="Inter"/>
                  <a:cs typeface="Inter"/>
                  <a:sym typeface="Inter"/>
                </a:rPr>
                <a:t>Sử dụng cặp cổng Split &amp; Join để đồng thời theo dõi hiệu suất và tải trọng phân bổ theo khu vực.</a:t>
              </a:r>
              <a:endParaRPr b="0" i="0" sz="950" u="none" cap="none" strike="noStrike">
                <a:solidFill>
                  <a:srgbClr val="64748B"/>
                </a:solidFill>
                <a:latin typeface="Inter"/>
                <a:ea typeface="Inter"/>
                <a:cs typeface="Inter"/>
                <a:sym typeface="Inter"/>
              </a:endParaRPr>
            </a:p>
          </p:txBody>
        </p:sp>
      </p:grpSp>
      <p:grpSp>
        <p:nvGrpSpPr>
          <p:cNvPr id="513" name="Google Shape;513;p25"/>
          <p:cNvGrpSpPr/>
          <p:nvPr/>
        </p:nvGrpSpPr>
        <p:grpSpPr>
          <a:xfrm>
            <a:off x="3429000" y="1333500"/>
            <a:ext cx="5334000" cy="2095500"/>
            <a:chOff x="0" y="0"/>
            <a:chExt cx="5334000" cy="2095500"/>
          </a:xfrm>
        </p:grpSpPr>
        <p:sp>
          <p:nvSpPr>
            <p:cNvPr id="514" name="Google Shape;514;p25"/>
            <p:cNvSpPr/>
            <p:nvPr/>
          </p:nvSpPr>
          <p:spPr>
            <a:xfrm>
              <a:off x="0" y="0"/>
              <a:ext cx="5334000" cy="2095500"/>
            </a:xfrm>
            <a:prstGeom prst="roundRect">
              <a:avLst>
                <a:gd fmla="val 3636" name="adj"/>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25"/>
            <p:cNvSpPr/>
            <p:nvPr/>
          </p:nvSpPr>
          <p:spPr>
            <a:xfrm>
              <a:off x="0" y="0"/>
              <a:ext cx="5334000" cy="57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25"/>
            <p:cNvSpPr txBox="1"/>
            <p:nvPr/>
          </p:nvSpPr>
          <p:spPr>
            <a:xfrm>
              <a:off x="228600" y="190500"/>
              <a:ext cx="4876800" cy="1714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 sz="1300">
                  <a:solidFill>
                    <a:srgbClr val="0F172A"/>
                  </a:solidFill>
                  <a:latin typeface="Inter"/>
                  <a:ea typeface="Inter"/>
                  <a:cs typeface="Inter"/>
                  <a:sym typeface="Inter"/>
                </a:rPr>
                <a:t>Chi tiết các nút quyết định &amp; Tác vụ song song</a:t>
              </a:r>
              <a:endParaRPr b="1" sz="1300">
                <a:solidFill>
                  <a:srgbClr val="0F172A"/>
                </a:solidFill>
                <a:latin typeface="Inter"/>
                <a:ea typeface="Inter"/>
                <a:cs typeface="Inter"/>
                <a:sym typeface="Inter"/>
              </a:endParaRPr>
            </a:p>
            <a:p>
              <a:pPr indent="0" lvl="0" marL="0" rtl="0" algn="l">
                <a:spcBef>
                  <a:spcPts val="500"/>
                </a:spcBef>
                <a:spcAft>
                  <a:spcPts val="0"/>
                </a:spcAft>
                <a:buNone/>
              </a:pPr>
              <a:r>
                <a:rPr b="1" lang="en" sz="950">
                  <a:solidFill>
                    <a:srgbClr val="007B7C"/>
                  </a:solidFill>
                  <a:latin typeface="Inter"/>
                  <a:ea typeface="Inter"/>
                  <a:cs typeface="Inter"/>
                  <a:sym typeface="Inter"/>
                </a:rPr>
                <a:t>Phân luồng quyết định (Exclusive Gateways)</a:t>
              </a:r>
              <a:endParaRPr b="1" sz="950">
                <a:solidFill>
                  <a:srgbClr val="0F172A"/>
                </a:solidFill>
                <a:latin typeface="Inter"/>
                <a:ea typeface="Inter"/>
                <a:cs typeface="Inter"/>
                <a:sym typeface="Inter"/>
              </a:endParaRPr>
            </a:p>
            <a:p>
              <a:pPr indent="-288925" lvl="0" marL="457200" rtl="0" algn="l">
                <a:spcBef>
                  <a:spcPts val="300"/>
                </a:spcBef>
                <a:spcAft>
                  <a:spcPts val="0"/>
                </a:spcAft>
                <a:buClr>
                  <a:srgbClr val="475569"/>
                </a:buClr>
                <a:buSzPts val="950"/>
                <a:buFont typeface="Inter"/>
                <a:buChar char="●"/>
              </a:pPr>
              <a:r>
                <a:rPr b="0" lang="en" sz="950">
                  <a:solidFill>
                    <a:srgbClr val="475569"/>
                  </a:solidFill>
                  <a:latin typeface="Inter"/>
                  <a:ea typeface="Inter"/>
                  <a:cs typeface="Inter"/>
                  <a:sym typeface="Inter"/>
                </a:rPr>
                <a:t>Đánh giá hiệu suất &amp; Xác định nguyên nhân.</a:t>
              </a:r>
              <a:endParaRPr b="0" sz="950">
                <a:solidFill>
                  <a:srgbClr val="475569"/>
                </a:solidFill>
                <a:latin typeface="Inter"/>
                <a:ea typeface="Inter"/>
                <a:cs typeface="Inter"/>
                <a:sym typeface="Inter"/>
              </a:endParaRPr>
            </a:p>
            <a:p>
              <a:pPr indent="-288925" lvl="0" marL="457200" rtl="0" algn="l">
                <a:spcBef>
                  <a:spcPts val="300"/>
                </a:spcBef>
                <a:spcAft>
                  <a:spcPts val="0"/>
                </a:spcAft>
                <a:buClr>
                  <a:srgbClr val="475569"/>
                </a:buClr>
                <a:buSzPts val="950"/>
                <a:buFont typeface="Inter"/>
                <a:buChar char="●"/>
              </a:pPr>
              <a:r>
                <a:rPr b="0" lang="en" sz="950">
                  <a:solidFill>
                    <a:srgbClr val="475569"/>
                  </a:solidFill>
                  <a:latin typeface="Inter"/>
                  <a:ea typeface="Inter"/>
                  <a:cs typeface="Inter"/>
                  <a:sym typeface="Inter"/>
                </a:rPr>
                <a:t>Xác định khu vực thiếu/quá tải &amp; Kiểm tra nguồn lực sau điều chỉnh.</a:t>
              </a:r>
              <a:endParaRPr b="0" sz="950">
                <a:solidFill>
                  <a:srgbClr val="475569"/>
                </a:solidFill>
                <a:latin typeface="Inter"/>
                <a:ea typeface="Inter"/>
                <a:cs typeface="Inter"/>
                <a:sym typeface="Inter"/>
              </a:endParaRPr>
            </a:p>
            <a:p>
              <a:pPr indent="-288925" lvl="0" marL="457200" rtl="0" algn="l">
                <a:spcBef>
                  <a:spcPts val="300"/>
                </a:spcBef>
                <a:spcAft>
                  <a:spcPts val="0"/>
                </a:spcAft>
                <a:buClr>
                  <a:srgbClr val="475569"/>
                </a:buClr>
                <a:buSzPts val="950"/>
                <a:buFont typeface="Inter"/>
                <a:buChar char="●"/>
              </a:pPr>
              <a:r>
                <a:rPr b="0" lang="en" sz="950">
                  <a:solidFill>
                    <a:srgbClr val="475569"/>
                  </a:solidFill>
                  <a:latin typeface="Inter"/>
                  <a:ea typeface="Inter"/>
                  <a:cs typeface="Inter"/>
                  <a:sym typeface="Inter"/>
                </a:rPr>
                <a:t>Duyệt ngân sách tuyển dụng.</a:t>
              </a:r>
              <a:endParaRPr b="0" sz="950">
                <a:solidFill>
                  <a:srgbClr val="475569"/>
                </a:solidFill>
                <a:latin typeface="Inter"/>
                <a:ea typeface="Inter"/>
                <a:cs typeface="Inter"/>
                <a:sym typeface="Inter"/>
              </a:endParaRPr>
            </a:p>
            <a:p>
              <a:pPr indent="0" lvl="0" marL="0" rtl="0" algn="l">
                <a:spcBef>
                  <a:spcPts val="500"/>
                </a:spcBef>
                <a:spcAft>
                  <a:spcPts val="0"/>
                </a:spcAft>
                <a:buNone/>
              </a:pPr>
              <a:r>
                <a:rPr b="1" lang="en" sz="950">
                  <a:solidFill>
                    <a:srgbClr val="0284C7"/>
                  </a:solidFill>
                  <a:latin typeface="Inter"/>
                  <a:ea typeface="Inter"/>
                  <a:cs typeface="Inter"/>
                  <a:sym typeface="Inter"/>
                </a:rPr>
                <a:t>Xử lý song song (Parallel Gateways)</a:t>
              </a:r>
              <a:endParaRPr b="1" sz="950">
                <a:solidFill>
                  <a:srgbClr val="0F172A"/>
                </a:solidFill>
                <a:latin typeface="Inter"/>
                <a:ea typeface="Inter"/>
                <a:cs typeface="Inter"/>
                <a:sym typeface="Inter"/>
              </a:endParaRPr>
            </a:p>
            <a:p>
              <a:pPr indent="-288925" lvl="0" marL="457200" rtl="0" algn="l">
                <a:spcBef>
                  <a:spcPts val="300"/>
                </a:spcBef>
                <a:spcAft>
                  <a:spcPts val="0"/>
                </a:spcAft>
                <a:buClr>
                  <a:srgbClr val="475569"/>
                </a:buClr>
                <a:buSzPts val="950"/>
                <a:buFont typeface="Inter"/>
                <a:buChar char="●"/>
              </a:pPr>
              <a:r>
                <a:rPr b="0" lang="en" sz="950">
                  <a:solidFill>
                    <a:srgbClr val="475569"/>
                  </a:solidFill>
                  <a:latin typeface="Inter"/>
                  <a:ea typeface="Inter"/>
                  <a:cs typeface="Inter"/>
                  <a:sym typeface="Inter"/>
                </a:rPr>
                <a:t>Đồng thời theo dõi hiệu suất của từng KTV và tải công việc theo từng khu vực qua cặp cổng Split/Join.</a:t>
              </a:r>
              <a:endParaRPr b="0" sz="950">
                <a:solidFill>
                  <a:srgbClr val="475569"/>
                </a:solidFill>
                <a:latin typeface="Inter"/>
                <a:ea typeface="Inter"/>
                <a:cs typeface="Inter"/>
                <a:sym typeface="Inte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20" name="Shape 520"/>
        <p:cNvGrpSpPr/>
        <p:nvPr/>
      </p:nvGrpSpPr>
      <p:grpSpPr>
        <a:xfrm>
          <a:off x="0" y="0"/>
          <a:ext cx="0" cy="0"/>
          <a:chOff x="0" y="0"/>
          <a:chExt cx="0" cy="0"/>
        </a:xfrm>
      </p:grpSpPr>
      <p:sp>
        <p:nvSpPr>
          <p:cNvPr id="521" name="Google Shape;521;p26"/>
          <p:cNvSpPr txBox="1"/>
          <p:nvPr/>
        </p:nvSpPr>
        <p:spPr>
          <a:xfrm>
            <a:off x="571500" y="476250"/>
            <a:ext cx="4759200" cy="114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Quy trình KTV Nhận &amp; Xử lý Booking</a:t>
            </a:r>
            <a:endParaRPr b="0" i="0" sz="28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225"/>
              </a:spcBef>
              <a:spcAft>
                <a:spcPts val="0"/>
              </a:spcAft>
              <a:buClr>
                <a:schemeClr val="dk1"/>
              </a:buClr>
              <a:buSzPts val="1100"/>
              <a:buFont typeface="Arial"/>
              <a:buNone/>
            </a:pPr>
            <a:r>
              <a:rPr b="0" i="0" lang="en" sz="1100" u="none" cap="none" strike="noStrike">
                <a:solidFill>
                  <a:srgbClr val="007B7C"/>
                </a:solidFill>
                <a:latin typeface="Inter SemiBold"/>
                <a:ea typeface="Inter SemiBold"/>
                <a:cs typeface="Inter SemiBold"/>
                <a:sym typeface="Inter SemiBold"/>
              </a:rPr>
              <a:t>Chuỗi tác vụ hiện trường của KTV kết hợp chẩn đoán, kiểm tra hệ thống và xử lý linh kiện</a:t>
            </a:r>
            <a:endParaRPr b="0" i="0" sz="1400" u="none" cap="none" strike="noStrike">
              <a:solidFill>
                <a:srgbClr val="0284C7"/>
              </a:solidFill>
              <a:latin typeface="Inter SemiBold"/>
              <a:ea typeface="Inter SemiBold"/>
              <a:cs typeface="Inter SemiBold"/>
              <a:sym typeface="Inter SemiBold"/>
            </a:endParaRPr>
          </a:p>
        </p:txBody>
      </p:sp>
      <p:sp>
        <p:nvSpPr>
          <p:cNvPr id="522" name="Google Shape;522;p26"/>
          <p:cNvSpPr txBox="1"/>
          <p:nvPr/>
        </p:nvSpPr>
        <p:spPr>
          <a:xfrm>
            <a:off x="571500" y="1714500"/>
            <a:ext cx="4000500" cy="2857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Actor (tác nhân):</a:t>
            </a:r>
            <a:r>
              <a:rPr i="0" lang="en" sz="1100" u="none" cap="none" strike="noStrike">
                <a:solidFill>
                  <a:schemeClr val="dk1"/>
                </a:solidFill>
                <a:latin typeface="Inter"/>
                <a:ea typeface="Inter"/>
                <a:cs typeface="Inter"/>
                <a:sym typeface="Inter"/>
              </a:rPr>
              <a:t> Kỹ thuật viên (KTV)</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Đối tượng liên quan:</a:t>
            </a:r>
            <a:r>
              <a:rPr i="0" lang="en" sz="1100" u="none" cap="none" strike="noStrike">
                <a:solidFill>
                  <a:schemeClr val="dk1"/>
                </a:solidFill>
                <a:latin typeface="Inter"/>
                <a:ea typeface="Inter"/>
                <a:cs typeface="Inter"/>
                <a:sym typeface="Inter"/>
              </a:rPr>
              <a:t> Khách hàng đang có booking sửa chữa/bảo dưỡng thiết bị</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Các kết quả có thể xảy ra:</a:t>
            </a:r>
            <a:endParaRPr b="1" i="0" sz="1100" u="none" cap="none" strike="noStrike">
              <a:solidFill>
                <a:schemeClr val="dk1"/>
              </a:solidFill>
              <a:latin typeface="Inter"/>
              <a:ea typeface="Inter"/>
              <a:cs typeface="Inter"/>
              <a:sym typeface="Inter"/>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Hoàn tất xử lý</a:t>
            </a:r>
            <a:r>
              <a:rPr i="0" lang="en" sz="1100" u="none" cap="none" strike="noStrike">
                <a:solidFill>
                  <a:schemeClr val="dk1"/>
                </a:solidFill>
                <a:latin typeface="Inter"/>
                <a:ea typeface="Inter"/>
                <a:cs typeface="Inter"/>
                <a:sym typeface="Inter"/>
              </a:rPr>
              <a:t> → chuyển sang bước thanh toán (booking được sửa chữa thành công, khách đồng ý chi phí)</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Tạm dừng, hẹn ca sau</a:t>
            </a:r>
            <a:r>
              <a:rPr i="0" lang="en" sz="1100" u="none" cap="none" strike="noStrike">
                <a:solidFill>
                  <a:schemeClr val="dk1"/>
                </a:solidFill>
                <a:latin typeface="Inter"/>
                <a:ea typeface="Inter"/>
                <a:cs typeface="Inter"/>
                <a:sym typeface="Inter"/>
              </a:rPr>
              <a:t> → do thiếu linh kiện và mức độ phức tạp cần đi lại lần 2</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Khiếu nại/điều chỉnh chi phí</a:t>
            </a:r>
            <a:r>
              <a:rPr i="0" lang="en" sz="1100" u="none" cap="none" strike="noStrike">
                <a:solidFill>
                  <a:schemeClr val="dk1"/>
                </a:solidFill>
                <a:latin typeface="Inter"/>
                <a:ea typeface="Inter"/>
                <a:cs typeface="Inter"/>
                <a:sym typeface="Inter"/>
              </a:rPr>
              <a:t> → khách hàng không đồng ý mức phí sửa chữa, yêu cầu KTV điều chỉnh trước khi tiếp tục</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1200"/>
              </a:spcAft>
              <a:buClr>
                <a:srgbClr val="000000"/>
              </a:buClr>
              <a:buSzPts val="1100"/>
              <a:buFont typeface="Arial"/>
              <a:buNone/>
            </a:pPr>
            <a:r>
              <a:t/>
            </a:r>
            <a:endParaRPr b="1" i="0" sz="1100" u="none" cap="none" strike="noStrike">
              <a:solidFill>
                <a:schemeClr val="dk1"/>
              </a:solidFill>
              <a:latin typeface="Inter"/>
              <a:ea typeface="Inter"/>
              <a:cs typeface="Inter"/>
              <a:sym typeface="Inter"/>
            </a:endParaRPr>
          </a:p>
        </p:txBody>
      </p:sp>
      <p:pic>
        <p:nvPicPr>
          <p:cNvPr id="523" name="Google Shape;523;p26" title="KTV nhận và xử lý booking.drawio.png"/>
          <p:cNvPicPr preferRelativeResize="0"/>
          <p:nvPr/>
        </p:nvPicPr>
        <p:blipFill rotWithShape="1">
          <a:blip r:embed="rId4">
            <a:alphaModFix/>
          </a:blip>
          <a:srcRect b="0" l="0" r="0" t="0"/>
          <a:stretch/>
        </p:blipFill>
        <p:spPr>
          <a:xfrm>
            <a:off x="5128523" y="55070"/>
            <a:ext cx="3893025" cy="492107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27"/>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29" name="Google Shape;529;p27"/>
          <p:cNvGrpSpPr/>
          <p:nvPr/>
        </p:nvGrpSpPr>
        <p:grpSpPr>
          <a:xfrm>
            <a:off x="381000" y="333375"/>
            <a:ext cx="8382000" cy="809625"/>
            <a:chOff x="381000" y="333375"/>
            <a:chExt cx="8382000" cy="809625"/>
          </a:xfrm>
        </p:grpSpPr>
        <p:cxnSp>
          <p:nvCxnSpPr>
            <p:cNvPr id="530" name="Google Shape;530;p27"/>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531" name="Google Shape;531;p27"/>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Đánh giá độ phức tạp Quy trình</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00"/>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KTV nhận &amp; xử lý booking — Quy trình cốt lõi mang tính biến động cao</a:t>
              </a:r>
              <a:endParaRPr b="0" i="0" sz="1100" u="none" cap="none" strike="noStrike">
                <a:solidFill>
                  <a:srgbClr val="007B7C"/>
                </a:solidFill>
                <a:latin typeface="Inter SemiBold"/>
                <a:ea typeface="Inter SemiBold"/>
                <a:cs typeface="Inter SemiBold"/>
                <a:sym typeface="Inter SemiBold"/>
              </a:endParaRPr>
            </a:p>
          </p:txBody>
        </p:sp>
        <p:grpSp>
          <p:nvGrpSpPr>
            <p:cNvPr id="532" name="Google Shape;532;p27"/>
            <p:cNvGrpSpPr/>
            <p:nvPr/>
          </p:nvGrpSpPr>
          <p:grpSpPr>
            <a:xfrm>
              <a:off x="8458200" y="381000"/>
              <a:ext cx="304800" cy="304800"/>
              <a:chOff x="0" y="0"/>
              <a:chExt cx="304800" cy="304800"/>
            </a:xfrm>
          </p:grpSpPr>
          <p:sp>
            <p:nvSpPr>
              <p:cNvPr id="533" name="Google Shape;533;p27"/>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27"/>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27"/>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36" name="Google Shape;536;p27"/>
          <p:cNvGrpSpPr/>
          <p:nvPr/>
        </p:nvGrpSpPr>
        <p:grpSpPr>
          <a:xfrm>
            <a:off x="495300" y="1333500"/>
            <a:ext cx="2667000" cy="3381225"/>
            <a:chOff x="0" y="0"/>
            <a:chExt cx="2667000" cy="3381225"/>
          </a:xfrm>
        </p:grpSpPr>
        <p:grpSp>
          <p:nvGrpSpPr>
            <p:cNvPr id="537" name="Google Shape;537;p27"/>
            <p:cNvGrpSpPr/>
            <p:nvPr/>
          </p:nvGrpSpPr>
          <p:grpSpPr>
            <a:xfrm>
              <a:off x="0" y="0"/>
              <a:ext cx="2667000" cy="1619100"/>
              <a:chOff x="0" y="0"/>
              <a:chExt cx="2667000" cy="1619100"/>
            </a:xfrm>
          </p:grpSpPr>
          <p:sp>
            <p:nvSpPr>
              <p:cNvPr id="538" name="Google Shape;538;p27"/>
              <p:cNvSpPr/>
              <p:nvPr/>
            </p:nvSpPr>
            <p:spPr>
              <a:xfrm>
                <a:off x="0" y="0"/>
                <a:ext cx="2667000" cy="1619100"/>
              </a:xfrm>
              <a:prstGeom prst="roundRect">
                <a:avLst>
                  <a:gd fmla="val 4705"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27"/>
              <p:cNvSpPr/>
              <p:nvPr/>
            </p:nvSpPr>
            <p:spPr>
              <a:xfrm>
                <a:off x="0" y="0"/>
                <a:ext cx="57300" cy="16191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27"/>
              <p:cNvSpPr txBox="1"/>
              <p:nvPr/>
            </p:nvSpPr>
            <p:spPr>
              <a:xfrm>
                <a:off x="190500" y="152400"/>
                <a:ext cx="2286000" cy="1314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 sz="950">
                    <a:solidFill>
                      <a:srgbClr val="007B7C"/>
                    </a:solidFill>
                    <a:latin typeface="Inter SemiBold"/>
                    <a:ea typeface="Inter SemiBold"/>
                    <a:cs typeface="Inter SemiBold"/>
                    <a:sym typeface="Inter SemiBold"/>
                  </a:rPr>
                  <a:t>Cổng điều kiện (Exclusive Gateways)</a:t>
                </a:r>
                <a:endParaRPr b="0" sz="950">
                  <a:solidFill>
                    <a:srgbClr val="007B7C"/>
                  </a:solidFill>
                  <a:latin typeface="Inter SemiBold"/>
                  <a:ea typeface="Inter SemiBold"/>
                  <a:cs typeface="Inter SemiBold"/>
                  <a:sym typeface="Inter SemiBold"/>
                </a:endParaRPr>
              </a:p>
              <a:p>
                <a:pPr indent="0" lvl="0" marL="0" rtl="0" algn="l">
                  <a:spcBef>
                    <a:spcPts val="0"/>
                  </a:spcBef>
                  <a:spcAft>
                    <a:spcPts val="0"/>
                  </a:spcAft>
                  <a:buNone/>
                </a:pPr>
                <a:r>
                  <a:rPr b="0" lang="en" sz="2600">
                    <a:solidFill>
                      <a:srgbClr val="007B7C"/>
                    </a:solidFill>
                    <a:latin typeface="Inter ExtraBold"/>
                    <a:ea typeface="Inter ExtraBold"/>
                    <a:cs typeface="Inter ExtraBold"/>
                    <a:sym typeface="Inter ExtraBold"/>
                  </a:rPr>
                  <a:t>06 cổng</a:t>
                </a:r>
                <a:endParaRPr b="0" sz="950">
                  <a:solidFill>
                    <a:srgbClr val="007B7C"/>
                  </a:solidFill>
                  <a:latin typeface="Inter SemiBold"/>
                  <a:ea typeface="Inter SemiBold"/>
                  <a:cs typeface="Inter SemiBold"/>
                  <a:sym typeface="Inter SemiBold"/>
                </a:endParaRPr>
              </a:p>
              <a:p>
                <a:pPr indent="0" lvl="0" marL="0" rtl="0" algn="l">
                  <a:spcBef>
                    <a:spcPts val="0"/>
                  </a:spcBef>
                  <a:spcAft>
                    <a:spcPts val="0"/>
                  </a:spcAft>
                  <a:buNone/>
                </a:pPr>
                <a:r>
                  <a:rPr b="0" lang="en" sz="950">
                    <a:solidFill>
                      <a:srgbClr val="475569"/>
                    </a:solidFill>
                    <a:latin typeface="Inter"/>
                    <a:ea typeface="Inter"/>
                    <a:cs typeface="Inter"/>
                    <a:sym typeface="Inter"/>
                  </a:rPr>
                  <a:t>Kiểm tra bảo hành, kiểm tra mã lỗi, kiểm tra đủ linh kiện, kiểm tra cần đi lại lần 2, và khách hàng đồng ý chi phí.</a:t>
                </a:r>
                <a:endParaRPr b="0" sz="950">
                  <a:solidFill>
                    <a:srgbClr val="007B7C"/>
                  </a:solidFill>
                  <a:latin typeface="Inter SemiBold"/>
                  <a:ea typeface="Inter SemiBold"/>
                  <a:cs typeface="Inter SemiBold"/>
                  <a:sym typeface="Inter SemiBold"/>
                </a:endParaRPr>
              </a:p>
            </p:txBody>
          </p:sp>
        </p:grpSp>
        <p:grpSp>
          <p:nvGrpSpPr>
            <p:cNvPr id="541" name="Google Shape;541;p27"/>
            <p:cNvGrpSpPr/>
            <p:nvPr/>
          </p:nvGrpSpPr>
          <p:grpSpPr>
            <a:xfrm>
              <a:off x="0" y="1762125"/>
              <a:ext cx="2667000" cy="1619100"/>
              <a:chOff x="0" y="0"/>
              <a:chExt cx="2667000" cy="1619100"/>
            </a:xfrm>
          </p:grpSpPr>
          <p:sp>
            <p:nvSpPr>
              <p:cNvPr id="542" name="Google Shape;542;p27"/>
              <p:cNvSpPr/>
              <p:nvPr/>
            </p:nvSpPr>
            <p:spPr>
              <a:xfrm>
                <a:off x="0" y="0"/>
                <a:ext cx="2667000" cy="1619100"/>
              </a:xfrm>
              <a:prstGeom prst="roundRect">
                <a:avLst>
                  <a:gd fmla="val 4705"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27"/>
              <p:cNvSpPr/>
              <p:nvPr/>
            </p:nvSpPr>
            <p:spPr>
              <a:xfrm>
                <a:off x="0" y="0"/>
                <a:ext cx="57300" cy="1619100"/>
              </a:xfrm>
              <a:prstGeom prst="roundRect">
                <a:avLst>
                  <a:gd fmla="val 50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27"/>
              <p:cNvSpPr txBox="1"/>
              <p:nvPr/>
            </p:nvSpPr>
            <p:spPr>
              <a:xfrm>
                <a:off x="190500" y="152400"/>
                <a:ext cx="2286000" cy="1314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 sz="950">
                    <a:solidFill>
                      <a:srgbClr val="0284C7"/>
                    </a:solidFill>
                    <a:latin typeface="Inter SemiBold"/>
                    <a:ea typeface="Inter SemiBold"/>
                    <a:cs typeface="Inter SemiBold"/>
                    <a:sym typeface="Inter SemiBold"/>
                  </a:rPr>
                  <a:t>Cổng song song (Parallel Gateways)</a:t>
                </a:r>
                <a:endParaRPr b="0" sz="950">
                  <a:solidFill>
                    <a:srgbClr val="0284C7"/>
                  </a:solidFill>
                  <a:latin typeface="Inter SemiBold"/>
                  <a:ea typeface="Inter SemiBold"/>
                  <a:cs typeface="Inter SemiBold"/>
                  <a:sym typeface="Inter SemiBold"/>
                </a:endParaRPr>
              </a:p>
              <a:p>
                <a:pPr indent="0" lvl="0" marL="0" rtl="0" algn="l">
                  <a:spcBef>
                    <a:spcPts val="0"/>
                  </a:spcBef>
                  <a:spcAft>
                    <a:spcPts val="0"/>
                  </a:spcAft>
                  <a:buNone/>
                </a:pPr>
                <a:r>
                  <a:rPr b="0" lang="en" sz="2600">
                    <a:solidFill>
                      <a:srgbClr val="0284C7"/>
                    </a:solidFill>
                    <a:latin typeface="Inter ExtraBold"/>
                    <a:ea typeface="Inter ExtraBold"/>
                    <a:cs typeface="Inter ExtraBold"/>
                    <a:sym typeface="Inter ExtraBold"/>
                  </a:rPr>
                  <a:t>01 cặp</a:t>
                </a:r>
                <a:endParaRPr b="0" sz="950">
                  <a:solidFill>
                    <a:srgbClr val="0284C7"/>
                  </a:solidFill>
                  <a:latin typeface="Inter SemiBold"/>
                  <a:ea typeface="Inter SemiBold"/>
                  <a:cs typeface="Inter SemiBold"/>
                  <a:sym typeface="Inter SemiBold"/>
                </a:endParaRPr>
              </a:p>
              <a:p>
                <a:pPr indent="0" lvl="0" marL="0" rtl="0" algn="l">
                  <a:spcBef>
                    <a:spcPts val="0"/>
                  </a:spcBef>
                  <a:spcAft>
                    <a:spcPts val="0"/>
                  </a:spcAft>
                  <a:buNone/>
                </a:pPr>
                <a:r>
                  <a:rPr b="0" lang="en" sz="950">
                    <a:solidFill>
                      <a:srgbClr val="0F172A"/>
                    </a:solidFill>
                    <a:latin typeface="Inter SemiBold"/>
                    <a:ea typeface="Inter SemiBold"/>
                    <a:cs typeface="Inter SemiBold"/>
                    <a:sym typeface="Inter SemiBold"/>
                  </a:rPr>
                  <a:t>(Split / Join)</a:t>
                </a:r>
                <a:r>
                  <a:rPr b="0" lang="en" sz="950">
                    <a:solidFill>
                      <a:srgbClr val="475569"/>
                    </a:solidFill>
                    <a:latin typeface="Inter"/>
                    <a:ea typeface="Inter"/>
                    <a:cs typeface="Inter"/>
                    <a:sym typeface="Inter"/>
                  </a:rPr>
                  <a:t> KTV thực hiện đồng thời tác vụ: lập hóa đơn chi phí và kiểm tra tồn kho linh kiện.</a:t>
                </a:r>
                <a:endParaRPr b="0" sz="950">
                  <a:solidFill>
                    <a:srgbClr val="0284C7"/>
                  </a:solidFill>
                  <a:latin typeface="Inter SemiBold"/>
                  <a:ea typeface="Inter SemiBold"/>
                  <a:cs typeface="Inter SemiBold"/>
                  <a:sym typeface="Inter SemiBold"/>
                </a:endParaRPr>
              </a:p>
            </p:txBody>
          </p:sp>
        </p:grpSp>
      </p:grpSp>
      <p:grpSp>
        <p:nvGrpSpPr>
          <p:cNvPr id="545" name="Google Shape;545;p27"/>
          <p:cNvGrpSpPr/>
          <p:nvPr/>
        </p:nvGrpSpPr>
        <p:grpSpPr>
          <a:xfrm>
            <a:off x="3390900" y="1333500"/>
            <a:ext cx="5372100" cy="3381300"/>
            <a:chOff x="0" y="0"/>
            <a:chExt cx="5372100" cy="3381300"/>
          </a:xfrm>
        </p:grpSpPr>
        <p:sp>
          <p:nvSpPr>
            <p:cNvPr id="546" name="Google Shape;546;p27"/>
            <p:cNvSpPr/>
            <p:nvPr/>
          </p:nvSpPr>
          <p:spPr>
            <a:xfrm>
              <a:off x="0" y="0"/>
              <a:ext cx="5372100" cy="3381300"/>
            </a:xfrm>
            <a:prstGeom prst="roundRect">
              <a:avLst>
                <a:gd fmla="val 225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27"/>
            <p:cNvSpPr/>
            <p:nvPr/>
          </p:nvSpPr>
          <p:spPr>
            <a:xfrm>
              <a:off x="0" y="0"/>
              <a:ext cx="5372100" cy="57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27"/>
            <p:cNvSpPr txBox="1"/>
            <p:nvPr/>
          </p:nvSpPr>
          <p:spPr>
            <a:xfrm>
              <a:off x="228600" y="228600"/>
              <a:ext cx="4914900" cy="29241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 sz="1400">
                  <a:solidFill>
                    <a:srgbClr val="0F172A"/>
                  </a:solidFill>
                  <a:latin typeface="Inter ExtraBold"/>
                  <a:ea typeface="Inter ExtraBold"/>
                  <a:cs typeface="Inter ExtraBold"/>
                  <a:sym typeface="Inter ExtraBold"/>
                </a:rPr>
                <a:t>Đặc tính Vận hành &amp; Thách thức</a:t>
              </a:r>
              <a:endParaRPr b="0" sz="1400">
                <a:solidFill>
                  <a:srgbClr val="0F172A"/>
                </a:solidFill>
                <a:latin typeface="Inter ExtraBold"/>
                <a:ea typeface="Inter ExtraBold"/>
                <a:cs typeface="Inter ExtraBold"/>
                <a:sym typeface="Inter ExtraBold"/>
              </a:endParaRPr>
            </a:p>
            <a:p>
              <a:pPr indent="0" lvl="0" marL="0" rtl="0" algn="l">
                <a:spcBef>
                  <a:spcPts val="0"/>
                </a:spcBef>
                <a:spcAft>
                  <a:spcPts val="0"/>
                </a:spcAft>
                <a:buNone/>
              </a:pPr>
              <a:r>
                <a:rPr b="0" lang="en" sz="1000">
                  <a:solidFill>
                    <a:srgbClr val="475569"/>
                  </a:solidFill>
                  <a:latin typeface="Inter"/>
                  <a:ea typeface="Inter"/>
                  <a:cs typeface="Inter"/>
                  <a:sym typeface="Inter"/>
                </a:rPr>
                <a:t>Đây là quy trình phức tạp nhất trong nhóm cốt lõi với 6 cổng điều kiện (kiểm tra bảo hành, kiểm tra mã lỗi, kiểm tra đủ linh kiện, kiểm tra cần đi lại lần 2, khách hàng đồng ý chi phí) và 1 cặp cổng song song giữa lập hóa đơn chi phí và kiểm tra tồn kho linh kiện.</a:t>
              </a:r>
              <a:endParaRPr b="0" sz="1000">
                <a:solidFill>
                  <a:srgbClr val="0F172A"/>
                </a:solidFill>
                <a:latin typeface="Inter ExtraBold"/>
                <a:ea typeface="Inter ExtraBold"/>
                <a:cs typeface="Inter ExtraBold"/>
                <a:sym typeface="Inter ExtraBold"/>
              </a:endParaRPr>
            </a:p>
            <a:p>
              <a:pPr indent="0" lvl="0" marL="0" rtl="0" algn="l">
                <a:spcBef>
                  <a:spcPts val="0"/>
                </a:spcBef>
                <a:spcAft>
                  <a:spcPts val="0"/>
                </a:spcAft>
                <a:buNone/>
              </a:pPr>
              <a:r>
                <a:rPr b="1" lang="en" sz="1000">
                  <a:solidFill>
                    <a:srgbClr val="0F172A"/>
                  </a:solidFill>
                  <a:latin typeface="Inter"/>
                  <a:ea typeface="Inter"/>
                  <a:cs typeface="Inter"/>
                  <a:sym typeface="Inter"/>
                </a:rPr>
                <a:t>⚡ Điểm mấu chốt kỹ thuật:</a:t>
              </a:r>
              <a:endParaRPr b="0" sz="1000">
                <a:solidFill>
                  <a:srgbClr val="0F172A"/>
                </a:solidFill>
                <a:latin typeface="Inter ExtraBold"/>
                <a:ea typeface="Inter ExtraBold"/>
                <a:cs typeface="Inter ExtraBold"/>
                <a:sym typeface="Inter ExtraBold"/>
              </a:endParaRPr>
            </a:p>
            <a:p>
              <a:pPr indent="-317500" lvl="0" marL="457200" rtl="0" algn="l">
                <a:spcBef>
                  <a:spcPts val="450"/>
                </a:spcBef>
                <a:spcAft>
                  <a:spcPts val="0"/>
                </a:spcAft>
                <a:buClr>
                  <a:srgbClr val="0F172A"/>
                </a:buClr>
                <a:buSzPts val="1400"/>
                <a:buFont typeface="Inter"/>
                <a:buChar char="●"/>
              </a:pPr>
              <a:r>
                <a:rPr b="0" lang="en" sz="950">
                  <a:solidFill>
                    <a:srgbClr val="475569"/>
                  </a:solidFill>
                  <a:latin typeface="Inter"/>
                  <a:ea typeface="Inter"/>
                  <a:cs typeface="Inter"/>
                  <a:sym typeface="Inter"/>
                </a:rPr>
                <a:t>Đòi hỏi khả năng xử lý song song thông tin nghiệp vụ và dữ liệu hệ thống ngay tại thực địa.</a:t>
              </a:r>
              <a:endParaRPr b="0" sz="1400">
                <a:solidFill>
                  <a:srgbClr val="0F172A"/>
                </a:solidFill>
                <a:latin typeface="Inter ExtraBold"/>
                <a:ea typeface="Inter ExtraBold"/>
                <a:cs typeface="Inter ExtraBold"/>
                <a:sym typeface="Inter ExtraBold"/>
              </a:endParaRPr>
            </a:p>
            <a:p>
              <a:pPr indent="-317500" lvl="0" marL="457200" rtl="0" algn="l">
                <a:spcBef>
                  <a:spcPts val="450"/>
                </a:spcBef>
                <a:spcAft>
                  <a:spcPts val="0"/>
                </a:spcAft>
                <a:buClr>
                  <a:srgbClr val="0F172A"/>
                </a:buClr>
                <a:buSzPts val="1400"/>
                <a:buFont typeface="Inter"/>
                <a:buChar char="●"/>
              </a:pPr>
              <a:r>
                <a:rPr b="0" lang="en" sz="950">
                  <a:solidFill>
                    <a:srgbClr val="475569"/>
                  </a:solidFill>
                  <a:latin typeface="Inter"/>
                  <a:ea typeface="Inter"/>
                  <a:cs typeface="Inter"/>
                  <a:sym typeface="Inter"/>
                </a:rPr>
                <a:t>Nhiều chốt chặn kiểm soát làm gián đoạn dòng chảy nếu thông tin đầu vào thiếu nhất quán.</a:t>
              </a:r>
              <a:endParaRPr b="0" sz="1400">
                <a:solidFill>
                  <a:srgbClr val="0F172A"/>
                </a:solidFill>
                <a:latin typeface="Inter ExtraBold"/>
                <a:ea typeface="Inter ExtraBold"/>
                <a:cs typeface="Inter ExtraBold"/>
                <a:sym typeface="Inter ExtraBold"/>
              </a:endParaRPr>
            </a:p>
            <a:p>
              <a:pPr indent="0" lvl="0" marL="0" rtl="0" algn="l">
                <a:spcBef>
                  <a:spcPts val="0"/>
                </a:spcBef>
                <a:spcAft>
                  <a:spcPts val="0"/>
                </a:spcAft>
                <a:buNone/>
              </a:pPr>
              <a:r>
                <a:rPr b="0" lang="en" sz="950">
                  <a:solidFill>
                    <a:srgbClr val="991B1B"/>
                  </a:solidFill>
                  <a:highlight>
                    <a:srgbClr val="FEF2F2"/>
                  </a:highlight>
                  <a:latin typeface="Inter ExtraBold"/>
                  <a:ea typeface="Inter ExtraBold"/>
                  <a:cs typeface="Inter ExtraBold"/>
                  <a:sym typeface="Inter ExtraBold"/>
                </a:rPr>
                <a:t>CẢNH BÁO RỦI RO THAO TÁC</a:t>
              </a:r>
              <a:endParaRPr b="0" sz="950">
                <a:solidFill>
                  <a:srgbClr val="0F172A"/>
                </a:solidFill>
                <a:latin typeface="Inter ExtraBold"/>
                <a:ea typeface="Inter ExtraBold"/>
                <a:cs typeface="Inter ExtraBold"/>
                <a:sym typeface="Inter ExtraBold"/>
              </a:endParaRPr>
            </a:p>
            <a:p>
              <a:pPr indent="0" lvl="0" marL="0" rtl="0" algn="l">
                <a:spcBef>
                  <a:spcPts val="0"/>
                </a:spcBef>
                <a:spcAft>
                  <a:spcPts val="0"/>
                </a:spcAft>
                <a:buNone/>
              </a:pPr>
              <a:r>
                <a:rPr b="0" lang="en" sz="920">
                  <a:solidFill>
                    <a:srgbClr val="7F1D1D"/>
                  </a:solidFill>
                  <a:highlight>
                    <a:srgbClr val="FEF2F2"/>
                  </a:highlight>
                  <a:latin typeface="Inter"/>
                  <a:ea typeface="Inter"/>
                  <a:cs typeface="Inter"/>
                  <a:sym typeface="Inter"/>
                </a:rPr>
                <a:t>Độ phức tạp quy trình cực kỳ cao làm </a:t>
              </a:r>
              <a:r>
                <a:rPr b="1" lang="en" sz="920">
                  <a:solidFill>
                    <a:srgbClr val="991B1B"/>
                  </a:solidFill>
                  <a:highlight>
                    <a:srgbClr val="FEF2F2"/>
                  </a:highlight>
                  <a:latin typeface="Inter"/>
                  <a:ea typeface="Inter"/>
                  <a:cs typeface="Inter"/>
                  <a:sym typeface="Inter"/>
                </a:rPr>
                <a:t>tăng nghiêm trọng rủi ro sai sót trong thao tác nhập liệu của KTV</a:t>
              </a:r>
              <a:r>
                <a:rPr b="0" lang="en" sz="920">
                  <a:solidFill>
                    <a:srgbClr val="7F1D1D"/>
                  </a:solidFill>
                  <a:highlight>
                    <a:srgbClr val="FEF2F2"/>
                  </a:highlight>
                  <a:latin typeface="Inter"/>
                  <a:ea typeface="Inter"/>
                  <a:cs typeface="Inter"/>
                  <a:sym typeface="Inter"/>
                </a:rPr>
                <a:t> khi họ phải xử lý một khối lượng lớn thông tin tại hiện trường.</a:t>
              </a:r>
              <a:endParaRPr b="0" sz="920">
                <a:solidFill>
                  <a:srgbClr val="0F172A"/>
                </a:solidFill>
                <a:latin typeface="Inter ExtraBold"/>
                <a:ea typeface="Inter ExtraBold"/>
                <a:cs typeface="Inter ExtraBold"/>
                <a:sym typeface="Inter ExtraBold"/>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52" name="Shape 552"/>
        <p:cNvGrpSpPr/>
        <p:nvPr/>
      </p:nvGrpSpPr>
      <p:grpSpPr>
        <a:xfrm>
          <a:off x="0" y="0"/>
          <a:ext cx="0" cy="0"/>
          <a:chOff x="0" y="0"/>
          <a:chExt cx="0" cy="0"/>
        </a:xfrm>
      </p:grpSpPr>
      <p:sp>
        <p:nvSpPr>
          <p:cNvPr id="553" name="Google Shape;553;p28"/>
          <p:cNvSpPr txBox="1"/>
          <p:nvPr/>
        </p:nvSpPr>
        <p:spPr>
          <a:xfrm>
            <a:off x="571500" y="476250"/>
            <a:ext cx="4197600" cy="114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Quy trình Báo cáo linh kiện KTV</a:t>
            </a:r>
            <a:endParaRPr b="0" i="0" sz="28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00"/>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Phân phối tương tác giữa Kỹ thuật viên (KTV) và Hệ thống / Kho linh kiện</a:t>
            </a:r>
            <a:endParaRPr b="0" i="0" sz="1100" u="none" cap="none" strike="noStrike">
              <a:solidFill>
                <a:srgbClr val="007B7C"/>
              </a:solidFill>
              <a:latin typeface="Inter SemiBold"/>
              <a:ea typeface="Inter SemiBold"/>
              <a:cs typeface="Inter SemiBold"/>
              <a:sym typeface="Inter SemiBold"/>
            </a:endParaRPr>
          </a:p>
          <a:p>
            <a:pPr indent="0" lvl="0" marL="0" marR="0" rtl="0" algn="l">
              <a:lnSpc>
                <a:spcPct val="100000"/>
              </a:lnSpc>
              <a:spcBef>
                <a:spcPts val="225"/>
              </a:spcBef>
              <a:spcAft>
                <a:spcPts val="0"/>
              </a:spcAft>
              <a:buClr>
                <a:srgbClr val="000000"/>
              </a:buClr>
              <a:buSzPts val="1100"/>
              <a:buFont typeface="Arial"/>
              <a:buNone/>
            </a:pPr>
            <a:r>
              <a:t/>
            </a:r>
            <a:endParaRPr b="0" i="0" sz="1100" u="none" cap="none" strike="noStrike">
              <a:solidFill>
                <a:srgbClr val="007B7C"/>
              </a:solidFill>
              <a:latin typeface="Inter SemiBold"/>
              <a:ea typeface="Inter SemiBold"/>
              <a:cs typeface="Inter SemiBold"/>
              <a:sym typeface="Inter SemiBold"/>
            </a:endParaRPr>
          </a:p>
        </p:txBody>
      </p:sp>
      <p:sp>
        <p:nvSpPr>
          <p:cNvPr id="554" name="Google Shape;554;p28"/>
          <p:cNvSpPr txBox="1"/>
          <p:nvPr/>
        </p:nvSpPr>
        <p:spPr>
          <a:xfrm>
            <a:off x="571500" y="1714500"/>
            <a:ext cx="4000500" cy="3144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Actor (tác nhân):</a:t>
            </a:r>
            <a:r>
              <a:rPr i="0" lang="en" sz="1100" u="none" cap="none" strike="noStrike">
                <a:solidFill>
                  <a:schemeClr val="dk1"/>
                </a:solidFill>
                <a:latin typeface="Inter"/>
                <a:ea typeface="Inter"/>
                <a:cs typeface="Inter"/>
                <a:sym typeface="Inter"/>
              </a:rPr>
              <a:t> Kỹ thuật viên (KTV), phối hợp với Kho linh kiện và Hệ thống</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Đối tượng liên quan:</a:t>
            </a:r>
            <a:r>
              <a:rPr i="0" lang="en" sz="1100" u="none" cap="none" strike="noStrike">
                <a:solidFill>
                  <a:schemeClr val="dk1"/>
                </a:solidFill>
                <a:latin typeface="Inter"/>
                <a:ea typeface="Inter"/>
                <a:cs typeface="Inter"/>
                <a:sym typeface="Inter"/>
              </a:rPr>
              <a:t> Bộ phận Kho linh kiện / đội ngũ App hỗ trợ</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Các kết quả có thể xảy ra:</a:t>
            </a:r>
            <a:endParaRPr b="1" i="0" sz="1100" u="none" cap="none" strike="noStrike">
              <a:solidFill>
                <a:schemeClr val="dk1"/>
              </a:solidFill>
              <a:latin typeface="Inter"/>
              <a:ea typeface="Inter"/>
              <a:cs typeface="Inter"/>
              <a:sym typeface="Inter"/>
            </a:endParaRPr>
          </a:p>
          <a:p>
            <a:pPr indent="-298450" lvl="0" marL="457200" marR="0" rtl="0" algn="l">
              <a:lnSpc>
                <a:spcPct val="115000"/>
              </a:lnSpc>
              <a:spcBef>
                <a:spcPts val="120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Đóng phiếu nhận/sử dụng linh kiện</a:t>
            </a:r>
            <a:r>
              <a:rPr i="0" lang="en" sz="1100" u="none" cap="none" strike="noStrike">
                <a:solidFill>
                  <a:schemeClr val="dk1"/>
                </a:solidFill>
                <a:latin typeface="Inter"/>
                <a:ea typeface="Inter"/>
                <a:cs typeface="Inter"/>
                <a:sym typeface="Inter"/>
              </a:rPr>
              <a:t> → số liệu đối soát khớp giữa KTV và kho</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Điều tra chênh lệch kho – KTV</a:t>
            </a:r>
            <a:r>
              <a:rPr i="0" lang="en" sz="1100" u="none" cap="none" strike="noStrike">
                <a:solidFill>
                  <a:schemeClr val="dk1"/>
                </a:solidFill>
                <a:latin typeface="Inter"/>
                <a:ea typeface="Inter"/>
                <a:cs typeface="Inter"/>
                <a:sym typeface="Inter"/>
              </a:rPr>
              <a:t> → số liệu không khớp, cần rà soát lại</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Yêu cầu đổi/bảo hành linh kiện lỗi</a:t>
            </a:r>
            <a:r>
              <a:rPr i="0" lang="en" sz="1100" u="none" cap="none" strike="noStrike">
                <a:solidFill>
                  <a:schemeClr val="dk1"/>
                </a:solidFill>
                <a:latin typeface="Inter"/>
                <a:ea typeface="Inter"/>
                <a:cs typeface="Inter"/>
                <a:sym typeface="Inter"/>
              </a:rPr>
              <a:t> hoặc </a:t>
            </a:r>
            <a:r>
              <a:rPr b="1" i="0" lang="en" sz="1100" u="none" cap="none" strike="noStrike">
                <a:solidFill>
                  <a:schemeClr val="dk1"/>
                </a:solidFill>
                <a:latin typeface="Inter"/>
                <a:ea typeface="Inter"/>
                <a:cs typeface="Inter"/>
                <a:sym typeface="Inter"/>
              </a:rPr>
              <a:t>yêu cầu bồi hoàn linh kiện mất</a:t>
            </a:r>
            <a:r>
              <a:rPr i="0" lang="en" sz="1100" u="none" cap="none" strike="noStrike">
                <a:solidFill>
                  <a:schemeClr val="dk1"/>
                </a:solidFill>
                <a:latin typeface="Inter"/>
                <a:ea typeface="Inter"/>
                <a:cs typeface="Inter"/>
                <a:sym typeface="Inter"/>
              </a:rPr>
              <a:t> → linh kiện bị lỗi hoặc thất lạc trong quá trình sử dụng</a:t>
            </a:r>
            <a:endParaRPr i="0" sz="1100" u="none" cap="none" strike="noStrike">
              <a:solidFill>
                <a:schemeClr val="dk1"/>
              </a:solidFill>
              <a:latin typeface="Inter"/>
              <a:ea typeface="Inter"/>
              <a:cs typeface="Inter"/>
              <a:sym typeface="Inter"/>
            </a:endParaRPr>
          </a:p>
          <a:p>
            <a:pPr indent="-298450" lvl="0" marL="457200" marR="0" rtl="0" algn="l">
              <a:lnSpc>
                <a:spcPct val="115000"/>
              </a:lnSpc>
              <a:spcBef>
                <a:spcPts val="0"/>
              </a:spcBef>
              <a:spcAft>
                <a:spcPts val="0"/>
              </a:spcAft>
              <a:buClr>
                <a:schemeClr val="dk1"/>
              </a:buClr>
              <a:buSzPts val="1100"/>
              <a:buFont typeface="Arial"/>
              <a:buChar char="●"/>
            </a:pPr>
            <a:r>
              <a:rPr b="1" i="0" lang="en" sz="1100" u="none" cap="none" strike="noStrike">
                <a:solidFill>
                  <a:schemeClr val="dk1"/>
                </a:solidFill>
                <a:latin typeface="Inter"/>
                <a:ea typeface="Inter"/>
                <a:cs typeface="Inter"/>
                <a:sym typeface="Inter"/>
              </a:rPr>
              <a:t>Kho đối soát thủ công</a:t>
            </a:r>
            <a:r>
              <a:rPr i="0" lang="en" sz="1100" u="none" cap="none" strike="noStrike">
                <a:solidFill>
                  <a:schemeClr val="dk1"/>
                </a:solidFill>
                <a:latin typeface="Inter"/>
                <a:ea typeface="Inter"/>
                <a:cs typeface="Inter"/>
                <a:sym typeface="Inter"/>
              </a:rPr>
              <a:t> → linh kiện quét không thành công và team App không xử lý được</a:t>
            </a:r>
            <a:endParaRPr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Inter"/>
              <a:ea typeface="Inter"/>
              <a:cs typeface="Inter"/>
              <a:sym typeface="Inter"/>
            </a:endParaRPr>
          </a:p>
          <a:p>
            <a:pPr indent="0" lvl="0" marL="0" marR="0" rtl="0" algn="l">
              <a:lnSpc>
                <a:spcPct val="115000"/>
              </a:lnSpc>
              <a:spcBef>
                <a:spcPts val="1200"/>
              </a:spcBef>
              <a:spcAft>
                <a:spcPts val="1200"/>
              </a:spcAft>
              <a:buClr>
                <a:srgbClr val="000000"/>
              </a:buClr>
              <a:buSzPts val="1100"/>
              <a:buFont typeface="Arial"/>
              <a:buNone/>
            </a:pPr>
            <a:r>
              <a:t/>
            </a:r>
            <a:endParaRPr b="1" i="0" sz="1100" u="none" cap="none" strike="noStrike">
              <a:solidFill>
                <a:schemeClr val="dk1"/>
              </a:solidFill>
              <a:latin typeface="Inter"/>
              <a:ea typeface="Inter"/>
              <a:cs typeface="Inter"/>
              <a:sym typeface="Inter"/>
            </a:endParaRPr>
          </a:p>
        </p:txBody>
      </p:sp>
      <p:pic>
        <p:nvPicPr>
          <p:cNvPr id="555" name="Google Shape;555;p28" title="Báo Cáo Linh Kiện KTV.drawio.png"/>
          <p:cNvPicPr preferRelativeResize="0"/>
          <p:nvPr/>
        </p:nvPicPr>
        <p:blipFill rotWithShape="1">
          <a:blip r:embed="rId4">
            <a:alphaModFix/>
          </a:blip>
          <a:srcRect b="0" l="0" r="0" t="0"/>
          <a:stretch/>
        </p:blipFill>
        <p:spPr>
          <a:xfrm>
            <a:off x="4769100" y="573749"/>
            <a:ext cx="4163148" cy="37312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grpSp>
        <p:nvGrpSpPr>
          <p:cNvPr id="560" name="Google Shape;560;p29"/>
          <p:cNvGrpSpPr/>
          <p:nvPr/>
        </p:nvGrpSpPr>
        <p:grpSpPr>
          <a:xfrm>
            <a:off x="0" y="0"/>
            <a:ext cx="9144000" cy="5143500"/>
            <a:chOff x="0" y="0"/>
            <a:chExt cx="9144000" cy="5143500"/>
          </a:xfrm>
        </p:grpSpPr>
        <p:sp>
          <p:nvSpPr>
            <p:cNvPr id="561" name="Google Shape;561;p29"/>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2" name="Google Shape;562;p29"/>
            <p:cNvGrpSpPr/>
            <p:nvPr/>
          </p:nvGrpSpPr>
          <p:grpSpPr>
            <a:xfrm>
              <a:off x="8458200" y="381000"/>
              <a:ext cx="304800" cy="304800"/>
              <a:chOff x="0" y="0"/>
              <a:chExt cx="304800" cy="304800"/>
            </a:xfrm>
          </p:grpSpPr>
          <p:sp>
            <p:nvSpPr>
              <p:cNvPr id="563" name="Google Shape;563;p29"/>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29"/>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29"/>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cxnSp>
        <p:nvCxnSpPr>
          <p:cNvPr id="566" name="Google Shape;566;p29"/>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grpSp>
        <p:nvGrpSpPr>
          <p:cNvPr id="567" name="Google Shape;567;p29"/>
          <p:cNvGrpSpPr/>
          <p:nvPr/>
        </p:nvGrpSpPr>
        <p:grpSpPr>
          <a:xfrm>
            <a:off x="381000" y="333375"/>
            <a:ext cx="7620000" cy="762000"/>
            <a:chOff x="0" y="0"/>
            <a:chExt cx="7620000" cy="762000"/>
          </a:xfrm>
        </p:grpSpPr>
        <p:sp>
          <p:nvSpPr>
            <p:cNvPr id="568" name="Google Shape;568;p29"/>
            <p:cNvSpPr/>
            <p:nvPr/>
          </p:nvSpPr>
          <p:spPr>
            <a:xfrm>
              <a:off x="0" y="0"/>
              <a:ext cx="7620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29"/>
            <p:cNvSpPr txBox="1"/>
            <p:nvPr/>
          </p:nvSpPr>
          <p:spPr>
            <a:xfrm>
              <a:off x="0" y="0"/>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Đánh giá độ phức tạp Quy trình Báo cáo linh kiện KTV</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22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Phân tích kỹ thuật cấu trúc vận hành đối soát giữa Kỹ thuật viên (KTV) và Kho hệ thống.</a:t>
              </a:r>
              <a:endParaRPr b="0" i="0" sz="1100" u="none" cap="none" strike="noStrike">
                <a:solidFill>
                  <a:srgbClr val="007B7C"/>
                </a:solidFill>
                <a:latin typeface="Inter SemiBold"/>
                <a:ea typeface="Inter SemiBold"/>
                <a:cs typeface="Inter SemiBold"/>
                <a:sym typeface="Inter SemiBold"/>
              </a:endParaRPr>
            </a:p>
          </p:txBody>
        </p:sp>
      </p:grpSp>
      <p:grpSp>
        <p:nvGrpSpPr>
          <p:cNvPr id="570" name="Google Shape;570;p29"/>
          <p:cNvGrpSpPr/>
          <p:nvPr/>
        </p:nvGrpSpPr>
        <p:grpSpPr>
          <a:xfrm>
            <a:off x="495300" y="1333500"/>
            <a:ext cx="2667000" cy="3381225"/>
            <a:chOff x="0" y="0"/>
            <a:chExt cx="2667000" cy="3381225"/>
          </a:xfrm>
        </p:grpSpPr>
        <p:grpSp>
          <p:nvGrpSpPr>
            <p:cNvPr id="571" name="Google Shape;571;p29"/>
            <p:cNvGrpSpPr/>
            <p:nvPr/>
          </p:nvGrpSpPr>
          <p:grpSpPr>
            <a:xfrm>
              <a:off x="0" y="0"/>
              <a:ext cx="2667000" cy="1619100"/>
              <a:chOff x="0" y="0"/>
              <a:chExt cx="2667000" cy="1619100"/>
            </a:xfrm>
          </p:grpSpPr>
          <p:sp>
            <p:nvSpPr>
              <p:cNvPr id="572" name="Google Shape;572;p29"/>
              <p:cNvSpPr/>
              <p:nvPr/>
            </p:nvSpPr>
            <p:spPr>
              <a:xfrm>
                <a:off x="0" y="0"/>
                <a:ext cx="2667000" cy="1619100"/>
              </a:xfrm>
              <a:prstGeom prst="roundRect">
                <a:avLst>
                  <a:gd fmla="val 4705"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29"/>
              <p:cNvSpPr/>
              <p:nvPr/>
            </p:nvSpPr>
            <p:spPr>
              <a:xfrm>
                <a:off x="0" y="0"/>
                <a:ext cx="57300" cy="16191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29"/>
              <p:cNvSpPr txBox="1"/>
              <p:nvPr/>
            </p:nvSpPr>
            <p:spPr>
              <a:xfrm>
                <a:off x="190500" y="152400"/>
                <a:ext cx="2286000" cy="1314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 sz="879">
                    <a:solidFill>
                      <a:srgbClr val="007B7C"/>
                    </a:solidFill>
                    <a:latin typeface="Inter SemiBold"/>
                    <a:ea typeface="Inter SemiBold"/>
                    <a:cs typeface="Inter SemiBold"/>
                    <a:sym typeface="Inter SemiBold"/>
                  </a:rPr>
                  <a:t>Cổng điều kiện (Exclusive Gateways)</a:t>
                </a:r>
                <a:endParaRPr b="0" sz="879">
                  <a:solidFill>
                    <a:srgbClr val="007B7C"/>
                  </a:solidFill>
                  <a:latin typeface="Inter SemiBold"/>
                  <a:ea typeface="Inter SemiBold"/>
                  <a:cs typeface="Inter SemiBold"/>
                  <a:sym typeface="Inter SemiBold"/>
                </a:endParaRPr>
              </a:p>
              <a:p>
                <a:pPr indent="0" lvl="0" marL="0" rtl="0" algn="l">
                  <a:spcBef>
                    <a:spcPts val="0"/>
                  </a:spcBef>
                  <a:spcAft>
                    <a:spcPts val="0"/>
                  </a:spcAft>
                  <a:buNone/>
                </a:pPr>
                <a:r>
                  <a:rPr b="0" lang="en" sz="2405">
                    <a:solidFill>
                      <a:srgbClr val="007B7C"/>
                    </a:solidFill>
                    <a:latin typeface="Inter ExtraBold"/>
                    <a:ea typeface="Inter ExtraBold"/>
                    <a:cs typeface="Inter ExtraBold"/>
                    <a:sym typeface="Inter ExtraBold"/>
                  </a:rPr>
                  <a:t>05 cổng</a:t>
                </a:r>
                <a:endParaRPr b="0" sz="879">
                  <a:solidFill>
                    <a:srgbClr val="007B7C"/>
                  </a:solidFill>
                  <a:latin typeface="Inter SemiBold"/>
                  <a:ea typeface="Inter SemiBold"/>
                  <a:cs typeface="Inter SemiBold"/>
                  <a:sym typeface="Inter SemiBold"/>
                </a:endParaRPr>
              </a:p>
              <a:p>
                <a:pPr indent="0" lvl="0" marL="0" rtl="0" algn="l">
                  <a:spcBef>
                    <a:spcPts val="0"/>
                  </a:spcBef>
                  <a:spcAft>
                    <a:spcPts val="0"/>
                  </a:spcAft>
                  <a:buNone/>
                </a:pPr>
                <a:r>
                  <a:rPr b="0" lang="en" sz="879">
                    <a:solidFill>
                      <a:srgbClr val="475569"/>
                    </a:solidFill>
                    <a:latin typeface="Inter"/>
                    <a:ea typeface="Inter"/>
                    <a:cs typeface="Inter"/>
                    <a:sym typeface="Inter"/>
                  </a:rPr>
                  <a:t>Kiểm soát rẽ nhánh quyết định then chốt: kiểm tra quét thành công, team App xử lý được, tình trạng linh kiện, lỗi hay mất, đối soát khớp số liệu.</a:t>
                </a:r>
                <a:endParaRPr b="0" sz="879">
                  <a:solidFill>
                    <a:srgbClr val="007B7C"/>
                  </a:solidFill>
                  <a:latin typeface="Inter SemiBold"/>
                  <a:ea typeface="Inter SemiBold"/>
                  <a:cs typeface="Inter SemiBold"/>
                  <a:sym typeface="Inter SemiBold"/>
                </a:endParaRPr>
              </a:p>
            </p:txBody>
          </p:sp>
        </p:grpSp>
        <p:grpSp>
          <p:nvGrpSpPr>
            <p:cNvPr id="575" name="Google Shape;575;p29"/>
            <p:cNvGrpSpPr/>
            <p:nvPr/>
          </p:nvGrpSpPr>
          <p:grpSpPr>
            <a:xfrm>
              <a:off x="0" y="1762125"/>
              <a:ext cx="2667000" cy="1619100"/>
              <a:chOff x="0" y="0"/>
              <a:chExt cx="2667000" cy="1619100"/>
            </a:xfrm>
          </p:grpSpPr>
          <p:sp>
            <p:nvSpPr>
              <p:cNvPr id="576" name="Google Shape;576;p29"/>
              <p:cNvSpPr/>
              <p:nvPr/>
            </p:nvSpPr>
            <p:spPr>
              <a:xfrm>
                <a:off x="0" y="0"/>
                <a:ext cx="2667000" cy="1619100"/>
              </a:xfrm>
              <a:prstGeom prst="roundRect">
                <a:avLst>
                  <a:gd fmla="val 4705"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29"/>
              <p:cNvSpPr/>
              <p:nvPr/>
            </p:nvSpPr>
            <p:spPr>
              <a:xfrm>
                <a:off x="0" y="0"/>
                <a:ext cx="57300" cy="1619100"/>
              </a:xfrm>
              <a:prstGeom prst="roundRect">
                <a:avLst>
                  <a:gd fmla="val 50000" name="adj"/>
                </a:avLst>
              </a:prstGeom>
              <a:solidFill>
                <a:srgbClr val="0284C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29"/>
              <p:cNvSpPr txBox="1"/>
              <p:nvPr/>
            </p:nvSpPr>
            <p:spPr>
              <a:xfrm>
                <a:off x="190500" y="152400"/>
                <a:ext cx="2286000" cy="13146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lang="en" sz="950">
                    <a:solidFill>
                      <a:srgbClr val="0284C7"/>
                    </a:solidFill>
                    <a:latin typeface="Inter SemiBold"/>
                    <a:ea typeface="Inter SemiBold"/>
                    <a:cs typeface="Inter SemiBold"/>
                    <a:sym typeface="Inter SemiBold"/>
                  </a:rPr>
                  <a:t>Cổng song song (Parallel Gateways)</a:t>
                </a:r>
                <a:endParaRPr b="0" sz="950">
                  <a:solidFill>
                    <a:srgbClr val="0284C7"/>
                  </a:solidFill>
                  <a:latin typeface="Inter SemiBold"/>
                  <a:ea typeface="Inter SemiBold"/>
                  <a:cs typeface="Inter SemiBold"/>
                  <a:sym typeface="Inter SemiBold"/>
                </a:endParaRPr>
              </a:p>
              <a:p>
                <a:pPr indent="0" lvl="0" marL="0" rtl="0" algn="l">
                  <a:spcBef>
                    <a:spcPts val="0"/>
                  </a:spcBef>
                  <a:spcAft>
                    <a:spcPts val="0"/>
                  </a:spcAft>
                  <a:buNone/>
                </a:pPr>
                <a:r>
                  <a:rPr b="0" lang="en" sz="2600">
                    <a:solidFill>
                      <a:srgbClr val="0284C7"/>
                    </a:solidFill>
                    <a:latin typeface="Inter ExtraBold"/>
                    <a:ea typeface="Inter ExtraBold"/>
                    <a:cs typeface="Inter ExtraBold"/>
                    <a:sym typeface="Inter ExtraBold"/>
                  </a:rPr>
                  <a:t>01 cặp</a:t>
                </a:r>
                <a:endParaRPr b="0" sz="950">
                  <a:solidFill>
                    <a:srgbClr val="0284C7"/>
                  </a:solidFill>
                  <a:latin typeface="Inter SemiBold"/>
                  <a:ea typeface="Inter SemiBold"/>
                  <a:cs typeface="Inter SemiBold"/>
                  <a:sym typeface="Inter SemiBold"/>
                </a:endParaRPr>
              </a:p>
              <a:p>
                <a:pPr indent="0" lvl="0" marL="0" rtl="0" algn="l">
                  <a:spcBef>
                    <a:spcPts val="0"/>
                  </a:spcBef>
                  <a:spcAft>
                    <a:spcPts val="0"/>
                  </a:spcAft>
                  <a:buNone/>
                </a:pPr>
                <a:r>
                  <a:rPr b="0" lang="en" sz="950">
                    <a:solidFill>
                      <a:srgbClr val="475569"/>
                    </a:solidFill>
                    <a:latin typeface="Inter"/>
                    <a:ea typeface="Inter"/>
                    <a:cs typeface="Inter"/>
                    <a:sym typeface="Inter"/>
                  </a:rPr>
                  <a:t>Sử dụng để đồng bộ hóa: Vừa quét bill sử dụng vừa cập nhật tồn kho thực tế.</a:t>
                </a:r>
                <a:endParaRPr b="0" sz="950">
                  <a:solidFill>
                    <a:srgbClr val="0284C7"/>
                  </a:solidFill>
                  <a:latin typeface="Inter SemiBold"/>
                  <a:ea typeface="Inter SemiBold"/>
                  <a:cs typeface="Inter SemiBold"/>
                  <a:sym typeface="Inter SemiBold"/>
                </a:endParaRPr>
              </a:p>
            </p:txBody>
          </p:sp>
        </p:grpSp>
      </p:grpSp>
      <p:grpSp>
        <p:nvGrpSpPr>
          <p:cNvPr id="579" name="Google Shape;579;p29"/>
          <p:cNvGrpSpPr/>
          <p:nvPr/>
        </p:nvGrpSpPr>
        <p:grpSpPr>
          <a:xfrm>
            <a:off x="3390900" y="1333500"/>
            <a:ext cx="5372100" cy="3381300"/>
            <a:chOff x="0" y="0"/>
            <a:chExt cx="5372100" cy="3381300"/>
          </a:xfrm>
        </p:grpSpPr>
        <p:sp>
          <p:nvSpPr>
            <p:cNvPr id="580" name="Google Shape;580;p29"/>
            <p:cNvSpPr/>
            <p:nvPr/>
          </p:nvSpPr>
          <p:spPr>
            <a:xfrm>
              <a:off x="0" y="0"/>
              <a:ext cx="5372100" cy="3381300"/>
            </a:xfrm>
            <a:prstGeom prst="roundRect">
              <a:avLst>
                <a:gd fmla="val 2253" name="adj"/>
              </a:avLst>
            </a:prstGeom>
            <a:solidFill>
              <a:srgbClr val="FFFFFF"/>
            </a:solidFill>
            <a:ln cap="flat" cmpd="sng" w="9525">
              <a:solidFill>
                <a:srgbClr val="CBD5E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29"/>
            <p:cNvSpPr/>
            <p:nvPr/>
          </p:nvSpPr>
          <p:spPr>
            <a:xfrm>
              <a:off x="0" y="0"/>
              <a:ext cx="5372100" cy="57300"/>
            </a:xfrm>
            <a:prstGeom prst="roundRect">
              <a:avLst>
                <a:gd fmla="val 500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 name="Google Shape;582;p29"/>
            <p:cNvSpPr txBox="1"/>
            <p:nvPr/>
          </p:nvSpPr>
          <p:spPr>
            <a:xfrm>
              <a:off x="228600" y="228600"/>
              <a:ext cx="4914900" cy="29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F172A"/>
                  </a:solidFill>
                  <a:latin typeface="Inter ExtraBold"/>
                  <a:ea typeface="Inter ExtraBold"/>
                  <a:cs typeface="Inter ExtraBold"/>
                  <a:sym typeface="Inter ExtraBold"/>
                </a:rPr>
                <a:t>Đặc tính Vận hành &amp; Thách thức</a:t>
              </a:r>
              <a:endParaRPr b="0" i="0" sz="14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788"/>
                </a:spcBef>
                <a:spcAft>
                  <a:spcPts val="0"/>
                </a:spcAft>
                <a:buClr>
                  <a:srgbClr val="000000"/>
                </a:buClr>
                <a:buSzPts val="1000"/>
                <a:buFont typeface="Arial"/>
                <a:buNone/>
              </a:pPr>
              <a:r>
                <a:rPr b="0" i="0" lang="en" sz="1000" u="none" cap="none" strike="noStrike">
                  <a:solidFill>
                    <a:srgbClr val="475569"/>
                  </a:solidFill>
                  <a:latin typeface="Inter"/>
                  <a:ea typeface="Inter"/>
                  <a:cs typeface="Inter"/>
                  <a:sym typeface="Inter"/>
                </a:rPr>
                <a:t>Đây là quy trình kiểm soát tài sản trọng yếu, yêu cầu sự chính xác tuyệt đối trong việc ghi nhận luân chuyển vật tư. Quy trình phải xử lý liên tục các luồng ngoại lệ (exception handling) khi xảy ra sự cố kỹ thuật hoặc mất mát linh kiện.</a:t>
              </a:r>
              <a:endParaRPr b="0" i="0" sz="1000" u="none" cap="none" strike="noStrike">
                <a:solidFill>
                  <a:srgbClr val="475569"/>
                </a:solidFill>
                <a:latin typeface="Inter"/>
                <a:ea typeface="Inter"/>
                <a:cs typeface="Inter"/>
                <a:sym typeface="Inter"/>
              </a:endParaRPr>
            </a:p>
            <a:p>
              <a:pPr indent="0" lvl="0" marL="0" marR="0" rtl="0" algn="l">
                <a:lnSpc>
                  <a:spcPct val="100000"/>
                </a:lnSpc>
                <a:spcBef>
                  <a:spcPts val="788"/>
                </a:spcBef>
                <a:spcAft>
                  <a:spcPts val="0"/>
                </a:spcAft>
                <a:buClr>
                  <a:srgbClr val="000000"/>
                </a:buClr>
                <a:buSzPts val="1000"/>
                <a:buFont typeface="Arial"/>
                <a:buNone/>
              </a:pPr>
              <a:r>
                <a:rPr b="1" i="0" lang="en" sz="1000" u="none" cap="none" strike="noStrike">
                  <a:solidFill>
                    <a:srgbClr val="0F172A"/>
                  </a:solidFill>
                  <a:latin typeface="Inter"/>
                  <a:ea typeface="Inter"/>
                  <a:cs typeface="Inter"/>
                  <a:sym typeface="Inter"/>
                </a:rPr>
                <a:t>⚡ Điểm mấu chốt kỹ thuật:</a:t>
              </a:r>
              <a:endParaRPr b="1" i="0" sz="1000" u="none" cap="none" strike="noStrike">
                <a:solidFill>
                  <a:srgbClr val="0F172A"/>
                </a:solidFill>
                <a:latin typeface="Inter"/>
                <a:ea typeface="Inter"/>
                <a:cs typeface="Inter"/>
                <a:sym typeface="Inter"/>
              </a:endParaRPr>
            </a:p>
            <a:p>
              <a:pPr indent="-288925" lvl="0" marL="457200" marR="0" rtl="0" algn="l">
                <a:lnSpc>
                  <a:spcPct val="100000"/>
                </a:lnSpc>
                <a:spcBef>
                  <a:spcPts val="338"/>
                </a:spcBef>
                <a:spcAft>
                  <a:spcPts val="0"/>
                </a:spcAft>
                <a:buClr>
                  <a:srgbClr val="475569"/>
                </a:buClr>
                <a:buSzPts val="950"/>
                <a:buFont typeface="Inter"/>
                <a:buChar char="●"/>
              </a:pPr>
              <a:r>
                <a:rPr b="0" i="0" lang="en" sz="950" u="none" cap="none" strike="noStrike">
                  <a:solidFill>
                    <a:srgbClr val="475569"/>
                  </a:solidFill>
                  <a:latin typeface="Inter"/>
                  <a:ea typeface="Inter"/>
                  <a:cs typeface="Inter"/>
                  <a:sym typeface="Inter"/>
                </a:rPr>
                <a:t>Đòi hỏi sự đồng bộ hóa cao giữa dữ liệu thực địa (KTV) và dữ liệu quản trị kho (Hệ thống). Mọi sự không khớp số liệu đều kích hoạt quy trình điều tra chênh lệch.</a:t>
              </a:r>
              <a:endParaRPr b="0" i="0" sz="950" u="none" cap="none" strike="noStrike">
                <a:solidFill>
                  <a:srgbClr val="475569"/>
                </a:solidFill>
                <a:latin typeface="Inter"/>
                <a:ea typeface="Inter"/>
                <a:cs typeface="Inter"/>
                <a:sym typeface="Inter"/>
              </a:endParaRPr>
            </a:p>
            <a:p>
              <a:pPr indent="0" lvl="0" marL="0" marR="0" rtl="0" algn="l">
                <a:lnSpc>
                  <a:spcPct val="100000"/>
                </a:lnSpc>
                <a:spcBef>
                  <a:spcPts val="900"/>
                </a:spcBef>
                <a:spcAft>
                  <a:spcPts val="0"/>
                </a:spcAft>
                <a:buClr>
                  <a:srgbClr val="000000"/>
                </a:buClr>
                <a:buSzPts val="950"/>
                <a:buFont typeface="Arial"/>
                <a:buNone/>
              </a:pPr>
              <a:r>
                <a:rPr b="0" i="0" lang="en" sz="950" u="none" cap="none" strike="noStrike">
                  <a:solidFill>
                    <a:srgbClr val="991B1B"/>
                  </a:solidFill>
                  <a:highlight>
                    <a:srgbClr val="FEF2F2"/>
                  </a:highlight>
                  <a:latin typeface="Inter ExtraBold"/>
                  <a:ea typeface="Inter ExtraBold"/>
                  <a:cs typeface="Inter ExtraBold"/>
                  <a:sym typeface="Inter ExtraBold"/>
                </a:rPr>
                <a:t>CẢNH BÁO RỦI RO THAO TÁC</a:t>
              </a:r>
              <a:endParaRPr b="0" i="0" sz="950" u="none" cap="none" strike="noStrike">
                <a:solidFill>
                  <a:srgbClr val="991B1B"/>
                </a:solidFill>
                <a:highlight>
                  <a:srgbClr val="FEF2F2"/>
                </a:highlight>
                <a:latin typeface="Inter ExtraBold"/>
                <a:ea typeface="Inter ExtraBold"/>
                <a:cs typeface="Inter ExtraBold"/>
                <a:sym typeface="Inter ExtraBold"/>
              </a:endParaRPr>
            </a:p>
            <a:p>
              <a:pPr indent="0" lvl="0" marL="0" marR="0" rtl="0" algn="l">
                <a:lnSpc>
                  <a:spcPct val="100000"/>
                </a:lnSpc>
                <a:spcBef>
                  <a:spcPts val="225"/>
                </a:spcBef>
                <a:spcAft>
                  <a:spcPts val="0"/>
                </a:spcAft>
                <a:buClr>
                  <a:srgbClr val="000000"/>
                </a:buClr>
                <a:buSzPts val="920"/>
                <a:buFont typeface="Arial"/>
                <a:buNone/>
              </a:pPr>
              <a:r>
                <a:rPr b="1" i="0" lang="en" sz="920" u="none" cap="none" strike="noStrike">
                  <a:solidFill>
                    <a:srgbClr val="991B1B"/>
                  </a:solidFill>
                  <a:highlight>
                    <a:srgbClr val="FEF2F2"/>
                  </a:highlight>
                  <a:latin typeface="Inter"/>
                  <a:ea typeface="Inter"/>
                  <a:cs typeface="Inter"/>
                  <a:sym typeface="Inter"/>
                </a:rPr>
                <a:t>Rủi rỏ sai sót tập trung</a:t>
              </a:r>
              <a:r>
                <a:rPr b="0" i="0" lang="en" sz="920" u="none" cap="none" strike="noStrike">
                  <a:solidFill>
                    <a:srgbClr val="7F1D1D"/>
                  </a:solidFill>
                  <a:highlight>
                    <a:srgbClr val="FEF2F2"/>
                  </a:highlight>
                  <a:latin typeface="Inter"/>
                  <a:ea typeface="Inter"/>
                  <a:cs typeface="Inter"/>
                  <a:sym typeface="Inter"/>
                </a:rPr>
                <a:t> ở khâu phân loại trạng thái linh kiện (nhầm lẫn giữa Hỏng/Mất) và thao tác quét mã thủ công, dễ dẫn đến lệch kho nghiêm trọng nếu thiếu đối soát chặt chẽ.</a:t>
              </a:r>
              <a:endParaRPr b="0" i="0" sz="920" u="none" cap="none" strike="noStrike">
                <a:solidFill>
                  <a:srgbClr val="7F1D1D"/>
                </a:solidFill>
                <a:highlight>
                  <a:srgbClr val="FEF2F2"/>
                </a:highlight>
                <a:latin typeface="Inter"/>
                <a:ea typeface="Inter"/>
                <a:cs typeface="Inter"/>
                <a:sym typeface="Inte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30"/>
          <p:cNvSpPr/>
          <p:nvPr/>
        </p:nvSpPr>
        <p:spPr>
          <a:xfrm>
            <a:off x="0" y="0"/>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88" name="Google Shape;588;p30"/>
          <p:cNvGrpSpPr/>
          <p:nvPr/>
        </p:nvGrpSpPr>
        <p:grpSpPr>
          <a:xfrm>
            <a:off x="8458200" y="381000"/>
            <a:ext cx="304800" cy="304800"/>
            <a:chOff x="0" y="0"/>
            <a:chExt cx="304800" cy="304800"/>
          </a:xfrm>
        </p:grpSpPr>
        <p:sp>
          <p:nvSpPr>
            <p:cNvPr id="589" name="Google Shape;589;p30"/>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30"/>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 name="Google Shape;591;p30"/>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592" name="Google Shape;592;p30"/>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593" name="Google Shape;593;p30"/>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Phương pháp dựa trên bằng chứng (Evidence-based)</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Thu thập và phân tích các nguồn bằng chứng sẵn có để tái hiện và xác thực quy trình hiện tại</a:t>
            </a:r>
            <a:endParaRPr b="0" i="0" sz="1100" u="none" cap="none" strike="noStrike">
              <a:solidFill>
                <a:srgbClr val="007B7C"/>
              </a:solidFill>
              <a:latin typeface="Inter SemiBold"/>
              <a:ea typeface="Inter SemiBold"/>
              <a:cs typeface="Inter SemiBold"/>
              <a:sym typeface="Inter SemiBold"/>
            </a:endParaRPr>
          </a:p>
        </p:txBody>
      </p:sp>
      <p:sp>
        <p:nvSpPr>
          <p:cNvPr id="594" name="Google Shape;594;p30"/>
          <p:cNvSpPr/>
          <p:nvPr/>
        </p:nvSpPr>
        <p:spPr>
          <a:xfrm>
            <a:off x="384048" y="1335024"/>
            <a:ext cx="2609088"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5" name="Google Shape;595;p30"/>
          <p:cNvSpPr/>
          <p:nvPr/>
        </p:nvSpPr>
        <p:spPr>
          <a:xfrm>
            <a:off x="384048" y="1335024"/>
            <a:ext cx="2609088"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6" name="Google Shape;596;p30"/>
          <p:cNvSpPr txBox="1"/>
          <p:nvPr/>
        </p:nvSpPr>
        <p:spPr>
          <a:xfrm>
            <a:off x="548640" y="1499616"/>
            <a:ext cx="2279904" cy="1124712"/>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Mô tả quy trình hiện có</a:t>
            </a:r>
            <a:endParaRPr/>
          </a:p>
          <a:p>
            <a:pPr indent="0" lvl="0" marL="0" marR="0" rtl="0" algn="l">
              <a:lnSpc>
                <a:spcPct val="112000"/>
              </a:lnSpc>
              <a:spcBef>
                <a:spcPts val="600"/>
              </a:spcBef>
              <a:spcAft>
                <a:spcPts val="0"/>
              </a:spcAft>
              <a:buNone/>
            </a:pPr>
            <a:r>
              <a:rPr b="0" i="0" lang="en" sz="900" u="none" cap="none" strike="noStrike">
                <a:solidFill>
                  <a:srgbClr val="475569"/>
                </a:solidFill>
                <a:latin typeface="Inter"/>
                <a:ea typeface="Inter"/>
                <a:cs typeface="Inter"/>
                <a:sym typeface="Inter"/>
              </a:rPr>
              <a:t>Tài liệu vận hành nội bộ, hướng dẫn sử dụng app/portal của CS và KTV mô tả các bước thao tác trên hệ thống booking.</a:t>
            </a:r>
            <a:endParaRPr/>
          </a:p>
        </p:txBody>
      </p:sp>
      <p:sp>
        <p:nvSpPr>
          <p:cNvPr id="597" name="Google Shape;597;p30"/>
          <p:cNvSpPr/>
          <p:nvPr/>
        </p:nvSpPr>
        <p:spPr>
          <a:xfrm>
            <a:off x="3267456" y="1335024"/>
            <a:ext cx="2609088"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8" name="Google Shape;598;p30"/>
          <p:cNvSpPr/>
          <p:nvPr/>
        </p:nvSpPr>
        <p:spPr>
          <a:xfrm>
            <a:off x="3267456" y="1335024"/>
            <a:ext cx="2609088"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9" name="Google Shape;599;p30"/>
          <p:cNvSpPr txBox="1"/>
          <p:nvPr/>
        </p:nvSpPr>
        <p:spPr>
          <a:xfrm>
            <a:off x="3432048" y="1499616"/>
            <a:ext cx="2279904" cy="1124712"/>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Sơ đồ tổ chức</a:t>
            </a:r>
            <a:endParaRPr/>
          </a:p>
          <a:p>
            <a:pPr indent="0" lvl="0" marL="0" marR="0" rtl="0" algn="l">
              <a:lnSpc>
                <a:spcPct val="112000"/>
              </a:lnSpc>
              <a:spcBef>
                <a:spcPts val="600"/>
              </a:spcBef>
              <a:spcAft>
                <a:spcPts val="0"/>
              </a:spcAft>
              <a:buNone/>
            </a:pPr>
            <a:r>
              <a:rPr b="0" i="0" lang="en" sz="900" u="none" cap="none" strike="noStrike">
                <a:solidFill>
                  <a:srgbClr val="475569"/>
                </a:solidFill>
                <a:latin typeface="Inter"/>
                <a:ea typeface="Inter"/>
                <a:cs typeface="Inter"/>
                <a:sym typeface="Inter"/>
              </a:rPr>
              <a:t>Sơ đồ tổ chức bộ phận Operations, CS/Call Center, KTV và kho linh kiện, làm cơ sở xác định actor cho từng quy trình.</a:t>
            </a:r>
            <a:endParaRPr/>
          </a:p>
        </p:txBody>
      </p:sp>
      <p:sp>
        <p:nvSpPr>
          <p:cNvPr id="600" name="Google Shape;600;p30"/>
          <p:cNvSpPr/>
          <p:nvPr/>
        </p:nvSpPr>
        <p:spPr>
          <a:xfrm>
            <a:off x="6150864" y="1335024"/>
            <a:ext cx="2609088"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1" name="Google Shape;601;p30"/>
          <p:cNvSpPr/>
          <p:nvPr/>
        </p:nvSpPr>
        <p:spPr>
          <a:xfrm>
            <a:off x="6150864" y="1335024"/>
            <a:ext cx="2609088"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2" name="Google Shape;602;p30"/>
          <p:cNvSpPr txBox="1"/>
          <p:nvPr/>
        </p:nvSpPr>
        <p:spPr>
          <a:xfrm>
            <a:off x="6315456" y="1499616"/>
            <a:ext cx="2279904" cy="1124712"/>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Kế hoạch làm việc</a:t>
            </a:r>
            <a:endParaRPr/>
          </a:p>
          <a:p>
            <a:pPr indent="0" lvl="0" marL="0" marR="0" rtl="0" algn="l">
              <a:lnSpc>
                <a:spcPct val="112000"/>
              </a:lnSpc>
              <a:spcBef>
                <a:spcPts val="600"/>
              </a:spcBef>
              <a:spcAft>
                <a:spcPts val="0"/>
              </a:spcAft>
              <a:buNone/>
            </a:pPr>
            <a:r>
              <a:rPr b="0" i="0" lang="en" sz="900" u="none" cap="none" strike="noStrike">
                <a:solidFill>
                  <a:srgbClr val="475569"/>
                </a:solidFill>
                <a:latin typeface="Inter"/>
                <a:ea typeface="Inter"/>
                <a:cs typeface="Inter"/>
                <a:sym typeface="Inter"/>
              </a:rPr>
              <a:t>Lịch phân ca của KTV theo khu vực, kế hoạch KPI theo quý của bộ phận vận hành và QA.</a:t>
            </a:r>
            <a:endParaRPr/>
          </a:p>
        </p:txBody>
      </p:sp>
      <p:sp>
        <p:nvSpPr>
          <p:cNvPr id="603" name="Google Shape;603;p30"/>
          <p:cNvSpPr/>
          <p:nvPr/>
        </p:nvSpPr>
        <p:spPr>
          <a:xfrm>
            <a:off x="384048" y="3008376"/>
            <a:ext cx="2609088"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4" name="Google Shape;604;p30"/>
          <p:cNvSpPr/>
          <p:nvPr/>
        </p:nvSpPr>
        <p:spPr>
          <a:xfrm>
            <a:off x="384048" y="3008376"/>
            <a:ext cx="2609088"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5" name="Google Shape;605;p30"/>
          <p:cNvSpPr txBox="1"/>
          <p:nvPr/>
        </p:nvSpPr>
        <p:spPr>
          <a:xfrm>
            <a:off x="548640" y="3172968"/>
            <a:ext cx="2279904" cy="1124712"/>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Thuật ngữ và sổ tay</a:t>
            </a:r>
            <a:endParaRPr/>
          </a:p>
          <a:p>
            <a:pPr indent="0" lvl="0" marL="0" marR="0" rtl="0" algn="l">
              <a:lnSpc>
                <a:spcPct val="112000"/>
              </a:lnSpc>
              <a:spcBef>
                <a:spcPts val="600"/>
              </a:spcBef>
              <a:spcAft>
                <a:spcPts val="0"/>
              </a:spcAft>
              <a:buNone/>
            </a:pPr>
            <a:r>
              <a:rPr b="0" i="0" lang="en" sz="900" u="none" cap="none" strike="noStrike">
                <a:solidFill>
                  <a:srgbClr val="475569"/>
                </a:solidFill>
                <a:latin typeface="Inter"/>
                <a:ea typeface="Inter"/>
                <a:cs typeface="Inter"/>
                <a:sym typeface="Inter"/>
              </a:rPr>
              <a:t>Bảng thuật ngữ trạng thái booking (New, Accepted, On The Way, Completed...) và mã lỗi thiết bị (VD: A5, U4...).</a:t>
            </a:r>
            <a:endParaRPr/>
          </a:p>
        </p:txBody>
      </p:sp>
      <p:sp>
        <p:nvSpPr>
          <p:cNvPr id="606" name="Google Shape;606;p30"/>
          <p:cNvSpPr/>
          <p:nvPr/>
        </p:nvSpPr>
        <p:spPr>
          <a:xfrm>
            <a:off x="3267456" y="3008376"/>
            <a:ext cx="2609088"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7" name="Google Shape;607;p30"/>
          <p:cNvSpPr/>
          <p:nvPr/>
        </p:nvSpPr>
        <p:spPr>
          <a:xfrm>
            <a:off x="3267456" y="3008376"/>
            <a:ext cx="2609088"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8" name="Google Shape;608;p30"/>
          <p:cNvSpPr txBox="1"/>
          <p:nvPr/>
        </p:nvSpPr>
        <p:spPr>
          <a:xfrm>
            <a:off x="3432048" y="3172968"/>
            <a:ext cx="2279904" cy="1124712"/>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Biểu mẫu workshop / kịch bản họp</a:t>
            </a:r>
            <a:endParaRPr/>
          </a:p>
          <a:p>
            <a:pPr indent="0" lvl="0" marL="0" marR="0" rtl="0" algn="l">
              <a:lnSpc>
                <a:spcPct val="112000"/>
              </a:lnSpc>
              <a:spcBef>
                <a:spcPts val="600"/>
              </a:spcBef>
              <a:spcAft>
                <a:spcPts val="0"/>
              </a:spcAft>
              <a:buNone/>
            </a:pPr>
            <a:r>
              <a:rPr b="0" i="0" lang="en" sz="900" u="none" cap="none" strike="noStrike">
                <a:solidFill>
                  <a:srgbClr val="475569"/>
                </a:solidFill>
                <a:latin typeface="Inter"/>
                <a:ea typeface="Inter"/>
                <a:cs typeface="Inter"/>
                <a:sym typeface="Inter"/>
              </a:rPr>
              <a:t>Biên bản họp nhóm giả lập vai trò CS, KTV, QA Manager để rà soát luồng xử lý booking thực tế.</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31"/>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14" name="Google Shape;614;p31"/>
          <p:cNvGrpSpPr/>
          <p:nvPr/>
        </p:nvGrpSpPr>
        <p:grpSpPr>
          <a:xfrm>
            <a:off x="8458200" y="381000"/>
            <a:ext cx="304800" cy="304800"/>
            <a:chOff x="0" y="0"/>
            <a:chExt cx="304800" cy="304800"/>
          </a:xfrm>
        </p:grpSpPr>
        <p:sp>
          <p:nvSpPr>
            <p:cNvPr id="615" name="Google Shape;615;p31"/>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 name="Google Shape;616;p31"/>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31"/>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618" name="Google Shape;618;p31"/>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619" name="Google Shape;619;p31"/>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Phương pháp phỏng vấn</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Bộ câu hỏi phỏng vấn gồm 20 câu, chia đều định tính và định lượng</a:t>
            </a:r>
            <a:endParaRPr b="0" i="0" sz="1100" u="none" cap="none" strike="noStrike">
              <a:solidFill>
                <a:srgbClr val="007B7C"/>
              </a:solidFill>
              <a:latin typeface="Inter SemiBold"/>
              <a:ea typeface="Inter SemiBold"/>
              <a:cs typeface="Inter SemiBold"/>
              <a:sym typeface="Inter SemiBold"/>
            </a:endParaRPr>
          </a:p>
        </p:txBody>
      </p:sp>
      <p:sp>
        <p:nvSpPr>
          <p:cNvPr id="620" name="Google Shape;620;p31"/>
          <p:cNvSpPr/>
          <p:nvPr/>
        </p:nvSpPr>
        <p:spPr>
          <a:xfrm>
            <a:off x="384048" y="1335024"/>
            <a:ext cx="2761488" cy="152704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1" name="Google Shape;621;p31"/>
          <p:cNvSpPr/>
          <p:nvPr/>
        </p:nvSpPr>
        <p:spPr>
          <a:xfrm>
            <a:off x="384048" y="1335024"/>
            <a:ext cx="54864" cy="1527048"/>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2" name="Google Shape;622;p31"/>
          <p:cNvSpPr txBox="1"/>
          <p:nvPr/>
        </p:nvSpPr>
        <p:spPr>
          <a:xfrm>
            <a:off x="548640" y="1453895"/>
            <a:ext cx="2468880" cy="1307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475569"/>
                </a:solidFill>
                <a:latin typeface="Inter SemiBold"/>
                <a:ea typeface="Inter SemiBold"/>
                <a:cs typeface="Inter SemiBold"/>
                <a:sym typeface="Inter SemiBold"/>
              </a:rPr>
              <a:t>Câu hỏi định tính</a:t>
            </a:r>
            <a:endParaRPr/>
          </a:p>
          <a:p>
            <a:pPr indent="0" lvl="0" marL="0" marR="0" rtl="0" algn="l">
              <a:lnSpc>
                <a:spcPct val="100000"/>
              </a:lnSpc>
              <a:spcBef>
                <a:spcPts val="300"/>
              </a:spcBef>
              <a:spcAft>
                <a:spcPts val="0"/>
              </a:spcAft>
              <a:buNone/>
            </a:pPr>
            <a:r>
              <a:rPr b="0" i="0" lang="en" sz="2000" u="none" cap="none" strike="noStrike">
                <a:solidFill>
                  <a:srgbClr val="007B7C"/>
                </a:solidFill>
                <a:latin typeface="Inter"/>
                <a:ea typeface="Inter"/>
                <a:cs typeface="Inter"/>
                <a:sym typeface="Inter"/>
              </a:rPr>
              <a:t>10 câu</a:t>
            </a:r>
            <a:endParaRPr/>
          </a:p>
          <a:p>
            <a:pPr indent="0" lvl="0" marL="0" marR="0" rtl="0" algn="l">
              <a:lnSpc>
                <a:spcPct val="100000"/>
              </a:lnSpc>
              <a:spcBef>
                <a:spcPts val="300"/>
              </a:spcBef>
              <a:spcAft>
                <a:spcPts val="0"/>
              </a:spcAft>
              <a:buNone/>
            </a:pPr>
            <a:r>
              <a:rPr b="0" i="0" lang="en" sz="869" u="none" cap="none" strike="noStrike">
                <a:solidFill>
                  <a:srgbClr val="64748B"/>
                </a:solidFill>
                <a:latin typeface="Inter"/>
                <a:ea typeface="Inter"/>
                <a:cs typeface="Inter"/>
                <a:sym typeface="Inter"/>
              </a:rPr>
              <a:t>Tìm hiểu cách thức, nguyên nhân, cảm nhận của người tham gia quy trình.</a:t>
            </a:r>
            <a:endParaRPr/>
          </a:p>
        </p:txBody>
      </p:sp>
      <p:sp>
        <p:nvSpPr>
          <p:cNvPr id="623" name="Google Shape;623;p31"/>
          <p:cNvSpPr/>
          <p:nvPr/>
        </p:nvSpPr>
        <p:spPr>
          <a:xfrm>
            <a:off x="384048" y="3044952"/>
            <a:ext cx="2761488" cy="152704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4" name="Google Shape;624;p31"/>
          <p:cNvSpPr/>
          <p:nvPr/>
        </p:nvSpPr>
        <p:spPr>
          <a:xfrm>
            <a:off x="384048" y="3044952"/>
            <a:ext cx="54864" cy="1527048"/>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5" name="Google Shape;625;p31"/>
          <p:cNvSpPr txBox="1"/>
          <p:nvPr/>
        </p:nvSpPr>
        <p:spPr>
          <a:xfrm>
            <a:off x="548640" y="3163824"/>
            <a:ext cx="2468880" cy="1307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475569"/>
                </a:solidFill>
                <a:latin typeface="Inter SemiBold"/>
                <a:ea typeface="Inter SemiBold"/>
                <a:cs typeface="Inter SemiBold"/>
                <a:sym typeface="Inter SemiBold"/>
              </a:rPr>
              <a:t>Câu hỏi định lượng</a:t>
            </a:r>
            <a:endParaRPr/>
          </a:p>
          <a:p>
            <a:pPr indent="0" lvl="0" marL="0" marR="0" rtl="0" algn="l">
              <a:lnSpc>
                <a:spcPct val="100000"/>
              </a:lnSpc>
              <a:spcBef>
                <a:spcPts val="300"/>
              </a:spcBef>
              <a:spcAft>
                <a:spcPts val="0"/>
              </a:spcAft>
              <a:buNone/>
            </a:pPr>
            <a:r>
              <a:rPr b="0" i="0" lang="en" sz="2000" u="none" cap="none" strike="noStrike">
                <a:solidFill>
                  <a:srgbClr val="0284C7"/>
                </a:solidFill>
                <a:latin typeface="Inter"/>
                <a:ea typeface="Inter"/>
                <a:cs typeface="Inter"/>
                <a:sym typeface="Inter"/>
              </a:rPr>
              <a:t>10 câu</a:t>
            </a:r>
            <a:endParaRPr/>
          </a:p>
          <a:p>
            <a:pPr indent="0" lvl="0" marL="0" marR="0" rtl="0" algn="l">
              <a:lnSpc>
                <a:spcPct val="100000"/>
              </a:lnSpc>
              <a:spcBef>
                <a:spcPts val="300"/>
              </a:spcBef>
              <a:spcAft>
                <a:spcPts val="0"/>
              </a:spcAft>
              <a:buNone/>
            </a:pPr>
            <a:r>
              <a:rPr b="0" i="0" lang="en" sz="869" u="none" cap="none" strike="noStrike">
                <a:solidFill>
                  <a:srgbClr val="64748B"/>
                </a:solidFill>
                <a:latin typeface="Inter"/>
                <a:ea typeface="Inter"/>
                <a:cs typeface="Inter"/>
                <a:sym typeface="Inter"/>
              </a:rPr>
              <a:t>Thu thập số liệu đo lường được (thời gian, tỷ lệ, chi phí, đánh giá...).</a:t>
            </a:r>
            <a:endParaRPr/>
          </a:p>
        </p:txBody>
      </p:sp>
      <p:sp>
        <p:nvSpPr>
          <p:cNvPr id="626" name="Google Shape;626;p31"/>
          <p:cNvSpPr/>
          <p:nvPr/>
        </p:nvSpPr>
        <p:spPr>
          <a:xfrm>
            <a:off x="3447288" y="1335024"/>
            <a:ext cx="5312664" cy="3236976"/>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7" name="Google Shape;627;p31"/>
          <p:cNvSpPr/>
          <p:nvPr/>
        </p:nvSpPr>
        <p:spPr>
          <a:xfrm>
            <a:off x="3447288" y="1335024"/>
            <a:ext cx="5312664" cy="54864"/>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8" name="Google Shape;628;p31"/>
          <p:cNvSpPr txBox="1"/>
          <p:nvPr/>
        </p:nvSpPr>
        <p:spPr>
          <a:xfrm>
            <a:off x="3675887" y="1527048"/>
            <a:ext cx="4855464" cy="2743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300" u="none" cap="none" strike="noStrike">
                <a:solidFill>
                  <a:srgbClr val="0F172A"/>
                </a:solidFill>
                <a:latin typeface="Inter"/>
                <a:ea typeface="Inter"/>
                <a:cs typeface="Inter"/>
                <a:sym typeface="Inter"/>
              </a:rPr>
              <a:t>Cơ cấu bộ câu hỏi (20 câu)</a:t>
            </a:r>
            <a:endParaRPr/>
          </a:p>
          <a:p>
            <a:pPr indent="0" lvl="0" marL="0" marR="0" rtl="0" algn="l">
              <a:lnSpc>
                <a:spcPct val="115000"/>
              </a:lnSpc>
              <a:spcBef>
                <a:spcPts val="800"/>
              </a:spcBef>
              <a:spcAft>
                <a:spcPts val="0"/>
              </a:spcAft>
              <a:buNone/>
            </a:pPr>
            <a:r>
              <a:rPr b="0" i="0" lang="en" sz="950" u="none" cap="none" strike="noStrike">
                <a:solidFill>
                  <a:srgbClr val="475569"/>
                </a:solidFill>
                <a:latin typeface="Inter"/>
                <a:ea typeface="Inter"/>
                <a:cs typeface="Inter"/>
                <a:sym typeface="Inter"/>
              </a:rPr>
              <a:t>Mỗi nhóm (định tính / định lượng) chia đều:</a:t>
            </a:r>
            <a:endParaRPr/>
          </a:p>
          <a:p>
            <a:pPr indent="0" lvl="0" marL="0" marR="0" rtl="0" algn="l">
              <a:lnSpc>
                <a:spcPct val="115000"/>
              </a:lnSpc>
              <a:spcBef>
                <a:spcPts val="800"/>
              </a:spcBef>
              <a:spcAft>
                <a:spcPts val="0"/>
              </a:spcAft>
              <a:buNone/>
            </a:pPr>
            <a:r>
              <a:rPr b="1" i="0" lang="en" sz="950" u="none" cap="none" strike="noStrike">
                <a:solidFill>
                  <a:srgbClr val="007B7C"/>
                </a:solidFill>
                <a:latin typeface="Inter"/>
                <a:ea typeface="Inter"/>
                <a:cs typeface="Inter"/>
                <a:sym typeface="Inter"/>
              </a:rPr>
              <a:t>•  5 câu có cấu trúc</a:t>
            </a:r>
            <a:r>
              <a:rPr b="0" i="0" lang="en" sz="950" u="none" cap="none" strike="noStrike">
                <a:solidFill>
                  <a:srgbClr val="475569"/>
                </a:solidFill>
                <a:latin typeface="Inter"/>
                <a:ea typeface="Inter"/>
                <a:cs typeface="Inter"/>
                <a:sym typeface="Inter"/>
              </a:rPr>
              <a:t> (structured) — có phương án trả lời rõ ràng, dễ tổng hợp, thống kê.</a:t>
            </a:r>
            <a:endParaRPr/>
          </a:p>
          <a:p>
            <a:pPr indent="0" lvl="0" marL="0" marR="0" rtl="0" algn="l">
              <a:lnSpc>
                <a:spcPct val="115000"/>
              </a:lnSpc>
              <a:spcBef>
                <a:spcPts val="800"/>
              </a:spcBef>
              <a:spcAft>
                <a:spcPts val="0"/>
              </a:spcAft>
              <a:buNone/>
            </a:pPr>
            <a:r>
              <a:rPr b="1" i="0" lang="en" sz="950" u="none" cap="none" strike="noStrike">
                <a:solidFill>
                  <a:srgbClr val="0284C7"/>
                </a:solidFill>
                <a:latin typeface="Inter"/>
                <a:ea typeface="Inter"/>
                <a:cs typeface="Inter"/>
                <a:sym typeface="Inter"/>
              </a:rPr>
              <a:t>•  5 câu không có cấu trúc</a:t>
            </a:r>
            <a:r>
              <a:rPr b="0" i="0" lang="en" sz="950" u="none" cap="none" strike="noStrike">
                <a:solidFill>
                  <a:srgbClr val="475569"/>
                </a:solidFill>
                <a:latin typeface="Inter"/>
                <a:ea typeface="Inter"/>
                <a:cs typeface="Inter"/>
                <a:sym typeface="Inter"/>
              </a:rPr>
              <a:t> (unstructured) — câu hỏi mở, khai thác sâu nguyên nhân và cảm nhận.</a:t>
            </a:r>
            <a:endParaRPr/>
          </a:p>
          <a:p>
            <a:pPr indent="0" lvl="0" marL="0" marR="0" rtl="0" algn="l">
              <a:lnSpc>
                <a:spcPct val="115000"/>
              </a:lnSpc>
              <a:spcBef>
                <a:spcPts val="800"/>
              </a:spcBef>
              <a:spcAft>
                <a:spcPts val="0"/>
              </a:spcAft>
              <a:buNone/>
            </a:pPr>
            <a:r>
              <a:rPr b="0" i="0" lang="en" sz="950" u="none" cap="none" strike="noStrike">
                <a:solidFill>
                  <a:srgbClr val="475569"/>
                </a:solidFill>
                <a:latin typeface="Inter"/>
                <a:ea typeface="Inter"/>
                <a:cs typeface="Inter"/>
                <a:sym typeface="Inter"/>
              </a:rPr>
              <a:t>Đối tượng phỏng vấn: CS/Call Center, KTV, QA Manager, nhân viên kho linh kiện.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32"/>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34" name="Google Shape;634;p32"/>
          <p:cNvGrpSpPr/>
          <p:nvPr/>
        </p:nvGrpSpPr>
        <p:grpSpPr>
          <a:xfrm>
            <a:off x="8458200" y="381000"/>
            <a:ext cx="304800" cy="304800"/>
            <a:chOff x="0" y="0"/>
            <a:chExt cx="304800" cy="304800"/>
          </a:xfrm>
        </p:grpSpPr>
        <p:sp>
          <p:nvSpPr>
            <p:cNvPr id="635" name="Google Shape;635;p32"/>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 name="Google Shape;636;p32"/>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 name="Google Shape;637;p32"/>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638" name="Google Shape;638;p32"/>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639" name="Google Shape;639;p32"/>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5 câu hỏi định tính — Có cấu trúc</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Structured — có phương án trả lời rõ ràng, dễ tổng hợp</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640" name="Google Shape;640;p32"/>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598275"/>
                <a:gridCol w="3828975"/>
                <a:gridCol w="3948650"/>
              </a:tblGrid>
              <a:tr h="3474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STT</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Câu hỏi</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Phương án trả lời</a:t>
                      </a:r>
                      <a:endParaRPr/>
                    </a:p>
                  </a:txBody>
                  <a:tcPr marT="18300" marB="18300" marR="73150" marL="73150" anchor="ctr">
                    <a:solidFill>
                      <a:srgbClr val="007B7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1</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Đánh giá mức độ rõ ràng của các bước trong quy trình assign KTV hiện tại?</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Rất rõ ràng / Rõ ràng / Bình thường / Chưa rõ ràng / Rất mơ hồ</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2</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Tần suất xảy ra tình trạng “không có KTV phù hợp trong khu vực”?</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Hằng ngày / Vài lần/tuần / Vài lần/tháng / Hiếm khi / Không bao giờ</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3</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Nguyên nhân phổ biến nhất khiến booking phải đi lại lần 2 là gì?</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Thiếu linh kiện / Lỗi phức tạp / Khách hàng đổi lịch / Khác</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4</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Kênh khách hàng phản hồi/khiếu nại nhiều nhất là?</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Chat support / Gọi Call Center / Đánh giá sau booking / Khác</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5</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Mức độ hài lòng của KTV với công cụ hỗ trợ (app/portal) hiện tại?</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Rất hài lòng / Hài lòng / Bình thường / Không hài lòng / Rất không hài lòng</a:t>
                      </a:r>
                      <a:endParaRPr/>
                    </a:p>
                  </a:txBody>
                  <a:tcPr marT="18300" marB="18300" marR="73150" marL="73150"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4" name="Shape 644"/>
        <p:cNvGrpSpPr/>
        <p:nvPr/>
      </p:nvGrpSpPr>
      <p:grpSpPr>
        <a:xfrm>
          <a:off x="0" y="0"/>
          <a:ext cx="0" cy="0"/>
          <a:chOff x="0" y="0"/>
          <a:chExt cx="0" cy="0"/>
        </a:xfrm>
      </p:grpSpPr>
      <p:sp>
        <p:nvSpPr>
          <p:cNvPr id="645" name="Google Shape;645;p33"/>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46" name="Google Shape;646;p33"/>
          <p:cNvGrpSpPr/>
          <p:nvPr/>
        </p:nvGrpSpPr>
        <p:grpSpPr>
          <a:xfrm>
            <a:off x="8458200" y="381000"/>
            <a:ext cx="304800" cy="304800"/>
            <a:chOff x="0" y="0"/>
            <a:chExt cx="304800" cy="304800"/>
          </a:xfrm>
        </p:grpSpPr>
        <p:sp>
          <p:nvSpPr>
            <p:cNvPr id="647" name="Google Shape;647;p33"/>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33"/>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 name="Google Shape;649;p33"/>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650" name="Google Shape;650;p33"/>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651" name="Google Shape;651;p33"/>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5 câu hỏi định tính — Không có cấu trúc</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Unstructured — câu hỏi mở, khai thác sâu</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652" name="Google Shape;652;p33"/>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598275"/>
                <a:gridCol w="7777625"/>
              </a:tblGrid>
              <a:tr h="3474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STT</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Câu hỏi</a:t>
                      </a:r>
                      <a:endParaRPr/>
                    </a:p>
                  </a:txBody>
                  <a:tcPr marT="18300" marB="18300" marR="73150" marL="73150" anchor="ctr">
                    <a:solidFill>
                      <a:srgbClr val="007B7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1</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Bước nào trong quy trình xử lý booking hiện tại gây khó khăn hoặc mất thời gian nhất? Vì sao?</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2</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Anh/chị có thể mô tả một tình huống thực tế mà booking bị trễ hoặc xử lý không suôn sẻ, và nguyên nhân?</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3</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Nếu được thay đổi một điều trong quy trình hiện tại, anh/chị sẽ thay đổi điều gì và tại sao?</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4</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Sự phối hợp giữa các bộ phận (CS – KTV – Kho linh kiện) hiện đang gặp trở ngại gì?</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5</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Theo kinh nghiệm của anh/chị, đâu là nguyên nhân sâu xa khiến khách hàng đánh giá thấp một số booking?</a:t>
                      </a:r>
                      <a:endParaRPr/>
                    </a:p>
                  </a:txBody>
                  <a:tcPr marT="18300" marB="18300" marR="73150" marL="73150"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34"/>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58" name="Google Shape;658;p34"/>
          <p:cNvGrpSpPr/>
          <p:nvPr/>
        </p:nvGrpSpPr>
        <p:grpSpPr>
          <a:xfrm>
            <a:off x="8458200" y="381000"/>
            <a:ext cx="304800" cy="304800"/>
            <a:chOff x="0" y="0"/>
            <a:chExt cx="304800" cy="304800"/>
          </a:xfrm>
        </p:grpSpPr>
        <p:sp>
          <p:nvSpPr>
            <p:cNvPr id="659" name="Google Shape;659;p34"/>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34"/>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34"/>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662" name="Google Shape;662;p34"/>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663" name="Google Shape;663;p34"/>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5 câu hỏi định lượng — Có cấu trúc</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Structured — thu thập số liệu đo lường được</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664" name="Google Shape;664;p34"/>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598275"/>
                <a:gridCol w="7777625"/>
              </a:tblGrid>
              <a:tr h="3474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STT</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Câu hỏi</a:t>
                      </a:r>
                      <a:endParaRPr/>
                    </a:p>
                  </a:txBody>
                  <a:tcPr marT="18300" marB="18300" marR="73150" marL="73150" anchor="ctr">
                    <a:solidFill>
                      <a:srgbClr val="007B7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1</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Thời gian trung bình từ khi booking được tạo đến khi assign KTV là bao nhiêu phút?</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2</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Thời gian trung bình KTV xử lý hoàn tất một booking (từ On The Way đến Completed) là bao nhiêu giờ?</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3</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Tỷ lệ phần trăm booking phải đi lại lần 2 trong một tháng là bao nhiêu %?</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4</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Chi phí trung bình cho nhân công và linh kiện trên một booking là bao nhiêu VNĐ?</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5</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Điểm đánh giá trung bình (rating) của khách hàng trên thang điểm 5 trong tháng gần nhất?</a:t>
                      </a:r>
                      <a:endParaRPr/>
                    </a:p>
                  </a:txBody>
                  <a:tcPr marT="18300" marB="18300" marR="73150" marL="7315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8" name="Shape 668"/>
        <p:cNvGrpSpPr/>
        <p:nvPr/>
      </p:nvGrpSpPr>
      <p:grpSpPr>
        <a:xfrm>
          <a:off x="0" y="0"/>
          <a:ext cx="0" cy="0"/>
          <a:chOff x="0" y="0"/>
          <a:chExt cx="0" cy="0"/>
        </a:xfrm>
      </p:grpSpPr>
      <p:sp>
        <p:nvSpPr>
          <p:cNvPr id="669" name="Google Shape;669;p35"/>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70" name="Google Shape;670;p35"/>
          <p:cNvGrpSpPr/>
          <p:nvPr/>
        </p:nvGrpSpPr>
        <p:grpSpPr>
          <a:xfrm>
            <a:off x="8458200" y="381000"/>
            <a:ext cx="304800" cy="304800"/>
            <a:chOff x="0" y="0"/>
            <a:chExt cx="304800" cy="304800"/>
          </a:xfrm>
        </p:grpSpPr>
        <p:sp>
          <p:nvSpPr>
            <p:cNvPr id="671" name="Google Shape;671;p35"/>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 name="Google Shape;672;p35"/>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 name="Google Shape;673;p35"/>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674" name="Google Shape;674;p35"/>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675" name="Google Shape;675;p35"/>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5 câu hỏi định lượng — Không có cấu trúc</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Unstructured — ước lượng mở dựa trên kinh nghiệm</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676" name="Google Shape;676;p35"/>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598275"/>
                <a:gridCol w="7777625"/>
              </a:tblGrid>
              <a:tr h="3474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STT</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Câu hỏi</a:t>
                      </a:r>
                      <a:endParaRPr/>
                    </a:p>
                  </a:txBody>
                  <a:tcPr marT="18300" marB="18300" marR="73150" marL="73150" anchor="ctr">
                    <a:solidFill>
                      <a:srgbClr val="007B7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1</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Số lượng booking xử lý trung bình mỗi KTV mỗi ngày là bao nhiêu, biến động ra sao theo mùa vụ?</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2</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Chi phí phát sinh ngoài dự kiến (ngoài bảo hành) chiếm khoảng bao nhiêu % tổng chi phí booking?</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3</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Thời gian trung bình xử lý một yêu cầu qua Chat support là bao lâu?</a:t>
                      </a:r>
                      <a:endParaRPr/>
                    </a:p>
                  </a:txBody>
                  <a:tcPr marT="18300" marB="18300" marR="73150" marL="73150" anchor="ctr">
                    <a:solidFill>
                      <a:srgbClr val="FFFFFF"/>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4</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Tỷ lệ linh kiện bị báo lỗi/mất trong quá trình đối soát kho – KTV hằng tháng là khoảng bao nhiêu?</a:t>
                      </a:r>
                      <a:endParaRPr/>
                    </a:p>
                  </a:txBody>
                  <a:tcPr marT="18300" marB="18300" marR="73150" marL="73150" anchor="ctr">
                    <a:solidFill>
                      <a:srgbClr val="F8FAFC"/>
                    </a:solidFill>
                  </a:tcPr>
                </a:tc>
              </a:tr>
              <a:tr h="530350">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5</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950" u="none" cap="none" strike="noStrike">
                          <a:solidFill>
                            <a:srgbClr val="475569"/>
                          </a:solidFill>
                          <a:latin typeface="Inter"/>
                          <a:ea typeface="Inter"/>
                          <a:cs typeface="Inter"/>
                          <a:sym typeface="Inter"/>
                        </a:rPr>
                        <a:t>Bao nhiêu phần trăm khiếu nại của khách hàng liên quan trực tiếp đến chi phí sửa chữa?</a:t>
                      </a:r>
                      <a:endParaRPr/>
                    </a:p>
                  </a:txBody>
                  <a:tcPr marT="18300" marB="18300" marR="73150" marL="73150" anchor="ctr">
                    <a:solidFill>
                      <a:srgbClr val="FFFFFF"/>
                    </a:solidFill>
                  </a:tcPr>
                </a:tc>
              </a:tr>
            </a:tbl>
          </a:graphicData>
        </a:graphic>
      </p:graphicFrame>
      <p:sp>
        <p:nvSpPr>
          <p:cNvPr id="677" name="Google Shape;677;p35"/>
          <p:cNvSpPr/>
          <p:nvPr/>
        </p:nvSpPr>
        <p:spPr>
          <a:xfrm>
            <a:off x="384048" y="4498848"/>
            <a:ext cx="8375904" cy="411480"/>
          </a:xfrm>
          <a:prstGeom prst="rect">
            <a:avLst/>
          </a:prstGeom>
          <a:solidFill>
            <a:srgbClr val="F0F9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78" name="Google Shape;678;p35"/>
          <p:cNvSpPr txBox="1"/>
          <p:nvPr/>
        </p:nvSpPr>
        <p:spPr>
          <a:xfrm>
            <a:off x="548640" y="4590288"/>
            <a:ext cx="8046720" cy="228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900" u="none" cap="none" strike="noStrike">
                <a:solidFill>
                  <a:srgbClr val="0284C7"/>
                </a:solidFill>
                <a:latin typeface="Inter SemiBold"/>
                <a:ea typeface="Inter SemiBold"/>
                <a:cs typeface="Inter SemiBold"/>
                <a:sym typeface="Inter SemiBold"/>
              </a:rPr>
              <a:t>Ghi chú:  </a:t>
            </a:r>
            <a:r>
              <a:rPr b="0" i="0" lang="en" sz="900" u="none" cap="none" strike="noStrike">
                <a:solidFill>
                  <a:srgbClr val="0284C7"/>
                </a:solidFill>
                <a:latin typeface="Inter"/>
                <a:ea typeface="Inter"/>
                <a:cs typeface="Inter"/>
                <a:sym typeface="Inter"/>
              </a:rPr>
              <a:t>Tổng bộ câu hỏi phỏng vấn: 20 câu (10 định tính + 10 định lượng).</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36"/>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84" name="Google Shape;684;p36"/>
          <p:cNvGrpSpPr/>
          <p:nvPr/>
        </p:nvGrpSpPr>
        <p:grpSpPr>
          <a:xfrm>
            <a:off x="8458200" y="381000"/>
            <a:ext cx="304800" cy="304800"/>
            <a:chOff x="0" y="0"/>
            <a:chExt cx="304800" cy="304800"/>
          </a:xfrm>
        </p:grpSpPr>
        <p:sp>
          <p:nvSpPr>
            <p:cNvPr id="685" name="Google Shape;685;p36"/>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 name="Google Shape;686;p36"/>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36"/>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688" name="Google Shape;688;p36"/>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689" name="Google Shape;689;p36"/>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chuyên sâu 2 Quy trình Cốt lõi</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Lựa chọn 2 quy trình ảnh hưởng lớn nhất đến trải nghiệm khách hàng và chi phí vận hành</a:t>
            </a:r>
            <a:endParaRPr b="0" i="0" sz="1100" u="none" cap="none" strike="noStrike">
              <a:solidFill>
                <a:srgbClr val="007B7C"/>
              </a:solidFill>
              <a:latin typeface="Inter SemiBold"/>
              <a:ea typeface="Inter SemiBold"/>
              <a:cs typeface="Inter SemiBold"/>
              <a:sym typeface="Inter SemiBold"/>
            </a:endParaRPr>
          </a:p>
        </p:txBody>
      </p:sp>
      <p:sp>
        <p:nvSpPr>
          <p:cNvPr id="690" name="Google Shape;690;p36"/>
          <p:cNvSpPr/>
          <p:nvPr/>
        </p:nvSpPr>
        <p:spPr>
          <a:xfrm>
            <a:off x="384048" y="1335024"/>
            <a:ext cx="4050791" cy="137160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1" name="Google Shape;691;p36"/>
          <p:cNvSpPr/>
          <p:nvPr/>
        </p:nvSpPr>
        <p:spPr>
          <a:xfrm>
            <a:off x="384048" y="1335024"/>
            <a:ext cx="4050791"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2" name="Google Shape;692;p36"/>
          <p:cNvSpPr txBox="1"/>
          <p:nvPr/>
        </p:nvSpPr>
        <p:spPr>
          <a:xfrm>
            <a:off x="585216" y="1499616"/>
            <a:ext cx="3685031" cy="10972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300" u="none" cap="none" strike="noStrike">
                <a:solidFill>
                  <a:srgbClr val="007B7C"/>
                </a:solidFill>
                <a:latin typeface="Inter ExtraBold"/>
                <a:ea typeface="Inter ExtraBold"/>
                <a:cs typeface="Inter ExtraBold"/>
                <a:sym typeface="Inter ExtraBold"/>
              </a:rPr>
              <a:t>C02  </a:t>
            </a:r>
            <a:r>
              <a:rPr b="1" i="0" lang="en" sz="1300" u="none" cap="none" strike="noStrike">
                <a:solidFill>
                  <a:srgbClr val="0F172A"/>
                </a:solidFill>
                <a:latin typeface="Inter ExtraBold"/>
                <a:ea typeface="Inter ExtraBold"/>
                <a:cs typeface="Inter ExtraBold"/>
                <a:sym typeface="Inter ExtraBold"/>
              </a:rPr>
              <a:t>CS assign KTV cho booking</a:t>
            </a:r>
            <a:endParaRPr/>
          </a:p>
          <a:p>
            <a:pPr indent="0" lvl="0" marL="0" marR="0" rtl="0" algn="l">
              <a:lnSpc>
                <a:spcPct val="115000"/>
              </a:lnSpc>
              <a:spcBef>
                <a:spcPts val="800"/>
              </a:spcBef>
              <a:spcAft>
                <a:spcPts val="0"/>
              </a:spcAft>
              <a:buNone/>
            </a:pPr>
            <a:r>
              <a:rPr b="0" i="0" lang="en" sz="950" u="none" cap="none" strike="noStrike">
                <a:solidFill>
                  <a:srgbClr val="475569"/>
                </a:solidFill>
                <a:latin typeface="Inter"/>
                <a:ea typeface="Inter"/>
                <a:cs typeface="Inter"/>
                <a:sym typeface="Inter"/>
              </a:rPr>
              <a:t>Điều phối &amp; giao việc — quyết định tốc độ phục vụ khách hàng ngay từ đầu quy trình.</a:t>
            </a:r>
            <a:endParaRPr/>
          </a:p>
        </p:txBody>
      </p:sp>
      <p:sp>
        <p:nvSpPr>
          <p:cNvPr id="693" name="Google Shape;693;p36"/>
          <p:cNvSpPr/>
          <p:nvPr/>
        </p:nvSpPr>
        <p:spPr>
          <a:xfrm>
            <a:off x="4709159" y="1335024"/>
            <a:ext cx="4050791" cy="137160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4" name="Google Shape;694;p36"/>
          <p:cNvSpPr/>
          <p:nvPr/>
        </p:nvSpPr>
        <p:spPr>
          <a:xfrm>
            <a:off x="4709159" y="1335024"/>
            <a:ext cx="4050791"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5" name="Google Shape;695;p36"/>
          <p:cNvSpPr txBox="1"/>
          <p:nvPr/>
        </p:nvSpPr>
        <p:spPr>
          <a:xfrm>
            <a:off x="4910327" y="1499616"/>
            <a:ext cx="3685031" cy="10972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300" u="none" cap="none" strike="noStrike">
                <a:solidFill>
                  <a:srgbClr val="0284C7"/>
                </a:solidFill>
                <a:latin typeface="Inter ExtraBold"/>
                <a:ea typeface="Inter ExtraBold"/>
                <a:cs typeface="Inter ExtraBold"/>
                <a:sym typeface="Inter ExtraBold"/>
              </a:rPr>
              <a:t>C03  </a:t>
            </a:r>
            <a:r>
              <a:rPr b="1" i="0" lang="en" sz="1300" u="none" cap="none" strike="noStrike">
                <a:solidFill>
                  <a:srgbClr val="0F172A"/>
                </a:solidFill>
                <a:latin typeface="Inter ExtraBold"/>
                <a:ea typeface="Inter ExtraBold"/>
                <a:cs typeface="Inter ExtraBold"/>
                <a:sym typeface="Inter ExtraBold"/>
              </a:rPr>
              <a:t>KTV nhận và xử lý booking</a:t>
            </a:r>
            <a:endParaRPr/>
          </a:p>
          <a:p>
            <a:pPr indent="0" lvl="0" marL="0" marR="0" rtl="0" algn="l">
              <a:lnSpc>
                <a:spcPct val="115000"/>
              </a:lnSpc>
              <a:spcBef>
                <a:spcPts val="800"/>
              </a:spcBef>
              <a:spcAft>
                <a:spcPts val="0"/>
              </a:spcAft>
              <a:buNone/>
            </a:pPr>
            <a:r>
              <a:rPr b="0" i="0" lang="en" sz="950" u="none" cap="none" strike="noStrike">
                <a:solidFill>
                  <a:srgbClr val="475569"/>
                </a:solidFill>
                <a:latin typeface="Inter"/>
                <a:ea typeface="Inter"/>
                <a:cs typeface="Inter"/>
                <a:sym typeface="Inter"/>
              </a:rPr>
              <a:t>Thực hiện kỹ thuật tại hiện trường — nơi phát sinh phần lớn chi phí và rủi ro chậm trễ.</a:t>
            </a:r>
            <a:endParaRPr/>
          </a:p>
        </p:txBody>
      </p:sp>
      <p:sp>
        <p:nvSpPr>
          <p:cNvPr id="696" name="Google Shape;696;p36"/>
          <p:cNvSpPr txBox="1"/>
          <p:nvPr/>
        </p:nvSpPr>
        <p:spPr>
          <a:xfrm>
            <a:off x="384048" y="3026664"/>
            <a:ext cx="8375904"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50" u="none" cap="none" strike="noStrike">
                <a:solidFill>
                  <a:srgbClr val="007B7C"/>
                </a:solidFill>
                <a:latin typeface="Inter"/>
                <a:ea typeface="Inter"/>
                <a:cs typeface="Inter"/>
                <a:sym typeface="Inter"/>
              </a:rPr>
              <a:t>•  </a:t>
            </a:r>
            <a:r>
              <a:rPr b="0" i="0" lang="en" sz="1050" u="none" cap="none" strike="noStrike">
                <a:solidFill>
                  <a:srgbClr val="475569"/>
                </a:solidFill>
                <a:latin typeface="Inter"/>
                <a:ea typeface="Inter"/>
                <a:cs typeface="Inter"/>
                <a:sym typeface="Inter"/>
              </a:rPr>
              <a:t>Phân tích định tính: giá trị gia tăng (VA/NVA/VBA) và lãng phí (Move / Hold / Overdo).</a:t>
            </a:r>
            <a:endParaRPr/>
          </a:p>
          <a:p>
            <a:pPr indent="0" lvl="0" marL="0" marR="0" rtl="0" algn="l">
              <a:lnSpc>
                <a:spcPct val="100000"/>
              </a:lnSpc>
              <a:spcBef>
                <a:spcPts val="400"/>
              </a:spcBef>
              <a:spcAft>
                <a:spcPts val="0"/>
              </a:spcAft>
              <a:buNone/>
            </a:pPr>
            <a:r>
              <a:rPr b="1" i="0" lang="en" sz="1050" u="none" cap="none" strike="noStrike">
                <a:solidFill>
                  <a:srgbClr val="007B7C"/>
                </a:solidFill>
                <a:latin typeface="Inter"/>
                <a:ea typeface="Inter"/>
                <a:cs typeface="Inter"/>
                <a:sym typeface="Inter"/>
              </a:rPr>
              <a:t>•  </a:t>
            </a:r>
            <a:r>
              <a:rPr b="0" i="0" lang="en" sz="1050" u="none" cap="none" strike="noStrike">
                <a:solidFill>
                  <a:srgbClr val="475569"/>
                </a:solidFill>
                <a:latin typeface="Inter"/>
                <a:ea typeface="Inter"/>
                <a:cs typeface="Inter"/>
                <a:sym typeface="Inter"/>
              </a:rPr>
              <a:t>Phân tích định lượng: thời gian xử lý, chỉ số chất lượng dịch vụ và chi phí trung bình một booking.</a:t>
            </a:r>
            <a:endParaRPr/>
          </a:p>
        </p:txBody>
      </p:sp>
      <p:sp>
        <p:nvSpPr>
          <p:cNvPr id="697" name="Google Shape;697;p36"/>
          <p:cNvSpPr/>
          <p:nvPr/>
        </p:nvSpPr>
        <p:spPr>
          <a:xfrm>
            <a:off x="384048" y="3849624"/>
            <a:ext cx="8375904" cy="502920"/>
          </a:xfrm>
          <a:prstGeom prst="rect">
            <a:avLst/>
          </a:prstGeom>
          <a:solidFill>
            <a:srgbClr val="F0F9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8" name="Google Shape;698;p36"/>
          <p:cNvSpPr txBox="1"/>
          <p:nvPr/>
        </p:nvSpPr>
        <p:spPr>
          <a:xfrm>
            <a:off x="548640" y="3941063"/>
            <a:ext cx="8046720" cy="3200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900" u="none" cap="none" strike="noStrike">
                <a:solidFill>
                  <a:srgbClr val="0284C7"/>
                </a:solidFill>
                <a:latin typeface="Inter SemiBold"/>
                <a:ea typeface="Inter SemiBold"/>
                <a:cs typeface="Inter SemiBold"/>
                <a:sym typeface="Inter SemiBold"/>
              </a:rPr>
              <a:t>Lưu ý:  </a:t>
            </a:r>
            <a:r>
              <a:rPr b="0" i="0" lang="en" sz="900" u="none" cap="none" strike="noStrike">
                <a:solidFill>
                  <a:srgbClr val="0284C7"/>
                </a:solidFill>
                <a:latin typeface="Inter"/>
                <a:ea typeface="Inter"/>
                <a:cs typeface="Inter"/>
                <a:sym typeface="Inter"/>
              </a:rPr>
              <a:t>Số liệu định lượng trong chương này là ước tính minh họa dựa trên phỏng vấn và quan sát của nhóm.</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37"/>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04" name="Google Shape;704;p37"/>
          <p:cNvGrpSpPr/>
          <p:nvPr/>
        </p:nvGrpSpPr>
        <p:grpSpPr>
          <a:xfrm>
            <a:off x="8458200" y="381000"/>
            <a:ext cx="304800" cy="304800"/>
            <a:chOff x="0" y="0"/>
            <a:chExt cx="304800" cy="304800"/>
          </a:xfrm>
        </p:grpSpPr>
        <p:sp>
          <p:nvSpPr>
            <p:cNvPr id="705" name="Google Shape;705;p37"/>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 name="Google Shape;706;p37"/>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 name="Google Shape;707;p37"/>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708" name="Google Shape;708;p37"/>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709" name="Google Shape;709;p37"/>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giá trị gia tăng — CS assign KTV cho booking</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C02 — Value-Added Analysis (VA / VBA / NVA)</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710" name="Google Shape;710;p37"/>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606150"/>
                <a:gridCol w="3967525"/>
                <a:gridCol w="2534825"/>
                <a:gridCol w="1267400"/>
              </a:tblGrid>
              <a:tr h="365750">
                <a:tc>
                  <a:txBody>
                    <a:bodyPr/>
                    <a:lstStyle/>
                    <a:p>
                      <a:pPr indent="0" lvl="0" marL="0" marR="0" rtl="0" algn="ctr">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STT</a:t>
                      </a:r>
                      <a:endParaRPr/>
                    </a:p>
                  </a:txBody>
                  <a:tcPr marT="9150" marB="9150" marR="54875" marL="54875" anchor="ctr">
                    <a:solidFill>
                      <a:srgbClr val="007B7C"/>
                    </a:solidFill>
                  </a:tcPr>
                </a:tc>
                <a:tc>
                  <a:txBody>
                    <a:bodyPr/>
                    <a:lstStyle/>
                    <a:p>
                      <a:pPr indent="0" lvl="0" marL="0" marR="0" rtl="0" algn="l">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Hoạt động</a:t>
                      </a:r>
                      <a:endParaRPr/>
                    </a:p>
                  </a:txBody>
                  <a:tcPr marT="9150" marB="9150" marR="54875" marL="54875" anchor="ctr">
                    <a:solidFill>
                      <a:srgbClr val="007B7C"/>
                    </a:solidFill>
                  </a:tcPr>
                </a:tc>
                <a:tc>
                  <a:txBody>
                    <a:bodyPr/>
                    <a:lstStyle/>
                    <a:p>
                      <a:pPr indent="0" lvl="0" marL="0" marR="0" rtl="0" algn="l">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Đối tượng</a:t>
                      </a:r>
                      <a:endParaRPr/>
                    </a:p>
                  </a:txBody>
                  <a:tcPr marT="9150" marB="9150" marR="54875" marL="54875" anchor="ctr">
                    <a:solidFill>
                      <a:srgbClr val="007B7C"/>
                    </a:solidFill>
                  </a:tcPr>
                </a:tc>
                <a:tc>
                  <a:txBody>
                    <a:bodyPr/>
                    <a:lstStyle/>
                    <a:p>
                      <a:pPr indent="0" lvl="0" marL="0" marR="0" rtl="0" algn="ctr">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Phân loại</a:t>
                      </a:r>
                      <a:endParaRPr/>
                    </a:p>
                  </a:txBody>
                  <a:tcPr marT="9150" marB="9150" marR="54875" marL="54875" anchor="ctr">
                    <a:solidFill>
                      <a:srgbClr val="007B7C"/>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1</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CS tiếp nhận yêu cầu mới (New)</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Call Center/CS</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VBA</a:t>
                      </a:r>
                      <a:endParaRPr/>
                    </a:p>
                  </a:txBody>
                  <a:tcPr marT="9150" marB="9150" marR="54875" marL="54875" anchor="ctr">
                    <a:solidFill>
                      <a:srgbClr val="E0F2F1"/>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2</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Tìm KTV phù hợp theo khu vực &amp; lịch</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Call Center/CS</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VA</a:t>
                      </a:r>
                      <a:endParaRPr/>
                    </a:p>
                  </a:txBody>
                  <a:tcPr marT="9150" marB="9150" marR="54875" marL="54875" anchor="ctr">
                    <a:solidFill>
                      <a:srgbClr val="FFFFFF"/>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3</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Điều phối, chọn KTV trên Portal</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Call Center/CS</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VA</a:t>
                      </a:r>
                      <a:endParaRPr/>
                    </a:p>
                  </a:txBody>
                  <a:tcPr marT="9150" marB="9150" marR="54875" marL="54875" anchor="ctr">
                    <a:solidFill>
                      <a:srgbClr val="E0F2F1"/>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4</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Ghi nhận booking vào danh sách chờ</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Call Center/CS</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NVA</a:t>
                      </a:r>
                      <a:endParaRPr/>
                    </a:p>
                  </a:txBody>
                  <a:tcPr marT="9150" marB="9150" marR="54875" marL="54875" anchor="ctr">
                    <a:solidFill>
                      <a:srgbClr val="FFFFFF"/>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5</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Khách hàng yêu cầu đổi lịch hẹn</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Khách hàng</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VA</a:t>
                      </a:r>
                      <a:endParaRPr/>
                    </a:p>
                  </a:txBody>
                  <a:tcPr marT="9150" marB="9150" marR="54875" marL="54875" anchor="ctr">
                    <a:solidFill>
                      <a:srgbClr val="E0F2F1"/>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6</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Gửi thông báo cho KTV qua app</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Call Center/CS</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VA</a:t>
                      </a:r>
                      <a:endParaRPr/>
                    </a:p>
                  </a:txBody>
                  <a:tcPr marT="9150" marB="9150" marR="54875" marL="54875" anchor="ctr">
                    <a:solidFill>
                      <a:srgbClr val="FFFFFF"/>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7</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CS nhắc lại/chọn KTV khác khi không phản hồi</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Call Center/CS</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NVA</a:t>
                      </a:r>
                      <a:endParaRPr/>
                    </a:p>
                  </a:txBody>
                  <a:tcPr marT="9150" marB="9150" marR="54875" marL="54875" anchor="ctr">
                    <a:solidFill>
                      <a:srgbClr val="E0F2F1"/>
                    </a:solidFill>
                  </a:tcPr>
                </a:tc>
              </a:tr>
              <a:tr h="384050">
                <a:tc>
                  <a:txBody>
                    <a:bodyPr/>
                    <a:lstStyle/>
                    <a:p>
                      <a:pPr indent="0" lvl="0" marL="0" marR="0" rtl="0" algn="ctr">
                        <a:lnSpc>
                          <a:spcPct val="100000"/>
                        </a:lnSpc>
                        <a:spcBef>
                          <a:spcPts val="0"/>
                        </a:spcBef>
                        <a:spcAft>
                          <a:spcPts val="0"/>
                        </a:spcAft>
                        <a:buNone/>
                      </a:pPr>
                      <a:r>
                        <a:rPr lang="en" sz="969" u="none" cap="none" strike="noStrike">
                          <a:solidFill>
                            <a:srgbClr val="333333"/>
                          </a:solidFill>
                          <a:latin typeface="Inter"/>
                          <a:ea typeface="Inter"/>
                          <a:cs typeface="Inter"/>
                          <a:sym typeface="Inter"/>
                        </a:rPr>
                        <a:t>8</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cap="none" strike="noStrike">
                          <a:solidFill>
                            <a:srgbClr val="333333"/>
                          </a:solidFill>
                          <a:latin typeface="Inter"/>
                          <a:ea typeface="Inter"/>
                          <a:cs typeface="Inter"/>
                          <a:sym typeface="Inter"/>
                        </a:rPr>
                        <a:t>KTV xác nhận booking trên app (Accepted/Assigned)</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69"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69" u="none" cap="none" strike="noStrike">
                          <a:solidFill>
                            <a:srgbClr val="333333"/>
                          </a:solidFill>
                          <a:latin typeface="Inter"/>
                          <a:ea typeface="Inter"/>
                          <a:cs typeface="Inter"/>
                          <a:sym typeface="Inter"/>
                        </a:rPr>
                        <a:t>VBA</a:t>
                      </a:r>
                      <a:endParaRPr/>
                    </a:p>
                  </a:txBody>
                  <a:tcPr marT="9150" marB="9150" marR="54875" marL="54875"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38"/>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16" name="Google Shape;716;p38"/>
          <p:cNvGrpSpPr/>
          <p:nvPr/>
        </p:nvGrpSpPr>
        <p:grpSpPr>
          <a:xfrm>
            <a:off x="8458200" y="381000"/>
            <a:ext cx="304800" cy="304800"/>
            <a:chOff x="0" y="0"/>
            <a:chExt cx="304800" cy="304800"/>
          </a:xfrm>
        </p:grpSpPr>
        <p:sp>
          <p:nvSpPr>
            <p:cNvPr id="717" name="Google Shape;717;p38"/>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38"/>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 name="Google Shape;719;p38"/>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720" name="Google Shape;720;p38"/>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721" name="Google Shape;721;p38"/>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giá trị gia tăng — KTV nhận và xử lý booking</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C03 — Value-Added Analysis (VA / VBA / NVA)</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722" name="Google Shape;722;p38"/>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606150"/>
                <a:gridCol w="3967525"/>
                <a:gridCol w="2534825"/>
                <a:gridCol w="1267400"/>
              </a:tblGrid>
              <a:tr h="329175">
                <a:tc>
                  <a:txBody>
                    <a:bodyPr/>
                    <a:lstStyle/>
                    <a:p>
                      <a:pPr indent="0" lvl="0" marL="0" marR="0" rtl="0" algn="ctr">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STT</a:t>
                      </a:r>
                      <a:endParaRPr/>
                    </a:p>
                  </a:txBody>
                  <a:tcPr marT="9150" marB="9150" marR="54875" marL="54875" anchor="ctr">
                    <a:solidFill>
                      <a:srgbClr val="007B7C"/>
                    </a:solidFill>
                  </a:tcPr>
                </a:tc>
                <a:tc>
                  <a:txBody>
                    <a:bodyPr/>
                    <a:lstStyle/>
                    <a:p>
                      <a:pPr indent="0" lvl="0" marL="0" marR="0" rtl="0" algn="l">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Hoạt động</a:t>
                      </a:r>
                      <a:endParaRPr/>
                    </a:p>
                  </a:txBody>
                  <a:tcPr marT="9150" marB="9150" marR="54875" marL="54875" anchor="ctr">
                    <a:solidFill>
                      <a:srgbClr val="007B7C"/>
                    </a:solidFill>
                  </a:tcPr>
                </a:tc>
                <a:tc>
                  <a:txBody>
                    <a:bodyPr/>
                    <a:lstStyle/>
                    <a:p>
                      <a:pPr indent="0" lvl="0" marL="0" marR="0" rtl="0" algn="l">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Đối tượng</a:t>
                      </a:r>
                      <a:endParaRPr/>
                    </a:p>
                  </a:txBody>
                  <a:tcPr marT="9150" marB="9150" marR="54875" marL="54875" anchor="ctr">
                    <a:solidFill>
                      <a:srgbClr val="007B7C"/>
                    </a:solidFill>
                  </a:tcPr>
                </a:tc>
                <a:tc>
                  <a:txBody>
                    <a:bodyPr/>
                    <a:lstStyle/>
                    <a:p>
                      <a:pPr indent="0" lvl="0" marL="0" marR="0" rtl="0" algn="ctr">
                        <a:lnSpc>
                          <a:spcPct val="100000"/>
                        </a:lnSpc>
                        <a:spcBef>
                          <a:spcPts val="0"/>
                        </a:spcBef>
                        <a:spcAft>
                          <a:spcPts val="0"/>
                        </a:spcAft>
                        <a:buNone/>
                      </a:pPr>
                      <a:r>
                        <a:rPr b="1" lang="en" sz="1000" u="none" cap="none" strike="noStrike">
                          <a:solidFill>
                            <a:srgbClr val="FFFFFF"/>
                          </a:solidFill>
                          <a:latin typeface="Inter SemiBold"/>
                          <a:ea typeface="Inter SemiBold"/>
                          <a:cs typeface="Inter SemiBold"/>
                          <a:sym typeface="Inter SemiBold"/>
                        </a:rPr>
                        <a:t>Phân loại</a:t>
                      </a:r>
                      <a:endParaRPr/>
                    </a:p>
                  </a:txBody>
                  <a:tcPr marT="9150" marB="9150" marR="54875" marL="54875" anchor="ctr">
                    <a:solidFill>
                      <a:srgbClr val="007B7C"/>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1</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KTV di chuyển tới địa điểm (On The Way)</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VBA</a:t>
                      </a:r>
                      <a:endParaRPr/>
                    </a:p>
                  </a:txBody>
                  <a:tcPr marT="9150" marB="9150" marR="54875" marL="54875" anchor="ctr">
                    <a:solidFill>
                      <a:srgbClr val="E0F2F1"/>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2</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Nhập model/serial thiết bị</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VBA</a:t>
                      </a:r>
                      <a:endParaRPr/>
                    </a:p>
                  </a:txBody>
                  <a:tcPr marT="9150" marB="9150" marR="54875" marL="54875" anchor="ctr">
                    <a:solidFill>
                      <a:srgbClr val="FFFFFF"/>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3</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Xử lý theo chính sách bảo hành / báo phí ngoài BH</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VBA</a:t>
                      </a:r>
                      <a:endParaRPr/>
                    </a:p>
                  </a:txBody>
                  <a:tcPr marT="9150" marB="9150" marR="54875" marL="54875" anchor="ctr">
                    <a:solidFill>
                      <a:srgbClr val="E0F2F1"/>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4</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Chẩn đoán lỗi (nhập mã lỗi/mô tả hiện tượng)</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VA</a:t>
                      </a:r>
                      <a:endParaRPr/>
                    </a:p>
                  </a:txBody>
                  <a:tcPr marT="9150" marB="9150" marR="54875" marL="54875" anchor="ctr">
                    <a:solidFill>
                      <a:srgbClr val="FFFFFF"/>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5</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Nhập hóa đơn chi phí (nhân công, linh kiện, vật tư)</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VBA</a:t>
                      </a:r>
                      <a:endParaRPr/>
                    </a:p>
                  </a:txBody>
                  <a:tcPr marT="9150" marB="9150" marR="54875" marL="54875" anchor="ctr">
                    <a:solidFill>
                      <a:srgbClr val="E0F2F1"/>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6</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Kiểm tra tồn kho linh kiện cần dùng</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NVA</a:t>
                      </a:r>
                      <a:endParaRPr/>
                    </a:p>
                  </a:txBody>
                  <a:tcPr marT="9150" marB="9150" marR="54875" marL="54875" anchor="ctr">
                    <a:solidFill>
                      <a:srgbClr val="FFFFFF"/>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7</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Chọn lý do &amp; hẹn lịch lần sau (thiếu linh kiện)</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NVA</a:t>
                      </a:r>
                      <a:endParaRPr/>
                    </a:p>
                  </a:txBody>
                  <a:tcPr marT="9150" marB="9150" marR="54875" marL="54875" anchor="ctr">
                    <a:solidFill>
                      <a:srgbClr val="E0F2F1"/>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8</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Khách hàng xác nhận chi phí</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Khách hàng</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VA</a:t>
                      </a:r>
                      <a:endParaRPr/>
                    </a:p>
                  </a:txBody>
                  <a:tcPr marT="9150" marB="9150" marR="54875" marL="54875" anchor="ctr">
                    <a:solidFill>
                      <a:srgbClr val="FFFFFF"/>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9</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Khiếu nại/yêu cầu điều chỉnh chi phí</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Khách hàng</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NVA</a:t>
                      </a:r>
                      <a:endParaRPr/>
                    </a:p>
                  </a:txBody>
                  <a:tcPr marT="9150" marB="9150" marR="54875" marL="54875" anchor="ctr">
                    <a:solidFill>
                      <a:srgbClr val="E0F2F1"/>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10</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Xử lý sửa chữa</a:t>
                      </a:r>
                      <a:endParaRPr/>
                    </a:p>
                  </a:txBody>
                  <a:tcPr marT="9150" marB="9150" marR="54875" marL="54875" anchor="ctr">
                    <a:solidFill>
                      <a:srgbClr val="FFFFFF"/>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FFFFFF"/>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VA</a:t>
                      </a:r>
                      <a:endParaRPr/>
                    </a:p>
                  </a:txBody>
                  <a:tcPr marT="9150" marB="9150" marR="54875" marL="54875" anchor="ctr">
                    <a:solidFill>
                      <a:srgbClr val="FFFFFF"/>
                    </a:solidFill>
                  </a:tcPr>
                </a:tc>
              </a:tr>
              <a:tr h="306325">
                <a:tc>
                  <a:txBody>
                    <a:bodyPr/>
                    <a:lstStyle/>
                    <a:p>
                      <a:pPr indent="0" lvl="0" marL="0" marR="0" rtl="0" algn="ctr">
                        <a:lnSpc>
                          <a:spcPct val="100000"/>
                        </a:lnSpc>
                        <a:spcBef>
                          <a:spcPts val="0"/>
                        </a:spcBef>
                        <a:spcAft>
                          <a:spcPts val="0"/>
                        </a:spcAft>
                        <a:buNone/>
                      </a:pPr>
                      <a:r>
                        <a:rPr lang="en" sz="900" u="none" cap="none" strike="noStrike">
                          <a:solidFill>
                            <a:srgbClr val="333333"/>
                          </a:solidFill>
                          <a:latin typeface="Inter"/>
                          <a:ea typeface="Inter"/>
                          <a:cs typeface="Inter"/>
                          <a:sym typeface="Inter"/>
                        </a:rPr>
                        <a:t>11</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cap="none" strike="noStrike">
                          <a:solidFill>
                            <a:srgbClr val="333333"/>
                          </a:solidFill>
                          <a:latin typeface="Inter"/>
                          <a:ea typeface="Inter"/>
                          <a:cs typeface="Inter"/>
                          <a:sym typeface="Inter"/>
                        </a:rPr>
                        <a:t>Nhập “Báo cáo kỹ thuật” &amp; kết thúc yêu cầu</a:t>
                      </a:r>
                      <a:endParaRPr/>
                    </a:p>
                  </a:txBody>
                  <a:tcPr marT="9150" marB="9150" marR="54875" marL="54875" anchor="ctr">
                    <a:solidFill>
                      <a:srgbClr val="E0F2F1"/>
                    </a:solidFill>
                  </a:tcPr>
                </a:tc>
                <a:tc>
                  <a:txBody>
                    <a:bodyPr/>
                    <a:lstStyle/>
                    <a:p>
                      <a:pPr indent="0" lvl="0" marL="0" marR="0" rtl="0" algn="l">
                        <a:lnSpc>
                          <a:spcPct val="100000"/>
                        </a:lnSpc>
                        <a:spcBef>
                          <a:spcPts val="0"/>
                        </a:spcBef>
                        <a:spcAft>
                          <a:spcPts val="0"/>
                        </a:spcAft>
                        <a:buNone/>
                      </a:pPr>
                      <a:r>
                        <a:rPr lang="en" sz="900" u="none" cap="none" strike="noStrike">
                          <a:solidFill>
                            <a:srgbClr val="333333"/>
                          </a:solidFill>
                          <a:latin typeface="Inter"/>
                          <a:ea typeface="Inter"/>
                          <a:cs typeface="Inter"/>
                          <a:sym typeface="Inter"/>
                        </a:rPr>
                        <a:t>Kỹ thuật viên (KTV)</a:t>
                      </a:r>
                      <a:endParaRPr/>
                    </a:p>
                  </a:txBody>
                  <a:tcPr marT="9150" marB="9150" marR="54875" marL="54875" anchor="ctr">
                    <a:solidFill>
                      <a:srgbClr val="E0F2F1"/>
                    </a:solidFill>
                  </a:tcPr>
                </a:tc>
                <a:tc>
                  <a:txBody>
                    <a:bodyPr/>
                    <a:lstStyle/>
                    <a:p>
                      <a:pPr indent="0" lvl="0" marL="0" marR="0" rtl="0" algn="ctr">
                        <a:lnSpc>
                          <a:spcPct val="100000"/>
                        </a:lnSpc>
                        <a:spcBef>
                          <a:spcPts val="0"/>
                        </a:spcBef>
                        <a:spcAft>
                          <a:spcPts val="0"/>
                        </a:spcAft>
                        <a:buNone/>
                      </a:pPr>
                      <a:r>
                        <a:rPr b="1" lang="en" sz="900" u="none" cap="none" strike="noStrike">
                          <a:solidFill>
                            <a:srgbClr val="333333"/>
                          </a:solidFill>
                          <a:latin typeface="Inter"/>
                          <a:ea typeface="Inter"/>
                          <a:cs typeface="Inter"/>
                          <a:sym typeface="Inter"/>
                        </a:rPr>
                        <a:t>VBA</a:t>
                      </a:r>
                      <a:endParaRPr/>
                    </a:p>
                  </a:txBody>
                  <a:tcPr marT="9150" marB="9150" marR="54875" marL="54875" anchor="ctr">
                    <a:solidFill>
                      <a:srgbClr val="E0F2F1"/>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39"/>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28" name="Google Shape;728;p39"/>
          <p:cNvGrpSpPr/>
          <p:nvPr/>
        </p:nvGrpSpPr>
        <p:grpSpPr>
          <a:xfrm>
            <a:off x="8458200" y="381000"/>
            <a:ext cx="304800" cy="304800"/>
            <a:chOff x="0" y="0"/>
            <a:chExt cx="304800" cy="304800"/>
          </a:xfrm>
        </p:grpSpPr>
        <p:sp>
          <p:nvSpPr>
            <p:cNvPr id="729" name="Google Shape;729;p39"/>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39"/>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39"/>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732" name="Google Shape;732;p39"/>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733" name="Google Shape;733;p39"/>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sự lãng phí — CS assign KTV cho booking</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C02 — Waste Analysis: Move (di chuyển thừa) · Hold (chờ đợi) · Overdo (làm lại)</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734" name="Google Shape;734;p39"/>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1047000"/>
                <a:gridCol w="3606300"/>
                <a:gridCol w="3722625"/>
              </a:tblGrid>
              <a:tr h="3291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Loại</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Mô tả / Vị trí xảy ra</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Đề xuất khắc phục</a:t>
                      </a:r>
                      <a:endParaRPr/>
                    </a:p>
                  </a:txBody>
                  <a:tcPr marT="18300" marB="18300" marR="73150" marL="73150" anchor="ctr">
                    <a:solidFill>
                      <a:srgbClr val="007B7C"/>
                    </a:solidFill>
                  </a:tcPr>
                </a:tc>
              </a:tr>
              <a:tr h="685800">
                <a:tc>
                  <a:txBody>
                    <a:bodyPr/>
                    <a:lstStyle/>
                    <a:p>
                      <a:pPr indent="0" lvl="0" marL="0" marR="0" rtl="0" algn="l">
                        <a:lnSpc>
                          <a:spcPct val="100000"/>
                        </a:lnSpc>
                        <a:spcBef>
                          <a:spcPts val="0"/>
                        </a:spcBef>
                        <a:spcAft>
                          <a:spcPts val="0"/>
                        </a:spcAft>
                        <a:buNone/>
                      </a:pPr>
                      <a:r>
                        <a:rPr b="1" lang="en" sz="880" u="none" cap="none" strike="noStrike">
                          <a:solidFill>
                            <a:srgbClr val="0284C7"/>
                          </a:solidFill>
                          <a:latin typeface="Inter"/>
                          <a:ea typeface="Inter"/>
                          <a:cs typeface="Inter"/>
                          <a:sym typeface="Inter"/>
                        </a:rPr>
                        <a:t>Move</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CS phải chuyển booking qua lại giữa danh sách chờ và tìm KTV khác khi khu vực thiếu KTV</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Xây dựng thuật toán gợi ý KTV thay thế tự động theo khu vực lân cận</a:t>
                      </a:r>
                      <a:endParaRPr/>
                    </a:p>
                  </a:txBody>
                  <a:tcPr marT="18300" marB="18300" marR="73150" marL="73150" anchor="ctr">
                    <a:solidFill>
                      <a:srgbClr val="FFFFFF"/>
                    </a:solidFill>
                  </a:tcPr>
                </a:tc>
              </a:tr>
              <a:tr h="685800">
                <a:tc>
                  <a:txBody>
                    <a:bodyPr/>
                    <a:lstStyle/>
                    <a:p>
                      <a:pPr indent="0" lvl="0" marL="0" marR="0" rtl="0" algn="l">
                        <a:lnSpc>
                          <a:spcPct val="100000"/>
                        </a:lnSpc>
                        <a:spcBef>
                          <a:spcPts val="0"/>
                        </a:spcBef>
                        <a:spcAft>
                          <a:spcPts val="0"/>
                        </a:spcAft>
                        <a:buNone/>
                      </a:pPr>
                      <a:r>
                        <a:rPr b="1" lang="en" sz="880" u="none" cap="none" strike="noStrike">
                          <a:solidFill>
                            <a:srgbClr val="D97706"/>
                          </a:solidFill>
                          <a:latin typeface="Inter"/>
                          <a:ea typeface="Inter"/>
                          <a:cs typeface="Inter"/>
                          <a:sym typeface="Inter"/>
                        </a:rPr>
                        <a:t>Hold</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Booking bị treo ở trạng thái chờ khi không có KTV phù hợp hoặc KTV chưa xác nhận trên app</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Đặt SLA thời gian tối đa chờ xác nhận, tự động chuyển KTV khác nếu quá hạn</a:t>
                      </a:r>
                      <a:endParaRPr/>
                    </a:p>
                  </a:txBody>
                  <a:tcPr marT="18300" marB="18300" marR="73150" marL="73150" anchor="ctr">
                    <a:solidFill>
                      <a:srgbClr val="F8FAFC"/>
                    </a:solidFill>
                  </a:tcPr>
                </a:tc>
              </a:tr>
              <a:tr h="685800">
                <a:tc>
                  <a:txBody>
                    <a:bodyPr/>
                    <a:lstStyle/>
                    <a:p>
                      <a:pPr indent="0" lvl="0" marL="0" marR="0" rtl="0" algn="l">
                        <a:lnSpc>
                          <a:spcPct val="100000"/>
                        </a:lnSpc>
                        <a:spcBef>
                          <a:spcPts val="0"/>
                        </a:spcBef>
                        <a:spcAft>
                          <a:spcPts val="0"/>
                        </a:spcAft>
                        <a:buNone/>
                      </a:pPr>
                      <a:r>
                        <a:rPr b="1" lang="en" sz="880" u="none" cap="none" strike="noStrike">
                          <a:solidFill>
                            <a:srgbClr val="991B1B"/>
                          </a:solidFill>
                          <a:latin typeface="Inter"/>
                          <a:ea typeface="Inter"/>
                          <a:cs typeface="Inter"/>
                          <a:sym typeface="Inter"/>
                        </a:rPr>
                        <a:t>Overdo</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CS phải nhắc lại/chọn lại KTV nhiều lần cho cùng một booking khi KTV không phản hồi</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Tích hợp cảnh báo tự động (push notification, nhắc lại sau X phút) thay vì thao tác thủ công</a:t>
                      </a:r>
                      <a:endParaRPr/>
                    </a:p>
                  </a:txBody>
                  <a:tcPr marT="18300" marB="18300" marR="73150" marL="73150"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p40"/>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40" name="Google Shape;740;p40"/>
          <p:cNvGrpSpPr/>
          <p:nvPr/>
        </p:nvGrpSpPr>
        <p:grpSpPr>
          <a:xfrm>
            <a:off x="8458200" y="381000"/>
            <a:ext cx="304800" cy="304800"/>
            <a:chOff x="0" y="0"/>
            <a:chExt cx="304800" cy="304800"/>
          </a:xfrm>
        </p:grpSpPr>
        <p:sp>
          <p:nvSpPr>
            <p:cNvPr id="741" name="Google Shape;741;p40"/>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40"/>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 name="Google Shape;743;p40"/>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744" name="Google Shape;744;p40"/>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745" name="Google Shape;745;p40"/>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sự lãng phí — KTV nhận và xử lý booking</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C03 — Waste Analysis: Move (di chuyển thừa) · Hold (chờ đợi) · Overdo (làm lại)</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746" name="Google Shape;746;p40"/>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1047000"/>
                <a:gridCol w="3606300"/>
                <a:gridCol w="3722625"/>
              </a:tblGrid>
              <a:tr h="3291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Loại</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Mô tả / Vị trí xảy ra</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Đề xuất khắc phục</a:t>
                      </a:r>
                      <a:endParaRPr/>
                    </a:p>
                  </a:txBody>
                  <a:tcPr marT="18300" marB="18300" marR="73150" marL="73150" anchor="ctr">
                    <a:solidFill>
                      <a:srgbClr val="007B7C"/>
                    </a:solidFill>
                  </a:tcPr>
                </a:tc>
              </a:tr>
              <a:tr h="685800">
                <a:tc>
                  <a:txBody>
                    <a:bodyPr/>
                    <a:lstStyle/>
                    <a:p>
                      <a:pPr indent="0" lvl="0" marL="0" marR="0" rtl="0" algn="l">
                        <a:lnSpc>
                          <a:spcPct val="100000"/>
                        </a:lnSpc>
                        <a:spcBef>
                          <a:spcPts val="0"/>
                        </a:spcBef>
                        <a:spcAft>
                          <a:spcPts val="0"/>
                        </a:spcAft>
                        <a:buNone/>
                      </a:pPr>
                      <a:r>
                        <a:rPr b="1" lang="en" sz="880" u="none" cap="none" strike="noStrike">
                          <a:solidFill>
                            <a:srgbClr val="0284C7"/>
                          </a:solidFill>
                          <a:latin typeface="Inter"/>
                          <a:ea typeface="Inter"/>
                          <a:cs typeface="Inter"/>
                          <a:sym typeface="Inter"/>
                        </a:rPr>
                        <a:t>Move</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KTV phải quay lại lần 2 khi thiếu linh kiện do không kiểm tra tồn kho trước khi đến hiện trường</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Kiểm tra tồn kho linh kiện dự kiến cần dùng ngay từ bước assign booking</a:t>
                      </a:r>
                      <a:endParaRPr/>
                    </a:p>
                  </a:txBody>
                  <a:tcPr marT="18300" marB="18300" marR="73150" marL="73150" anchor="ctr">
                    <a:solidFill>
                      <a:srgbClr val="FFFFFF"/>
                    </a:solidFill>
                  </a:tcPr>
                </a:tc>
              </a:tr>
              <a:tr h="685800">
                <a:tc>
                  <a:txBody>
                    <a:bodyPr/>
                    <a:lstStyle/>
                    <a:p>
                      <a:pPr indent="0" lvl="0" marL="0" marR="0" rtl="0" algn="l">
                        <a:lnSpc>
                          <a:spcPct val="100000"/>
                        </a:lnSpc>
                        <a:spcBef>
                          <a:spcPts val="0"/>
                        </a:spcBef>
                        <a:spcAft>
                          <a:spcPts val="0"/>
                        </a:spcAft>
                        <a:buNone/>
                      </a:pPr>
                      <a:r>
                        <a:rPr b="1" lang="en" sz="880" u="none" cap="none" strike="noStrike">
                          <a:solidFill>
                            <a:srgbClr val="D97706"/>
                          </a:solidFill>
                          <a:latin typeface="Inter"/>
                          <a:ea typeface="Inter"/>
                          <a:cs typeface="Inter"/>
                          <a:sym typeface="Inter"/>
                        </a:rPr>
                        <a:t>Hold</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Booking bị treo chờ khách hàng đồng ý chi phí sửa chữa trước khi tiếp tục xử lý</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Gửi báo giá tạm tính sớm hơn (ngay sau chẩn đoán sơ bộ) để rút ngắn thời gian chờ</a:t>
                      </a:r>
                      <a:endParaRPr/>
                    </a:p>
                  </a:txBody>
                  <a:tcPr marT="18300" marB="18300" marR="73150" marL="73150" anchor="ctr">
                    <a:solidFill>
                      <a:srgbClr val="F8FAFC"/>
                    </a:solidFill>
                  </a:tcPr>
                </a:tc>
              </a:tr>
              <a:tr h="685800">
                <a:tc>
                  <a:txBody>
                    <a:bodyPr/>
                    <a:lstStyle/>
                    <a:p>
                      <a:pPr indent="0" lvl="0" marL="0" marR="0" rtl="0" algn="l">
                        <a:lnSpc>
                          <a:spcPct val="100000"/>
                        </a:lnSpc>
                        <a:spcBef>
                          <a:spcPts val="0"/>
                        </a:spcBef>
                        <a:spcAft>
                          <a:spcPts val="0"/>
                        </a:spcAft>
                        <a:buNone/>
                      </a:pPr>
                      <a:r>
                        <a:rPr b="1" lang="en" sz="880" u="none" cap="none" strike="noStrike">
                          <a:solidFill>
                            <a:srgbClr val="991B1B"/>
                          </a:solidFill>
                          <a:latin typeface="Inter"/>
                          <a:ea typeface="Inter"/>
                          <a:cs typeface="Inter"/>
                          <a:sym typeface="Inter"/>
                        </a:rPr>
                        <a:t>Overdo</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Nhập lại thông tin chẩn đoán/hóa đơn nhiều lần khi phát sinh thay đổi nguyên nhân lỗi</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80" u="none" cap="none" strike="noStrike">
                          <a:solidFill>
                            <a:srgbClr val="475569"/>
                          </a:solidFill>
                          <a:latin typeface="Inter"/>
                          <a:ea typeface="Inter"/>
                          <a:cs typeface="Inter"/>
                          <a:sym typeface="Inter"/>
                        </a:rPr>
                        <a:t>Thiết kế biểu mẫu nhập liệu cho phép chỉnh sửa nhanh thay vì nhập lại từ đầu</a:t>
                      </a:r>
                      <a:endParaRPr/>
                    </a:p>
                  </a:txBody>
                  <a:tcPr marT="18300" marB="18300" marR="73150" marL="73150"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p41"/>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52" name="Google Shape;752;p41"/>
          <p:cNvGrpSpPr/>
          <p:nvPr/>
        </p:nvGrpSpPr>
        <p:grpSpPr>
          <a:xfrm>
            <a:off x="8458200" y="381000"/>
            <a:ext cx="304800" cy="304800"/>
            <a:chOff x="0" y="0"/>
            <a:chExt cx="304800" cy="304800"/>
          </a:xfrm>
        </p:grpSpPr>
        <p:sp>
          <p:nvSpPr>
            <p:cNvPr id="753" name="Google Shape;753;p41"/>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41"/>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 name="Google Shape;755;p41"/>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756" name="Google Shape;756;p41"/>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757" name="Google Shape;757;p41"/>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Sơ đồ xương cá (Fishbone)</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Ishikawa Diagram — nguyên nhân booking bị trễ, áp dụng chung cho 2 quy trình cốt lõi</a:t>
            </a:r>
            <a:endParaRPr b="0" i="0" sz="1100" u="none" cap="none" strike="noStrike">
              <a:solidFill>
                <a:srgbClr val="007B7C"/>
              </a:solidFill>
              <a:latin typeface="Inter SemiBold"/>
              <a:ea typeface="Inter SemiBold"/>
              <a:cs typeface="Inter SemiBold"/>
              <a:sym typeface="Inter SemiBold"/>
            </a:endParaRPr>
          </a:p>
        </p:txBody>
      </p:sp>
      <p:cxnSp>
        <p:nvCxnSpPr>
          <p:cNvPr id="758" name="Google Shape;758;p41"/>
          <p:cNvCxnSpPr/>
          <p:nvPr/>
        </p:nvCxnSpPr>
        <p:spPr>
          <a:xfrm>
            <a:off x="502920" y="3154680"/>
            <a:ext cx="6400800" cy="0"/>
          </a:xfrm>
          <a:prstGeom prst="straightConnector1">
            <a:avLst/>
          </a:prstGeom>
          <a:noFill/>
          <a:ln cap="flat" cmpd="sng" w="25400">
            <a:solidFill>
              <a:srgbClr val="0F172A"/>
            </a:solidFill>
            <a:prstDash val="solid"/>
            <a:round/>
            <a:headEnd len="sm" w="sm" type="none"/>
            <a:tailEnd len="sm" w="sm" type="none"/>
          </a:ln>
        </p:spPr>
      </p:cxnSp>
      <p:sp>
        <p:nvSpPr>
          <p:cNvPr id="759" name="Google Shape;759;p41"/>
          <p:cNvSpPr/>
          <p:nvPr/>
        </p:nvSpPr>
        <p:spPr>
          <a:xfrm>
            <a:off x="6903720" y="2651760"/>
            <a:ext cx="1508760" cy="1005840"/>
          </a:xfrm>
          <a:prstGeom prst="roundRect">
            <a:avLst>
              <a:gd fmla="val 16667" name="adj"/>
            </a:avLst>
          </a:prstGeom>
          <a:solidFill>
            <a:srgbClr val="0F172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0" name="Google Shape;760;p41"/>
          <p:cNvSpPr txBox="1"/>
          <p:nvPr/>
        </p:nvSpPr>
        <p:spPr>
          <a:xfrm>
            <a:off x="6995159" y="2724912"/>
            <a:ext cx="1325880" cy="85953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 sz="1000" u="none" cap="none" strike="noStrike">
                <a:solidFill>
                  <a:srgbClr val="FFFFFF"/>
                </a:solidFill>
                <a:latin typeface="Inter"/>
                <a:ea typeface="Inter"/>
                <a:cs typeface="Inter"/>
                <a:sym typeface="Inter"/>
              </a:rPr>
              <a:t>Booking bị trễ /</a:t>
            </a:r>
            <a:endParaRPr/>
          </a:p>
          <a:p>
            <a:pPr indent="0" lvl="0" marL="0" marR="0" rtl="0" algn="ctr">
              <a:lnSpc>
                <a:spcPct val="105000"/>
              </a:lnSpc>
              <a:spcBef>
                <a:spcPts val="0"/>
              </a:spcBef>
              <a:spcAft>
                <a:spcPts val="0"/>
              </a:spcAft>
              <a:buNone/>
            </a:pPr>
            <a:r>
              <a:rPr b="1" i="0" lang="en" sz="1000" u="none" cap="none" strike="noStrike">
                <a:solidFill>
                  <a:srgbClr val="FFFFFF"/>
                </a:solidFill>
                <a:latin typeface="Inter"/>
                <a:ea typeface="Inter"/>
                <a:cs typeface="Inter"/>
                <a:sym typeface="Inter"/>
              </a:rPr>
              <a:t>KH không hài lòng</a:t>
            </a:r>
            <a:endParaRPr/>
          </a:p>
        </p:txBody>
      </p:sp>
      <p:cxnSp>
        <p:nvCxnSpPr>
          <p:cNvPr id="761" name="Google Shape;761;p41"/>
          <p:cNvCxnSpPr/>
          <p:nvPr/>
        </p:nvCxnSpPr>
        <p:spPr>
          <a:xfrm flipH="1">
            <a:off x="914400" y="2075688"/>
            <a:ext cx="1577340" cy="1078992"/>
          </a:xfrm>
          <a:prstGeom prst="straightConnector1">
            <a:avLst/>
          </a:prstGeom>
          <a:noFill/>
          <a:ln cap="flat" cmpd="sng" w="19050">
            <a:solidFill>
              <a:srgbClr val="007B7C"/>
            </a:solidFill>
            <a:prstDash val="solid"/>
            <a:round/>
            <a:headEnd len="sm" w="sm" type="none"/>
            <a:tailEnd len="sm" w="sm" type="none"/>
          </a:ln>
        </p:spPr>
      </p:cxnSp>
      <p:sp>
        <p:nvSpPr>
          <p:cNvPr id="762" name="Google Shape;762;p41"/>
          <p:cNvSpPr/>
          <p:nvPr/>
        </p:nvSpPr>
        <p:spPr>
          <a:xfrm>
            <a:off x="1417320" y="1298448"/>
            <a:ext cx="2148840" cy="77724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3" name="Google Shape;763;p41"/>
          <p:cNvSpPr/>
          <p:nvPr/>
        </p:nvSpPr>
        <p:spPr>
          <a:xfrm>
            <a:off x="1417320" y="1298448"/>
            <a:ext cx="2148840"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4" name="Google Shape;764;p41"/>
          <p:cNvSpPr txBox="1"/>
          <p:nvPr/>
        </p:nvSpPr>
        <p:spPr>
          <a:xfrm>
            <a:off x="1527048" y="1380744"/>
            <a:ext cx="1929384" cy="63093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950" u="none" cap="none" strike="noStrike">
                <a:solidFill>
                  <a:srgbClr val="0F172A"/>
                </a:solidFill>
                <a:latin typeface="Inter ExtraBold"/>
                <a:ea typeface="Inter ExtraBold"/>
                <a:cs typeface="Inter ExtraBold"/>
                <a:sym typeface="Inter ExtraBold"/>
              </a:rPr>
              <a:t>Con người</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KTV chưa được đào tạo đầy đủ kỹ năng chẩn đoán</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CS thiếu kinh nghiệm điều phối theo khu vực</a:t>
            </a:r>
            <a:endParaRPr/>
          </a:p>
        </p:txBody>
      </p:sp>
      <p:cxnSp>
        <p:nvCxnSpPr>
          <p:cNvPr id="765" name="Google Shape;765;p41"/>
          <p:cNvCxnSpPr/>
          <p:nvPr/>
        </p:nvCxnSpPr>
        <p:spPr>
          <a:xfrm rot="10800000">
            <a:off x="2377439" y="3154680"/>
            <a:ext cx="1577341" cy="868680"/>
          </a:xfrm>
          <a:prstGeom prst="straightConnector1">
            <a:avLst/>
          </a:prstGeom>
          <a:noFill/>
          <a:ln cap="flat" cmpd="sng" w="19050">
            <a:solidFill>
              <a:srgbClr val="991B1B"/>
            </a:solidFill>
            <a:prstDash val="solid"/>
            <a:round/>
            <a:headEnd len="sm" w="sm" type="none"/>
            <a:tailEnd len="sm" w="sm" type="none"/>
          </a:ln>
        </p:spPr>
      </p:cxnSp>
      <p:sp>
        <p:nvSpPr>
          <p:cNvPr id="766" name="Google Shape;766;p41"/>
          <p:cNvSpPr/>
          <p:nvPr/>
        </p:nvSpPr>
        <p:spPr>
          <a:xfrm>
            <a:off x="2880360" y="4023360"/>
            <a:ext cx="2148840" cy="77724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7" name="Google Shape;767;p41"/>
          <p:cNvSpPr/>
          <p:nvPr/>
        </p:nvSpPr>
        <p:spPr>
          <a:xfrm>
            <a:off x="2880360" y="4023360"/>
            <a:ext cx="2148840" cy="54864"/>
          </a:xfrm>
          <a:prstGeom prst="rect">
            <a:avLst/>
          </a:prstGeom>
          <a:solidFill>
            <a:srgbClr val="991B1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8" name="Google Shape;768;p41"/>
          <p:cNvSpPr txBox="1"/>
          <p:nvPr/>
        </p:nvSpPr>
        <p:spPr>
          <a:xfrm>
            <a:off x="2990088" y="4105656"/>
            <a:ext cx="1929384" cy="63093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950" u="none" cap="none" strike="noStrike">
                <a:solidFill>
                  <a:srgbClr val="0F172A"/>
                </a:solidFill>
                <a:latin typeface="Inter ExtraBold"/>
                <a:ea typeface="Inter ExtraBold"/>
                <a:cs typeface="Inter ExtraBold"/>
                <a:sym typeface="Inter ExtraBold"/>
              </a:rPr>
              <a:t>Quy trình</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Thiếu bước kiểm tra tồn kho trước khi assign</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Không có SLA rõ ràng cho thời gian chờ xác nhận KTV</a:t>
            </a:r>
            <a:endParaRPr/>
          </a:p>
        </p:txBody>
      </p:sp>
      <p:cxnSp>
        <p:nvCxnSpPr>
          <p:cNvPr id="769" name="Google Shape;769;p41"/>
          <p:cNvCxnSpPr/>
          <p:nvPr/>
        </p:nvCxnSpPr>
        <p:spPr>
          <a:xfrm flipH="1">
            <a:off x="3840480" y="2075688"/>
            <a:ext cx="1577340" cy="1078992"/>
          </a:xfrm>
          <a:prstGeom prst="straightConnector1">
            <a:avLst/>
          </a:prstGeom>
          <a:noFill/>
          <a:ln cap="flat" cmpd="sng" w="19050">
            <a:solidFill>
              <a:srgbClr val="0284C7"/>
            </a:solidFill>
            <a:prstDash val="solid"/>
            <a:round/>
            <a:headEnd len="sm" w="sm" type="none"/>
            <a:tailEnd len="sm" w="sm" type="none"/>
          </a:ln>
        </p:spPr>
      </p:cxnSp>
      <p:sp>
        <p:nvSpPr>
          <p:cNvPr id="770" name="Google Shape;770;p41"/>
          <p:cNvSpPr/>
          <p:nvPr/>
        </p:nvSpPr>
        <p:spPr>
          <a:xfrm>
            <a:off x="4343400" y="1298448"/>
            <a:ext cx="2148840" cy="77724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71" name="Google Shape;771;p41"/>
          <p:cNvSpPr/>
          <p:nvPr/>
        </p:nvSpPr>
        <p:spPr>
          <a:xfrm>
            <a:off x="4343400" y="1298448"/>
            <a:ext cx="2148840"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72" name="Google Shape;772;p41"/>
          <p:cNvSpPr txBox="1"/>
          <p:nvPr/>
        </p:nvSpPr>
        <p:spPr>
          <a:xfrm>
            <a:off x="4453128" y="1380744"/>
            <a:ext cx="1929384" cy="63093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950" u="none" cap="none" strike="noStrike">
                <a:solidFill>
                  <a:srgbClr val="0F172A"/>
                </a:solidFill>
                <a:latin typeface="Inter ExtraBold"/>
                <a:ea typeface="Inter ExtraBold"/>
                <a:cs typeface="Inter ExtraBold"/>
                <a:sym typeface="Inter ExtraBold"/>
              </a:rPr>
              <a:t>Hệ thống / Công nghệ</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App/portal chưa có cơ chế nhắc việc tự động</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Thiếu thuật toán gợi ý KTV thay thế theo khu vực</a:t>
            </a:r>
            <a:endParaRPr/>
          </a:p>
        </p:txBody>
      </p:sp>
      <p:cxnSp>
        <p:nvCxnSpPr>
          <p:cNvPr id="773" name="Google Shape;773;p41"/>
          <p:cNvCxnSpPr/>
          <p:nvPr/>
        </p:nvCxnSpPr>
        <p:spPr>
          <a:xfrm rot="10800000">
            <a:off x="5303520" y="3154680"/>
            <a:ext cx="1577339" cy="868680"/>
          </a:xfrm>
          <a:prstGeom prst="straightConnector1">
            <a:avLst/>
          </a:prstGeom>
          <a:noFill/>
          <a:ln cap="flat" cmpd="sng" w="19050">
            <a:solidFill>
              <a:srgbClr val="991B1B"/>
            </a:solidFill>
            <a:prstDash val="solid"/>
            <a:round/>
            <a:headEnd len="sm" w="sm" type="none"/>
            <a:tailEnd len="sm" w="sm" type="none"/>
          </a:ln>
        </p:spPr>
      </p:cxnSp>
      <p:sp>
        <p:nvSpPr>
          <p:cNvPr id="774" name="Google Shape;774;p41"/>
          <p:cNvSpPr/>
          <p:nvPr/>
        </p:nvSpPr>
        <p:spPr>
          <a:xfrm>
            <a:off x="5806440" y="4023360"/>
            <a:ext cx="2148840" cy="77724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75" name="Google Shape;775;p41"/>
          <p:cNvSpPr/>
          <p:nvPr/>
        </p:nvSpPr>
        <p:spPr>
          <a:xfrm>
            <a:off x="5806440" y="4023360"/>
            <a:ext cx="2148840" cy="54864"/>
          </a:xfrm>
          <a:prstGeom prst="rect">
            <a:avLst/>
          </a:prstGeom>
          <a:solidFill>
            <a:srgbClr val="991B1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76" name="Google Shape;776;p41"/>
          <p:cNvSpPr txBox="1"/>
          <p:nvPr/>
        </p:nvSpPr>
        <p:spPr>
          <a:xfrm>
            <a:off x="5916168" y="4105656"/>
            <a:ext cx="1929384" cy="63093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950" u="none" cap="none" strike="noStrike">
                <a:solidFill>
                  <a:srgbClr val="0F172A"/>
                </a:solidFill>
                <a:latin typeface="Inter ExtraBold"/>
                <a:ea typeface="Inter ExtraBold"/>
                <a:cs typeface="Inter ExtraBold"/>
                <a:sym typeface="Inter ExtraBold"/>
              </a:rPr>
              <a:t>Linh kiện / Vật tư</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Thiếu linh kiện tại thời điểm xử lý</a:t>
            </a:r>
            <a:endParaRPr/>
          </a:p>
          <a:p>
            <a:pPr indent="0" lvl="0" marL="0" marR="0" rtl="0" algn="l">
              <a:lnSpc>
                <a:spcPct val="100000"/>
              </a:lnSpc>
              <a:spcBef>
                <a:spcPts val="100"/>
              </a:spcBef>
              <a:spcAft>
                <a:spcPts val="0"/>
              </a:spcAft>
              <a:buNone/>
            </a:pPr>
            <a:r>
              <a:rPr b="0" i="0" lang="en" sz="760" u="none" cap="none" strike="noStrike">
                <a:solidFill>
                  <a:srgbClr val="475569"/>
                </a:solidFill>
                <a:latin typeface="Inter"/>
                <a:ea typeface="Inter"/>
                <a:cs typeface="Inter"/>
                <a:sym typeface="Inter"/>
              </a:rPr>
              <a:t>– Đối soát kho – KTV còn thủ công, dễ sai lệch</a:t>
            </a:r>
            <a:endParaRPr/>
          </a:p>
        </p:txBody>
      </p:sp>
      <p:sp>
        <p:nvSpPr>
          <p:cNvPr id="777" name="Google Shape;777;p41"/>
          <p:cNvSpPr txBox="1"/>
          <p:nvPr/>
        </p:nvSpPr>
        <p:spPr>
          <a:xfrm>
            <a:off x="502920" y="4846320"/>
            <a:ext cx="786384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69" u="none" cap="none" strike="noStrike">
                <a:solidFill>
                  <a:srgbClr val="0F172A"/>
                </a:solidFill>
                <a:latin typeface="Inter SemiBold"/>
                <a:ea typeface="Inter SemiBold"/>
                <a:cs typeface="Inter SemiBold"/>
                <a:sym typeface="Inter SemiBold"/>
              </a:rPr>
              <a:t>Nhóm nguyên nhân ảnh hưởng lớn nhất: </a:t>
            </a:r>
            <a:r>
              <a:rPr b="1" i="0" lang="en" sz="869" u="none" cap="none" strike="noStrike">
                <a:solidFill>
                  <a:srgbClr val="991B1B"/>
                </a:solidFill>
                <a:latin typeface="Inter SemiBold"/>
                <a:ea typeface="Inter SemiBold"/>
                <a:cs typeface="Inter SemiBold"/>
                <a:sym typeface="Inter SemiBold"/>
              </a:rPr>
              <a:t>Quy trình và Linh kiện/Vật tư</a:t>
            </a:r>
            <a:r>
              <a:rPr b="0" i="0" lang="en" sz="869" u="none" cap="none" strike="noStrike">
                <a:solidFill>
                  <a:srgbClr val="475569"/>
                </a:solidFill>
                <a:latin typeface="Inter"/>
                <a:ea typeface="Inter"/>
                <a:cs typeface="Inter"/>
                <a:sym typeface="Inter"/>
              </a:rPr>
              <a:t> — trùng khớp với lãng phí đã xác định ở Waste Analysis.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42"/>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3" name="Google Shape;783;p42"/>
          <p:cNvGrpSpPr/>
          <p:nvPr/>
        </p:nvGrpSpPr>
        <p:grpSpPr>
          <a:xfrm>
            <a:off x="8458200" y="381000"/>
            <a:ext cx="304800" cy="304800"/>
            <a:chOff x="0" y="0"/>
            <a:chExt cx="304800" cy="304800"/>
          </a:xfrm>
        </p:grpSpPr>
        <p:sp>
          <p:nvSpPr>
            <p:cNvPr id="784" name="Google Shape;784;p42"/>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p42"/>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42"/>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787" name="Google Shape;787;p42"/>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788" name="Google Shape;788;p42"/>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thời gian xử lý (Cycle Time)</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So sánh thời gian trung bình từng bước với SLA mục tiêu — C02 và C03</a:t>
            </a:r>
            <a:endParaRPr b="0" i="0" sz="1100" u="none" cap="none" strike="noStrike">
              <a:solidFill>
                <a:srgbClr val="007B7C"/>
              </a:solidFill>
              <a:latin typeface="Inter SemiBold"/>
              <a:ea typeface="Inter SemiBold"/>
              <a:cs typeface="Inter SemiBold"/>
              <a:sym typeface="Inter SemiBold"/>
            </a:endParaRPr>
          </a:p>
        </p:txBody>
      </p:sp>
      <p:sp>
        <p:nvSpPr>
          <p:cNvPr id="789" name="Google Shape;789;p42"/>
          <p:cNvSpPr txBox="1"/>
          <p:nvPr/>
        </p:nvSpPr>
        <p:spPr>
          <a:xfrm>
            <a:off x="384048" y="1335024"/>
            <a:ext cx="4050791"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50" u="none" cap="none" strike="noStrike">
                <a:solidFill>
                  <a:srgbClr val="007B7C"/>
                </a:solidFill>
                <a:latin typeface="Inter ExtraBold"/>
                <a:ea typeface="Inter ExtraBold"/>
                <a:cs typeface="Inter ExtraBold"/>
                <a:sym typeface="Inter ExtraBold"/>
              </a:rPr>
              <a:t>C02 — CS assign KTV cho booking</a:t>
            </a:r>
            <a:endParaRPr/>
          </a:p>
        </p:txBody>
      </p:sp>
      <p:graphicFrame>
        <p:nvGraphicFramePr>
          <p:cNvPr id="790" name="Google Shape;790;p42"/>
          <p:cNvGraphicFramePr/>
          <p:nvPr/>
        </p:nvGraphicFramePr>
        <p:xfrm>
          <a:off x="384048" y="1627632"/>
          <a:ext cx="3000000" cy="3000000"/>
        </p:xfrm>
        <a:graphic>
          <a:graphicData uri="http://schemas.openxmlformats.org/drawingml/2006/table">
            <a:tbl>
              <a:tblPr bandRow="1" firstRow="1">
                <a:noFill/>
                <a:tableStyleId>{C22CD621-9F64-4B2E-9631-1F7B959E530B}</a:tableStyleId>
              </a:tblPr>
              <a:tblGrid>
                <a:gridCol w="1976000"/>
                <a:gridCol w="988000"/>
                <a:gridCol w="1086800"/>
              </a:tblGrid>
              <a:tr h="292600">
                <a:tc>
                  <a:txBody>
                    <a:bodyPr/>
                    <a:lstStyle/>
                    <a:p>
                      <a:pPr indent="0" lvl="0" marL="0" marR="0" rtl="0" algn="l">
                        <a:lnSpc>
                          <a:spcPct val="100000"/>
                        </a:lnSpc>
                        <a:spcBef>
                          <a:spcPts val="0"/>
                        </a:spcBef>
                        <a:spcAft>
                          <a:spcPts val="0"/>
                        </a:spcAft>
                        <a:buNone/>
                      </a:pPr>
                      <a:r>
                        <a:rPr b="1" lang="en" sz="869" u="none" cap="none" strike="noStrike">
                          <a:solidFill>
                            <a:srgbClr val="FFFFFF"/>
                          </a:solidFill>
                          <a:latin typeface="Inter SemiBold"/>
                          <a:ea typeface="Inter SemiBold"/>
                          <a:cs typeface="Inter SemiBold"/>
                          <a:sym typeface="Inter SemiBold"/>
                        </a:rPr>
                        <a:t>Bước</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869" u="none" cap="none" strike="noStrike">
                          <a:solidFill>
                            <a:srgbClr val="FFFFFF"/>
                          </a:solidFill>
                          <a:latin typeface="Inter SemiBold"/>
                          <a:ea typeface="Inter SemiBold"/>
                          <a:cs typeface="Inter SemiBold"/>
                          <a:sym typeface="Inter SemiBold"/>
                        </a:rPr>
                        <a:t>TB</a:t>
                      </a:r>
                      <a:endParaRPr/>
                    </a:p>
                  </a:txBody>
                  <a:tcPr marT="18300" marB="18300" marR="73150" marL="73150" anchor="ctr">
                    <a:solidFill>
                      <a:srgbClr val="007B7C"/>
                    </a:solidFill>
                  </a:tcPr>
                </a:tc>
                <a:tc>
                  <a:txBody>
                    <a:bodyPr/>
                    <a:lstStyle/>
                    <a:p>
                      <a:pPr indent="0" lvl="0" marL="0" marR="0" rtl="0" algn="l">
                        <a:lnSpc>
                          <a:spcPct val="100000"/>
                        </a:lnSpc>
                        <a:spcBef>
                          <a:spcPts val="0"/>
                        </a:spcBef>
                        <a:spcAft>
                          <a:spcPts val="0"/>
                        </a:spcAft>
                        <a:buNone/>
                      </a:pPr>
                      <a:r>
                        <a:rPr b="1" lang="en" sz="869" u="none" cap="none" strike="noStrike">
                          <a:solidFill>
                            <a:srgbClr val="FFFFFF"/>
                          </a:solidFill>
                          <a:latin typeface="Inter SemiBold"/>
                          <a:ea typeface="Inter SemiBold"/>
                          <a:cs typeface="Inter SemiBold"/>
                          <a:sym typeface="Inter SemiBold"/>
                        </a:rPr>
                        <a:t>SLA</a:t>
                      </a:r>
                      <a:endParaRPr/>
                    </a:p>
                  </a:txBody>
                  <a:tcPr marT="18300" marB="18300" marR="73150" marL="73150" anchor="ctr">
                    <a:solidFill>
                      <a:srgbClr val="007B7C"/>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CS tiếp nhận yêu cầu mới</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3 phút</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5 phút</a:t>
                      </a:r>
                      <a:endParaRPr/>
                    </a:p>
                  </a:txBody>
                  <a:tcPr marT="18300" marB="18300" marR="73150" marL="73150" anchor="ctr">
                    <a:solidFill>
                      <a:srgbClr val="FFFFFF"/>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Tìm &amp; chọn KTV phù hợp</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8 phút</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10 phút</a:t>
                      </a:r>
                      <a:endParaRPr/>
                    </a:p>
                  </a:txBody>
                  <a:tcPr marT="18300" marB="18300" marR="73150" marL="73150" anchor="ctr">
                    <a:solidFill>
                      <a:srgbClr val="F8FAFC"/>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Chờ KTV xác nhận trên app</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15 phút</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15 phút</a:t>
                      </a:r>
                      <a:endParaRPr/>
                    </a:p>
                  </a:txBody>
                  <a:tcPr marT="18300" marB="18300" marR="73150" marL="73150" anchor="ctr">
                    <a:solidFill>
                      <a:srgbClr val="FFFFFF"/>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Không có KTV phù hợp (phát sinh)</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45 phút</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20 phút ⚠</a:t>
                      </a:r>
                      <a:endParaRPr/>
                    </a:p>
                  </a:txBody>
                  <a:tcPr marT="18300" marB="18300" marR="73150" marL="73150" anchor="ctr">
                    <a:solidFill>
                      <a:srgbClr val="F8FAFC"/>
                    </a:solidFill>
                  </a:tcPr>
                </a:tc>
              </a:tr>
            </a:tbl>
          </a:graphicData>
        </a:graphic>
      </p:graphicFrame>
      <p:sp>
        <p:nvSpPr>
          <p:cNvPr id="791" name="Google Shape;791;p42"/>
          <p:cNvSpPr/>
          <p:nvPr/>
        </p:nvSpPr>
        <p:spPr>
          <a:xfrm>
            <a:off x="384048" y="3511296"/>
            <a:ext cx="4050791" cy="310896"/>
          </a:xfrm>
          <a:prstGeom prst="rect">
            <a:avLst/>
          </a:prstGeom>
          <a:solidFill>
            <a:srgbClr val="F0F9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2" name="Google Shape;792;p42"/>
          <p:cNvSpPr txBox="1"/>
          <p:nvPr/>
        </p:nvSpPr>
        <p:spPr>
          <a:xfrm>
            <a:off x="475488" y="3557016"/>
            <a:ext cx="3867911" cy="2377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30" u="none" cap="none" strike="noStrike">
                <a:solidFill>
                  <a:srgbClr val="0F172A"/>
                </a:solidFill>
                <a:latin typeface="Inter SemiBold"/>
                <a:ea typeface="Inter SemiBold"/>
                <a:cs typeface="Inter SemiBold"/>
                <a:sym typeface="Inter SemiBold"/>
              </a:rPr>
              <a:t>Tổng TB (trường hợp bình thường): </a:t>
            </a:r>
            <a:r>
              <a:rPr b="1" i="0" lang="en" sz="830" u="none" cap="none" strike="noStrike">
                <a:solidFill>
                  <a:srgbClr val="0284C7"/>
                </a:solidFill>
                <a:latin typeface="Inter"/>
                <a:ea typeface="Inter"/>
                <a:cs typeface="Inter"/>
                <a:sym typeface="Inter"/>
              </a:rPr>
              <a:t>≈ 26 phút</a:t>
            </a:r>
            <a:r>
              <a:rPr b="0" i="0" lang="en" sz="830" u="none" cap="none" strike="noStrike">
                <a:solidFill>
                  <a:srgbClr val="64748B"/>
                </a:solidFill>
                <a:latin typeface="Inter"/>
                <a:ea typeface="Inter"/>
                <a:cs typeface="Inter"/>
                <a:sym typeface="Inter"/>
              </a:rPr>
              <a:t>  (SLA ≤ 30 phút)</a:t>
            </a:r>
            <a:endParaRPr/>
          </a:p>
        </p:txBody>
      </p:sp>
      <p:sp>
        <p:nvSpPr>
          <p:cNvPr id="793" name="Google Shape;793;p42"/>
          <p:cNvSpPr txBox="1"/>
          <p:nvPr/>
        </p:nvSpPr>
        <p:spPr>
          <a:xfrm>
            <a:off x="4709159" y="1335024"/>
            <a:ext cx="4050791"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50" u="none" cap="none" strike="noStrike">
                <a:solidFill>
                  <a:srgbClr val="0284C7"/>
                </a:solidFill>
                <a:latin typeface="Inter ExtraBold"/>
                <a:ea typeface="Inter ExtraBold"/>
                <a:cs typeface="Inter ExtraBold"/>
                <a:sym typeface="Inter ExtraBold"/>
              </a:rPr>
              <a:t>C03 — KTV nhận và xử lý booking</a:t>
            </a:r>
            <a:endParaRPr/>
          </a:p>
        </p:txBody>
      </p:sp>
      <p:graphicFrame>
        <p:nvGraphicFramePr>
          <p:cNvPr id="794" name="Google Shape;794;p42"/>
          <p:cNvGraphicFramePr/>
          <p:nvPr/>
        </p:nvGraphicFramePr>
        <p:xfrm>
          <a:off x="4709159" y="1627632"/>
          <a:ext cx="3000000" cy="3000000"/>
        </p:xfrm>
        <a:graphic>
          <a:graphicData uri="http://schemas.openxmlformats.org/drawingml/2006/table">
            <a:tbl>
              <a:tblPr bandRow="1" firstRow="1">
                <a:noFill/>
                <a:tableStyleId>{C22CD621-9F64-4B2E-9631-1F7B959E530B}</a:tableStyleId>
              </a:tblPr>
              <a:tblGrid>
                <a:gridCol w="1976000"/>
                <a:gridCol w="988000"/>
                <a:gridCol w="1086800"/>
              </a:tblGrid>
              <a:tr h="292600">
                <a:tc>
                  <a:txBody>
                    <a:bodyPr/>
                    <a:lstStyle/>
                    <a:p>
                      <a:pPr indent="0" lvl="0" marL="0" marR="0" rtl="0" algn="l">
                        <a:lnSpc>
                          <a:spcPct val="100000"/>
                        </a:lnSpc>
                        <a:spcBef>
                          <a:spcPts val="0"/>
                        </a:spcBef>
                        <a:spcAft>
                          <a:spcPts val="0"/>
                        </a:spcAft>
                        <a:buNone/>
                      </a:pPr>
                      <a:r>
                        <a:rPr b="1" lang="en" sz="869" u="none" cap="none" strike="noStrike">
                          <a:solidFill>
                            <a:srgbClr val="FFFFFF"/>
                          </a:solidFill>
                          <a:latin typeface="Inter SemiBold"/>
                          <a:ea typeface="Inter SemiBold"/>
                          <a:cs typeface="Inter SemiBold"/>
                          <a:sym typeface="Inter SemiBold"/>
                        </a:rPr>
                        <a:t>Bước</a:t>
                      </a:r>
                      <a:endParaRPr/>
                    </a:p>
                  </a:txBody>
                  <a:tcPr marT="18300" marB="18300" marR="73150" marL="73150" anchor="ctr">
                    <a:solidFill>
                      <a:srgbClr val="0284C7"/>
                    </a:solidFill>
                  </a:tcPr>
                </a:tc>
                <a:tc>
                  <a:txBody>
                    <a:bodyPr/>
                    <a:lstStyle/>
                    <a:p>
                      <a:pPr indent="0" lvl="0" marL="0" marR="0" rtl="0" algn="l">
                        <a:lnSpc>
                          <a:spcPct val="100000"/>
                        </a:lnSpc>
                        <a:spcBef>
                          <a:spcPts val="0"/>
                        </a:spcBef>
                        <a:spcAft>
                          <a:spcPts val="0"/>
                        </a:spcAft>
                        <a:buNone/>
                      </a:pPr>
                      <a:r>
                        <a:rPr b="1" lang="en" sz="869" u="none" cap="none" strike="noStrike">
                          <a:solidFill>
                            <a:srgbClr val="FFFFFF"/>
                          </a:solidFill>
                          <a:latin typeface="Inter SemiBold"/>
                          <a:ea typeface="Inter SemiBold"/>
                          <a:cs typeface="Inter SemiBold"/>
                          <a:sym typeface="Inter SemiBold"/>
                        </a:rPr>
                        <a:t>TB</a:t>
                      </a:r>
                      <a:endParaRPr/>
                    </a:p>
                  </a:txBody>
                  <a:tcPr marT="18300" marB="18300" marR="73150" marL="73150" anchor="ctr">
                    <a:solidFill>
                      <a:srgbClr val="0284C7"/>
                    </a:solidFill>
                  </a:tcPr>
                </a:tc>
                <a:tc>
                  <a:txBody>
                    <a:bodyPr/>
                    <a:lstStyle/>
                    <a:p>
                      <a:pPr indent="0" lvl="0" marL="0" marR="0" rtl="0" algn="l">
                        <a:lnSpc>
                          <a:spcPct val="100000"/>
                        </a:lnSpc>
                        <a:spcBef>
                          <a:spcPts val="0"/>
                        </a:spcBef>
                        <a:spcAft>
                          <a:spcPts val="0"/>
                        </a:spcAft>
                        <a:buNone/>
                      </a:pPr>
                      <a:r>
                        <a:rPr b="1" lang="en" sz="869" u="none" cap="none" strike="noStrike">
                          <a:solidFill>
                            <a:srgbClr val="FFFFFF"/>
                          </a:solidFill>
                          <a:latin typeface="Inter SemiBold"/>
                          <a:ea typeface="Inter SemiBold"/>
                          <a:cs typeface="Inter SemiBold"/>
                          <a:sym typeface="Inter SemiBold"/>
                        </a:rPr>
                        <a:t>SLA</a:t>
                      </a:r>
                      <a:endParaRPr/>
                    </a:p>
                  </a:txBody>
                  <a:tcPr marT="18300" marB="18300" marR="73150" marL="73150" anchor="ctr">
                    <a:solidFill>
                      <a:srgbClr val="0284C7"/>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Di chuyển đến địa điểm</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25 phút</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30 phút</a:t>
                      </a:r>
                      <a:endParaRPr/>
                    </a:p>
                  </a:txBody>
                  <a:tcPr marT="18300" marB="18300" marR="73150" marL="73150" anchor="ctr">
                    <a:solidFill>
                      <a:srgbClr val="FFFFFF"/>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Chẩn đoán lỗi &amp; lập hóa đơn</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20 phút</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20 phút</a:t>
                      </a:r>
                      <a:endParaRPr/>
                    </a:p>
                  </a:txBody>
                  <a:tcPr marT="18300" marB="18300" marR="73150" marL="73150" anchor="ctr">
                    <a:solidFill>
                      <a:srgbClr val="F8FAFC"/>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Chờ khách hàng xác nhận chi phí</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10 phút</a:t>
                      </a:r>
                      <a:endParaRPr/>
                    </a:p>
                  </a:txBody>
                  <a:tcPr marT="18300" marB="18300" marR="73150" marL="73150" anchor="ctr">
                    <a:solidFill>
                      <a:srgbClr val="FFFFFF"/>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10 phút</a:t>
                      </a:r>
                      <a:endParaRPr/>
                    </a:p>
                  </a:txBody>
                  <a:tcPr marT="18300" marB="18300" marR="73150" marL="73150" anchor="ctr">
                    <a:solidFill>
                      <a:srgbClr val="FFFFFF"/>
                    </a:solidFill>
                  </a:tcPr>
                </a:tc>
              </a:tr>
              <a:tr h="384050">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Sửa chữa &amp; hoàn tất báo cáo</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40 phút</a:t>
                      </a:r>
                      <a:endParaRPr/>
                    </a:p>
                  </a:txBody>
                  <a:tcPr marT="18300" marB="18300" marR="73150" marL="73150" anchor="ctr">
                    <a:solidFill>
                      <a:srgbClr val="F8FAFC"/>
                    </a:solidFill>
                  </a:tcPr>
                </a:tc>
                <a:tc>
                  <a:txBody>
                    <a:bodyPr/>
                    <a:lstStyle/>
                    <a:p>
                      <a:pPr indent="0" lvl="0" marL="0" marR="0" rtl="0" algn="l">
                        <a:lnSpc>
                          <a:spcPct val="100000"/>
                        </a:lnSpc>
                        <a:spcBef>
                          <a:spcPts val="0"/>
                        </a:spcBef>
                        <a:spcAft>
                          <a:spcPts val="0"/>
                        </a:spcAft>
                        <a:buNone/>
                      </a:pPr>
                      <a:r>
                        <a:rPr lang="en" sz="830" u="none" cap="none" strike="noStrike">
                          <a:solidFill>
                            <a:srgbClr val="475569"/>
                          </a:solidFill>
                          <a:latin typeface="Inter"/>
                          <a:ea typeface="Inter"/>
                          <a:cs typeface="Inter"/>
                          <a:sym typeface="Inter"/>
                        </a:rPr>
                        <a:t>≤ 45 phút</a:t>
                      </a:r>
                      <a:endParaRPr/>
                    </a:p>
                  </a:txBody>
                  <a:tcPr marT="18300" marB="18300" marR="73150" marL="73150" anchor="ctr">
                    <a:solidFill>
                      <a:srgbClr val="F8FAFC"/>
                    </a:solidFill>
                  </a:tcPr>
                </a:tc>
              </a:tr>
            </a:tbl>
          </a:graphicData>
        </a:graphic>
      </p:graphicFrame>
      <p:sp>
        <p:nvSpPr>
          <p:cNvPr id="795" name="Google Shape;795;p42"/>
          <p:cNvSpPr/>
          <p:nvPr/>
        </p:nvSpPr>
        <p:spPr>
          <a:xfrm>
            <a:off x="4709159" y="3511296"/>
            <a:ext cx="4050791" cy="310896"/>
          </a:xfrm>
          <a:prstGeom prst="rect">
            <a:avLst/>
          </a:prstGeom>
          <a:solidFill>
            <a:srgbClr val="F0F9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6" name="Google Shape;796;p42"/>
          <p:cNvSpPr txBox="1"/>
          <p:nvPr/>
        </p:nvSpPr>
        <p:spPr>
          <a:xfrm>
            <a:off x="4800599" y="3557016"/>
            <a:ext cx="3867911" cy="2377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30" u="none" cap="none" strike="noStrike">
                <a:solidFill>
                  <a:srgbClr val="0F172A"/>
                </a:solidFill>
                <a:latin typeface="Inter SemiBold"/>
                <a:ea typeface="Inter SemiBold"/>
                <a:cs typeface="Inter SemiBold"/>
                <a:sym typeface="Inter SemiBold"/>
              </a:rPr>
              <a:t>Tổng TB (một lần đến): </a:t>
            </a:r>
            <a:r>
              <a:rPr b="1" i="0" lang="en" sz="830" u="none" cap="none" strike="noStrike">
                <a:solidFill>
                  <a:srgbClr val="007B7C"/>
                </a:solidFill>
                <a:latin typeface="Inter"/>
                <a:ea typeface="Inter"/>
                <a:cs typeface="Inter"/>
                <a:sym typeface="Inter"/>
              </a:rPr>
              <a:t>≈ 95 phút</a:t>
            </a:r>
            <a:r>
              <a:rPr b="0" i="0" lang="en" sz="830" u="none" cap="none" strike="noStrike">
                <a:solidFill>
                  <a:srgbClr val="64748B"/>
                </a:solidFill>
                <a:latin typeface="Inter"/>
                <a:ea typeface="Inter"/>
                <a:cs typeface="Inter"/>
                <a:sym typeface="Inter"/>
              </a:rPr>
              <a:t>  (SLA ≤ 105 phút)</a:t>
            </a:r>
            <a:endParaRPr/>
          </a:p>
        </p:txBody>
      </p:sp>
      <p:sp>
        <p:nvSpPr>
          <p:cNvPr id="797" name="Google Shape;797;p42"/>
          <p:cNvSpPr/>
          <p:nvPr/>
        </p:nvSpPr>
        <p:spPr>
          <a:xfrm>
            <a:off x="384048" y="3959352"/>
            <a:ext cx="8375904" cy="594360"/>
          </a:xfrm>
          <a:prstGeom prst="rect">
            <a:avLst/>
          </a:prstGeom>
          <a:solidFill>
            <a:srgbClr val="FEF2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8" name="Google Shape;798;p42"/>
          <p:cNvSpPr txBox="1"/>
          <p:nvPr/>
        </p:nvSpPr>
        <p:spPr>
          <a:xfrm>
            <a:off x="548640" y="4050792"/>
            <a:ext cx="8046720"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900" u="none" cap="none" strike="noStrike">
                <a:solidFill>
                  <a:srgbClr val="991B1B"/>
                </a:solidFill>
                <a:latin typeface="Inter SemiBold"/>
                <a:ea typeface="Inter SemiBold"/>
                <a:cs typeface="Inter SemiBold"/>
                <a:sym typeface="Inter SemiBold"/>
              </a:rPr>
              <a:t>Nhận xét:  </a:t>
            </a:r>
            <a:r>
              <a:rPr b="0" i="0" lang="en" sz="900" u="none" cap="none" strike="noStrike">
                <a:solidFill>
                  <a:srgbClr val="991B1B"/>
                </a:solidFill>
                <a:latin typeface="Inter"/>
                <a:ea typeface="Inter"/>
                <a:cs typeface="Inter"/>
                <a:sym typeface="Inter"/>
              </a:rPr>
              <a:t>Thời gian xử lý trung bình cả 2 quy trình đang nằm trong SLA ở điều kiện bình thường; tuy nhiên trường hợp “không có KTV phù hợp” vượt SLA hơn 2 lần — đây là điểm nghẽn (bottleneck) cần ưu tiên cải tiến.</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43"/>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4" name="Google Shape;804;p43"/>
          <p:cNvGrpSpPr/>
          <p:nvPr/>
        </p:nvGrpSpPr>
        <p:grpSpPr>
          <a:xfrm>
            <a:off x="8458200" y="381000"/>
            <a:ext cx="304800" cy="304800"/>
            <a:chOff x="0" y="0"/>
            <a:chExt cx="304800" cy="304800"/>
          </a:xfrm>
        </p:grpSpPr>
        <p:sp>
          <p:nvSpPr>
            <p:cNvPr id="805" name="Google Shape;805;p43"/>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 name="Google Shape;806;p43"/>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 name="Google Shape;807;p43"/>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808" name="Google Shape;808;p43"/>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809" name="Google Shape;809;p43"/>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chất lượng dịch vụ</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Chỉ số chất lượng dịch vụ ước tính theo tháng — áp dụng cho C02 và C03</a:t>
            </a:r>
            <a:endParaRPr b="0" i="0" sz="1100" u="none" cap="none" strike="noStrike">
              <a:solidFill>
                <a:srgbClr val="007B7C"/>
              </a:solidFill>
              <a:latin typeface="Inter SemiBold"/>
              <a:ea typeface="Inter SemiBold"/>
              <a:cs typeface="Inter SemiBold"/>
              <a:sym typeface="Inter SemiBold"/>
            </a:endParaRPr>
          </a:p>
        </p:txBody>
      </p:sp>
      <p:sp>
        <p:nvSpPr>
          <p:cNvPr id="810" name="Google Shape;810;p43"/>
          <p:cNvSpPr/>
          <p:nvPr/>
        </p:nvSpPr>
        <p:spPr>
          <a:xfrm>
            <a:off x="384048" y="1335024"/>
            <a:ext cx="8375904" cy="56692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1" name="Google Shape;811;p43"/>
          <p:cNvSpPr/>
          <p:nvPr/>
        </p:nvSpPr>
        <p:spPr>
          <a:xfrm>
            <a:off x="384048" y="1335024"/>
            <a:ext cx="54864" cy="566928"/>
          </a:xfrm>
          <a:prstGeom prst="rect">
            <a:avLst/>
          </a:prstGeom>
          <a:solidFill>
            <a:srgbClr val="10B98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2" name="Google Shape;812;p43"/>
          <p:cNvSpPr txBox="1"/>
          <p:nvPr/>
        </p:nvSpPr>
        <p:spPr>
          <a:xfrm>
            <a:off x="585216" y="1335024"/>
            <a:ext cx="6181344"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 sz="1000" u="none" cap="none" strike="noStrike">
                <a:solidFill>
                  <a:srgbClr val="475569"/>
                </a:solidFill>
                <a:latin typeface="Inter"/>
                <a:ea typeface="Inter"/>
                <a:cs typeface="Inter"/>
                <a:sym typeface="Inter"/>
              </a:rPr>
              <a:t>Tỷ lệ booking hoàn tất trong 1 lần đến</a:t>
            </a:r>
            <a:endParaRPr/>
          </a:p>
        </p:txBody>
      </p:sp>
      <p:sp>
        <p:nvSpPr>
          <p:cNvPr id="813" name="Google Shape;813;p43"/>
          <p:cNvSpPr txBox="1"/>
          <p:nvPr/>
        </p:nvSpPr>
        <p:spPr>
          <a:xfrm>
            <a:off x="7022592" y="1335024"/>
            <a:ext cx="1554480" cy="566928"/>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 sz="1400" u="none" cap="none" strike="noStrike">
                <a:solidFill>
                  <a:srgbClr val="10B981"/>
                </a:solidFill>
                <a:latin typeface="Inter"/>
                <a:ea typeface="Inter"/>
                <a:cs typeface="Inter"/>
                <a:sym typeface="Inter"/>
              </a:rPr>
              <a:t>82%</a:t>
            </a:r>
            <a:endParaRPr/>
          </a:p>
        </p:txBody>
      </p:sp>
      <p:sp>
        <p:nvSpPr>
          <p:cNvPr id="814" name="Google Shape;814;p43"/>
          <p:cNvSpPr/>
          <p:nvPr/>
        </p:nvSpPr>
        <p:spPr>
          <a:xfrm>
            <a:off x="384048" y="1956815"/>
            <a:ext cx="8375904" cy="56692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5" name="Google Shape;815;p43"/>
          <p:cNvSpPr/>
          <p:nvPr/>
        </p:nvSpPr>
        <p:spPr>
          <a:xfrm>
            <a:off x="384048" y="1956815"/>
            <a:ext cx="54864" cy="566928"/>
          </a:xfrm>
          <a:prstGeom prst="rect">
            <a:avLst/>
          </a:prstGeom>
          <a:solidFill>
            <a:srgbClr val="D9770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6" name="Google Shape;816;p43"/>
          <p:cNvSpPr txBox="1"/>
          <p:nvPr/>
        </p:nvSpPr>
        <p:spPr>
          <a:xfrm>
            <a:off x="585216" y="1956815"/>
            <a:ext cx="6181344"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 sz="1000" u="none" cap="none" strike="noStrike">
                <a:solidFill>
                  <a:srgbClr val="475569"/>
                </a:solidFill>
                <a:latin typeface="Inter"/>
                <a:ea typeface="Inter"/>
                <a:cs typeface="Inter"/>
                <a:sym typeface="Inter"/>
              </a:rPr>
              <a:t>Tỷ lệ booking phải đi lại lần 2</a:t>
            </a:r>
            <a:endParaRPr/>
          </a:p>
        </p:txBody>
      </p:sp>
      <p:sp>
        <p:nvSpPr>
          <p:cNvPr id="817" name="Google Shape;817;p43"/>
          <p:cNvSpPr txBox="1"/>
          <p:nvPr/>
        </p:nvSpPr>
        <p:spPr>
          <a:xfrm>
            <a:off x="7022592" y="1956815"/>
            <a:ext cx="1554480" cy="566928"/>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 sz="1400" u="none" cap="none" strike="noStrike">
                <a:solidFill>
                  <a:srgbClr val="D97706"/>
                </a:solidFill>
                <a:latin typeface="Inter"/>
                <a:ea typeface="Inter"/>
                <a:cs typeface="Inter"/>
                <a:sym typeface="Inter"/>
              </a:rPr>
              <a:t>13%</a:t>
            </a:r>
            <a:endParaRPr/>
          </a:p>
        </p:txBody>
      </p:sp>
      <p:sp>
        <p:nvSpPr>
          <p:cNvPr id="818" name="Google Shape;818;p43"/>
          <p:cNvSpPr/>
          <p:nvPr/>
        </p:nvSpPr>
        <p:spPr>
          <a:xfrm>
            <a:off x="384048" y="2578608"/>
            <a:ext cx="8375904" cy="56692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9" name="Google Shape;819;p43"/>
          <p:cNvSpPr/>
          <p:nvPr/>
        </p:nvSpPr>
        <p:spPr>
          <a:xfrm>
            <a:off x="384048" y="2578608"/>
            <a:ext cx="54864" cy="566928"/>
          </a:xfrm>
          <a:prstGeom prst="rect">
            <a:avLst/>
          </a:prstGeom>
          <a:solidFill>
            <a:srgbClr val="991B1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0" name="Google Shape;820;p43"/>
          <p:cNvSpPr txBox="1"/>
          <p:nvPr/>
        </p:nvSpPr>
        <p:spPr>
          <a:xfrm>
            <a:off x="585216" y="2578608"/>
            <a:ext cx="6181344"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 sz="1000" u="none" cap="none" strike="noStrike">
                <a:solidFill>
                  <a:srgbClr val="475569"/>
                </a:solidFill>
                <a:latin typeface="Inter"/>
                <a:ea typeface="Inter"/>
                <a:cs typeface="Inter"/>
                <a:sym typeface="Inter"/>
              </a:rPr>
              <a:t>Tỷ lệ booking bị hủy/treo do khách không đồng ý chi phí</a:t>
            </a:r>
            <a:endParaRPr/>
          </a:p>
        </p:txBody>
      </p:sp>
      <p:sp>
        <p:nvSpPr>
          <p:cNvPr id="821" name="Google Shape;821;p43"/>
          <p:cNvSpPr txBox="1"/>
          <p:nvPr/>
        </p:nvSpPr>
        <p:spPr>
          <a:xfrm>
            <a:off x="7022592" y="2578608"/>
            <a:ext cx="1554480" cy="566928"/>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 sz="1400" u="none" cap="none" strike="noStrike">
                <a:solidFill>
                  <a:srgbClr val="991B1B"/>
                </a:solidFill>
                <a:latin typeface="Inter"/>
                <a:ea typeface="Inter"/>
                <a:cs typeface="Inter"/>
                <a:sym typeface="Inter"/>
              </a:rPr>
              <a:t>5%</a:t>
            </a:r>
            <a:endParaRPr/>
          </a:p>
        </p:txBody>
      </p:sp>
      <p:sp>
        <p:nvSpPr>
          <p:cNvPr id="822" name="Google Shape;822;p43"/>
          <p:cNvSpPr/>
          <p:nvPr/>
        </p:nvSpPr>
        <p:spPr>
          <a:xfrm>
            <a:off x="384048" y="3200400"/>
            <a:ext cx="8375904" cy="56692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3" name="Google Shape;823;p43"/>
          <p:cNvSpPr/>
          <p:nvPr/>
        </p:nvSpPr>
        <p:spPr>
          <a:xfrm>
            <a:off x="384048" y="3200400"/>
            <a:ext cx="54864" cy="566928"/>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4" name="Google Shape;824;p43"/>
          <p:cNvSpPr txBox="1"/>
          <p:nvPr/>
        </p:nvSpPr>
        <p:spPr>
          <a:xfrm>
            <a:off x="585216" y="3200400"/>
            <a:ext cx="6181344"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 sz="1000" u="none" cap="none" strike="noStrike">
                <a:solidFill>
                  <a:srgbClr val="475569"/>
                </a:solidFill>
                <a:latin typeface="Inter"/>
                <a:ea typeface="Inter"/>
                <a:cs typeface="Inter"/>
                <a:sym typeface="Inter"/>
              </a:rPr>
              <a:t>Điểm đánh giá trung bình của khách hàng (thang 5)</a:t>
            </a:r>
            <a:endParaRPr/>
          </a:p>
        </p:txBody>
      </p:sp>
      <p:sp>
        <p:nvSpPr>
          <p:cNvPr id="825" name="Google Shape;825;p43"/>
          <p:cNvSpPr txBox="1"/>
          <p:nvPr/>
        </p:nvSpPr>
        <p:spPr>
          <a:xfrm>
            <a:off x="7022592" y="3200400"/>
            <a:ext cx="1554480" cy="566928"/>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 sz="1400" u="none" cap="none" strike="noStrike">
                <a:solidFill>
                  <a:srgbClr val="007B7C"/>
                </a:solidFill>
                <a:latin typeface="Inter"/>
                <a:ea typeface="Inter"/>
                <a:cs typeface="Inter"/>
                <a:sym typeface="Inter"/>
              </a:rPr>
              <a:t>4.2 / 5</a:t>
            </a:r>
            <a:endParaRPr/>
          </a:p>
        </p:txBody>
      </p:sp>
      <p:sp>
        <p:nvSpPr>
          <p:cNvPr id="826" name="Google Shape;826;p43"/>
          <p:cNvSpPr/>
          <p:nvPr/>
        </p:nvSpPr>
        <p:spPr>
          <a:xfrm>
            <a:off x="384048" y="3822191"/>
            <a:ext cx="8375904" cy="56692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7" name="Google Shape;827;p43"/>
          <p:cNvSpPr/>
          <p:nvPr/>
        </p:nvSpPr>
        <p:spPr>
          <a:xfrm>
            <a:off x="384048" y="3822191"/>
            <a:ext cx="54864" cy="566928"/>
          </a:xfrm>
          <a:prstGeom prst="rect">
            <a:avLst/>
          </a:prstGeom>
          <a:solidFill>
            <a:srgbClr val="991B1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8" name="Google Shape;828;p43"/>
          <p:cNvSpPr txBox="1"/>
          <p:nvPr/>
        </p:nvSpPr>
        <p:spPr>
          <a:xfrm>
            <a:off x="585216" y="3822191"/>
            <a:ext cx="6181344"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 sz="1000" u="none" cap="none" strike="noStrike">
                <a:solidFill>
                  <a:srgbClr val="475569"/>
                </a:solidFill>
                <a:latin typeface="Inter"/>
                <a:ea typeface="Inter"/>
                <a:cs typeface="Inter"/>
                <a:sym typeface="Inter"/>
              </a:rPr>
              <a:t>Tỷ lệ khiếu nại liên quan đến chi phí sửa chữa (trên tổng khiếu nại)</a:t>
            </a:r>
            <a:endParaRPr/>
          </a:p>
        </p:txBody>
      </p:sp>
      <p:sp>
        <p:nvSpPr>
          <p:cNvPr id="829" name="Google Shape;829;p43"/>
          <p:cNvSpPr txBox="1"/>
          <p:nvPr/>
        </p:nvSpPr>
        <p:spPr>
          <a:xfrm>
            <a:off x="7022592" y="3822191"/>
            <a:ext cx="1554480" cy="566928"/>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 sz="1400" u="none" cap="none" strike="noStrike">
                <a:solidFill>
                  <a:srgbClr val="991B1B"/>
                </a:solidFill>
                <a:latin typeface="Inter"/>
                <a:ea typeface="Inter"/>
                <a:cs typeface="Inter"/>
                <a:sym typeface="Inter"/>
              </a:rPr>
              <a:t>≈ 40%</a:t>
            </a:r>
            <a:endParaRPr/>
          </a:p>
        </p:txBody>
      </p:sp>
      <p:sp>
        <p:nvSpPr>
          <p:cNvPr id="830" name="Google Shape;830;p43"/>
          <p:cNvSpPr/>
          <p:nvPr/>
        </p:nvSpPr>
        <p:spPr>
          <a:xfrm>
            <a:off x="384048" y="4489703"/>
            <a:ext cx="8375904" cy="457200"/>
          </a:xfrm>
          <a:prstGeom prst="rect">
            <a:avLst/>
          </a:prstGeom>
          <a:solidFill>
            <a:srgbClr val="F0F9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1" name="Google Shape;831;p43"/>
          <p:cNvSpPr txBox="1"/>
          <p:nvPr/>
        </p:nvSpPr>
        <p:spPr>
          <a:xfrm>
            <a:off x="548640" y="4581143"/>
            <a:ext cx="8046720" cy="2743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900" u="none" cap="none" strike="noStrike">
                <a:solidFill>
                  <a:srgbClr val="0284C7"/>
                </a:solidFill>
                <a:latin typeface="Inter SemiBold"/>
                <a:ea typeface="Inter SemiBold"/>
                <a:cs typeface="Inter SemiBold"/>
                <a:sym typeface="Inter SemiBold"/>
              </a:rPr>
              <a:t>Nhận xét:  </a:t>
            </a:r>
            <a:r>
              <a:rPr b="0" i="0" lang="en" sz="900" u="none" cap="none" strike="noStrike">
                <a:solidFill>
                  <a:srgbClr val="0284C7"/>
                </a:solidFill>
                <a:latin typeface="Inter"/>
                <a:ea typeface="Inter"/>
                <a:cs typeface="Inter"/>
                <a:sym typeface="Inter"/>
              </a:rPr>
              <a:t>Tỷ lệ đi lại lần 2 (13%) và tỷ lệ khiếu nại liên quan chi phí (~40%) là 2 chỉ số cần cải thiện, tương ứng với các lãng phí Move/Hold đã xác định.</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5" name="Shape 835"/>
        <p:cNvGrpSpPr/>
        <p:nvPr/>
      </p:nvGrpSpPr>
      <p:grpSpPr>
        <a:xfrm>
          <a:off x="0" y="0"/>
          <a:ext cx="0" cy="0"/>
          <a:chOff x="0" y="0"/>
          <a:chExt cx="0" cy="0"/>
        </a:xfrm>
      </p:grpSpPr>
      <p:sp>
        <p:nvSpPr>
          <p:cNvPr id="836" name="Google Shape;836;p44"/>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7" name="Google Shape;837;p44"/>
          <p:cNvGrpSpPr/>
          <p:nvPr/>
        </p:nvGrpSpPr>
        <p:grpSpPr>
          <a:xfrm>
            <a:off x="8458200" y="381000"/>
            <a:ext cx="304800" cy="304800"/>
            <a:chOff x="0" y="0"/>
            <a:chExt cx="304800" cy="304800"/>
          </a:xfrm>
        </p:grpSpPr>
        <p:sp>
          <p:nvSpPr>
            <p:cNvPr id="838" name="Google Shape;838;p44"/>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44"/>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p44"/>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841" name="Google Shape;841;p44"/>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842" name="Google Shape;842;p44"/>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Phân tích chi phí</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Chi phí trung bình xử lý một booking (ước tính) — VNĐ/booking</a:t>
            </a:r>
            <a:endParaRPr b="0" i="0" sz="1100" u="none" cap="none" strike="noStrike">
              <a:solidFill>
                <a:srgbClr val="007B7C"/>
              </a:solidFill>
              <a:latin typeface="Inter SemiBold"/>
              <a:ea typeface="Inter SemiBold"/>
              <a:cs typeface="Inter SemiBold"/>
              <a:sym typeface="Inter SemiBold"/>
            </a:endParaRPr>
          </a:p>
        </p:txBody>
      </p:sp>
      <p:graphicFrame>
        <p:nvGraphicFramePr>
          <p:cNvPr id="843" name="Google Shape;843;p44"/>
          <p:cNvGraphicFramePr/>
          <p:nvPr/>
        </p:nvGraphicFramePr>
        <p:xfrm>
          <a:off x="384048" y="1335024"/>
          <a:ext cx="3000000" cy="3000000"/>
        </p:xfrm>
        <a:graphic>
          <a:graphicData uri="http://schemas.openxmlformats.org/drawingml/2006/table">
            <a:tbl>
              <a:tblPr bandRow="1" firstRow="1">
                <a:noFill/>
                <a:tableStyleId>{C22CD621-9F64-4B2E-9631-1F7B959E530B}</a:tableStyleId>
              </a:tblPr>
              <a:tblGrid>
                <a:gridCol w="5790750"/>
                <a:gridCol w="2585150"/>
              </a:tblGrid>
              <a:tr h="329175">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Khoản mục chi phí</a:t>
                      </a:r>
                      <a:endParaRPr/>
                    </a:p>
                  </a:txBody>
                  <a:tcPr marT="18300" marB="18300" marR="73150" marL="73150" anchor="ctr">
                    <a:solidFill>
                      <a:srgbClr val="0F172A"/>
                    </a:solidFill>
                  </a:tcPr>
                </a:tc>
                <a:tc>
                  <a:txBody>
                    <a:bodyPr/>
                    <a:lstStyle/>
                    <a:p>
                      <a:pPr indent="0" lvl="0" marL="0" marR="0" rtl="0" algn="l">
                        <a:lnSpc>
                          <a:spcPct val="100000"/>
                        </a:lnSpc>
                        <a:spcBef>
                          <a:spcPts val="0"/>
                        </a:spcBef>
                        <a:spcAft>
                          <a:spcPts val="0"/>
                        </a:spcAft>
                        <a:buNone/>
                      </a:pPr>
                      <a:r>
                        <a:rPr b="1" lang="en" sz="950" u="none" cap="none" strike="noStrike">
                          <a:solidFill>
                            <a:srgbClr val="FFFFFF"/>
                          </a:solidFill>
                          <a:latin typeface="Inter SemiBold"/>
                          <a:ea typeface="Inter SemiBold"/>
                          <a:cs typeface="Inter SemiBold"/>
                          <a:sym typeface="Inter SemiBold"/>
                        </a:rPr>
                        <a:t>Giá trị ước tính (VNĐ/booking)</a:t>
                      </a:r>
                      <a:endParaRPr/>
                    </a:p>
                  </a:txBody>
                  <a:tcPr marT="18300" marB="18300" marR="73150" marL="73150" anchor="ctr">
                    <a:solidFill>
                      <a:srgbClr val="0F172A"/>
                    </a:solidFill>
                  </a:tcPr>
                </a:tc>
              </a:tr>
              <a:tr h="457200">
                <a:tc>
                  <a:txBody>
                    <a:bodyPr/>
                    <a:lstStyle/>
                    <a:p>
                      <a:pPr indent="0" lvl="0" marL="0" marR="0" rtl="0" algn="l">
                        <a:lnSpc>
                          <a:spcPct val="100000"/>
                        </a:lnSpc>
                        <a:spcBef>
                          <a:spcPts val="0"/>
                        </a:spcBef>
                        <a:spcAft>
                          <a:spcPts val="0"/>
                        </a:spcAft>
                        <a:buNone/>
                      </a:pPr>
                      <a:r>
                        <a:rPr lang="en" sz="1000" u="none" cap="none" strike="noStrike">
                          <a:solidFill>
                            <a:srgbClr val="475569"/>
                          </a:solidFill>
                          <a:latin typeface="Inter"/>
                          <a:ea typeface="Inter"/>
                          <a:cs typeface="Inter"/>
                          <a:sym typeface="Inter"/>
                        </a:rPr>
                        <a:t>Chi phí nhân công KTV (theo thời gian xử lý)</a:t>
                      </a:r>
                      <a:endParaRPr/>
                    </a:p>
                  </a:txBody>
                  <a:tcPr marT="18300" marB="18300" marR="73150" marL="73150" anchor="ctr">
                    <a:solidFill>
                      <a:srgbClr val="FFFFFF"/>
                    </a:solidFill>
                  </a:tcPr>
                </a:tc>
                <a:tc>
                  <a:txBody>
                    <a:bodyPr/>
                    <a:lstStyle/>
                    <a:p>
                      <a:pPr indent="0" lvl="0" marL="0" marR="0" rtl="0" algn="r">
                        <a:lnSpc>
                          <a:spcPct val="100000"/>
                        </a:lnSpc>
                        <a:spcBef>
                          <a:spcPts val="0"/>
                        </a:spcBef>
                        <a:spcAft>
                          <a:spcPts val="0"/>
                        </a:spcAft>
                        <a:buNone/>
                      </a:pPr>
                      <a:r>
                        <a:rPr b="1" lang="en" sz="1000" u="none" cap="none" strike="noStrike">
                          <a:solidFill>
                            <a:srgbClr val="475569"/>
                          </a:solidFill>
                          <a:latin typeface="Inter"/>
                          <a:ea typeface="Inter"/>
                          <a:cs typeface="Inter"/>
                          <a:sym typeface="Inter"/>
                        </a:rPr>
                        <a:t>150.000</a:t>
                      </a:r>
                      <a:endParaRPr/>
                    </a:p>
                  </a:txBody>
                  <a:tcPr marT="18300" marB="18300" marR="73150" marL="73150" anchor="ctr">
                    <a:solidFill>
                      <a:srgbClr val="FFFFFF"/>
                    </a:solidFill>
                  </a:tcPr>
                </a:tc>
              </a:tr>
              <a:tr h="457200">
                <a:tc>
                  <a:txBody>
                    <a:bodyPr/>
                    <a:lstStyle/>
                    <a:p>
                      <a:pPr indent="0" lvl="0" marL="0" marR="0" rtl="0" algn="l">
                        <a:lnSpc>
                          <a:spcPct val="100000"/>
                        </a:lnSpc>
                        <a:spcBef>
                          <a:spcPts val="0"/>
                        </a:spcBef>
                        <a:spcAft>
                          <a:spcPts val="0"/>
                        </a:spcAft>
                        <a:buNone/>
                      </a:pPr>
                      <a:r>
                        <a:rPr lang="en" sz="1000" u="none" cap="none" strike="noStrike">
                          <a:solidFill>
                            <a:srgbClr val="475569"/>
                          </a:solidFill>
                          <a:latin typeface="Inter"/>
                          <a:ea typeface="Inter"/>
                          <a:cs typeface="Inter"/>
                          <a:sym typeface="Inter"/>
                        </a:rPr>
                        <a:t>Chi phí linh kiện/vật tư sử dụng</a:t>
                      </a:r>
                      <a:endParaRPr/>
                    </a:p>
                  </a:txBody>
                  <a:tcPr marT="18300" marB="18300" marR="73150" marL="73150" anchor="ctr">
                    <a:solidFill>
                      <a:srgbClr val="F8FAFC"/>
                    </a:solidFill>
                  </a:tcPr>
                </a:tc>
                <a:tc>
                  <a:txBody>
                    <a:bodyPr/>
                    <a:lstStyle/>
                    <a:p>
                      <a:pPr indent="0" lvl="0" marL="0" marR="0" rtl="0" algn="r">
                        <a:lnSpc>
                          <a:spcPct val="100000"/>
                        </a:lnSpc>
                        <a:spcBef>
                          <a:spcPts val="0"/>
                        </a:spcBef>
                        <a:spcAft>
                          <a:spcPts val="0"/>
                        </a:spcAft>
                        <a:buNone/>
                      </a:pPr>
                      <a:r>
                        <a:rPr b="1" lang="en" sz="1000" u="none" cap="none" strike="noStrike">
                          <a:solidFill>
                            <a:srgbClr val="475569"/>
                          </a:solidFill>
                          <a:latin typeface="Inter"/>
                          <a:ea typeface="Inter"/>
                          <a:cs typeface="Inter"/>
                          <a:sym typeface="Inter"/>
                        </a:rPr>
                        <a:t>220.000</a:t>
                      </a:r>
                      <a:endParaRPr/>
                    </a:p>
                  </a:txBody>
                  <a:tcPr marT="18300" marB="18300" marR="73150" marL="73150" anchor="ctr">
                    <a:solidFill>
                      <a:srgbClr val="F8FAFC"/>
                    </a:solidFill>
                  </a:tcPr>
                </a:tc>
              </a:tr>
              <a:tr h="457200">
                <a:tc>
                  <a:txBody>
                    <a:bodyPr/>
                    <a:lstStyle/>
                    <a:p>
                      <a:pPr indent="0" lvl="0" marL="0" marR="0" rtl="0" algn="l">
                        <a:lnSpc>
                          <a:spcPct val="100000"/>
                        </a:lnSpc>
                        <a:spcBef>
                          <a:spcPts val="0"/>
                        </a:spcBef>
                        <a:spcAft>
                          <a:spcPts val="0"/>
                        </a:spcAft>
                        <a:buNone/>
                      </a:pPr>
                      <a:r>
                        <a:rPr lang="en" sz="1000" u="none" cap="none" strike="noStrike">
                          <a:solidFill>
                            <a:srgbClr val="475569"/>
                          </a:solidFill>
                          <a:latin typeface="Inter"/>
                          <a:ea typeface="Inter"/>
                          <a:cs typeface="Inter"/>
                          <a:sym typeface="Inter"/>
                        </a:rPr>
                        <a:t>Chi phí phát sinh do đi lại lần 2 (áp dụng cho 13% booking)</a:t>
                      </a:r>
                      <a:endParaRPr/>
                    </a:p>
                  </a:txBody>
                  <a:tcPr marT="18300" marB="18300" marR="73150" marL="73150" anchor="ctr">
                    <a:solidFill>
                      <a:srgbClr val="FFFFFF"/>
                    </a:solidFill>
                  </a:tcPr>
                </a:tc>
                <a:tc>
                  <a:txBody>
                    <a:bodyPr/>
                    <a:lstStyle/>
                    <a:p>
                      <a:pPr indent="0" lvl="0" marL="0" marR="0" rtl="0" algn="r">
                        <a:lnSpc>
                          <a:spcPct val="100000"/>
                        </a:lnSpc>
                        <a:spcBef>
                          <a:spcPts val="0"/>
                        </a:spcBef>
                        <a:spcAft>
                          <a:spcPts val="0"/>
                        </a:spcAft>
                        <a:buNone/>
                      </a:pPr>
                      <a:r>
                        <a:rPr b="1" lang="en" sz="1000" u="none" cap="none" strike="noStrike">
                          <a:solidFill>
                            <a:srgbClr val="475569"/>
                          </a:solidFill>
                          <a:latin typeface="Inter"/>
                          <a:ea typeface="Inter"/>
                          <a:cs typeface="Inter"/>
                          <a:sym typeface="Inter"/>
                        </a:rPr>
                        <a:t>80.000</a:t>
                      </a:r>
                      <a:endParaRPr/>
                    </a:p>
                  </a:txBody>
                  <a:tcPr marT="18300" marB="18300" marR="73150" marL="73150" anchor="ctr">
                    <a:solidFill>
                      <a:srgbClr val="FFFFFF"/>
                    </a:solidFill>
                  </a:tcPr>
                </a:tc>
              </a:tr>
              <a:tr h="457200">
                <a:tc>
                  <a:txBody>
                    <a:bodyPr/>
                    <a:lstStyle/>
                    <a:p>
                      <a:pPr indent="0" lvl="0" marL="0" marR="0" rtl="0" algn="l">
                        <a:lnSpc>
                          <a:spcPct val="100000"/>
                        </a:lnSpc>
                        <a:spcBef>
                          <a:spcPts val="0"/>
                        </a:spcBef>
                        <a:spcAft>
                          <a:spcPts val="0"/>
                        </a:spcAft>
                        <a:buNone/>
                      </a:pPr>
                      <a:r>
                        <a:rPr lang="en" sz="1000" u="none" cap="none" strike="noStrike">
                          <a:solidFill>
                            <a:srgbClr val="475569"/>
                          </a:solidFill>
                          <a:latin typeface="Inter"/>
                          <a:ea typeface="Inter"/>
                          <a:cs typeface="Inter"/>
                          <a:sym typeface="Inter"/>
                        </a:rPr>
                        <a:t>Chi phí vận hành hệ thống/điều phối (phân bổ)</a:t>
                      </a:r>
                      <a:endParaRPr/>
                    </a:p>
                  </a:txBody>
                  <a:tcPr marT="18300" marB="18300" marR="73150" marL="73150" anchor="ctr">
                    <a:solidFill>
                      <a:srgbClr val="F8FAFC"/>
                    </a:solidFill>
                  </a:tcPr>
                </a:tc>
                <a:tc>
                  <a:txBody>
                    <a:bodyPr/>
                    <a:lstStyle/>
                    <a:p>
                      <a:pPr indent="0" lvl="0" marL="0" marR="0" rtl="0" algn="r">
                        <a:lnSpc>
                          <a:spcPct val="100000"/>
                        </a:lnSpc>
                        <a:spcBef>
                          <a:spcPts val="0"/>
                        </a:spcBef>
                        <a:spcAft>
                          <a:spcPts val="0"/>
                        </a:spcAft>
                        <a:buNone/>
                      </a:pPr>
                      <a:r>
                        <a:rPr b="1" lang="en" sz="1000" u="none" cap="none" strike="noStrike">
                          <a:solidFill>
                            <a:srgbClr val="475569"/>
                          </a:solidFill>
                          <a:latin typeface="Inter"/>
                          <a:ea typeface="Inter"/>
                          <a:cs typeface="Inter"/>
                          <a:sym typeface="Inter"/>
                        </a:rPr>
                        <a:t>20.000</a:t>
                      </a:r>
                      <a:endParaRPr/>
                    </a:p>
                  </a:txBody>
                  <a:tcPr marT="18300" marB="18300" marR="73150" marL="73150" anchor="ctr">
                    <a:solidFill>
                      <a:srgbClr val="F8FAFC"/>
                    </a:solidFill>
                  </a:tcPr>
                </a:tc>
              </a:tr>
            </a:tbl>
          </a:graphicData>
        </a:graphic>
      </p:graphicFrame>
      <p:sp>
        <p:nvSpPr>
          <p:cNvPr id="844" name="Google Shape;844;p44"/>
          <p:cNvSpPr/>
          <p:nvPr/>
        </p:nvSpPr>
        <p:spPr>
          <a:xfrm>
            <a:off x="384048" y="3584448"/>
            <a:ext cx="8375904" cy="502920"/>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5" name="Google Shape;845;p44"/>
          <p:cNvSpPr txBox="1"/>
          <p:nvPr/>
        </p:nvSpPr>
        <p:spPr>
          <a:xfrm>
            <a:off x="585216" y="3584448"/>
            <a:ext cx="5029200" cy="5029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100" u="none" cap="none" strike="noStrike">
                <a:solidFill>
                  <a:srgbClr val="FFFFFF"/>
                </a:solidFill>
                <a:latin typeface="Inter ExtraBold"/>
                <a:ea typeface="Inter ExtraBold"/>
                <a:cs typeface="Inter ExtraBold"/>
                <a:sym typeface="Inter ExtraBold"/>
              </a:rPr>
              <a:t>Tổng chi phí trung bình một booking (đã phân bổ)</a:t>
            </a:r>
            <a:endParaRPr/>
          </a:p>
        </p:txBody>
      </p:sp>
      <p:sp>
        <p:nvSpPr>
          <p:cNvPr id="846" name="Google Shape;846;p44"/>
          <p:cNvSpPr txBox="1"/>
          <p:nvPr/>
        </p:nvSpPr>
        <p:spPr>
          <a:xfrm>
            <a:off x="6565392" y="3584448"/>
            <a:ext cx="2011680" cy="50292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 sz="1400" u="none" cap="none" strike="noStrike">
                <a:solidFill>
                  <a:srgbClr val="FFFFFF"/>
                </a:solidFill>
                <a:latin typeface="Inter ExtraBold"/>
                <a:ea typeface="Inter ExtraBold"/>
                <a:cs typeface="Inter ExtraBold"/>
                <a:sym typeface="Inter ExtraBold"/>
              </a:rPr>
              <a:t>≈ 400.600 VNĐ</a:t>
            </a:r>
            <a:endParaRPr/>
          </a:p>
        </p:txBody>
      </p:sp>
      <p:sp>
        <p:nvSpPr>
          <p:cNvPr id="847" name="Google Shape;847;p44"/>
          <p:cNvSpPr/>
          <p:nvPr/>
        </p:nvSpPr>
        <p:spPr>
          <a:xfrm>
            <a:off x="384048" y="4224528"/>
            <a:ext cx="8375904" cy="502920"/>
          </a:xfrm>
          <a:prstGeom prst="rect">
            <a:avLst/>
          </a:prstGeom>
          <a:solidFill>
            <a:srgbClr val="FEF2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48" name="Google Shape;848;p44"/>
          <p:cNvSpPr txBox="1"/>
          <p:nvPr/>
        </p:nvSpPr>
        <p:spPr>
          <a:xfrm>
            <a:off x="548640" y="4315968"/>
            <a:ext cx="8046720" cy="3200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900" u="none" cap="none" strike="noStrike">
                <a:solidFill>
                  <a:srgbClr val="991B1B"/>
                </a:solidFill>
                <a:latin typeface="Inter SemiBold"/>
                <a:ea typeface="Inter SemiBold"/>
                <a:cs typeface="Inter SemiBold"/>
                <a:sym typeface="Inter SemiBold"/>
              </a:rPr>
              <a:t>Nhận xét:  </a:t>
            </a:r>
            <a:r>
              <a:rPr b="0" i="0" lang="en" sz="900" u="none" cap="none" strike="noStrike">
                <a:solidFill>
                  <a:srgbClr val="991B1B"/>
                </a:solidFill>
                <a:latin typeface="Inter"/>
                <a:ea typeface="Inter"/>
                <a:cs typeface="Inter"/>
                <a:sym typeface="Inter"/>
              </a:rPr>
              <a:t>Chi phí đi lại lần 2, dù chỉ áp dụng cho 13% booking, vẫn góp phần đáng kể vào chi phí trung bình toàn hệ thống; kiểm tra tồn kho linh kiện trước khi assign có thể giảm trực tiếp khoản chi phí này.</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2" name="Shape 852"/>
        <p:cNvGrpSpPr/>
        <p:nvPr/>
      </p:nvGrpSpPr>
      <p:grpSpPr>
        <a:xfrm>
          <a:off x="0" y="0"/>
          <a:ext cx="0" cy="0"/>
          <a:chOff x="0" y="0"/>
          <a:chExt cx="0" cy="0"/>
        </a:xfrm>
      </p:grpSpPr>
      <p:sp>
        <p:nvSpPr>
          <p:cNvPr id="853" name="Google Shape;853;p45"/>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54" name="Google Shape;854;p45"/>
          <p:cNvGrpSpPr/>
          <p:nvPr/>
        </p:nvGrpSpPr>
        <p:grpSpPr>
          <a:xfrm>
            <a:off x="8458200" y="381000"/>
            <a:ext cx="304800" cy="304800"/>
            <a:chOff x="0" y="0"/>
            <a:chExt cx="304800" cy="304800"/>
          </a:xfrm>
        </p:grpSpPr>
        <p:sp>
          <p:nvSpPr>
            <p:cNvPr id="855" name="Google Shape;855;p45"/>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45"/>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 name="Google Shape;857;p45"/>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858" name="Google Shape;858;p45"/>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859" name="Google Shape;859;p45"/>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Kết quả đạt được</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Tổng kết những nội dung đồ án đã hoàn thành qua các chương</a:t>
            </a:r>
            <a:endParaRPr b="0" i="0" sz="1100" u="none" cap="none" strike="noStrike">
              <a:solidFill>
                <a:srgbClr val="007B7C"/>
              </a:solidFill>
              <a:latin typeface="Inter SemiBold"/>
              <a:ea typeface="Inter SemiBold"/>
              <a:cs typeface="Inter SemiBold"/>
              <a:sym typeface="Inter SemiBold"/>
            </a:endParaRPr>
          </a:p>
        </p:txBody>
      </p:sp>
      <p:sp>
        <p:nvSpPr>
          <p:cNvPr id="860" name="Google Shape;860;p45"/>
          <p:cNvSpPr/>
          <p:nvPr/>
        </p:nvSpPr>
        <p:spPr>
          <a:xfrm>
            <a:off x="384048" y="1335024"/>
            <a:ext cx="4050791"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1" name="Google Shape;861;p45"/>
          <p:cNvSpPr/>
          <p:nvPr/>
        </p:nvSpPr>
        <p:spPr>
          <a:xfrm>
            <a:off x="384048" y="1335024"/>
            <a:ext cx="4050791"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2" name="Google Shape;862;p45"/>
          <p:cNvSpPr txBox="1"/>
          <p:nvPr/>
        </p:nvSpPr>
        <p:spPr>
          <a:xfrm>
            <a:off x="566928" y="1463040"/>
            <a:ext cx="3685031" cy="116128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600" u="none" cap="none" strike="noStrike">
                <a:solidFill>
                  <a:srgbClr val="007B7C"/>
                </a:solidFill>
                <a:latin typeface="Inter ExtraBold"/>
                <a:ea typeface="Inter ExtraBold"/>
                <a:cs typeface="Inter ExtraBold"/>
                <a:sym typeface="Inter ExtraBold"/>
              </a:rPr>
              <a:t>01   </a:t>
            </a:r>
            <a:r>
              <a:rPr b="1" i="0" lang="en" sz="1200" u="none" cap="none" strike="noStrike">
                <a:solidFill>
                  <a:srgbClr val="0F172A"/>
                </a:solidFill>
                <a:latin typeface="Inter ExtraBold"/>
                <a:ea typeface="Inter ExtraBold"/>
                <a:cs typeface="Inter ExtraBold"/>
                <a:sym typeface="Inter ExtraBold"/>
              </a:rPr>
              <a:t>Liệt kê &amp; phân loại quy trình</a:t>
            </a:r>
            <a:endParaRPr/>
          </a:p>
          <a:p>
            <a:pPr indent="0" lvl="0" marL="0" marR="0" rtl="0" algn="l">
              <a:lnSpc>
                <a:spcPct val="115000"/>
              </a:lnSpc>
              <a:spcBef>
                <a:spcPts val="600"/>
              </a:spcBef>
              <a:spcAft>
                <a:spcPts val="0"/>
              </a:spcAft>
              <a:buNone/>
            </a:pPr>
            <a:r>
              <a:rPr b="0" i="0" lang="en" sz="900" u="none" cap="none" strike="noStrike">
                <a:solidFill>
                  <a:srgbClr val="475569"/>
                </a:solidFill>
                <a:latin typeface="Inter"/>
                <a:ea typeface="Inter"/>
                <a:cs typeface="Inter"/>
                <a:sym typeface="Inter"/>
              </a:rPr>
              <a:t>Liệt kê và mô tả đầy đủ 10 quy trình doanh nghiệp, phân loại theo 3 nhóm Quản lý – Cốt lõi – Hỗ trợ, kèm sơ đồ kiến trúc quy trình tổng thể.</a:t>
            </a:r>
            <a:endParaRPr/>
          </a:p>
        </p:txBody>
      </p:sp>
      <p:sp>
        <p:nvSpPr>
          <p:cNvPr id="863" name="Google Shape;863;p45"/>
          <p:cNvSpPr/>
          <p:nvPr/>
        </p:nvSpPr>
        <p:spPr>
          <a:xfrm>
            <a:off x="4709159" y="1335024"/>
            <a:ext cx="4050791"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4" name="Google Shape;864;p45"/>
          <p:cNvSpPr/>
          <p:nvPr/>
        </p:nvSpPr>
        <p:spPr>
          <a:xfrm>
            <a:off x="4709159" y="1335024"/>
            <a:ext cx="4050791"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5" name="Google Shape;865;p45"/>
          <p:cNvSpPr txBox="1"/>
          <p:nvPr/>
        </p:nvSpPr>
        <p:spPr>
          <a:xfrm>
            <a:off x="4892040" y="1463040"/>
            <a:ext cx="3685031" cy="116128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600" u="none" cap="none" strike="noStrike">
                <a:solidFill>
                  <a:srgbClr val="0284C7"/>
                </a:solidFill>
                <a:latin typeface="Inter ExtraBold"/>
                <a:ea typeface="Inter ExtraBold"/>
                <a:cs typeface="Inter ExtraBold"/>
                <a:sym typeface="Inter ExtraBold"/>
              </a:rPr>
              <a:t>02   </a:t>
            </a:r>
            <a:r>
              <a:rPr b="1" i="0" lang="en" sz="1200" u="none" cap="none" strike="noStrike">
                <a:solidFill>
                  <a:srgbClr val="0F172A"/>
                </a:solidFill>
                <a:latin typeface="Inter ExtraBold"/>
                <a:ea typeface="Inter ExtraBold"/>
                <a:cs typeface="Inter ExtraBold"/>
                <a:sym typeface="Inter ExtraBold"/>
              </a:rPr>
              <a:t>Mô hình hóa BPMN</a:t>
            </a:r>
            <a:endParaRPr/>
          </a:p>
          <a:p>
            <a:pPr indent="0" lvl="0" marL="0" marR="0" rtl="0" algn="l">
              <a:lnSpc>
                <a:spcPct val="115000"/>
              </a:lnSpc>
              <a:spcBef>
                <a:spcPts val="600"/>
              </a:spcBef>
              <a:spcAft>
                <a:spcPts val="0"/>
              </a:spcAft>
              <a:buNone/>
            </a:pPr>
            <a:r>
              <a:rPr b="0" i="0" lang="en" sz="900" u="none" cap="none" strike="noStrike">
                <a:solidFill>
                  <a:srgbClr val="475569"/>
                </a:solidFill>
                <a:latin typeface="Inter"/>
                <a:ea typeface="Inter"/>
                <a:cs typeface="Inter"/>
                <a:sym typeface="Inter"/>
              </a:rPr>
              <a:t>Mô hình hóa chi tiết 6 quy trình tiêu biểu (2 quản lý, 2 cốt lõi, 2 hỗ trợ) bằng sơ đồ luồng có đầy đủ tác nhân, cổng điều kiện và cổng song song.</a:t>
            </a:r>
            <a:endParaRPr/>
          </a:p>
        </p:txBody>
      </p:sp>
      <p:sp>
        <p:nvSpPr>
          <p:cNvPr id="866" name="Google Shape;866;p45"/>
          <p:cNvSpPr/>
          <p:nvPr/>
        </p:nvSpPr>
        <p:spPr>
          <a:xfrm>
            <a:off x="384048" y="2980944"/>
            <a:ext cx="4050791"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7" name="Google Shape;867;p45"/>
          <p:cNvSpPr/>
          <p:nvPr/>
        </p:nvSpPr>
        <p:spPr>
          <a:xfrm>
            <a:off x="384048" y="2980944"/>
            <a:ext cx="4050791"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8" name="Google Shape;868;p45"/>
          <p:cNvSpPr txBox="1"/>
          <p:nvPr/>
        </p:nvSpPr>
        <p:spPr>
          <a:xfrm>
            <a:off x="566928" y="3108960"/>
            <a:ext cx="3685031" cy="116128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600" u="none" cap="none" strike="noStrike">
                <a:solidFill>
                  <a:srgbClr val="007B7C"/>
                </a:solidFill>
                <a:latin typeface="Inter ExtraBold"/>
                <a:ea typeface="Inter ExtraBold"/>
                <a:cs typeface="Inter ExtraBold"/>
                <a:sym typeface="Inter ExtraBold"/>
              </a:rPr>
              <a:t>03   </a:t>
            </a:r>
            <a:r>
              <a:rPr b="1" i="0" lang="en" sz="1200" u="none" cap="none" strike="noStrike">
                <a:solidFill>
                  <a:srgbClr val="0F172A"/>
                </a:solidFill>
                <a:latin typeface="Inter ExtraBold"/>
                <a:ea typeface="Inter ExtraBold"/>
                <a:cs typeface="Inter ExtraBold"/>
                <a:sym typeface="Inter ExtraBold"/>
              </a:rPr>
              <a:t>Phương pháp thực hiện</a:t>
            </a:r>
            <a:endParaRPr/>
          </a:p>
          <a:p>
            <a:pPr indent="0" lvl="0" marL="0" marR="0" rtl="0" algn="l">
              <a:lnSpc>
                <a:spcPct val="115000"/>
              </a:lnSpc>
              <a:spcBef>
                <a:spcPts val="600"/>
              </a:spcBef>
              <a:spcAft>
                <a:spcPts val="0"/>
              </a:spcAft>
              <a:buNone/>
            </a:pPr>
            <a:r>
              <a:rPr b="0" i="0" lang="en" sz="900" u="none" cap="none" strike="noStrike">
                <a:solidFill>
                  <a:srgbClr val="475569"/>
                </a:solidFill>
                <a:latin typeface="Inter"/>
                <a:ea typeface="Inter"/>
                <a:cs typeface="Inter"/>
                <a:sym typeface="Inter"/>
              </a:rPr>
              <a:t>Xây dựng phương pháp dựa trên bằng chứng kết hợp bộ câu hỏi phỏng vấn 20 câu (định tính và định lượng).</a:t>
            </a:r>
            <a:endParaRPr/>
          </a:p>
        </p:txBody>
      </p:sp>
      <p:sp>
        <p:nvSpPr>
          <p:cNvPr id="869" name="Google Shape;869;p45"/>
          <p:cNvSpPr/>
          <p:nvPr/>
        </p:nvSpPr>
        <p:spPr>
          <a:xfrm>
            <a:off x="4709159" y="2980944"/>
            <a:ext cx="4050791" cy="1417320"/>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70" name="Google Shape;870;p45"/>
          <p:cNvSpPr/>
          <p:nvPr/>
        </p:nvSpPr>
        <p:spPr>
          <a:xfrm>
            <a:off x="4709159" y="2980944"/>
            <a:ext cx="4050791"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71" name="Google Shape;871;p45"/>
          <p:cNvSpPr txBox="1"/>
          <p:nvPr/>
        </p:nvSpPr>
        <p:spPr>
          <a:xfrm>
            <a:off x="4892040" y="3108960"/>
            <a:ext cx="3685031" cy="116128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600" u="none" cap="none" strike="noStrike">
                <a:solidFill>
                  <a:srgbClr val="0284C7"/>
                </a:solidFill>
                <a:latin typeface="Inter ExtraBold"/>
                <a:ea typeface="Inter ExtraBold"/>
                <a:cs typeface="Inter ExtraBold"/>
                <a:sym typeface="Inter ExtraBold"/>
              </a:rPr>
              <a:t>04   </a:t>
            </a:r>
            <a:r>
              <a:rPr b="1" i="0" lang="en" sz="1200" u="none" cap="none" strike="noStrike">
                <a:solidFill>
                  <a:srgbClr val="0F172A"/>
                </a:solidFill>
                <a:latin typeface="Inter ExtraBold"/>
                <a:ea typeface="Inter ExtraBold"/>
                <a:cs typeface="Inter ExtraBold"/>
                <a:sym typeface="Inter ExtraBold"/>
              </a:rPr>
              <a:t>Phân tích chuyên sâu</a:t>
            </a:r>
            <a:endParaRPr/>
          </a:p>
          <a:p>
            <a:pPr indent="0" lvl="0" marL="0" marR="0" rtl="0" algn="l">
              <a:lnSpc>
                <a:spcPct val="115000"/>
              </a:lnSpc>
              <a:spcBef>
                <a:spcPts val="600"/>
              </a:spcBef>
              <a:spcAft>
                <a:spcPts val="0"/>
              </a:spcAft>
              <a:buNone/>
            </a:pPr>
            <a:r>
              <a:rPr b="0" i="0" lang="en" sz="900" u="none" cap="none" strike="noStrike">
                <a:solidFill>
                  <a:srgbClr val="475569"/>
                </a:solidFill>
                <a:latin typeface="Inter"/>
                <a:ea typeface="Inter"/>
                <a:cs typeface="Inter"/>
                <a:sym typeface="Inter"/>
              </a:rPr>
              <a:t>Phân tích định tính (giá trị gia tăng, lãng phí, sơ đồ xương cá) và định lượng (thời gian, chất lượng, chi phí) trên 2 quy trình cốt lõi trọng yếu.</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sp>
        <p:nvSpPr>
          <p:cNvPr id="876" name="Google Shape;876;p46"/>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77" name="Google Shape;877;p46"/>
          <p:cNvGrpSpPr/>
          <p:nvPr/>
        </p:nvGrpSpPr>
        <p:grpSpPr>
          <a:xfrm>
            <a:off x="8458200" y="381000"/>
            <a:ext cx="304800" cy="304800"/>
            <a:chOff x="0" y="0"/>
            <a:chExt cx="304800" cy="304800"/>
          </a:xfrm>
        </p:grpSpPr>
        <p:sp>
          <p:nvSpPr>
            <p:cNvPr id="878" name="Google Shape;878;p46"/>
            <p:cNvSpPr/>
            <p:nvPr/>
          </p:nvSpPr>
          <p:spPr>
            <a:xfrm>
              <a:off x="0" y="0"/>
              <a:ext cx="304800" cy="304800"/>
            </a:xfrm>
            <a:prstGeom prst="roundRect">
              <a:avLst>
                <a:gd fmla="val 12500" name="adj"/>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 name="Google Shape;879;p46"/>
            <p:cNvSpPr/>
            <p:nvPr/>
          </p:nvSpPr>
          <p:spPr>
            <a:xfrm>
              <a:off x="95250" y="95250"/>
              <a:ext cx="114300" cy="114300"/>
            </a:xfrm>
            <a:custGeom>
              <a:rect b="b" l="l" r="r" t="t"/>
              <a:pathLst>
                <a:path extrusionOk="0" h="120000" w="12000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 name="Google Shape;880;p46"/>
            <p:cNvSpPr/>
            <p:nvPr/>
          </p:nvSpPr>
          <p:spPr>
            <a:xfrm>
              <a:off x="123825" y="123825"/>
              <a:ext cx="57300" cy="57300"/>
            </a:xfrm>
            <a:prstGeom prst="ellipse">
              <a:avLst/>
            </a:prstGeom>
            <a:solidFill>
              <a:srgbClr val="007B7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881" name="Google Shape;881;p46"/>
          <p:cNvCxnSpPr/>
          <p:nvPr/>
        </p:nvCxnSpPr>
        <p:spPr>
          <a:xfrm>
            <a:off x="381000" y="1143000"/>
            <a:ext cx="8382000" cy="0"/>
          </a:xfrm>
          <a:prstGeom prst="straightConnector1">
            <a:avLst/>
          </a:prstGeom>
          <a:solidFill>
            <a:srgbClr val="FFFFFF"/>
          </a:solidFill>
          <a:ln cap="flat" cmpd="sng" w="14300">
            <a:solidFill>
              <a:srgbClr val="E2E8F0"/>
            </a:solidFill>
            <a:prstDash val="solid"/>
            <a:round/>
            <a:headEnd len="sm" w="sm" type="none"/>
            <a:tailEnd len="sm" w="sm" type="none"/>
          </a:ln>
        </p:spPr>
      </p:cxnSp>
      <p:sp>
        <p:nvSpPr>
          <p:cNvPr id="882" name="Google Shape;882;p46"/>
          <p:cNvSpPr txBox="1"/>
          <p:nvPr/>
        </p:nvSpPr>
        <p:spPr>
          <a:xfrm>
            <a:off x="381000" y="333375"/>
            <a:ext cx="7620000" cy="762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0" i="0" lang="en" sz="2000" u="none" cap="none" strike="noStrike">
                <a:solidFill>
                  <a:srgbClr val="0F172A"/>
                </a:solidFill>
                <a:latin typeface="Inter ExtraBold"/>
                <a:ea typeface="Inter ExtraBold"/>
                <a:cs typeface="Inter ExtraBold"/>
                <a:sym typeface="Inter ExtraBold"/>
              </a:rPr>
              <a:t>Hạn chế và hướng phát triển</a:t>
            </a:r>
            <a:endParaRPr b="0" i="0" sz="2000" u="none" cap="none" strike="noStrike">
              <a:solidFill>
                <a:srgbClr val="0F172A"/>
              </a:solidFill>
              <a:latin typeface="Inter ExtraBold"/>
              <a:ea typeface="Inter ExtraBold"/>
              <a:cs typeface="Inter ExtraBold"/>
              <a:sym typeface="Inter ExtraBold"/>
            </a:endParaRPr>
          </a:p>
          <a:p>
            <a:pPr indent="0" lvl="0" marL="0" marR="0" rtl="0" algn="l">
              <a:lnSpc>
                <a:spcPct val="100000"/>
              </a:lnSpc>
              <a:spcBef>
                <a:spcPts val="375"/>
              </a:spcBef>
              <a:spcAft>
                <a:spcPts val="0"/>
              </a:spcAft>
              <a:buClr>
                <a:srgbClr val="000000"/>
              </a:buClr>
              <a:buSzPts val="1100"/>
              <a:buFont typeface="Arial"/>
              <a:buNone/>
            </a:pPr>
            <a:r>
              <a:rPr b="0" i="0" lang="en" sz="1100" u="none" cap="none" strike="noStrike">
                <a:solidFill>
                  <a:srgbClr val="007B7C"/>
                </a:solidFill>
                <a:latin typeface="Inter SemiBold"/>
                <a:ea typeface="Inter SemiBold"/>
                <a:cs typeface="Inter SemiBold"/>
                <a:sym typeface="Inter SemiBold"/>
              </a:rPr>
              <a:t>Những điểm cần lưu ý và mở rộng khi triển khai thực tế</a:t>
            </a:r>
            <a:endParaRPr b="0" i="0" sz="1100" u="none" cap="none" strike="noStrike">
              <a:solidFill>
                <a:srgbClr val="007B7C"/>
              </a:solidFill>
              <a:latin typeface="Inter SemiBold"/>
              <a:ea typeface="Inter SemiBold"/>
              <a:cs typeface="Inter SemiBold"/>
              <a:sym typeface="Inter SemiBold"/>
            </a:endParaRPr>
          </a:p>
        </p:txBody>
      </p:sp>
      <p:sp>
        <p:nvSpPr>
          <p:cNvPr id="883" name="Google Shape;883;p46"/>
          <p:cNvSpPr/>
          <p:nvPr/>
        </p:nvSpPr>
        <p:spPr>
          <a:xfrm>
            <a:off x="384048" y="1335024"/>
            <a:ext cx="8375904" cy="93268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4" name="Google Shape;884;p46"/>
          <p:cNvSpPr/>
          <p:nvPr/>
        </p:nvSpPr>
        <p:spPr>
          <a:xfrm>
            <a:off x="384048" y="1335024"/>
            <a:ext cx="8375904" cy="54864"/>
          </a:xfrm>
          <a:prstGeom prst="rect">
            <a:avLst/>
          </a:prstGeom>
          <a:solidFill>
            <a:srgbClr val="D9770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5" name="Google Shape;885;p46"/>
          <p:cNvSpPr txBox="1"/>
          <p:nvPr/>
        </p:nvSpPr>
        <p:spPr>
          <a:xfrm>
            <a:off x="585216" y="1453895"/>
            <a:ext cx="7973568" cy="694944"/>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Số liệu minh họa</a:t>
            </a:r>
            <a:endParaRPr/>
          </a:p>
          <a:p>
            <a:pPr indent="0" lvl="0" marL="0" marR="0" rtl="0" algn="l">
              <a:lnSpc>
                <a:spcPct val="115000"/>
              </a:lnSpc>
              <a:spcBef>
                <a:spcPts val="400"/>
              </a:spcBef>
              <a:spcAft>
                <a:spcPts val="0"/>
              </a:spcAft>
              <a:buNone/>
            </a:pPr>
            <a:r>
              <a:rPr b="0" i="0" lang="en" sz="930" u="none" cap="none" strike="noStrike">
                <a:solidFill>
                  <a:srgbClr val="475569"/>
                </a:solidFill>
                <a:latin typeface="Inter"/>
                <a:ea typeface="Inter"/>
                <a:cs typeface="Inter"/>
                <a:sym typeface="Inter"/>
              </a:rPr>
              <a:t>Số liệu định lượng trong Chương 4 là số liệu ước tính minh họa; cần thay thế bằng dữ liệu thống kê thực tế từ hệ thống khi triển khai chính thức.</a:t>
            </a:r>
            <a:endParaRPr/>
          </a:p>
        </p:txBody>
      </p:sp>
      <p:sp>
        <p:nvSpPr>
          <p:cNvPr id="886" name="Google Shape;886;p46"/>
          <p:cNvSpPr/>
          <p:nvPr/>
        </p:nvSpPr>
        <p:spPr>
          <a:xfrm>
            <a:off x="384048" y="2414015"/>
            <a:ext cx="8375904" cy="93268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7" name="Google Shape;887;p46"/>
          <p:cNvSpPr/>
          <p:nvPr/>
        </p:nvSpPr>
        <p:spPr>
          <a:xfrm>
            <a:off x="384048" y="2414015"/>
            <a:ext cx="8375904" cy="54864"/>
          </a:xfrm>
          <a:prstGeom prst="rect">
            <a:avLst/>
          </a:prstGeom>
          <a:solidFill>
            <a:srgbClr val="0284C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8" name="Google Shape;888;p46"/>
          <p:cNvSpPr txBox="1"/>
          <p:nvPr/>
        </p:nvSpPr>
        <p:spPr>
          <a:xfrm>
            <a:off x="585216" y="2532887"/>
            <a:ext cx="7973568" cy="694944"/>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Mở rộng mô hình hóa</a:t>
            </a:r>
            <a:endParaRPr/>
          </a:p>
          <a:p>
            <a:pPr indent="0" lvl="0" marL="0" marR="0" rtl="0" algn="l">
              <a:lnSpc>
                <a:spcPct val="115000"/>
              </a:lnSpc>
              <a:spcBef>
                <a:spcPts val="400"/>
              </a:spcBef>
              <a:spcAft>
                <a:spcPts val="0"/>
              </a:spcAft>
              <a:buNone/>
            </a:pPr>
            <a:r>
              <a:rPr b="0" i="0" lang="en" sz="930" u="none" cap="none" strike="noStrike">
                <a:solidFill>
                  <a:srgbClr val="475569"/>
                </a:solidFill>
                <a:latin typeface="Inter"/>
                <a:ea typeface="Inter"/>
                <a:cs typeface="Inter"/>
                <a:sym typeface="Inter"/>
              </a:rPr>
              <a:t>Có thể mở rộng mô hình hóa cho 4 quy trình còn lại (Quản lý bảo hành thiết bị, Khách hàng đặt booking, Khách hàng thanh toán &amp; đóng booking, Quản lý kho linh kiện) để có bức tranh đầy đủ hơn.</a:t>
            </a:r>
            <a:endParaRPr/>
          </a:p>
        </p:txBody>
      </p:sp>
      <p:sp>
        <p:nvSpPr>
          <p:cNvPr id="889" name="Google Shape;889;p46"/>
          <p:cNvSpPr/>
          <p:nvPr/>
        </p:nvSpPr>
        <p:spPr>
          <a:xfrm>
            <a:off x="384048" y="3493008"/>
            <a:ext cx="8375904" cy="932688"/>
          </a:xfrm>
          <a:prstGeom prst="rect">
            <a:avLst/>
          </a:prstGeom>
          <a:solidFill>
            <a:srgbClr val="FFFFFF"/>
          </a:solidFill>
          <a:ln cap="flat" cmpd="sng" w="12700">
            <a:solidFill>
              <a:srgbClr val="E2E8F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0" name="Google Shape;890;p46"/>
          <p:cNvSpPr/>
          <p:nvPr/>
        </p:nvSpPr>
        <p:spPr>
          <a:xfrm>
            <a:off x="384048" y="3493008"/>
            <a:ext cx="8375904" cy="54864"/>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1" name="Google Shape;891;p46"/>
          <p:cNvSpPr txBox="1"/>
          <p:nvPr/>
        </p:nvSpPr>
        <p:spPr>
          <a:xfrm>
            <a:off x="585216" y="3611879"/>
            <a:ext cx="7973568" cy="694944"/>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100" u="none" cap="none" strike="noStrike">
                <a:solidFill>
                  <a:srgbClr val="0F172A"/>
                </a:solidFill>
                <a:latin typeface="Inter ExtraBold"/>
                <a:ea typeface="Inter ExtraBold"/>
                <a:cs typeface="Inter ExtraBold"/>
                <a:sym typeface="Inter ExtraBold"/>
              </a:rPr>
              <a:t>Phỏng vấn thực tế</a:t>
            </a:r>
            <a:endParaRPr/>
          </a:p>
          <a:p>
            <a:pPr indent="0" lvl="0" marL="0" marR="0" rtl="0" algn="l">
              <a:lnSpc>
                <a:spcPct val="115000"/>
              </a:lnSpc>
              <a:spcBef>
                <a:spcPts val="400"/>
              </a:spcBef>
              <a:spcAft>
                <a:spcPts val="0"/>
              </a:spcAft>
              <a:buNone/>
            </a:pPr>
            <a:r>
              <a:rPr b="0" i="0" lang="en" sz="930" u="none" cap="none" strike="noStrike">
                <a:solidFill>
                  <a:srgbClr val="475569"/>
                </a:solidFill>
                <a:latin typeface="Inter"/>
                <a:ea typeface="Inter"/>
                <a:cs typeface="Inter"/>
                <a:sym typeface="Inter"/>
              </a:rPr>
              <a:t>Cần bổ sung phỏng vấn thực tế với các bên liên quan (CS, KTV, QA Manager, nhân viên kho) để kiểm chứng và tinh chỉnh lại số liệu, nguyên nhân đã nêu trong sơ đồ Fishbone.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sp>
        <p:nvSpPr>
          <p:cNvPr id="896" name="Google Shape;896;p47"/>
          <p:cNvSpPr/>
          <p:nvPr/>
        </p:nvSpPr>
        <p:spPr>
          <a:xfrm>
            <a:off x="-101425" y="-72425"/>
            <a:ext cx="9144000" cy="5143500"/>
          </a:xfrm>
          <a:prstGeom prst="rect">
            <a:avLst/>
          </a:prstGeom>
          <a:solidFill>
            <a:srgbClr val="FFFFF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47"/>
          <p:cNvSpPr/>
          <p:nvPr/>
        </p:nvSpPr>
        <p:spPr>
          <a:xfrm>
            <a:off x="0" y="0"/>
            <a:ext cx="9144000" cy="128016"/>
          </a:xfrm>
          <a:prstGeom prst="rect">
            <a:avLst/>
          </a:prstGeom>
          <a:solidFill>
            <a:srgbClr val="007B7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8" name="Google Shape;898;p47"/>
          <p:cNvSpPr txBox="1"/>
          <p:nvPr/>
        </p:nvSpPr>
        <p:spPr>
          <a:xfrm>
            <a:off x="731520" y="1737360"/>
            <a:ext cx="7680960" cy="914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2600" u="none" cap="none" strike="noStrike">
                <a:solidFill>
                  <a:srgbClr val="0F172A"/>
                </a:solidFill>
                <a:latin typeface="Inter ExtraBold"/>
                <a:ea typeface="Inter ExtraBold"/>
                <a:cs typeface="Inter ExtraBold"/>
                <a:sym typeface="Inter ExtraBold"/>
              </a:rPr>
              <a:t>Cảm ơn Thầy và các bạn đã lắng nghe</a:t>
            </a:r>
            <a:endParaRPr/>
          </a:p>
        </p:txBody>
      </p:sp>
      <p:sp>
        <p:nvSpPr>
          <p:cNvPr id="899" name="Google Shape;899;p47"/>
          <p:cNvSpPr txBox="1"/>
          <p:nvPr/>
        </p:nvSpPr>
        <p:spPr>
          <a:xfrm>
            <a:off x="731520" y="2514600"/>
            <a:ext cx="7680960" cy="4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1250" u="none" cap="none" strike="noStrike">
                <a:solidFill>
                  <a:srgbClr val="007B7C"/>
                </a:solidFill>
                <a:latin typeface="Inter SemiBold"/>
                <a:ea typeface="Inter SemiBold"/>
                <a:cs typeface="Inter SemiBold"/>
                <a:sym typeface="Inter SemiBold"/>
              </a:rPr>
              <a:t>Phân tích và mô hình hóa Quy trình Nghiệp vụ — Hệ thống đặt lịch sửa chữa thiết bị (Booking)</a:t>
            </a:r>
            <a:endParaRPr/>
          </a:p>
        </p:txBody>
      </p:sp>
      <p:sp>
        <p:nvSpPr>
          <p:cNvPr id="900" name="Google Shape;900;p47"/>
          <p:cNvSpPr txBox="1"/>
          <p:nvPr/>
        </p:nvSpPr>
        <p:spPr>
          <a:xfrm>
            <a:off x="731520" y="3246120"/>
            <a:ext cx="7680960" cy="27432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1050" u="none" cap="none" strike="noStrike">
                <a:solidFill>
                  <a:srgbClr val="64748B"/>
                </a:solidFill>
                <a:latin typeface="Inter"/>
                <a:ea typeface="Inter"/>
                <a:cs typeface="Inter"/>
                <a:sym typeface="Inter"/>
              </a:rPr>
              <a:t>Rất mong nhận được câu hỏi và góp ý từ Thầy và các bạn</a:t>
            </a:r>
            <a:endParaRPr/>
          </a:p>
        </p:txBody>
      </p:sp>
      <p:sp>
        <p:nvSpPr>
          <p:cNvPr id="901" name="Google Shape;901;p47"/>
          <p:cNvSpPr/>
          <p:nvPr/>
        </p:nvSpPr>
        <p:spPr>
          <a:xfrm>
            <a:off x="3977639" y="3794760"/>
            <a:ext cx="1188720" cy="18288"/>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02" name="Google Shape;902;p47"/>
          <p:cNvSpPr txBox="1"/>
          <p:nvPr/>
        </p:nvSpPr>
        <p:spPr>
          <a:xfrm>
            <a:off x="731520" y="4023360"/>
            <a:ext cx="7680960" cy="5486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1000" u="none" cap="none" strike="noStrike">
                <a:solidFill>
                  <a:srgbClr val="0F172A"/>
                </a:solidFill>
                <a:latin typeface="Inter SemiBold"/>
                <a:ea typeface="Inter SemiBold"/>
                <a:cs typeface="Inter SemiBold"/>
                <a:sym typeface="Inter SemiBold"/>
              </a:rPr>
              <a:t>GVHD: ThS. Hà Lê Hoài Trung    •    Nhóm 14</a:t>
            </a:r>
            <a:endParaRPr/>
          </a:p>
          <a:p>
            <a:pPr indent="0" lvl="0" marL="0" marR="0" rtl="0" algn="ctr">
              <a:lnSpc>
                <a:spcPct val="100000"/>
              </a:lnSpc>
              <a:spcBef>
                <a:spcPts val="400"/>
              </a:spcBef>
              <a:spcAft>
                <a:spcPts val="0"/>
              </a:spcAft>
              <a:buNone/>
            </a:pPr>
            <a:r>
              <a:rPr b="0" i="0" lang="en" sz="950" u="none" cap="none" strike="noStrike">
                <a:solidFill>
                  <a:srgbClr val="475569"/>
                </a:solidFill>
                <a:latin typeface="Inter"/>
                <a:ea typeface="Inter"/>
                <a:cs typeface="Inter"/>
                <a:sym typeface="Inter"/>
              </a:rPr>
              <a:t>Đỗ Kim Long – Nguyễn Hoàng Tân – Nguyễn Ngọc Thanh Thùy – Lê Thị Bích Tuyền</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