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Inter SemiBold"/>
      <p:regular r:id="rId20"/>
      <p:bold r:id="rId21"/>
      <p:italic r:id="rId22"/>
      <p:boldItalic r:id="rId23"/>
    </p:embeddedFont>
    <p:embeddedFont>
      <p:font typeface="Roboto"/>
      <p:regular r:id="rId24"/>
      <p:bold r:id="rId25"/>
      <p:italic r:id="rId26"/>
      <p:boldItalic r:id="rId27"/>
    </p:embeddedFont>
    <p:embeddedFont>
      <p:font typeface="Roboto Medium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Inter ExtraBold"/>
      <p:bold r:id="rId36"/>
      <p:boldItalic r:id="rId37"/>
    </p:embeddedFont>
    <p:embeddedFont>
      <p:font typeface="Inter Medium"/>
      <p:regular r:id="rId38"/>
      <p:bold r:id="rId39"/>
      <p:italic r:id="rId40"/>
      <p:boldItalic r:id="rId41"/>
    </p:embeddedFont>
    <p:embeddedFont>
      <p:font typeface="JetBrains Mono"/>
      <p:regular r:id="rId42"/>
      <p:bold r:id="rId43"/>
      <p:italic r:id="rId44"/>
      <p:boldItalic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46" roundtripDataSignature="AMtx7mhICt+qMZ9pUcMeLURawXcKuW1TA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Medium-italic.fntdata"/><Relationship Id="rId20" Type="http://schemas.openxmlformats.org/officeDocument/2006/relationships/font" Target="fonts/InterSemiBold-regular.fntdata"/><Relationship Id="rId42" Type="http://schemas.openxmlformats.org/officeDocument/2006/relationships/font" Target="fonts/JetBrainsMono-regular.fntdata"/><Relationship Id="rId41" Type="http://schemas.openxmlformats.org/officeDocument/2006/relationships/font" Target="fonts/InterMedium-boldItalic.fntdata"/><Relationship Id="rId22" Type="http://schemas.openxmlformats.org/officeDocument/2006/relationships/font" Target="fonts/InterSemiBold-italic.fntdata"/><Relationship Id="rId44" Type="http://schemas.openxmlformats.org/officeDocument/2006/relationships/font" Target="fonts/JetBrainsMono-italic.fntdata"/><Relationship Id="rId21" Type="http://schemas.openxmlformats.org/officeDocument/2006/relationships/font" Target="fonts/InterSemiBold-bold.fntdata"/><Relationship Id="rId43" Type="http://schemas.openxmlformats.org/officeDocument/2006/relationships/font" Target="fonts/JetBrainsMono-bold.fntdata"/><Relationship Id="rId24" Type="http://schemas.openxmlformats.org/officeDocument/2006/relationships/font" Target="fonts/Roboto-regular.fntdata"/><Relationship Id="rId46" Type="http://customschemas.google.com/relationships/presentationmetadata" Target="metadata"/><Relationship Id="rId23" Type="http://schemas.openxmlformats.org/officeDocument/2006/relationships/font" Target="fonts/InterSemiBold-boldItalic.fntdata"/><Relationship Id="rId45" Type="http://schemas.openxmlformats.org/officeDocument/2006/relationships/font" Target="fonts/JetBrainsMono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oboto-italic.fntdata"/><Relationship Id="rId25" Type="http://schemas.openxmlformats.org/officeDocument/2006/relationships/font" Target="fonts/Roboto-bold.fntdata"/><Relationship Id="rId28" Type="http://schemas.openxmlformats.org/officeDocument/2006/relationships/font" Target="fonts/RobotoMedium-regular.fntdata"/><Relationship Id="rId27" Type="http://schemas.openxmlformats.org/officeDocument/2006/relationships/font" Target="fonts/Robo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obotoMedium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obotoMedium-boldItalic.fntdata"/><Relationship Id="rId30" Type="http://schemas.openxmlformats.org/officeDocument/2006/relationships/font" Target="fonts/RobotoMedium-italic.fntdata"/><Relationship Id="rId11" Type="http://schemas.openxmlformats.org/officeDocument/2006/relationships/slide" Target="slides/slide6.xml"/><Relationship Id="rId33" Type="http://schemas.openxmlformats.org/officeDocument/2006/relationships/font" Target="fonts/Inter-bold.fntdata"/><Relationship Id="rId10" Type="http://schemas.openxmlformats.org/officeDocument/2006/relationships/slide" Target="slides/slide5.xml"/><Relationship Id="rId32" Type="http://schemas.openxmlformats.org/officeDocument/2006/relationships/font" Target="fonts/Inter-regular.fntdata"/><Relationship Id="rId13" Type="http://schemas.openxmlformats.org/officeDocument/2006/relationships/slide" Target="slides/slide8.xml"/><Relationship Id="rId35" Type="http://schemas.openxmlformats.org/officeDocument/2006/relationships/font" Target="fonts/Inter-boldItalic.fntdata"/><Relationship Id="rId12" Type="http://schemas.openxmlformats.org/officeDocument/2006/relationships/slide" Target="slides/slide7.xml"/><Relationship Id="rId34" Type="http://schemas.openxmlformats.org/officeDocument/2006/relationships/font" Target="fonts/Inter-italic.fntdata"/><Relationship Id="rId15" Type="http://schemas.openxmlformats.org/officeDocument/2006/relationships/slide" Target="slides/slide10.xml"/><Relationship Id="rId37" Type="http://schemas.openxmlformats.org/officeDocument/2006/relationships/font" Target="fonts/InterExtraBold-boldItalic.fntdata"/><Relationship Id="rId14" Type="http://schemas.openxmlformats.org/officeDocument/2006/relationships/slide" Target="slides/slide9.xml"/><Relationship Id="rId36" Type="http://schemas.openxmlformats.org/officeDocument/2006/relationships/font" Target="fonts/InterExtraBold-bold.fntdata"/><Relationship Id="rId17" Type="http://schemas.openxmlformats.org/officeDocument/2006/relationships/slide" Target="slides/slide12.xml"/><Relationship Id="rId39" Type="http://schemas.openxmlformats.org/officeDocument/2006/relationships/font" Target="fonts/InterMedium-bold.fntdata"/><Relationship Id="rId16" Type="http://schemas.openxmlformats.org/officeDocument/2006/relationships/slide" Target="slides/slide11.xml"/><Relationship Id="rId38" Type="http://schemas.openxmlformats.org/officeDocument/2006/relationships/font" Target="fonts/InterMedium-regular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a2edf34e3_1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g3fa2edf34e3_1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409ba8b39cb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409ba8b39cb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6" name="Google Shape;44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6" name="Google Shape;50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8" name="Google Shape;54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2" name="Google Shape;57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1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1" name="Google Shape;64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9d386ef0c_13_0)">
  <p:cSld name="Generated (g3f9d386ef0c_13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56" name="Google Shape;56;p1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1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1"/>
            <p:cNvSpPr/>
            <p:nvPr/>
          </p:nvSpPr>
          <p:spPr>
            <a:xfrm>
              <a:off x="8191500" y="0"/>
              <a:ext cx="952500" cy="9525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1"/>
            <p:cNvSpPr/>
            <p:nvPr/>
          </p:nvSpPr>
          <p:spPr>
            <a:xfrm>
              <a:off x="381000" y="4667250"/>
              <a:ext cx="8382000" cy="9600"/>
            </a:xfrm>
            <a:prstGeom prst="rect">
              <a:avLst/>
            </a:prstGeom>
            <a:solidFill>
              <a:srgbClr val="FFFFFF">
                <a:alpha val="30196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1"/>
            <p:cNvSpPr txBox="1"/>
            <p:nvPr/>
          </p:nvSpPr>
          <p:spPr>
            <a:xfrm>
              <a:off x="381000" y="4762500"/>
              <a:ext cx="8382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SYSTEM ANALYSIS &amp; BPMN MODELING</a:t>
              </a:r>
              <a:endParaRPr b="0" i="0" sz="100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61" name="Google Shape;61;p1"/>
          <p:cNvGrpSpPr/>
          <p:nvPr/>
        </p:nvGrpSpPr>
        <p:grpSpPr>
          <a:xfrm>
            <a:off x="381000" y="285750"/>
            <a:ext cx="7620000" cy="1524000"/>
            <a:chOff x="381000" y="285750"/>
            <a:chExt cx="7620000" cy="1524000"/>
          </a:xfrm>
        </p:grpSpPr>
        <p:sp>
          <p:nvSpPr>
            <p:cNvPr id="62" name="Google Shape;62;p1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1"/>
            <p:cNvSpPr txBox="1"/>
            <p:nvPr/>
          </p:nvSpPr>
          <p:spPr>
            <a:xfrm>
              <a:off x="381000" y="476250"/>
              <a:ext cx="7620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b="0" i="0" lang="en" sz="26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Phân Tích Và Mô Hình Hóa Quy Trình Hệ Thống Booking Sửa Chữa Thiết Bị</a:t>
              </a:r>
              <a:endParaRPr b="0" i="0" sz="26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" sz="1600" u="none" cap="none" strike="noStrike">
                  <a:solidFill>
                    <a:srgbClr val="FF3A2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Nhóm 14 - Môn IE203</a:t>
              </a:r>
              <a:endParaRPr b="0" i="0" sz="1600" u="none" cap="none" strike="noStrike">
                <a:solidFill>
                  <a:srgbClr val="FF3A2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64" name="Google Shape;64;p1"/>
          <p:cNvGrpSpPr/>
          <p:nvPr/>
        </p:nvGrpSpPr>
        <p:grpSpPr>
          <a:xfrm>
            <a:off x="381000" y="2000250"/>
            <a:ext cx="8382075" cy="2228850"/>
            <a:chOff x="381000" y="2000250"/>
            <a:chExt cx="8382075" cy="2228850"/>
          </a:xfrm>
        </p:grpSpPr>
        <p:grpSp>
          <p:nvGrpSpPr>
            <p:cNvPr id="65" name="Google Shape;65;p1"/>
            <p:cNvGrpSpPr/>
            <p:nvPr/>
          </p:nvGrpSpPr>
          <p:grpSpPr>
            <a:xfrm>
              <a:off x="381000" y="2000250"/>
              <a:ext cx="4048200" cy="762000"/>
              <a:chOff x="381000" y="2000250"/>
              <a:chExt cx="4048200" cy="762000"/>
            </a:xfrm>
          </p:grpSpPr>
          <p:sp>
            <p:nvSpPr>
              <p:cNvPr id="66" name="Google Shape;66;p1"/>
              <p:cNvSpPr/>
              <p:nvPr/>
            </p:nvSpPr>
            <p:spPr>
              <a:xfrm>
                <a:off x="381000" y="2000250"/>
                <a:ext cx="4048200" cy="7620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7" name="Google Shape;67;p1"/>
              <p:cNvSpPr/>
              <p:nvPr/>
            </p:nvSpPr>
            <p:spPr>
              <a:xfrm>
                <a:off x="381000" y="2000250"/>
                <a:ext cx="38100" cy="7620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8" name="Google Shape;68;p1"/>
              <p:cNvSpPr txBox="1"/>
              <p:nvPr/>
            </p:nvSpPr>
            <p:spPr>
              <a:xfrm>
                <a:off x="571500" y="2000250"/>
                <a:ext cx="36672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1" i="0" lang="en" sz="13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Đỗ Kim Long</a:t>
                </a:r>
                <a:endParaRPr b="1" i="0" sz="13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33A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MSSV: 25210135</a:t>
                </a:r>
                <a:endParaRPr b="0" i="0" sz="9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69" name="Google Shape;69;p1"/>
            <p:cNvGrpSpPr/>
            <p:nvPr/>
          </p:nvGrpSpPr>
          <p:grpSpPr>
            <a:xfrm>
              <a:off x="4714875" y="2000250"/>
              <a:ext cx="4048200" cy="762000"/>
              <a:chOff x="4714875" y="2000250"/>
              <a:chExt cx="4048200" cy="762000"/>
            </a:xfrm>
          </p:grpSpPr>
          <p:sp>
            <p:nvSpPr>
              <p:cNvPr id="70" name="Google Shape;70;p1"/>
              <p:cNvSpPr/>
              <p:nvPr/>
            </p:nvSpPr>
            <p:spPr>
              <a:xfrm>
                <a:off x="4714875" y="2000250"/>
                <a:ext cx="4048200" cy="7620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" name="Google Shape;71;p1"/>
              <p:cNvSpPr/>
              <p:nvPr/>
            </p:nvSpPr>
            <p:spPr>
              <a:xfrm>
                <a:off x="4714875" y="2000250"/>
                <a:ext cx="38100" cy="7620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2" name="Google Shape;72;p1"/>
              <p:cNvSpPr txBox="1"/>
              <p:nvPr/>
            </p:nvSpPr>
            <p:spPr>
              <a:xfrm>
                <a:off x="4905375" y="2000250"/>
                <a:ext cx="36672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1" i="0" lang="en" sz="13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Nguyễn Hoàng Tân</a:t>
                </a:r>
                <a:endParaRPr b="1" i="0" sz="13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33A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MSSV: 25210188</a:t>
                </a:r>
                <a:endParaRPr b="0" i="0" sz="9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73" name="Google Shape;73;p1"/>
            <p:cNvGrpSpPr/>
            <p:nvPr/>
          </p:nvGrpSpPr>
          <p:grpSpPr>
            <a:xfrm>
              <a:off x="381000" y="2952750"/>
              <a:ext cx="4048200" cy="762000"/>
              <a:chOff x="381000" y="2952750"/>
              <a:chExt cx="4048200" cy="762000"/>
            </a:xfrm>
          </p:grpSpPr>
          <p:sp>
            <p:nvSpPr>
              <p:cNvPr id="74" name="Google Shape;74;p1"/>
              <p:cNvSpPr/>
              <p:nvPr/>
            </p:nvSpPr>
            <p:spPr>
              <a:xfrm>
                <a:off x="381000" y="2952750"/>
                <a:ext cx="4048200" cy="7620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" name="Google Shape;75;p1"/>
              <p:cNvSpPr/>
              <p:nvPr/>
            </p:nvSpPr>
            <p:spPr>
              <a:xfrm>
                <a:off x="381000" y="2952750"/>
                <a:ext cx="38100" cy="7620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" name="Google Shape;76;p1"/>
              <p:cNvSpPr txBox="1"/>
              <p:nvPr/>
            </p:nvSpPr>
            <p:spPr>
              <a:xfrm>
                <a:off x="571500" y="2952750"/>
                <a:ext cx="36672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1" i="0" lang="en" sz="13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Nguyễn Ngọc Thanh Thùy</a:t>
                </a:r>
                <a:endParaRPr b="1" i="0" sz="13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33A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MSSV: 25210208</a:t>
                </a:r>
                <a:endParaRPr b="0" i="0" sz="9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77" name="Google Shape;77;p1"/>
            <p:cNvGrpSpPr/>
            <p:nvPr/>
          </p:nvGrpSpPr>
          <p:grpSpPr>
            <a:xfrm>
              <a:off x="4714875" y="2952750"/>
              <a:ext cx="4048200" cy="762000"/>
              <a:chOff x="4714875" y="2952750"/>
              <a:chExt cx="4048200" cy="762000"/>
            </a:xfrm>
          </p:grpSpPr>
          <p:sp>
            <p:nvSpPr>
              <p:cNvPr id="78" name="Google Shape;78;p1"/>
              <p:cNvSpPr/>
              <p:nvPr/>
            </p:nvSpPr>
            <p:spPr>
              <a:xfrm>
                <a:off x="4714875" y="2952750"/>
                <a:ext cx="4048200" cy="7620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" name="Google Shape;79;p1"/>
              <p:cNvSpPr/>
              <p:nvPr/>
            </p:nvSpPr>
            <p:spPr>
              <a:xfrm>
                <a:off x="4714875" y="2952750"/>
                <a:ext cx="38100" cy="7620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" name="Google Shape;80;p1"/>
              <p:cNvSpPr txBox="1"/>
              <p:nvPr/>
            </p:nvSpPr>
            <p:spPr>
              <a:xfrm>
                <a:off x="4905375" y="2952750"/>
                <a:ext cx="36672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1" i="0" lang="en" sz="13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Lê Thị Bích Tuyền</a:t>
                </a:r>
                <a:endParaRPr b="1" i="0" sz="13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33A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MSSV: 25210236</a:t>
                </a:r>
                <a:endParaRPr b="0" i="0" sz="9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81" name="Google Shape;81;p1"/>
            <p:cNvGrpSpPr/>
            <p:nvPr/>
          </p:nvGrpSpPr>
          <p:grpSpPr>
            <a:xfrm>
              <a:off x="381000" y="3886200"/>
              <a:ext cx="8382000" cy="342900"/>
              <a:chOff x="381000" y="3886200"/>
              <a:chExt cx="8382000" cy="342900"/>
            </a:xfrm>
          </p:grpSpPr>
          <p:sp>
            <p:nvSpPr>
              <p:cNvPr id="82" name="Google Shape;82;p1"/>
              <p:cNvSpPr/>
              <p:nvPr/>
            </p:nvSpPr>
            <p:spPr>
              <a:xfrm>
                <a:off x="381000" y="4000500"/>
                <a:ext cx="114300" cy="1143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" name="Google Shape;83;p1"/>
              <p:cNvSpPr txBox="1"/>
              <p:nvPr/>
            </p:nvSpPr>
            <p:spPr>
              <a:xfrm>
                <a:off x="609600" y="3886200"/>
                <a:ext cx="81534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300" u="none" cap="none" strike="noStrike">
                    <a:solidFill>
                      <a:srgbClr val="E8E8E4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Giảng viên hướng dẫn: </a:t>
                </a:r>
                <a:r>
                  <a:rPr b="1" i="0" lang="en" sz="1300" u="none" cap="none" strike="noStrike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ThS. Hà Lê Hoài Trung</a:t>
                </a:r>
                <a:endParaRPr b="0" i="0" sz="1300" u="none" cap="none" strike="noStrike">
                  <a:solidFill>
                    <a:srgbClr val="E8E8E4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4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" name="Google Shape;8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72700" cy="49722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2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"/>
          <p:cNvGrpSpPr/>
          <p:nvPr/>
        </p:nvGrpSpPr>
        <p:grpSpPr>
          <a:xfrm>
            <a:off x="381000" y="285750"/>
            <a:ext cx="8382000" cy="1238400"/>
            <a:chOff x="381000" y="285750"/>
            <a:chExt cx="8382000" cy="1238400"/>
          </a:xfrm>
        </p:grpSpPr>
        <p:sp>
          <p:nvSpPr>
            <p:cNvPr id="92" name="Google Shape;92;p2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381000" y="476250"/>
              <a:ext cx="8382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" sz="240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Tối Ưu Hóa Tiếp Nhận Và Điều Phối Kỹ Thuật Viên Bằng BPMN</a:t>
              </a:r>
              <a:endParaRPr b="0" i="0" sz="240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" sz="1300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Lý do chọn đề tài và các mục tiêu cốt lõi để nâng cao hiệu quả vận hành</a:t>
              </a:r>
              <a:endParaRPr b="0" i="0" sz="1300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94" name="Google Shape;94;p2"/>
          <p:cNvGrpSpPr/>
          <p:nvPr/>
        </p:nvGrpSpPr>
        <p:grpSpPr>
          <a:xfrm>
            <a:off x="381000" y="1905000"/>
            <a:ext cx="8382075" cy="2476500"/>
            <a:chOff x="381000" y="1905000"/>
            <a:chExt cx="8382075" cy="2476500"/>
          </a:xfrm>
        </p:grpSpPr>
        <p:grpSp>
          <p:nvGrpSpPr>
            <p:cNvPr id="95" name="Google Shape;95;p2"/>
            <p:cNvGrpSpPr/>
            <p:nvPr/>
          </p:nvGrpSpPr>
          <p:grpSpPr>
            <a:xfrm>
              <a:off x="381000" y="1905000"/>
              <a:ext cx="1952700" cy="2476500"/>
              <a:chOff x="0" y="0"/>
              <a:chExt cx="1952700" cy="2476500"/>
            </a:xfrm>
          </p:grpSpPr>
          <p:sp>
            <p:nvSpPr>
              <p:cNvPr id="96" name="Google Shape;96;p2"/>
              <p:cNvSpPr/>
              <p:nvPr/>
            </p:nvSpPr>
            <p:spPr>
              <a:xfrm>
                <a:off x="0" y="0"/>
                <a:ext cx="1952700" cy="24765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97" name="Google Shape;97;p2"/>
              <p:cNvGrpSpPr/>
              <p:nvPr/>
            </p:nvGrpSpPr>
            <p:grpSpPr>
              <a:xfrm>
                <a:off x="0" y="0"/>
                <a:ext cx="228600" cy="228600"/>
                <a:chOff x="0" y="0"/>
                <a:chExt cx="228600" cy="228600"/>
              </a:xfrm>
            </p:grpSpPr>
            <p:sp>
              <p:nvSpPr>
                <p:cNvPr id="98" name="Google Shape;98;p2"/>
                <p:cNvSpPr/>
                <p:nvPr/>
              </p:nvSpPr>
              <p:spPr>
                <a:xfrm>
                  <a:off x="0" y="0"/>
                  <a:ext cx="228600" cy="381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9" name="Google Shape;99;p2"/>
                <p:cNvSpPr/>
                <p:nvPr/>
              </p:nvSpPr>
              <p:spPr>
                <a:xfrm>
                  <a:off x="0" y="0"/>
                  <a:ext cx="38100" cy="2286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00" name="Google Shape;100;p2"/>
              <p:cNvSpPr txBox="1"/>
              <p:nvPr/>
            </p:nvSpPr>
            <p:spPr>
              <a:xfrm>
                <a:off x="142875" y="228600"/>
                <a:ext cx="1666800" cy="209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" sz="1000" u="none" cap="none" strike="noStrike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LÝ DO CHỌN ĐỀ TÀI</a:t>
                </a:r>
                <a:endParaRPr b="1" i="0" sz="10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en" sz="18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01</a:t>
                </a:r>
                <a:endParaRPr b="1" i="0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Tối ưu hóa tiếp nhận, giảm thời gian chờ và điều phối kỹ thuật viên hiệu quả.</a:t>
                </a:r>
                <a:endParaRPr b="0" i="0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01" name="Google Shape;101;p2"/>
            <p:cNvGrpSpPr/>
            <p:nvPr/>
          </p:nvGrpSpPr>
          <p:grpSpPr>
            <a:xfrm>
              <a:off x="2524125" y="1905000"/>
              <a:ext cx="1952700" cy="2476500"/>
              <a:chOff x="0" y="0"/>
              <a:chExt cx="1952700" cy="2476500"/>
            </a:xfrm>
          </p:grpSpPr>
          <p:sp>
            <p:nvSpPr>
              <p:cNvPr id="102" name="Google Shape;102;p2"/>
              <p:cNvSpPr/>
              <p:nvPr/>
            </p:nvSpPr>
            <p:spPr>
              <a:xfrm>
                <a:off x="0" y="0"/>
                <a:ext cx="1952700" cy="24765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3" name="Google Shape;103;p2"/>
              <p:cNvGrpSpPr/>
              <p:nvPr/>
            </p:nvGrpSpPr>
            <p:grpSpPr>
              <a:xfrm>
                <a:off x="0" y="0"/>
                <a:ext cx="228600" cy="228600"/>
                <a:chOff x="0" y="0"/>
                <a:chExt cx="228600" cy="228600"/>
              </a:xfrm>
            </p:grpSpPr>
            <p:sp>
              <p:nvSpPr>
                <p:cNvPr id="104" name="Google Shape;104;p2"/>
                <p:cNvSpPr/>
                <p:nvPr/>
              </p:nvSpPr>
              <p:spPr>
                <a:xfrm>
                  <a:off x="0" y="0"/>
                  <a:ext cx="228600" cy="381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5" name="Google Shape;105;p2"/>
                <p:cNvSpPr/>
                <p:nvPr/>
              </p:nvSpPr>
              <p:spPr>
                <a:xfrm>
                  <a:off x="0" y="0"/>
                  <a:ext cx="38100" cy="2286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06" name="Google Shape;106;p2"/>
              <p:cNvSpPr txBox="1"/>
              <p:nvPr/>
            </p:nvSpPr>
            <p:spPr>
              <a:xfrm>
                <a:off x="142875" y="228600"/>
                <a:ext cx="1666800" cy="209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" sz="1000" u="none" cap="none" strike="noStrike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MỤC TIÊU 1</a:t>
                </a:r>
                <a:endParaRPr b="1" i="0" sz="10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en" sz="18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02</a:t>
                </a:r>
                <a:endParaRPr b="1" i="0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Khảo sát và xây dựng mô hình BPMN chuẩn hóa.</a:t>
                </a:r>
                <a:endParaRPr b="0" i="0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07" name="Google Shape;107;p2"/>
            <p:cNvGrpSpPr/>
            <p:nvPr/>
          </p:nvGrpSpPr>
          <p:grpSpPr>
            <a:xfrm>
              <a:off x="4667250" y="1905000"/>
              <a:ext cx="1952700" cy="2476500"/>
              <a:chOff x="0" y="0"/>
              <a:chExt cx="1952700" cy="2476500"/>
            </a:xfrm>
          </p:grpSpPr>
          <p:sp>
            <p:nvSpPr>
              <p:cNvPr id="108" name="Google Shape;108;p2"/>
              <p:cNvSpPr/>
              <p:nvPr/>
            </p:nvSpPr>
            <p:spPr>
              <a:xfrm>
                <a:off x="0" y="0"/>
                <a:ext cx="1952700" cy="24765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9" name="Google Shape;109;p2"/>
              <p:cNvGrpSpPr/>
              <p:nvPr/>
            </p:nvGrpSpPr>
            <p:grpSpPr>
              <a:xfrm>
                <a:off x="0" y="0"/>
                <a:ext cx="228600" cy="228600"/>
                <a:chOff x="0" y="0"/>
                <a:chExt cx="228600" cy="228600"/>
              </a:xfrm>
            </p:grpSpPr>
            <p:sp>
              <p:nvSpPr>
                <p:cNvPr id="110" name="Google Shape;110;p2"/>
                <p:cNvSpPr/>
                <p:nvPr/>
              </p:nvSpPr>
              <p:spPr>
                <a:xfrm>
                  <a:off x="0" y="0"/>
                  <a:ext cx="228600" cy="381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1" name="Google Shape;111;p2"/>
                <p:cNvSpPr/>
                <p:nvPr/>
              </p:nvSpPr>
              <p:spPr>
                <a:xfrm>
                  <a:off x="0" y="0"/>
                  <a:ext cx="38100" cy="2286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12" name="Google Shape;112;p2"/>
              <p:cNvSpPr txBox="1"/>
              <p:nvPr/>
            </p:nvSpPr>
            <p:spPr>
              <a:xfrm>
                <a:off x="142875" y="228600"/>
                <a:ext cx="1666800" cy="209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" sz="1000" u="none" cap="none" strike="noStrike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MỤC TIÊU 2</a:t>
                </a:r>
                <a:endParaRPr b="1" i="0" sz="10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en" sz="18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03</a:t>
                </a:r>
                <a:endParaRPr b="1" i="0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Phân định rõ nhóm quy trình cốt lõi, quản lý và hỗ trợ.</a:t>
                </a:r>
                <a:endParaRPr b="0" i="0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13" name="Google Shape;113;p2"/>
            <p:cNvGrpSpPr/>
            <p:nvPr/>
          </p:nvGrpSpPr>
          <p:grpSpPr>
            <a:xfrm>
              <a:off x="6810375" y="1905000"/>
              <a:ext cx="1952700" cy="2476500"/>
              <a:chOff x="0" y="0"/>
              <a:chExt cx="1952700" cy="2476500"/>
            </a:xfrm>
          </p:grpSpPr>
          <p:sp>
            <p:nvSpPr>
              <p:cNvPr id="114" name="Google Shape;114;p2"/>
              <p:cNvSpPr/>
              <p:nvPr/>
            </p:nvSpPr>
            <p:spPr>
              <a:xfrm>
                <a:off x="0" y="0"/>
                <a:ext cx="1952700" cy="24765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15" name="Google Shape;115;p2"/>
              <p:cNvGrpSpPr/>
              <p:nvPr/>
            </p:nvGrpSpPr>
            <p:grpSpPr>
              <a:xfrm>
                <a:off x="0" y="0"/>
                <a:ext cx="228600" cy="228600"/>
                <a:chOff x="0" y="0"/>
                <a:chExt cx="228600" cy="228600"/>
              </a:xfrm>
            </p:grpSpPr>
            <p:sp>
              <p:nvSpPr>
                <p:cNvPr id="116" name="Google Shape;116;p2"/>
                <p:cNvSpPr/>
                <p:nvPr/>
              </p:nvSpPr>
              <p:spPr>
                <a:xfrm>
                  <a:off x="0" y="0"/>
                  <a:ext cx="228600" cy="381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7" name="Google Shape;117;p2"/>
                <p:cNvSpPr/>
                <p:nvPr/>
              </p:nvSpPr>
              <p:spPr>
                <a:xfrm>
                  <a:off x="0" y="0"/>
                  <a:ext cx="38100" cy="2286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18" name="Google Shape;118;p2"/>
              <p:cNvSpPr txBox="1"/>
              <p:nvPr/>
            </p:nvSpPr>
            <p:spPr>
              <a:xfrm>
                <a:off x="142875" y="228600"/>
                <a:ext cx="1666800" cy="209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1" i="0" lang="en" sz="1000" u="none" cap="none" strike="noStrike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MỤC TIÊU 3</a:t>
                </a:r>
                <a:endParaRPr b="1" i="0" sz="10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en" sz="18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04</a:t>
                </a:r>
                <a:endParaRPr b="1" i="0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Nâng cao trải nghiệm khách hàng.</a:t>
                </a:r>
                <a:endParaRPr b="0" i="0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19" name="Google Shape;119;p2"/>
          <p:cNvGrpSpPr/>
          <p:nvPr/>
        </p:nvGrpSpPr>
        <p:grpSpPr>
          <a:xfrm>
            <a:off x="381000" y="4714875"/>
            <a:ext cx="8382000" cy="333450"/>
            <a:chOff x="381000" y="4714875"/>
            <a:chExt cx="8382000" cy="333450"/>
          </a:xfrm>
        </p:grpSpPr>
        <p:sp>
          <p:nvSpPr>
            <p:cNvPr id="120" name="Google Shape;120;p2"/>
            <p:cNvSpPr/>
            <p:nvPr/>
          </p:nvSpPr>
          <p:spPr>
            <a:xfrm>
              <a:off x="381000" y="4714875"/>
              <a:ext cx="8382000" cy="9600"/>
            </a:xfrm>
            <a:prstGeom prst="rect">
              <a:avLst/>
            </a:prstGeom>
            <a:solidFill>
              <a:srgbClr val="D0D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2"/>
            <p:cNvSpPr txBox="1"/>
            <p:nvPr/>
          </p:nvSpPr>
          <p:spPr>
            <a:xfrm>
              <a:off x="381000" y="4810125"/>
              <a:ext cx="83820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88888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BPMN PROCESS ANALYSIS REPORT</a:t>
              </a:r>
              <a:endParaRPr b="0" i="0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a2edf34e3_1_6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4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7" name="Google Shape;127;g3fa2edf34e3_1_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72700" cy="49722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sp>
        <p:nvSpPr>
          <p:cNvPr id="128" name="Google Shape;128;g3fa2edf34e3_1_64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fa2edf34e3_1_64"/>
          <p:cNvSpPr/>
          <p:nvPr/>
        </p:nvSpPr>
        <p:spPr>
          <a:xfrm>
            <a:off x="381000" y="285750"/>
            <a:ext cx="381000" cy="38100"/>
          </a:xfrm>
          <a:prstGeom prst="rect">
            <a:avLst/>
          </a:prstGeom>
          <a:solidFill>
            <a:srgbClr val="FF3A2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a2edf34e3_1_64"/>
          <p:cNvSpPr txBox="1"/>
          <p:nvPr/>
        </p:nvSpPr>
        <p:spPr>
          <a:xfrm>
            <a:off x="381000" y="476250"/>
            <a:ext cx="8382000" cy="104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200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Bối Cảnh Vận Hành Doanh Nghiệp</a:t>
            </a:r>
            <a:endParaRPr b="0" sz="3200">
              <a:solidFill>
                <a:srgbClr val="11111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rPr>
              <a:t>Tổng quan mô hình hoạt động và hạ tầng kỹ thuật của hệ thống sửa chữa</a:t>
            </a:r>
            <a:endParaRPr b="0" sz="1400">
              <a:solidFill>
                <a:srgbClr val="0033A0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pSp>
        <p:nvGrpSpPr>
          <p:cNvPr id="131" name="Google Shape;131;g3fa2edf34e3_1_64"/>
          <p:cNvGrpSpPr/>
          <p:nvPr/>
        </p:nvGrpSpPr>
        <p:grpSpPr>
          <a:xfrm>
            <a:off x="381000" y="1714500"/>
            <a:ext cx="4048200" cy="2809800"/>
            <a:chOff x="0" y="0"/>
            <a:chExt cx="4048200" cy="2809800"/>
          </a:xfrm>
        </p:grpSpPr>
        <p:sp>
          <p:nvSpPr>
            <p:cNvPr id="132" name="Google Shape;132;g3fa2edf34e3_1_64"/>
            <p:cNvSpPr/>
            <p:nvPr/>
          </p:nvSpPr>
          <p:spPr>
            <a:xfrm>
              <a:off x="0" y="0"/>
              <a:ext cx="4048200" cy="2809800"/>
            </a:xfrm>
            <a:prstGeom prst="rect">
              <a:avLst/>
            </a:prstGeom>
            <a:solidFill>
              <a:srgbClr val="E8E8E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g3fa2edf34e3_1_64"/>
            <p:cNvSpPr/>
            <p:nvPr/>
          </p:nvSpPr>
          <p:spPr>
            <a:xfrm>
              <a:off x="0" y="0"/>
              <a:ext cx="228600" cy="2286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3810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g3fa2edf34e3_1_64"/>
            <p:cNvSpPr txBox="1"/>
            <p:nvPr/>
          </p:nvSpPr>
          <p:spPr>
            <a:xfrm>
              <a:off x="190500" y="228600"/>
              <a:ext cx="3667200" cy="238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3A20"/>
                  </a:solidFill>
                  <a:latin typeface="Inter"/>
                  <a:ea typeface="Inter"/>
                  <a:cs typeface="Inter"/>
                  <a:sym typeface="Inter"/>
                </a:rPr>
                <a:t>MÔ HÌNH HOẠT ĐỘNG</a:t>
              </a:r>
              <a:endParaRPr b="1" sz="1000">
                <a:solidFill>
                  <a:srgbClr val="FF3A2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33A0"/>
                  </a:solidFill>
                  <a:latin typeface="Roboto"/>
                  <a:ea typeface="Roboto"/>
                  <a:cs typeface="Roboto"/>
                  <a:sym typeface="Roboto"/>
                </a:rPr>
                <a:t>Dịch vụ Booking &amp; Sửa chữa Thiết bị</a:t>
              </a:r>
              <a:endParaRPr b="1" sz="1400">
                <a:solidFill>
                  <a:srgbClr val="0033A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Doanh nghiệp cung cấp giải pháp sửa chữa và bảo trì thiết bị điện tử trực tuyến, kết hợp hai mô hình cốt lõi:</a:t>
              </a:r>
              <a:endParaRPr b="0" sz="1100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111111"/>
                </a:buClr>
                <a:buSzPts val="1050"/>
                <a:buFont typeface="Roboto"/>
                <a:buChar char="●"/>
              </a:pPr>
              <a:r>
                <a:rPr b="1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Đặt lịch tiện lợi:</a:t>
              </a:r>
              <a:r>
                <a:rPr b="0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Khách hàng dễ dàng tạo yêu cầu sửa chữa qua Call Center hoặc ứng dụng di động.</a:t>
              </a:r>
              <a:endParaRPr b="0" sz="1050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952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111111"/>
                </a:buClr>
                <a:buSzPts val="1050"/>
                <a:buFont typeface="Roboto"/>
                <a:buChar char="●"/>
              </a:pPr>
              <a:r>
                <a:rPr b="1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Logistics tối ưu:</a:t>
              </a:r>
              <a:r>
                <a:rPr b="0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Vận hành hệ thống điều phối thông minh để gán kỹ thuật viên (KTV) tối ưu theo khu vực làm việc.</a:t>
              </a:r>
              <a:endParaRPr b="0" sz="1050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952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111111"/>
                </a:buClr>
                <a:buSzPts val="1050"/>
                <a:buFont typeface="Roboto"/>
                <a:buChar char="●"/>
              </a:pPr>
              <a:r>
                <a:rPr b="1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Quy trình khép kín:</a:t>
              </a:r>
              <a:r>
                <a:rPr b="0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Tiếp nhận chẩn đoán tại chỗ, báo giá minh bạch, sửa chữa nhanh và thanh toán tự động.</a:t>
              </a:r>
              <a:endParaRPr b="0" sz="1050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5" name="Google Shape;135;g3fa2edf34e3_1_64"/>
          <p:cNvGrpSpPr/>
          <p:nvPr/>
        </p:nvGrpSpPr>
        <p:grpSpPr>
          <a:xfrm>
            <a:off x="4714875" y="1714500"/>
            <a:ext cx="4048200" cy="2809800"/>
            <a:chOff x="0" y="0"/>
            <a:chExt cx="4048200" cy="2809800"/>
          </a:xfrm>
        </p:grpSpPr>
        <p:sp>
          <p:nvSpPr>
            <p:cNvPr id="136" name="Google Shape;136;g3fa2edf34e3_1_64"/>
            <p:cNvSpPr/>
            <p:nvPr/>
          </p:nvSpPr>
          <p:spPr>
            <a:xfrm>
              <a:off x="0" y="0"/>
              <a:ext cx="4048200" cy="2809800"/>
            </a:xfrm>
            <a:prstGeom prst="rect">
              <a:avLst/>
            </a:prstGeom>
            <a:solidFill>
              <a:srgbClr val="E8E8E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g3fa2edf34e3_1_64"/>
            <p:cNvSpPr/>
            <p:nvPr/>
          </p:nvSpPr>
          <p:spPr>
            <a:xfrm>
              <a:off x="0" y="0"/>
              <a:ext cx="228600" cy="2286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3810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g3fa2edf34e3_1_64"/>
            <p:cNvSpPr txBox="1"/>
            <p:nvPr/>
          </p:nvSpPr>
          <p:spPr>
            <a:xfrm>
              <a:off x="190500" y="228600"/>
              <a:ext cx="3667200" cy="238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3A20"/>
                  </a:solidFill>
                  <a:latin typeface="Inter"/>
                  <a:ea typeface="Inter"/>
                  <a:cs typeface="Inter"/>
                  <a:sym typeface="Inter"/>
                </a:rPr>
                <a:t>BẢN ĐỒ TRẠNG THÁI BOOKING</a:t>
              </a:r>
              <a:endParaRPr b="1" sz="1000">
                <a:solidFill>
                  <a:srgbClr val="FF3A2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33A0"/>
                  </a:solidFill>
                  <a:latin typeface="Roboto"/>
                  <a:ea typeface="Roboto"/>
                  <a:cs typeface="Roboto"/>
                  <a:sym typeface="Roboto"/>
                </a:rPr>
                <a:t>Vòng Đời Quản Lý Tiến Trình Hệ Thống</a:t>
              </a:r>
              <a:endParaRPr b="1" sz="1400">
                <a:solidFill>
                  <a:srgbClr val="0033A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Hệ thống kiểm soát chặt chẽ trạng thái booking theo chuỗi hoạt động chuẩn hóa:</a:t>
              </a:r>
              <a:endParaRPr b="0" sz="1100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111111"/>
                </a:buClr>
                <a:buSzPts val="1050"/>
                <a:buFont typeface="Roboto"/>
                <a:buChar char="●"/>
              </a:pPr>
              <a:r>
                <a:rPr b="1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Khởi tạo &amp; Phân công:</a:t>
              </a:r>
              <a:r>
                <a:rPr b="0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New (Mới) → Accepted (Chấp nhận) → Received/Assigned (Đã phân KTV).</a:t>
              </a:r>
              <a:endParaRPr b="0" sz="1050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952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111111"/>
                </a:buClr>
                <a:buSzPts val="1050"/>
                <a:buFont typeface="Roboto"/>
                <a:buChar char="●"/>
              </a:pPr>
              <a:r>
                <a:rPr b="1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Xử lý tại chỗ:</a:t>
              </a:r>
              <a:r>
                <a:rPr b="0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On The Way (Đang di chuyển) → Chẩn đoán lỗi &amp; lập hóa đơn → Khách hàng xác nhận chi phí.</a:t>
              </a:r>
              <a:endParaRPr b="0" sz="1050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952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111111"/>
                </a:buClr>
                <a:buSzPts val="1050"/>
                <a:buFont typeface="Roboto"/>
                <a:buChar char="●"/>
              </a:pPr>
              <a:r>
                <a:rPr b="1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Hoàn tất &amp; Đóng:</a:t>
              </a:r>
              <a:r>
                <a:rPr b="0" lang="en" sz="1050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Payment Confirm → Pending Payment → Pending Rating (Đánh giá) → Completed.</a:t>
              </a:r>
              <a:endParaRPr b="0" sz="1050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9" name="Google Shape;139;g3fa2edf34e3_1_64"/>
          <p:cNvSpPr/>
          <p:nvPr/>
        </p:nvSpPr>
        <p:spPr>
          <a:xfrm>
            <a:off x="381000" y="4714875"/>
            <a:ext cx="8382000" cy="9600"/>
          </a:xfrm>
          <a:prstGeom prst="rect">
            <a:avLst/>
          </a:prstGeom>
          <a:solidFill>
            <a:srgbClr val="D0D0C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g3fa2edf34e3_1_64"/>
          <p:cNvSpPr txBox="1"/>
          <p:nvPr/>
        </p:nvSpPr>
        <p:spPr>
          <a:xfrm>
            <a:off x="381000" y="4810125"/>
            <a:ext cx="83820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BPMN PROCESS ANALYSIS REPORT</a:t>
            </a:r>
            <a:endParaRPr b="0" sz="800">
              <a:solidFill>
                <a:srgbClr val="88888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" name="Google Shape;145;p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46" name="Google Shape;146;p3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47" name="Google Shape;147;p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525" y="9525"/>
              <a:ext cx="8972700" cy="4972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8" name="Google Shape;148;p3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381000" y="4762500"/>
              <a:ext cx="8382000" cy="9600"/>
            </a:xfrm>
            <a:prstGeom prst="rect">
              <a:avLst/>
            </a:prstGeom>
            <a:solidFill>
              <a:srgbClr val="D0D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3"/>
            <p:cNvSpPr txBox="1"/>
            <p:nvPr/>
          </p:nvSpPr>
          <p:spPr>
            <a:xfrm>
              <a:off x="381000" y="4857750"/>
              <a:ext cx="8382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88888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BPMN PROCESS ANALYSIS REPORT</a:t>
              </a:r>
              <a:endParaRPr b="0" i="0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151" name="Google Shape;151;p3"/>
          <p:cNvGrpSpPr/>
          <p:nvPr/>
        </p:nvGrpSpPr>
        <p:grpSpPr>
          <a:xfrm>
            <a:off x="381000" y="285750"/>
            <a:ext cx="8382000" cy="1428900"/>
            <a:chOff x="381000" y="285750"/>
            <a:chExt cx="8382000" cy="1428900"/>
          </a:xfrm>
        </p:grpSpPr>
        <p:sp>
          <p:nvSpPr>
            <p:cNvPr id="152" name="Google Shape;152;p3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3"/>
            <p:cNvSpPr txBox="1"/>
            <p:nvPr/>
          </p:nvSpPr>
          <p:spPr>
            <a:xfrm>
              <a:off x="381000" y="476250"/>
              <a:ext cx="8382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b="0" i="0" lang="en" sz="260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Kiến Trúc 10 Quy Trình Nghiệp Vụ Của Hệ Thống Booking</a:t>
              </a:r>
              <a:endParaRPr b="0" i="0" sz="260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Mô hình phân loại quy trình theo chuẩn BPMN: Quản lý, Cốt lõi và Hỗ trợ</a:t>
              </a:r>
              <a:endParaRPr b="0" i="0" sz="1400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154" name="Google Shape;154;p3"/>
          <p:cNvGrpSpPr/>
          <p:nvPr/>
        </p:nvGrpSpPr>
        <p:grpSpPr>
          <a:xfrm>
            <a:off x="381000" y="1905000"/>
            <a:ext cx="8372550" cy="2667000"/>
            <a:chOff x="381000" y="1905000"/>
            <a:chExt cx="8372550" cy="2667000"/>
          </a:xfrm>
        </p:grpSpPr>
        <p:grpSp>
          <p:nvGrpSpPr>
            <p:cNvPr id="155" name="Google Shape;155;p3"/>
            <p:cNvGrpSpPr/>
            <p:nvPr/>
          </p:nvGrpSpPr>
          <p:grpSpPr>
            <a:xfrm>
              <a:off x="381000" y="1905000"/>
              <a:ext cx="2600400" cy="2667000"/>
              <a:chOff x="0" y="0"/>
              <a:chExt cx="2600400" cy="2667000"/>
            </a:xfrm>
          </p:grpSpPr>
          <p:sp>
            <p:nvSpPr>
              <p:cNvPr id="156" name="Google Shape;156;p3"/>
              <p:cNvSpPr/>
              <p:nvPr/>
            </p:nvSpPr>
            <p:spPr>
              <a:xfrm>
                <a:off x="0" y="0"/>
                <a:ext cx="2600400" cy="26670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57" name="Google Shape;157;p3"/>
              <p:cNvGrpSpPr/>
              <p:nvPr/>
            </p:nvGrpSpPr>
            <p:grpSpPr>
              <a:xfrm>
                <a:off x="0" y="0"/>
                <a:ext cx="228600" cy="228600"/>
                <a:chOff x="0" y="0"/>
                <a:chExt cx="228600" cy="228600"/>
              </a:xfrm>
            </p:grpSpPr>
            <p:sp>
              <p:nvSpPr>
                <p:cNvPr id="158" name="Google Shape;158;p3"/>
                <p:cNvSpPr/>
                <p:nvPr/>
              </p:nvSpPr>
              <p:spPr>
                <a:xfrm>
                  <a:off x="0" y="0"/>
                  <a:ext cx="228600" cy="381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3"/>
                <p:cNvSpPr/>
                <p:nvPr/>
              </p:nvSpPr>
              <p:spPr>
                <a:xfrm>
                  <a:off x="0" y="0"/>
                  <a:ext cx="38100" cy="2286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60" name="Google Shape;160;p3"/>
              <p:cNvSpPr txBox="1"/>
              <p:nvPr/>
            </p:nvSpPr>
            <p:spPr>
              <a:xfrm>
                <a:off x="190500" y="228600"/>
                <a:ext cx="2219400" cy="224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200" u="none" cap="none" strike="noStrike">
                    <a:solidFill>
                      <a:srgbClr val="0033A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NHÓM QUẢN LÝ (3)</a:t>
                </a:r>
                <a:endParaRPr b="0" i="0" sz="12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50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1" i="0" lang="en" sz="12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01</a:t>
                </a:r>
                <a:r>
                  <a:rPr b="0" i="0" lang="en" sz="1200" u="none" cap="none" strike="noStrike">
                    <a:solidFill>
                      <a:srgbClr val="111111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 Quản lý bảo hành</a:t>
                </a:r>
                <a:endParaRPr b="0" i="0" sz="12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05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1" i="0" lang="en" sz="12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02</a:t>
                </a:r>
                <a:r>
                  <a:rPr b="0" i="0" lang="en" sz="1200" u="none" cap="none" strike="noStrike">
                    <a:solidFill>
                      <a:srgbClr val="111111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 Quản lý kỹ thuật viên</a:t>
                </a:r>
                <a:endParaRPr b="0" i="0" sz="12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050"/>
                  </a:spcBef>
                  <a:spcAft>
                    <a:spcPts val="105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1" i="0" lang="en" sz="12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03</a:t>
                </a:r>
                <a:r>
                  <a:rPr b="0" i="0" lang="en" sz="1200" u="none" cap="none" strike="noStrike">
                    <a:solidFill>
                      <a:srgbClr val="111111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 Quản lý chất lượng dịch vụ</a:t>
                </a:r>
                <a:endParaRPr b="0" i="0" sz="12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</p:grpSp>
        <p:grpSp>
          <p:nvGrpSpPr>
            <p:cNvPr id="161" name="Google Shape;161;p3"/>
            <p:cNvGrpSpPr/>
            <p:nvPr/>
          </p:nvGrpSpPr>
          <p:grpSpPr>
            <a:xfrm>
              <a:off x="3267075" y="1905000"/>
              <a:ext cx="2600400" cy="2667000"/>
              <a:chOff x="0" y="0"/>
              <a:chExt cx="2600400" cy="2667000"/>
            </a:xfrm>
          </p:grpSpPr>
          <p:sp>
            <p:nvSpPr>
              <p:cNvPr id="162" name="Google Shape;162;p3"/>
              <p:cNvSpPr/>
              <p:nvPr/>
            </p:nvSpPr>
            <p:spPr>
              <a:xfrm>
                <a:off x="0" y="0"/>
                <a:ext cx="2600400" cy="26670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63" name="Google Shape;163;p3"/>
              <p:cNvGrpSpPr/>
              <p:nvPr/>
            </p:nvGrpSpPr>
            <p:grpSpPr>
              <a:xfrm>
                <a:off x="0" y="0"/>
                <a:ext cx="228600" cy="228600"/>
                <a:chOff x="0" y="0"/>
                <a:chExt cx="228600" cy="228600"/>
              </a:xfrm>
            </p:grpSpPr>
            <p:sp>
              <p:nvSpPr>
                <p:cNvPr id="164" name="Google Shape;164;p3"/>
                <p:cNvSpPr/>
                <p:nvPr/>
              </p:nvSpPr>
              <p:spPr>
                <a:xfrm>
                  <a:off x="0" y="0"/>
                  <a:ext cx="228600" cy="381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5" name="Google Shape;165;p3"/>
                <p:cNvSpPr/>
                <p:nvPr/>
              </p:nvSpPr>
              <p:spPr>
                <a:xfrm>
                  <a:off x="0" y="0"/>
                  <a:ext cx="38100" cy="2286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66" name="Google Shape;166;p3"/>
              <p:cNvSpPr txBox="1"/>
              <p:nvPr/>
            </p:nvSpPr>
            <p:spPr>
              <a:xfrm>
                <a:off x="190500" y="228600"/>
                <a:ext cx="2219400" cy="224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200" u="none" cap="none" strike="noStrike">
                    <a:solidFill>
                      <a:srgbClr val="0033A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NHÓM CỐT LÕI (4)</a:t>
                </a:r>
                <a:endParaRPr b="0" i="0" sz="12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50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1" i="0" lang="en" sz="12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04</a:t>
                </a:r>
                <a:r>
                  <a:rPr b="0" i="0" lang="en" sz="1200" u="none" cap="none" strike="noStrike">
                    <a:solidFill>
                      <a:srgbClr val="111111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 Khách hàng đặt booking</a:t>
                </a:r>
                <a:endParaRPr b="0" i="0" sz="12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05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1" i="0" lang="en" sz="12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05</a:t>
                </a:r>
                <a:r>
                  <a:rPr b="0" i="0" lang="en" sz="1200" u="none" cap="none" strike="noStrike">
                    <a:solidFill>
                      <a:srgbClr val="111111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 Phân công kỹ thuật viên</a:t>
                </a:r>
                <a:endParaRPr b="0" i="0" sz="12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05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1" i="0" lang="en" sz="12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06</a:t>
                </a:r>
                <a:r>
                  <a:rPr b="0" i="0" lang="en" sz="1200" u="none" cap="none" strike="noStrike">
                    <a:solidFill>
                      <a:srgbClr val="111111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 Xử lý sửa chữa</a:t>
                </a:r>
                <a:endParaRPr b="0" i="0" sz="12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050"/>
                  </a:spcBef>
                  <a:spcAft>
                    <a:spcPts val="105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1" i="0" lang="en" sz="12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07</a:t>
                </a:r>
                <a:r>
                  <a:rPr b="0" i="0" lang="en" sz="1200" u="none" cap="none" strike="noStrike">
                    <a:solidFill>
                      <a:srgbClr val="111111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 Thanh toán</a:t>
                </a:r>
                <a:endParaRPr b="0" i="0" sz="12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</p:grpSp>
        <p:grpSp>
          <p:nvGrpSpPr>
            <p:cNvPr id="167" name="Google Shape;167;p3"/>
            <p:cNvGrpSpPr/>
            <p:nvPr/>
          </p:nvGrpSpPr>
          <p:grpSpPr>
            <a:xfrm>
              <a:off x="6153150" y="1905000"/>
              <a:ext cx="2600400" cy="2667000"/>
              <a:chOff x="0" y="0"/>
              <a:chExt cx="2600400" cy="2667000"/>
            </a:xfrm>
          </p:grpSpPr>
          <p:sp>
            <p:nvSpPr>
              <p:cNvPr id="168" name="Google Shape;168;p3"/>
              <p:cNvSpPr/>
              <p:nvPr/>
            </p:nvSpPr>
            <p:spPr>
              <a:xfrm>
                <a:off x="0" y="0"/>
                <a:ext cx="2600400" cy="2667000"/>
              </a:xfrm>
              <a:prstGeom prst="rect">
                <a:avLst/>
              </a:prstGeom>
              <a:solidFill>
                <a:srgbClr val="E8E8E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69" name="Google Shape;169;p3"/>
              <p:cNvGrpSpPr/>
              <p:nvPr/>
            </p:nvGrpSpPr>
            <p:grpSpPr>
              <a:xfrm>
                <a:off x="0" y="0"/>
                <a:ext cx="228600" cy="228600"/>
                <a:chOff x="0" y="0"/>
                <a:chExt cx="228600" cy="228600"/>
              </a:xfrm>
            </p:grpSpPr>
            <p:sp>
              <p:nvSpPr>
                <p:cNvPr id="170" name="Google Shape;170;p3"/>
                <p:cNvSpPr/>
                <p:nvPr/>
              </p:nvSpPr>
              <p:spPr>
                <a:xfrm>
                  <a:off x="0" y="0"/>
                  <a:ext cx="228600" cy="381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1" name="Google Shape;171;p3"/>
                <p:cNvSpPr/>
                <p:nvPr/>
              </p:nvSpPr>
              <p:spPr>
                <a:xfrm>
                  <a:off x="0" y="0"/>
                  <a:ext cx="38100" cy="2286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72" name="Google Shape;172;p3"/>
              <p:cNvSpPr txBox="1"/>
              <p:nvPr/>
            </p:nvSpPr>
            <p:spPr>
              <a:xfrm>
                <a:off x="190500" y="228600"/>
                <a:ext cx="2219400" cy="224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200" u="none" cap="none" strike="noStrike">
                    <a:solidFill>
                      <a:srgbClr val="0033A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NHÓM HỖ TRỢ (3)</a:t>
                </a:r>
                <a:endParaRPr b="0" i="0" sz="12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50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1" i="0" lang="en" sz="12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08</a:t>
                </a:r>
                <a:r>
                  <a:rPr b="0" i="0" lang="en" sz="1200" u="none" cap="none" strike="noStrike">
                    <a:solidFill>
                      <a:srgbClr val="111111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 Chat support</a:t>
                </a:r>
                <a:endParaRPr b="0" i="0" sz="12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05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1" i="0" lang="en" sz="12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09</a:t>
                </a:r>
                <a:r>
                  <a:rPr b="0" i="0" lang="en" sz="1200" u="none" cap="none" strike="noStrike">
                    <a:solidFill>
                      <a:srgbClr val="111111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 Báo cáo linh kiện</a:t>
                </a:r>
                <a:endParaRPr b="0" i="0" sz="12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050"/>
                  </a:spcBef>
                  <a:spcAft>
                    <a:spcPts val="105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1" i="0" lang="en" sz="12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</a:t>
                </a:r>
                <a:r>
                  <a:rPr b="0" i="0" lang="en" sz="1200" u="none" cap="none" strike="noStrike">
                    <a:solidFill>
                      <a:srgbClr val="111111"/>
                    </a:solidFill>
                    <a:latin typeface="Roboto Medium"/>
                    <a:ea typeface="Roboto Medium"/>
                    <a:cs typeface="Roboto Medium"/>
                    <a:sym typeface="Roboto Medium"/>
                  </a:rPr>
                  <a:t> Quản lý kho</a:t>
                </a:r>
                <a:endParaRPr b="0" i="0" sz="12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9ba8b39cb_0_79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409ba8b39cb_0_79"/>
          <p:cNvSpPr/>
          <p:nvPr/>
        </p:nvSpPr>
        <p:spPr>
          <a:xfrm>
            <a:off x="381000" y="285750"/>
            <a:ext cx="381000" cy="38100"/>
          </a:xfrm>
          <a:prstGeom prst="rect">
            <a:avLst/>
          </a:prstGeom>
          <a:solidFill>
            <a:srgbClr val="FF3A2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g409ba8b39cb_0_79"/>
          <p:cNvSpPr txBox="1"/>
          <p:nvPr/>
        </p:nvSpPr>
        <p:spPr>
          <a:xfrm>
            <a:off x="381000" y="476250"/>
            <a:ext cx="8382000" cy="85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600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Kiến Trúc Quy Trình Tổng Thể</a:t>
            </a:r>
            <a:endParaRPr b="0" sz="2600">
              <a:solidFill>
                <a:srgbClr val="11111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rPr>
              <a:t>Mối quan hệ tương tác và giám sát giữa 3 nhóm quy trình nghiệp vụ</a:t>
            </a:r>
            <a:endParaRPr b="0" sz="1400">
              <a:solidFill>
                <a:srgbClr val="0033A0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pSp>
        <p:nvGrpSpPr>
          <p:cNvPr id="180" name="Google Shape;180;g409ba8b39cb_0_79"/>
          <p:cNvGrpSpPr/>
          <p:nvPr/>
        </p:nvGrpSpPr>
        <p:grpSpPr>
          <a:xfrm>
            <a:off x="381000" y="1428750"/>
            <a:ext cx="2476500" cy="3048000"/>
            <a:chOff x="0" y="0"/>
            <a:chExt cx="2476500" cy="3048000"/>
          </a:xfrm>
        </p:grpSpPr>
        <p:sp>
          <p:nvSpPr>
            <p:cNvPr id="181" name="Google Shape;181;g409ba8b39cb_0_79"/>
            <p:cNvSpPr/>
            <p:nvPr/>
          </p:nvSpPr>
          <p:spPr>
            <a:xfrm>
              <a:off x="0" y="0"/>
              <a:ext cx="2476500" cy="3048000"/>
            </a:xfrm>
            <a:prstGeom prst="roundRect">
              <a:avLst>
                <a:gd fmla="val 3076" name="adj"/>
              </a:avLst>
            </a:prstGeom>
            <a:solidFill>
              <a:srgbClr val="FFFFFF"/>
            </a:solidFill>
            <a:ln cap="flat" cmpd="sng" w="1430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g409ba8b39cb_0_79"/>
            <p:cNvSpPr/>
            <p:nvPr/>
          </p:nvSpPr>
          <p:spPr>
            <a:xfrm>
              <a:off x="0" y="0"/>
              <a:ext cx="2476500" cy="381000"/>
            </a:xfrm>
            <a:prstGeom prst="roundRect">
              <a:avLst>
                <a:gd fmla="val 20000" name="adj"/>
              </a:avLst>
            </a:prstGeom>
            <a:solidFill>
              <a:srgbClr val="FFECE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g409ba8b39cb_0_79"/>
            <p:cNvSpPr/>
            <p:nvPr/>
          </p:nvSpPr>
          <p:spPr>
            <a:xfrm>
              <a:off x="0" y="285750"/>
              <a:ext cx="2476500" cy="95400"/>
            </a:xfrm>
            <a:prstGeom prst="rect">
              <a:avLst/>
            </a:prstGeom>
            <a:solidFill>
              <a:srgbClr val="FFECE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g409ba8b39cb_0_79"/>
            <p:cNvSpPr txBox="1"/>
            <p:nvPr/>
          </p:nvSpPr>
          <p:spPr>
            <a:xfrm>
              <a:off x="0" y="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F3A20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QUY TRÌNH QUẢN LÝ (Management)</a:t>
              </a:r>
              <a:endParaRPr b="0" sz="1100">
                <a:solidFill>
                  <a:srgbClr val="FF3A20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grpSp>
          <p:nvGrpSpPr>
            <p:cNvPr id="185" name="Google Shape;185;g409ba8b39cb_0_79"/>
            <p:cNvGrpSpPr/>
            <p:nvPr/>
          </p:nvGrpSpPr>
          <p:grpSpPr>
            <a:xfrm>
              <a:off x="142875" y="571500"/>
              <a:ext cx="2190900" cy="619200"/>
              <a:chOff x="0" y="0"/>
              <a:chExt cx="2190900" cy="619200"/>
            </a:xfrm>
          </p:grpSpPr>
          <p:sp>
            <p:nvSpPr>
              <p:cNvPr id="186" name="Google Shape;186;g409ba8b39cb_0_79"/>
              <p:cNvSpPr/>
              <p:nvPr/>
            </p:nvSpPr>
            <p:spPr>
              <a:xfrm>
                <a:off x="0" y="0"/>
                <a:ext cx="2190900" cy="619200"/>
              </a:xfrm>
              <a:prstGeom prst="roundRect">
                <a:avLst>
                  <a:gd fmla="val 9230" name="adj"/>
                </a:avLst>
              </a:prstGeom>
              <a:solidFill>
                <a:srgbClr val="FDFDFD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g409ba8b39cb_0_79"/>
              <p:cNvSpPr txBox="1"/>
              <p:nvPr/>
            </p:nvSpPr>
            <p:spPr>
              <a:xfrm>
                <a:off x="95250" y="0"/>
                <a:ext cx="20001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11111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Quản lý bảo hành thiết bị</a:t>
                </a:r>
                <a:endParaRPr b="0" sz="110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188" name="Google Shape;188;g409ba8b39cb_0_79"/>
            <p:cNvGrpSpPr/>
            <p:nvPr/>
          </p:nvGrpSpPr>
          <p:grpSpPr>
            <a:xfrm>
              <a:off x="142875" y="1381125"/>
              <a:ext cx="2190900" cy="619200"/>
              <a:chOff x="0" y="0"/>
              <a:chExt cx="2190900" cy="619200"/>
            </a:xfrm>
          </p:grpSpPr>
          <p:sp>
            <p:nvSpPr>
              <p:cNvPr id="189" name="Google Shape;189;g409ba8b39cb_0_79"/>
              <p:cNvSpPr/>
              <p:nvPr/>
            </p:nvSpPr>
            <p:spPr>
              <a:xfrm>
                <a:off x="0" y="0"/>
                <a:ext cx="2190900" cy="619200"/>
              </a:xfrm>
              <a:prstGeom prst="roundRect">
                <a:avLst>
                  <a:gd fmla="val 9230" name="adj"/>
                </a:avLst>
              </a:prstGeom>
              <a:solidFill>
                <a:srgbClr val="FDFDFD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g409ba8b39cb_0_79"/>
              <p:cNvSpPr txBox="1"/>
              <p:nvPr/>
            </p:nvSpPr>
            <p:spPr>
              <a:xfrm>
                <a:off x="95250" y="0"/>
                <a:ext cx="20001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11111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Quản lý KTV</a:t>
                </a:r>
                <a:endParaRPr b="0" sz="110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191" name="Google Shape;191;g409ba8b39cb_0_79"/>
            <p:cNvGrpSpPr/>
            <p:nvPr/>
          </p:nvGrpSpPr>
          <p:grpSpPr>
            <a:xfrm>
              <a:off x="142875" y="2190750"/>
              <a:ext cx="2190900" cy="619200"/>
              <a:chOff x="0" y="0"/>
              <a:chExt cx="2190900" cy="619200"/>
            </a:xfrm>
          </p:grpSpPr>
          <p:sp>
            <p:nvSpPr>
              <p:cNvPr id="192" name="Google Shape;192;g409ba8b39cb_0_79"/>
              <p:cNvSpPr/>
              <p:nvPr/>
            </p:nvSpPr>
            <p:spPr>
              <a:xfrm>
                <a:off x="0" y="0"/>
                <a:ext cx="2190900" cy="619200"/>
              </a:xfrm>
              <a:prstGeom prst="roundRect">
                <a:avLst>
                  <a:gd fmla="val 9230" name="adj"/>
                </a:avLst>
              </a:prstGeom>
              <a:solidFill>
                <a:srgbClr val="FDFDFD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g409ba8b39cb_0_79"/>
              <p:cNvSpPr txBox="1"/>
              <p:nvPr/>
            </p:nvSpPr>
            <p:spPr>
              <a:xfrm>
                <a:off x="95250" y="0"/>
                <a:ext cx="20001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11111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Quản lý chất lượng dịch vụ booking</a:t>
                </a:r>
                <a:endParaRPr b="0" sz="110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grpSp>
        <p:nvGrpSpPr>
          <p:cNvPr id="194" name="Google Shape;194;g409ba8b39cb_0_79"/>
          <p:cNvGrpSpPr/>
          <p:nvPr/>
        </p:nvGrpSpPr>
        <p:grpSpPr>
          <a:xfrm>
            <a:off x="3333750" y="1428750"/>
            <a:ext cx="2476500" cy="3048000"/>
            <a:chOff x="0" y="0"/>
            <a:chExt cx="2476500" cy="3048000"/>
          </a:xfrm>
        </p:grpSpPr>
        <p:sp>
          <p:nvSpPr>
            <p:cNvPr id="195" name="Google Shape;195;g409ba8b39cb_0_79"/>
            <p:cNvSpPr/>
            <p:nvPr/>
          </p:nvSpPr>
          <p:spPr>
            <a:xfrm>
              <a:off x="0" y="0"/>
              <a:ext cx="2476500" cy="3048000"/>
            </a:xfrm>
            <a:prstGeom prst="roundRect">
              <a:avLst>
                <a:gd fmla="val 3076" name="adj"/>
              </a:avLst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g409ba8b39cb_0_79"/>
            <p:cNvSpPr/>
            <p:nvPr/>
          </p:nvSpPr>
          <p:spPr>
            <a:xfrm>
              <a:off x="0" y="0"/>
              <a:ext cx="2476500" cy="381000"/>
            </a:xfrm>
            <a:prstGeom prst="roundRect">
              <a:avLst>
                <a:gd fmla="val 20000" name="adj"/>
              </a:avLst>
            </a:prstGeom>
            <a:solidFill>
              <a:srgbClr val="E6EE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g409ba8b39cb_0_79"/>
            <p:cNvSpPr/>
            <p:nvPr/>
          </p:nvSpPr>
          <p:spPr>
            <a:xfrm>
              <a:off x="0" y="285750"/>
              <a:ext cx="2476500" cy="95400"/>
            </a:xfrm>
            <a:prstGeom prst="rect">
              <a:avLst/>
            </a:prstGeom>
            <a:solidFill>
              <a:srgbClr val="E6EE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g409ba8b39cb_0_79"/>
            <p:cNvSpPr txBox="1"/>
            <p:nvPr/>
          </p:nvSpPr>
          <p:spPr>
            <a:xfrm>
              <a:off x="0" y="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0033A0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QUY TRÌNH CỐT LÕI (Core)</a:t>
              </a:r>
              <a:endParaRPr b="0" sz="1100">
                <a:solidFill>
                  <a:srgbClr val="0033A0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grpSp>
          <p:nvGrpSpPr>
            <p:cNvPr id="199" name="Google Shape;199;g409ba8b39cb_0_79"/>
            <p:cNvGrpSpPr/>
            <p:nvPr/>
          </p:nvGrpSpPr>
          <p:grpSpPr>
            <a:xfrm>
              <a:off x="142875" y="523875"/>
              <a:ext cx="2190900" cy="476400"/>
              <a:chOff x="0" y="0"/>
              <a:chExt cx="2190900" cy="476400"/>
            </a:xfrm>
          </p:grpSpPr>
          <p:sp>
            <p:nvSpPr>
              <p:cNvPr id="200" name="Google Shape;200;g409ba8b39cb_0_79"/>
              <p:cNvSpPr/>
              <p:nvPr/>
            </p:nvSpPr>
            <p:spPr>
              <a:xfrm>
                <a:off x="0" y="0"/>
                <a:ext cx="2190900" cy="476400"/>
              </a:xfrm>
              <a:prstGeom prst="roundRect">
                <a:avLst>
                  <a:gd fmla="val 12000" name="adj"/>
                </a:avLst>
              </a:prstGeom>
              <a:solidFill>
                <a:srgbClr val="F9FBFC"/>
              </a:solidFill>
              <a:ln cap="flat" cmpd="sng" w="9525">
                <a:solidFill>
                  <a:srgbClr val="B0C4D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g409ba8b39cb_0_79"/>
              <p:cNvSpPr txBox="1"/>
              <p:nvPr/>
            </p:nvSpPr>
            <p:spPr>
              <a:xfrm>
                <a:off x="95250" y="0"/>
                <a:ext cx="20001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1. KH đặt booking</a:t>
                </a:r>
                <a:endParaRPr b="1" sz="1050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02" name="Google Shape;202;g409ba8b39cb_0_79"/>
            <p:cNvGrpSpPr/>
            <p:nvPr/>
          </p:nvGrpSpPr>
          <p:grpSpPr>
            <a:xfrm>
              <a:off x="142875" y="1143000"/>
              <a:ext cx="2190900" cy="476400"/>
              <a:chOff x="0" y="0"/>
              <a:chExt cx="2190900" cy="476400"/>
            </a:xfrm>
          </p:grpSpPr>
          <p:sp>
            <p:nvSpPr>
              <p:cNvPr id="203" name="Google Shape;203;g409ba8b39cb_0_79"/>
              <p:cNvSpPr/>
              <p:nvPr/>
            </p:nvSpPr>
            <p:spPr>
              <a:xfrm>
                <a:off x="0" y="0"/>
                <a:ext cx="2190900" cy="476400"/>
              </a:xfrm>
              <a:prstGeom prst="roundRect">
                <a:avLst>
                  <a:gd fmla="val 12000" name="adj"/>
                </a:avLst>
              </a:prstGeom>
              <a:solidFill>
                <a:srgbClr val="F9FBFC"/>
              </a:solidFill>
              <a:ln cap="flat" cmpd="sng" w="9525">
                <a:solidFill>
                  <a:srgbClr val="B0C4D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" name="Google Shape;204;g409ba8b39cb_0_79"/>
              <p:cNvSpPr txBox="1"/>
              <p:nvPr/>
            </p:nvSpPr>
            <p:spPr>
              <a:xfrm>
                <a:off x="95250" y="0"/>
                <a:ext cx="20001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2. CS assign KTV</a:t>
                </a:r>
                <a:endParaRPr b="1" sz="1050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05" name="Google Shape;205;g409ba8b39cb_0_79"/>
            <p:cNvGrpSpPr/>
            <p:nvPr/>
          </p:nvGrpSpPr>
          <p:grpSpPr>
            <a:xfrm>
              <a:off x="142875" y="1762125"/>
              <a:ext cx="2190900" cy="476400"/>
              <a:chOff x="0" y="0"/>
              <a:chExt cx="2190900" cy="476400"/>
            </a:xfrm>
          </p:grpSpPr>
          <p:sp>
            <p:nvSpPr>
              <p:cNvPr id="206" name="Google Shape;206;g409ba8b39cb_0_79"/>
              <p:cNvSpPr/>
              <p:nvPr/>
            </p:nvSpPr>
            <p:spPr>
              <a:xfrm>
                <a:off x="0" y="0"/>
                <a:ext cx="2190900" cy="476400"/>
              </a:xfrm>
              <a:prstGeom prst="roundRect">
                <a:avLst>
                  <a:gd fmla="val 12000" name="adj"/>
                </a:avLst>
              </a:prstGeom>
              <a:solidFill>
                <a:srgbClr val="F9FBFC"/>
              </a:solidFill>
              <a:ln cap="flat" cmpd="sng" w="9525">
                <a:solidFill>
                  <a:srgbClr val="B0C4D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g409ba8b39cb_0_79"/>
              <p:cNvSpPr txBox="1"/>
              <p:nvPr/>
            </p:nvSpPr>
            <p:spPr>
              <a:xfrm>
                <a:off x="95250" y="0"/>
                <a:ext cx="20001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3. KTV nhận &amp; xử lý</a:t>
                </a:r>
                <a:endParaRPr b="1" sz="1050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08" name="Google Shape;208;g409ba8b39cb_0_79"/>
            <p:cNvGrpSpPr/>
            <p:nvPr/>
          </p:nvGrpSpPr>
          <p:grpSpPr>
            <a:xfrm>
              <a:off x="142875" y="2381250"/>
              <a:ext cx="2190900" cy="476400"/>
              <a:chOff x="0" y="0"/>
              <a:chExt cx="2190900" cy="476400"/>
            </a:xfrm>
          </p:grpSpPr>
          <p:sp>
            <p:nvSpPr>
              <p:cNvPr id="209" name="Google Shape;209;g409ba8b39cb_0_79"/>
              <p:cNvSpPr/>
              <p:nvPr/>
            </p:nvSpPr>
            <p:spPr>
              <a:xfrm>
                <a:off x="0" y="0"/>
                <a:ext cx="2190900" cy="476400"/>
              </a:xfrm>
              <a:prstGeom prst="roundRect">
                <a:avLst>
                  <a:gd fmla="val 12000" name="adj"/>
                </a:avLst>
              </a:prstGeom>
              <a:solidFill>
                <a:srgbClr val="F9FBFC"/>
              </a:solidFill>
              <a:ln cap="flat" cmpd="sng" w="9525">
                <a:solidFill>
                  <a:srgbClr val="B0C4D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g409ba8b39cb_0_79"/>
              <p:cNvSpPr txBox="1"/>
              <p:nvPr/>
            </p:nvSpPr>
            <p:spPr>
              <a:xfrm>
                <a:off x="95250" y="0"/>
                <a:ext cx="20001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4. KH thanh toán &amp; đóng</a:t>
                </a:r>
                <a:endParaRPr b="1" sz="1050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11" name="Google Shape;211;g409ba8b39cb_0_79"/>
            <p:cNvGrpSpPr/>
            <p:nvPr/>
          </p:nvGrpSpPr>
          <p:grpSpPr>
            <a:xfrm>
              <a:off x="1352550" y="1047750"/>
              <a:ext cx="57300" cy="1333650"/>
              <a:chOff x="1352550" y="1047750"/>
              <a:chExt cx="57300" cy="1333650"/>
            </a:xfrm>
          </p:grpSpPr>
          <p:sp>
            <p:nvSpPr>
              <p:cNvPr id="212" name="Google Shape;212;g409ba8b39cb_0_79"/>
              <p:cNvSpPr/>
              <p:nvPr/>
            </p:nvSpPr>
            <p:spPr>
              <a:xfrm>
                <a:off x="1352550" y="1047750"/>
                <a:ext cx="57300" cy="95400"/>
              </a:xfrm>
              <a:custGeom>
                <a:rect b="b" l="l" r="r" t="t"/>
                <a:pathLst>
                  <a:path extrusionOk="0" h="120000" w="120000">
                    <a:moveTo>
                      <a:pt x="60000" y="0"/>
                    </a:moveTo>
                    <a:lnTo>
                      <a:pt x="60000" y="60000"/>
                    </a:lnTo>
                    <a:lnTo>
                      <a:pt x="0" y="60000"/>
                    </a:lnTo>
                    <a:lnTo>
                      <a:pt x="60000" y="120000"/>
                    </a:lnTo>
                    <a:lnTo>
                      <a:pt x="120000" y="60000"/>
                    </a:lnTo>
                    <a:lnTo>
                      <a:pt x="60000" y="6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g409ba8b39cb_0_79"/>
              <p:cNvSpPr/>
              <p:nvPr/>
            </p:nvSpPr>
            <p:spPr>
              <a:xfrm>
                <a:off x="1352550" y="1666875"/>
                <a:ext cx="57300" cy="95400"/>
              </a:xfrm>
              <a:custGeom>
                <a:rect b="b" l="l" r="r" t="t"/>
                <a:pathLst>
                  <a:path extrusionOk="0" h="120000" w="120000">
                    <a:moveTo>
                      <a:pt x="60000" y="0"/>
                    </a:moveTo>
                    <a:lnTo>
                      <a:pt x="60000" y="60000"/>
                    </a:lnTo>
                    <a:lnTo>
                      <a:pt x="0" y="60000"/>
                    </a:lnTo>
                    <a:lnTo>
                      <a:pt x="60000" y="120000"/>
                    </a:lnTo>
                    <a:lnTo>
                      <a:pt x="120000" y="60000"/>
                    </a:lnTo>
                    <a:lnTo>
                      <a:pt x="60000" y="6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g409ba8b39cb_0_79"/>
              <p:cNvSpPr/>
              <p:nvPr/>
            </p:nvSpPr>
            <p:spPr>
              <a:xfrm>
                <a:off x="1352550" y="2286000"/>
                <a:ext cx="57300" cy="95400"/>
              </a:xfrm>
              <a:custGeom>
                <a:rect b="b" l="l" r="r" t="t"/>
                <a:pathLst>
                  <a:path extrusionOk="0" h="120000" w="120000">
                    <a:moveTo>
                      <a:pt x="60000" y="0"/>
                    </a:moveTo>
                    <a:lnTo>
                      <a:pt x="60000" y="60000"/>
                    </a:lnTo>
                    <a:lnTo>
                      <a:pt x="0" y="60000"/>
                    </a:lnTo>
                    <a:lnTo>
                      <a:pt x="60000" y="120000"/>
                    </a:lnTo>
                    <a:lnTo>
                      <a:pt x="120000" y="60000"/>
                    </a:lnTo>
                    <a:lnTo>
                      <a:pt x="60000" y="6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15" name="Google Shape;215;g409ba8b39cb_0_79"/>
          <p:cNvGrpSpPr/>
          <p:nvPr/>
        </p:nvGrpSpPr>
        <p:grpSpPr>
          <a:xfrm>
            <a:off x="6286500" y="1428750"/>
            <a:ext cx="2476500" cy="3048000"/>
            <a:chOff x="0" y="0"/>
            <a:chExt cx="2476500" cy="3048000"/>
          </a:xfrm>
        </p:grpSpPr>
        <p:sp>
          <p:nvSpPr>
            <p:cNvPr id="216" name="Google Shape;216;g409ba8b39cb_0_79"/>
            <p:cNvSpPr/>
            <p:nvPr/>
          </p:nvSpPr>
          <p:spPr>
            <a:xfrm>
              <a:off x="0" y="0"/>
              <a:ext cx="2476500" cy="3048000"/>
            </a:xfrm>
            <a:prstGeom prst="roundRect">
              <a:avLst>
                <a:gd fmla="val 3076" name="adj"/>
              </a:avLst>
            </a:prstGeom>
            <a:solidFill>
              <a:srgbClr val="FFFFFF"/>
            </a:solidFill>
            <a:ln cap="flat" cmpd="sng" w="14300">
              <a:solidFill>
                <a:srgbClr val="2E7D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g409ba8b39cb_0_79"/>
            <p:cNvSpPr/>
            <p:nvPr/>
          </p:nvSpPr>
          <p:spPr>
            <a:xfrm>
              <a:off x="0" y="0"/>
              <a:ext cx="2476500" cy="381000"/>
            </a:xfrm>
            <a:prstGeom prst="roundRect">
              <a:avLst>
                <a:gd fmla="val 20000" name="adj"/>
              </a:avLst>
            </a:prstGeom>
            <a:solidFill>
              <a:srgbClr val="E8F5E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g409ba8b39cb_0_79"/>
            <p:cNvSpPr/>
            <p:nvPr/>
          </p:nvSpPr>
          <p:spPr>
            <a:xfrm>
              <a:off x="0" y="285750"/>
              <a:ext cx="2476500" cy="954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g409ba8b39cb_0_79"/>
            <p:cNvSpPr txBox="1"/>
            <p:nvPr/>
          </p:nvSpPr>
          <p:spPr>
            <a:xfrm>
              <a:off x="0" y="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2E7D32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QUY TRÌNH HỖ TRỢ (Support)</a:t>
              </a:r>
              <a:endParaRPr b="0" sz="1100">
                <a:solidFill>
                  <a:srgbClr val="2E7D32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grpSp>
          <p:nvGrpSpPr>
            <p:cNvPr id="220" name="Google Shape;220;g409ba8b39cb_0_79"/>
            <p:cNvGrpSpPr/>
            <p:nvPr/>
          </p:nvGrpSpPr>
          <p:grpSpPr>
            <a:xfrm>
              <a:off x="142875" y="571500"/>
              <a:ext cx="2190900" cy="619200"/>
              <a:chOff x="0" y="0"/>
              <a:chExt cx="2190900" cy="619200"/>
            </a:xfrm>
          </p:grpSpPr>
          <p:sp>
            <p:nvSpPr>
              <p:cNvPr id="221" name="Google Shape;221;g409ba8b39cb_0_79"/>
              <p:cNvSpPr/>
              <p:nvPr/>
            </p:nvSpPr>
            <p:spPr>
              <a:xfrm>
                <a:off x="0" y="0"/>
                <a:ext cx="2190900" cy="619200"/>
              </a:xfrm>
              <a:prstGeom prst="roundRect">
                <a:avLst>
                  <a:gd fmla="val 9230" name="adj"/>
                </a:avLst>
              </a:prstGeom>
              <a:solidFill>
                <a:srgbClr val="FDFDFD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g409ba8b39cb_0_79"/>
              <p:cNvSpPr txBox="1"/>
              <p:nvPr/>
            </p:nvSpPr>
            <p:spPr>
              <a:xfrm>
                <a:off x="95250" y="0"/>
                <a:ext cx="20001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11111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Chat support</a:t>
                </a:r>
                <a:endParaRPr b="0" sz="110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223" name="Google Shape;223;g409ba8b39cb_0_79"/>
            <p:cNvGrpSpPr/>
            <p:nvPr/>
          </p:nvGrpSpPr>
          <p:grpSpPr>
            <a:xfrm>
              <a:off x="142875" y="1381125"/>
              <a:ext cx="2190900" cy="619200"/>
              <a:chOff x="0" y="0"/>
              <a:chExt cx="2190900" cy="619200"/>
            </a:xfrm>
          </p:grpSpPr>
          <p:sp>
            <p:nvSpPr>
              <p:cNvPr id="224" name="Google Shape;224;g409ba8b39cb_0_79"/>
              <p:cNvSpPr/>
              <p:nvPr/>
            </p:nvSpPr>
            <p:spPr>
              <a:xfrm>
                <a:off x="0" y="0"/>
                <a:ext cx="2190900" cy="619200"/>
              </a:xfrm>
              <a:prstGeom prst="roundRect">
                <a:avLst>
                  <a:gd fmla="val 9230" name="adj"/>
                </a:avLst>
              </a:prstGeom>
              <a:solidFill>
                <a:srgbClr val="FDFDFD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g409ba8b39cb_0_79"/>
              <p:cNvSpPr txBox="1"/>
              <p:nvPr/>
            </p:nvSpPr>
            <p:spPr>
              <a:xfrm>
                <a:off x="95250" y="0"/>
                <a:ext cx="20001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11111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Báo cáo linh kiện KTV</a:t>
                </a:r>
                <a:endParaRPr b="0" sz="110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226" name="Google Shape;226;g409ba8b39cb_0_79"/>
            <p:cNvGrpSpPr/>
            <p:nvPr/>
          </p:nvGrpSpPr>
          <p:grpSpPr>
            <a:xfrm>
              <a:off x="142875" y="2190750"/>
              <a:ext cx="2190900" cy="619200"/>
              <a:chOff x="0" y="0"/>
              <a:chExt cx="2190900" cy="619200"/>
            </a:xfrm>
          </p:grpSpPr>
          <p:sp>
            <p:nvSpPr>
              <p:cNvPr id="227" name="Google Shape;227;g409ba8b39cb_0_79"/>
              <p:cNvSpPr/>
              <p:nvPr/>
            </p:nvSpPr>
            <p:spPr>
              <a:xfrm>
                <a:off x="0" y="0"/>
                <a:ext cx="2190900" cy="619200"/>
              </a:xfrm>
              <a:prstGeom prst="roundRect">
                <a:avLst>
                  <a:gd fmla="val 9230" name="adj"/>
                </a:avLst>
              </a:prstGeom>
              <a:solidFill>
                <a:srgbClr val="FDFDFD"/>
              </a:solidFill>
              <a:ln cap="flat" cmpd="sng" w="9525">
                <a:solidFill>
                  <a:srgbClr val="E0E0E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" name="Google Shape;228;g409ba8b39cb_0_79"/>
              <p:cNvSpPr txBox="1"/>
              <p:nvPr/>
            </p:nvSpPr>
            <p:spPr>
              <a:xfrm>
                <a:off x="95250" y="0"/>
                <a:ext cx="20001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11111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Quản lý kho linh kiện</a:t>
                </a:r>
                <a:endParaRPr b="0" sz="110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grpSp>
        <p:nvGrpSpPr>
          <p:cNvPr id="229" name="Google Shape;229;g409ba8b39cb_0_79"/>
          <p:cNvGrpSpPr/>
          <p:nvPr/>
        </p:nvGrpSpPr>
        <p:grpSpPr>
          <a:xfrm>
            <a:off x="2714625" y="2181225"/>
            <a:ext cx="3714825" cy="1752750"/>
            <a:chOff x="2714625" y="2181225"/>
            <a:chExt cx="3714825" cy="1752750"/>
          </a:xfrm>
        </p:grpSpPr>
        <p:pic>
          <p:nvPicPr>
            <p:cNvPr id="230" name="Google Shape;230;g409ba8b39cb_0_7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714625" y="2295525"/>
              <a:ext cx="762000" cy="19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1" name="Google Shape;231;g409ba8b39cb_0_79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714625" y="3105150"/>
              <a:ext cx="752400" cy="333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2" name="Google Shape;232;g409ba8b39cb_0_7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714625" y="3914775"/>
              <a:ext cx="762000" cy="19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3" name="Google Shape;233;g409ba8b39cb_0_79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5810250" y="2181225"/>
              <a:ext cx="619200" cy="13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4" name="Google Shape;234;g409ba8b39cb_0_79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5810250" y="3105150"/>
              <a:ext cx="604800" cy="333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5" name="Google Shape;235;g409ba8b39cb_0_79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5810250" y="3419475"/>
              <a:ext cx="619200" cy="514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6" name="Google Shape;236;g409ba8b39cb_0_79"/>
          <p:cNvGrpSpPr/>
          <p:nvPr/>
        </p:nvGrpSpPr>
        <p:grpSpPr>
          <a:xfrm>
            <a:off x="3429000" y="2276475"/>
            <a:ext cx="3000450" cy="1676550"/>
            <a:chOff x="3429000" y="2276475"/>
            <a:chExt cx="3000450" cy="1676550"/>
          </a:xfrm>
        </p:grpSpPr>
        <p:sp>
          <p:nvSpPr>
            <p:cNvPr id="237" name="Google Shape;237;g409ba8b39cb_0_79"/>
            <p:cNvSpPr/>
            <p:nvPr/>
          </p:nvSpPr>
          <p:spPr>
            <a:xfrm>
              <a:off x="3429000" y="2276475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120000" y="60000"/>
                  </a:moveTo>
                  <a:lnTo>
                    <a:pt x="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8888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g409ba8b39cb_0_79"/>
            <p:cNvSpPr/>
            <p:nvPr/>
          </p:nvSpPr>
          <p:spPr>
            <a:xfrm>
              <a:off x="3429000" y="3400425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120000" y="60000"/>
                  </a:moveTo>
                  <a:lnTo>
                    <a:pt x="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8888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g409ba8b39cb_0_79"/>
            <p:cNvSpPr/>
            <p:nvPr/>
          </p:nvSpPr>
          <p:spPr>
            <a:xfrm>
              <a:off x="3429000" y="3895725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120000" y="60000"/>
                  </a:moveTo>
                  <a:lnTo>
                    <a:pt x="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8888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g409ba8b39cb_0_79"/>
            <p:cNvSpPr/>
            <p:nvPr/>
          </p:nvSpPr>
          <p:spPr>
            <a:xfrm>
              <a:off x="6381750" y="2276475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120000" y="60000"/>
                  </a:moveTo>
                  <a:lnTo>
                    <a:pt x="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8888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g409ba8b39cb_0_79"/>
            <p:cNvSpPr/>
            <p:nvPr/>
          </p:nvSpPr>
          <p:spPr>
            <a:xfrm>
              <a:off x="6381750" y="3086100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120000" y="60000"/>
                  </a:moveTo>
                  <a:lnTo>
                    <a:pt x="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8888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g409ba8b39cb_0_79"/>
            <p:cNvSpPr/>
            <p:nvPr/>
          </p:nvSpPr>
          <p:spPr>
            <a:xfrm>
              <a:off x="6381750" y="3895725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120000" y="60000"/>
                  </a:moveTo>
                  <a:lnTo>
                    <a:pt x="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8888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3" name="Google Shape;243;g409ba8b39cb_0_79"/>
          <p:cNvGrpSpPr/>
          <p:nvPr/>
        </p:nvGrpSpPr>
        <p:grpSpPr>
          <a:xfrm>
            <a:off x="2886075" y="2152650"/>
            <a:ext cx="3372000" cy="1847850"/>
            <a:chOff x="2886075" y="2152650"/>
            <a:chExt cx="3372000" cy="1847850"/>
          </a:xfrm>
        </p:grpSpPr>
        <p:sp>
          <p:nvSpPr>
            <p:cNvPr id="244" name="Google Shape;244;g409ba8b39cb_0_79"/>
            <p:cNvSpPr/>
            <p:nvPr/>
          </p:nvSpPr>
          <p:spPr>
            <a:xfrm>
              <a:off x="2886075" y="2219325"/>
              <a:ext cx="419100" cy="152400"/>
            </a:xfrm>
            <a:prstGeom prst="roundRect">
              <a:avLst>
                <a:gd fmla="val 18750" name="adj"/>
              </a:avLst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g409ba8b39cb_0_79"/>
            <p:cNvSpPr txBox="1"/>
            <p:nvPr/>
          </p:nvSpPr>
          <p:spPr>
            <a:xfrm>
              <a:off x="2886075" y="2219325"/>
              <a:ext cx="4191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666666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giám sát</a:t>
              </a:r>
              <a:endParaRPr b="0" sz="800">
                <a:solidFill>
                  <a:srgbClr val="666666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46" name="Google Shape;246;g409ba8b39cb_0_79"/>
            <p:cNvSpPr/>
            <p:nvPr/>
          </p:nvSpPr>
          <p:spPr>
            <a:xfrm>
              <a:off x="2886075" y="3152775"/>
              <a:ext cx="419100" cy="152400"/>
            </a:xfrm>
            <a:prstGeom prst="roundRect">
              <a:avLst>
                <a:gd fmla="val 18750" name="adj"/>
              </a:avLst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g409ba8b39cb_0_79"/>
            <p:cNvSpPr txBox="1"/>
            <p:nvPr/>
          </p:nvSpPr>
          <p:spPr>
            <a:xfrm>
              <a:off x="2886075" y="3152775"/>
              <a:ext cx="4191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666666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giám sát</a:t>
              </a:r>
              <a:endParaRPr b="0" sz="800">
                <a:solidFill>
                  <a:srgbClr val="666666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48" name="Google Shape;248;g409ba8b39cb_0_79"/>
            <p:cNvSpPr/>
            <p:nvPr/>
          </p:nvSpPr>
          <p:spPr>
            <a:xfrm>
              <a:off x="2886075" y="3848100"/>
              <a:ext cx="419100" cy="152400"/>
            </a:xfrm>
            <a:prstGeom prst="roundRect">
              <a:avLst>
                <a:gd fmla="val 18750" name="adj"/>
              </a:avLst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g409ba8b39cb_0_79"/>
            <p:cNvSpPr txBox="1"/>
            <p:nvPr/>
          </p:nvSpPr>
          <p:spPr>
            <a:xfrm>
              <a:off x="2886075" y="3848100"/>
              <a:ext cx="4191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666666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giám sát</a:t>
              </a:r>
              <a:endParaRPr b="0" sz="800">
                <a:solidFill>
                  <a:srgbClr val="666666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50" name="Google Shape;250;g409ba8b39cb_0_79"/>
            <p:cNvSpPr/>
            <p:nvPr/>
          </p:nvSpPr>
          <p:spPr>
            <a:xfrm>
              <a:off x="5934075" y="2152650"/>
              <a:ext cx="324000" cy="152400"/>
            </a:xfrm>
            <a:prstGeom prst="roundRect">
              <a:avLst>
                <a:gd fmla="val 18750" name="adj"/>
              </a:avLst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g409ba8b39cb_0_79"/>
            <p:cNvSpPr txBox="1"/>
            <p:nvPr/>
          </p:nvSpPr>
          <p:spPr>
            <a:xfrm>
              <a:off x="5934075" y="2152650"/>
              <a:ext cx="3240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666666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hỗ trợ</a:t>
              </a:r>
              <a:endParaRPr b="0" sz="800">
                <a:solidFill>
                  <a:srgbClr val="666666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52" name="Google Shape;252;g409ba8b39cb_0_79"/>
            <p:cNvSpPr/>
            <p:nvPr/>
          </p:nvSpPr>
          <p:spPr>
            <a:xfrm>
              <a:off x="5934075" y="3190875"/>
              <a:ext cx="324000" cy="152400"/>
            </a:xfrm>
            <a:prstGeom prst="roundRect">
              <a:avLst>
                <a:gd fmla="val 18750" name="adj"/>
              </a:avLst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g409ba8b39cb_0_79"/>
            <p:cNvSpPr txBox="1"/>
            <p:nvPr/>
          </p:nvSpPr>
          <p:spPr>
            <a:xfrm>
              <a:off x="5934075" y="3190875"/>
              <a:ext cx="3240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666666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hỗ trợ</a:t>
              </a:r>
              <a:endParaRPr b="0" sz="800">
                <a:solidFill>
                  <a:srgbClr val="666666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54" name="Google Shape;254;g409ba8b39cb_0_79"/>
            <p:cNvSpPr/>
            <p:nvPr/>
          </p:nvSpPr>
          <p:spPr>
            <a:xfrm>
              <a:off x="5934075" y="3743325"/>
              <a:ext cx="324000" cy="152400"/>
            </a:xfrm>
            <a:prstGeom prst="roundRect">
              <a:avLst>
                <a:gd fmla="val 18750" name="adj"/>
              </a:avLst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g409ba8b39cb_0_79"/>
            <p:cNvSpPr txBox="1"/>
            <p:nvPr/>
          </p:nvSpPr>
          <p:spPr>
            <a:xfrm>
              <a:off x="5934075" y="3743325"/>
              <a:ext cx="3240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666666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hỗ trợ</a:t>
              </a:r>
              <a:endParaRPr b="0" sz="800">
                <a:solidFill>
                  <a:srgbClr val="666666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256" name="Google Shape;256;g409ba8b39cb_0_79"/>
          <p:cNvSpPr/>
          <p:nvPr/>
        </p:nvSpPr>
        <p:spPr>
          <a:xfrm>
            <a:off x="381000" y="4762500"/>
            <a:ext cx="8382000" cy="9600"/>
          </a:xfrm>
          <a:prstGeom prst="rect">
            <a:avLst/>
          </a:prstGeom>
          <a:solidFill>
            <a:srgbClr val="D0D0C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409ba8b39cb_0_79"/>
          <p:cNvSpPr txBox="1"/>
          <p:nvPr/>
        </p:nvSpPr>
        <p:spPr>
          <a:xfrm>
            <a:off x="381000" y="4857750"/>
            <a:ext cx="8382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BPMN PROCESS ANALYSIS REPORT</a:t>
            </a:r>
            <a:endParaRPr b="0" sz="800">
              <a:solidFill>
                <a:srgbClr val="88888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4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3" name="Google Shape;26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72700" cy="49722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4"/>
          <p:cNvSpPr/>
          <p:nvPr/>
        </p:nvSpPr>
        <p:spPr>
          <a:xfrm>
            <a:off x="381000" y="4762500"/>
            <a:ext cx="8382000" cy="9600"/>
          </a:xfrm>
          <a:prstGeom prst="rect">
            <a:avLst/>
          </a:prstGeom>
          <a:solidFill>
            <a:srgbClr val="D0D0C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4"/>
          <p:cNvSpPr txBox="1"/>
          <p:nvPr/>
        </p:nvSpPr>
        <p:spPr>
          <a:xfrm>
            <a:off x="381000" y="4857750"/>
            <a:ext cx="838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BPMN PROCESS ANALYSIS REPORT</a:t>
            </a:r>
            <a:endParaRPr b="0" i="0" sz="800" u="none" cap="none" strike="noStrike">
              <a:solidFill>
                <a:srgbClr val="88888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grpSp>
        <p:nvGrpSpPr>
          <p:cNvPr id="267" name="Google Shape;267;p4"/>
          <p:cNvGrpSpPr/>
          <p:nvPr/>
        </p:nvGrpSpPr>
        <p:grpSpPr>
          <a:xfrm>
            <a:off x="381000" y="285750"/>
            <a:ext cx="8382000" cy="1381275"/>
            <a:chOff x="381000" y="285750"/>
            <a:chExt cx="8382000" cy="1381275"/>
          </a:xfrm>
        </p:grpSpPr>
        <p:sp>
          <p:nvSpPr>
            <p:cNvPr id="268" name="Google Shape;268;p4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4"/>
            <p:cNvSpPr txBox="1"/>
            <p:nvPr/>
          </p:nvSpPr>
          <p:spPr>
            <a:xfrm>
              <a:off x="381000" y="428625"/>
              <a:ext cx="8382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600"/>
                <a:buFont typeface="Arial"/>
                <a:buNone/>
              </a:pPr>
              <a:r>
                <a:rPr b="0" i="0" lang="en" sz="360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Quy Trình Quản Lý Kỹ Thuật Viên</a:t>
              </a:r>
              <a:endParaRPr b="0" i="0" sz="360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200"/>
                </a:spcBef>
                <a:spcAft>
                  <a:spcPts val="180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0" i="0" lang="en" sz="2000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Tối ưu hóa nguồn lực vận hành và hiệu suất</a:t>
              </a:r>
              <a:endParaRPr b="0" i="0" sz="2000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270" name="Google Shape;270;p4"/>
          <p:cNvGrpSpPr/>
          <p:nvPr/>
        </p:nvGrpSpPr>
        <p:grpSpPr>
          <a:xfrm>
            <a:off x="381000" y="1762125"/>
            <a:ext cx="8382150" cy="2857500"/>
            <a:chOff x="381000" y="1762125"/>
            <a:chExt cx="8382150" cy="2857500"/>
          </a:xfrm>
        </p:grpSpPr>
        <p:sp>
          <p:nvSpPr>
            <p:cNvPr id="271" name="Google Shape;271;p4"/>
            <p:cNvSpPr txBox="1"/>
            <p:nvPr/>
          </p:nvSpPr>
          <p:spPr>
            <a:xfrm>
              <a:off x="381000" y="1762125"/>
              <a:ext cx="40005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TÁC NHÂN VẬN HÀNH</a:t>
              </a:r>
              <a:endParaRPr b="0" i="0" sz="900" u="none" cap="none" strike="noStrike">
                <a:solidFill>
                  <a:srgbClr val="0033A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" sz="13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Quản lý vận hành (Operations Manager)</a:t>
              </a:r>
              <a:endParaRPr b="1" i="0" sz="13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CẤU TRÚC QUY TRÌNH</a:t>
              </a:r>
              <a:endParaRPr b="0" i="0" sz="900" u="none" cap="none" strike="noStrike">
                <a:solidFill>
                  <a:srgbClr val="0033A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0" i="0" lang="en" sz="11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Thiết lập với độ phức tạp cao gồm </a:t>
              </a:r>
              <a:r>
                <a:rPr b="1" i="0" lang="en" sz="11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6 cổng điều kiện</a:t>
              </a:r>
              <a:r>
                <a:rPr b="0" i="0" lang="en" sz="11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. Sử dụng cổng song song (Split &amp; Join) để điều phối và đồng bộ công việc.</a:t>
              </a:r>
              <a:endParaRPr b="0" i="0" sz="115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CHỨC NĂNG CỐT LÕI</a:t>
              </a:r>
              <a:endParaRPr b="0" i="0" sz="900" u="none" cap="none" strike="noStrike">
                <a:solidFill>
                  <a:srgbClr val="0033A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-317500" lvl="0" marL="45720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111111"/>
                </a:buClr>
                <a:buSzPts val="1400"/>
                <a:buFont typeface="Arial"/>
                <a:buChar char="●"/>
              </a:pPr>
              <a:r>
                <a:rPr b="0" i="0" lang="en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Lập kế hoạch phân bổ nguồn lực tối ưu</a:t>
              </a:r>
              <a:endParaRPr b="0" i="0" sz="11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11111"/>
                </a:buClr>
                <a:buSzPts val="1400"/>
                <a:buFont typeface="Arial"/>
                <a:buChar char="●"/>
              </a:pPr>
              <a:r>
                <a:rPr b="0" i="0" lang="en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Theo dõi sát sao và đánh giá hiệu suất thực tế</a:t>
              </a:r>
              <a:endParaRPr b="0" i="0" sz="11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11111"/>
                </a:buClr>
                <a:buSzPts val="1400"/>
                <a:buFont typeface="Arial"/>
                <a:buChar char="●"/>
              </a:pPr>
              <a:r>
                <a:rPr b="0" i="0" lang="en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Phân tích nguyên nhân gốc rễ lỗi vận hành</a:t>
              </a:r>
              <a:endParaRPr b="0" i="0" sz="11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11111"/>
                </a:buClr>
                <a:buSzPts val="1400"/>
                <a:buFont typeface="Arial"/>
                <a:buChar char="●"/>
              </a:pPr>
              <a:r>
                <a:rPr b="0" i="0" lang="en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Điều phối linh hoạt lực lượng nhân sự dự phòng</a:t>
              </a:r>
              <a:endParaRPr b="0" i="0" sz="11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2" name="Google Shape;272;p4"/>
            <p:cNvSpPr/>
            <p:nvPr/>
          </p:nvSpPr>
          <p:spPr>
            <a:xfrm>
              <a:off x="4667250" y="1762125"/>
              <a:ext cx="4095900" cy="2762400"/>
            </a:xfrm>
            <a:prstGeom prst="rect">
              <a:avLst/>
            </a:prstGeom>
            <a:solidFill>
              <a:srgbClr val="FFFFFF"/>
            </a:solidFill>
            <a:ln cap="flat" cmpd="sng" w="14300">
              <a:solidFill>
                <a:srgbClr val="D0D0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4"/>
            <p:cNvSpPr/>
            <p:nvPr/>
          </p:nvSpPr>
          <p:spPr>
            <a:xfrm>
              <a:off x="4667250" y="1762125"/>
              <a:ext cx="4095900" cy="2859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4"/>
            <p:cNvSpPr txBox="1"/>
            <p:nvPr/>
          </p:nvSpPr>
          <p:spPr>
            <a:xfrm>
              <a:off x="4810125" y="1809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MÔ PHỎNG SƠ ĐỒ QUY TRÌNH BPMN</a:t>
              </a:r>
              <a:endParaRPr b="1" i="0" sz="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pic>
          <p:nvPicPr>
            <p:cNvPr id="275" name="Google Shape;275;p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667250" y="3281363"/>
              <a:ext cx="4076700" cy="96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76" name="Google Shape;276;p4"/>
            <p:cNvCxnSpPr/>
            <p:nvPr/>
          </p:nvCxnSpPr>
          <p:spPr>
            <a:xfrm>
              <a:off x="4972050" y="2047875"/>
              <a:ext cx="0" cy="247650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77" name="Google Shape;277;p4"/>
            <p:cNvSpPr txBox="1"/>
            <p:nvPr/>
          </p:nvSpPr>
          <p:spPr>
            <a:xfrm>
              <a:off x="4714875" y="2238375"/>
              <a:ext cx="2097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3"/>
                <a:buFont typeface="Arial"/>
                <a:buNone/>
              </a:pPr>
              <a:r>
                <a:rPr b="1" i="0" lang="en" sz="413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rPr>
                <a:t>HỆ THỐNG</a:t>
              </a:r>
              <a:endParaRPr b="1" i="0" sz="413" u="none" cap="none" strike="noStrike">
                <a:solidFill>
                  <a:srgbClr val="0033A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8" name="Google Shape;278;p4"/>
            <p:cNvSpPr txBox="1"/>
            <p:nvPr/>
          </p:nvSpPr>
          <p:spPr>
            <a:xfrm>
              <a:off x="4714875" y="3476625"/>
              <a:ext cx="2097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25"/>
                <a:buFont typeface="Arial"/>
                <a:buNone/>
              </a:pPr>
              <a:r>
                <a:rPr b="1" i="0" lang="en" sz="525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rPr>
                <a:t>VẬN HÀNH</a:t>
              </a:r>
              <a:endParaRPr b="1" i="0" sz="525" u="none" cap="none" strike="noStrike">
                <a:solidFill>
                  <a:srgbClr val="0033A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9" name="Google Shape;279;p4"/>
            <p:cNvSpPr/>
            <p:nvPr/>
          </p:nvSpPr>
          <p:spPr>
            <a:xfrm>
              <a:off x="5076825" y="2581275"/>
              <a:ext cx="171600" cy="171600"/>
            </a:xfrm>
            <a:prstGeom prst="ellipse">
              <a:avLst/>
            </a:prstGeom>
            <a:solidFill>
              <a:srgbClr val="FFFFFF"/>
            </a:solidFill>
            <a:ln cap="flat" cmpd="sng" w="1905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80" name="Google Shape;280;p4"/>
            <p:cNvCxnSpPr/>
            <p:nvPr/>
          </p:nvCxnSpPr>
          <p:spPr>
            <a:xfrm>
              <a:off x="5248275" y="2667000"/>
              <a:ext cx="1620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81" name="Google Shape;281;p4"/>
            <p:cNvSpPr/>
            <p:nvPr/>
          </p:nvSpPr>
          <p:spPr>
            <a:xfrm>
              <a:off x="5362575" y="2638425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4"/>
            <p:cNvSpPr/>
            <p:nvPr/>
          </p:nvSpPr>
          <p:spPr>
            <a:xfrm>
              <a:off x="5410200" y="2428875"/>
              <a:ext cx="666900" cy="4764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" name="Google Shape;283;p4"/>
            <p:cNvSpPr txBox="1"/>
            <p:nvPr/>
          </p:nvSpPr>
          <p:spPr>
            <a:xfrm>
              <a:off x="5438775" y="2476500"/>
              <a:ext cx="609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Lập kế hoạch phân bổ</a:t>
              </a:r>
              <a:endParaRPr b="0" i="0" sz="700" u="none" cap="none" strike="noStrike">
                <a:solidFill>
                  <a:srgbClr val="11111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284" name="Google Shape;284;p4"/>
            <p:cNvSpPr/>
            <p:nvPr/>
          </p:nvSpPr>
          <p:spPr>
            <a:xfrm>
              <a:off x="6200775" y="2552700"/>
              <a:ext cx="228600" cy="22860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120000" y="60000"/>
                  </a:lnTo>
                  <a:lnTo>
                    <a:pt x="60000" y="120000"/>
                  </a:lnTo>
                  <a:lnTo>
                    <a:pt x="0" y="60000"/>
                  </a:lnTo>
                  <a:close/>
                </a:path>
              </a:pathLst>
            </a:custGeom>
            <a:solidFill>
              <a:srgbClr val="FFFFFF"/>
            </a:solidFill>
            <a:ln cap="flat" cmpd="sng" w="1430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85" name="Google Shape;285;p4"/>
            <p:cNvCxnSpPr/>
            <p:nvPr/>
          </p:nvCxnSpPr>
          <p:spPr>
            <a:xfrm>
              <a:off x="6286500" y="2667000"/>
              <a:ext cx="573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86" name="Google Shape;286;p4"/>
            <p:cNvCxnSpPr/>
            <p:nvPr/>
          </p:nvCxnSpPr>
          <p:spPr>
            <a:xfrm>
              <a:off x="6315075" y="2638425"/>
              <a:ext cx="0" cy="5730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87" name="Google Shape;287;p4"/>
            <p:cNvCxnSpPr/>
            <p:nvPr/>
          </p:nvCxnSpPr>
          <p:spPr>
            <a:xfrm>
              <a:off x="6429375" y="2667000"/>
              <a:ext cx="1905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88" name="Google Shape;288;p4"/>
            <p:cNvSpPr/>
            <p:nvPr/>
          </p:nvSpPr>
          <p:spPr>
            <a:xfrm>
              <a:off x="6572250" y="2638425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4"/>
            <p:cNvSpPr/>
            <p:nvPr/>
          </p:nvSpPr>
          <p:spPr>
            <a:xfrm>
              <a:off x="6315075" y="2781300"/>
              <a:ext cx="304800" cy="8859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4"/>
            <p:cNvSpPr/>
            <p:nvPr/>
          </p:nvSpPr>
          <p:spPr>
            <a:xfrm>
              <a:off x="6572250" y="3638550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4"/>
            <p:cNvSpPr/>
            <p:nvPr/>
          </p:nvSpPr>
          <p:spPr>
            <a:xfrm>
              <a:off x="6619875" y="2428875"/>
              <a:ext cx="666900" cy="4764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4"/>
            <p:cNvSpPr txBox="1"/>
            <p:nvPr/>
          </p:nvSpPr>
          <p:spPr>
            <a:xfrm>
              <a:off x="6648450" y="2476500"/>
              <a:ext cx="609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Theo dõi hiệu suất</a:t>
              </a:r>
              <a:endParaRPr b="0" i="0" sz="700" u="none" cap="none" strike="noStrike">
                <a:solidFill>
                  <a:srgbClr val="11111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293" name="Google Shape;293;p4"/>
            <p:cNvSpPr/>
            <p:nvPr/>
          </p:nvSpPr>
          <p:spPr>
            <a:xfrm>
              <a:off x="6619875" y="3429000"/>
              <a:ext cx="666900" cy="4764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4"/>
            <p:cNvSpPr txBox="1"/>
            <p:nvPr/>
          </p:nvSpPr>
          <p:spPr>
            <a:xfrm>
              <a:off x="6648450" y="3476625"/>
              <a:ext cx="609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Điều phối nhân sự</a:t>
              </a:r>
              <a:endParaRPr b="0" i="0" sz="700" u="none" cap="none" strike="noStrike">
                <a:solidFill>
                  <a:srgbClr val="11111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cxnSp>
          <p:nvCxnSpPr>
            <p:cNvPr id="295" name="Google Shape;295;p4"/>
            <p:cNvCxnSpPr/>
            <p:nvPr/>
          </p:nvCxnSpPr>
          <p:spPr>
            <a:xfrm>
              <a:off x="7286625" y="2667000"/>
              <a:ext cx="1716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96" name="Google Shape;296;p4"/>
            <p:cNvSpPr/>
            <p:nvPr/>
          </p:nvSpPr>
          <p:spPr>
            <a:xfrm>
              <a:off x="7410450" y="2638425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4"/>
            <p:cNvSpPr/>
            <p:nvPr/>
          </p:nvSpPr>
          <p:spPr>
            <a:xfrm>
              <a:off x="7286625" y="2781300"/>
              <a:ext cx="285900" cy="8859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120000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4"/>
            <p:cNvSpPr/>
            <p:nvPr/>
          </p:nvSpPr>
          <p:spPr>
            <a:xfrm>
              <a:off x="7543800" y="2781300"/>
              <a:ext cx="57300" cy="477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60000" y="0"/>
                  </a:lnTo>
                  <a:lnTo>
                    <a:pt x="12000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4"/>
            <p:cNvSpPr/>
            <p:nvPr/>
          </p:nvSpPr>
          <p:spPr>
            <a:xfrm>
              <a:off x="7458075" y="2552700"/>
              <a:ext cx="228600" cy="22860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120000" y="60000"/>
                  </a:lnTo>
                  <a:lnTo>
                    <a:pt x="60000" y="120000"/>
                  </a:lnTo>
                  <a:lnTo>
                    <a:pt x="0" y="60000"/>
                  </a:lnTo>
                  <a:close/>
                </a:path>
              </a:pathLst>
            </a:custGeom>
            <a:solidFill>
              <a:srgbClr val="FFFFFF"/>
            </a:solidFill>
            <a:ln cap="flat" cmpd="sng" w="1430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00" name="Google Shape;300;p4"/>
            <p:cNvCxnSpPr/>
            <p:nvPr/>
          </p:nvCxnSpPr>
          <p:spPr>
            <a:xfrm>
              <a:off x="7543800" y="2667000"/>
              <a:ext cx="573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01" name="Google Shape;301;p4"/>
            <p:cNvCxnSpPr/>
            <p:nvPr/>
          </p:nvCxnSpPr>
          <p:spPr>
            <a:xfrm>
              <a:off x="7572375" y="2638425"/>
              <a:ext cx="0" cy="5730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02" name="Google Shape;302;p4"/>
            <p:cNvCxnSpPr/>
            <p:nvPr/>
          </p:nvCxnSpPr>
          <p:spPr>
            <a:xfrm>
              <a:off x="7686675" y="2667000"/>
              <a:ext cx="1716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03" name="Google Shape;303;p4"/>
            <p:cNvSpPr/>
            <p:nvPr/>
          </p:nvSpPr>
          <p:spPr>
            <a:xfrm>
              <a:off x="7810500" y="2638425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4"/>
            <p:cNvSpPr/>
            <p:nvPr/>
          </p:nvSpPr>
          <p:spPr>
            <a:xfrm>
              <a:off x="7858125" y="2428875"/>
              <a:ext cx="666900" cy="4764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4"/>
            <p:cNvSpPr txBox="1"/>
            <p:nvPr/>
          </p:nvSpPr>
          <p:spPr>
            <a:xfrm>
              <a:off x="7886700" y="2476500"/>
              <a:ext cx="609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1111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Phân tích nguyên nhân</a:t>
              </a:r>
              <a:endParaRPr b="0" i="0" sz="700" u="none" cap="none" strike="noStrike">
                <a:solidFill>
                  <a:srgbClr val="11111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cxnSp>
          <p:nvCxnSpPr>
            <p:cNvPr id="306" name="Google Shape;306;p4"/>
            <p:cNvCxnSpPr/>
            <p:nvPr/>
          </p:nvCxnSpPr>
          <p:spPr>
            <a:xfrm>
              <a:off x="8524875" y="2667000"/>
              <a:ext cx="95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07" name="Google Shape;307;p4"/>
            <p:cNvSpPr/>
            <p:nvPr/>
          </p:nvSpPr>
          <p:spPr>
            <a:xfrm>
              <a:off x="8572500" y="2638425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4"/>
            <p:cNvSpPr/>
            <p:nvPr/>
          </p:nvSpPr>
          <p:spPr>
            <a:xfrm>
              <a:off x="8620125" y="2609850"/>
              <a:ext cx="114300" cy="1143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cap="flat" cmpd="sng" w="28575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4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4" name="Google Shape;31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72700" cy="4972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5"/>
          <p:cNvSpPr/>
          <p:nvPr/>
        </p:nvSpPr>
        <p:spPr>
          <a:xfrm>
            <a:off x="381000" y="4762500"/>
            <a:ext cx="8382000" cy="9600"/>
          </a:xfrm>
          <a:prstGeom prst="rect">
            <a:avLst/>
          </a:prstGeom>
          <a:solidFill>
            <a:srgbClr val="D0D0C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5"/>
          <p:cNvSpPr txBox="1"/>
          <p:nvPr/>
        </p:nvSpPr>
        <p:spPr>
          <a:xfrm>
            <a:off x="381000" y="4857750"/>
            <a:ext cx="838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BPMN PROCESS ANALYSIS REPORT</a:t>
            </a:r>
            <a:endParaRPr b="0" i="0" sz="800" u="none" cap="none" strike="noStrike">
              <a:solidFill>
                <a:srgbClr val="88888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grpSp>
        <p:nvGrpSpPr>
          <p:cNvPr id="318" name="Google Shape;318;p5"/>
          <p:cNvGrpSpPr/>
          <p:nvPr/>
        </p:nvGrpSpPr>
        <p:grpSpPr>
          <a:xfrm>
            <a:off x="381000" y="285750"/>
            <a:ext cx="8382000" cy="1238400"/>
            <a:chOff x="381000" y="285750"/>
            <a:chExt cx="8382000" cy="1238400"/>
          </a:xfrm>
        </p:grpSpPr>
        <p:sp>
          <p:nvSpPr>
            <p:cNvPr id="319" name="Google Shape;319;p5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5"/>
            <p:cNvSpPr txBox="1"/>
            <p:nvPr/>
          </p:nvSpPr>
          <p:spPr>
            <a:xfrm>
              <a:off x="381000" y="476250"/>
              <a:ext cx="8382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b="0" i="0" lang="en" sz="260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Quy Trình Quản Lý Chất Lượng Dịch Vụ Đảm Bảo KPI</a:t>
              </a:r>
              <a:endParaRPr b="0" i="0" sz="260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" sz="1300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Kiểm soát tiến trình tự động qua các cổng quyết định của QA Manager</a:t>
              </a:r>
              <a:endParaRPr b="0" i="0" sz="1300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321" name="Google Shape;321;p5"/>
          <p:cNvGrpSpPr/>
          <p:nvPr/>
        </p:nvGrpSpPr>
        <p:grpSpPr>
          <a:xfrm>
            <a:off x="381000" y="1714500"/>
            <a:ext cx="3905400" cy="2857500"/>
            <a:chOff x="381000" y="1714500"/>
            <a:chExt cx="3905400" cy="2857500"/>
          </a:xfrm>
        </p:grpSpPr>
        <p:sp>
          <p:nvSpPr>
            <p:cNvPr id="322" name="Google Shape;322;p5"/>
            <p:cNvSpPr/>
            <p:nvPr/>
          </p:nvSpPr>
          <p:spPr>
            <a:xfrm>
              <a:off x="381000" y="1714500"/>
              <a:ext cx="3905400" cy="28575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D0D0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3" name="Google Shape;323;p5"/>
            <p:cNvGrpSpPr/>
            <p:nvPr/>
          </p:nvGrpSpPr>
          <p:grpSpPr>
            <a:xfrm>
              <a:off x="381000" y="1714500"/>
              <a:ext cx="228600" cy="228600"/>
              <a:chOff x="0" y="0"/>
              <a:chExt cx="228600" cy="228600"/>
            </a:xfrm>
          </p:grpSpPr>
          <p:sp>
            <p:nvSpPr>
              <p:cNvPr id="324" name="Google Shape;324;p5"/>
              <p:cNvSpPr/>
              <p:nvPr/>
            </p:nvSpPr>
            <p:spPr>
              <a:xfrm>
                <a:off x="0" y="0"/>
                <a:ext cx="228600" cy="381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5" name="Google Shape;325;p5"/>
              <p:cNvSpPr/>
              <p:nvPr/>
            </p:nvSpPr>
            <p:spPr>
              <a:xfrm>
                <a:off x="0" y="0"/>
                <a:ext cx="38100" cy="2286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26" name="Google Shape;326;p5"/>
            <p:cNvSpPr txBox="1"/>
            <p:nvPr/>
          </p:nvSpPr>
          <p:spPr>
            <a:xfrm>
              <a:off x="619125" y="1905000"/>
              <a:ext cx="3429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" sz="95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VAI TRÒ QA MANAGER</a:t>
              </a:r>
              <a:endParaRPr b="0" i="0" sz="950" u="none" cap="none" strike="noStrike">
                <a:solidFill>
                  <a:srgbClr val="0033A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Đảm bảo hiệu năng hệ thống đạt cam kết KPI và cải tiến liên tục quy trình vận hành dịch vụ.</a:t>
              </a:r>
              <a:endParaRPr b="1" i="0" sz="11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" sz="950" u="none" cap="none" strike="noStrike">
                  <a:solidFill>
                    <a:srgbClr val="FF3A2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CÁC CHỨC NĂNG CỐT LÕI</a:t>
              </a:r>
              <a:endParaRPr b="0" i="0" sz="950" u="none" cap="none" strike="noStrike">
                <a:solidFill>
                  <a:srgbClr val="FF3A2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-295275" lvl="0" marL="457200" marR="0" rtl="0" algn="l">
                <a:lnSpc>
                  <a:spcPct val="100000"/>
                </a:lnSpc>
                <a:spcBef>
                  <a:spcPts val="750"/>
                </a:spcBef>
                <a:spcAft>
                  <a:spcPts val="0"/>
                </a:spcAft>
                <a:buClr>
                  <a:srgbClr val="111111"/>
                </a:buClr>
                <a:buSzPts val="1050"/>
                <a:buFont typeface="Roboto"/>
                <a:buChar char="●"/>
              </a:pPr>
              <a:r>
                <a:rPr b="1" i="0" lang="en" sz="10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Trích xuất KPI:</a:t>
              </a:r>
              <a:r>
                <a:rPr b="0" i="0" lang="en" sz="10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Giám sát tự động, phát hiện và cảnh báo các chỉ số sai lệch tức thời.</a:t>
              </a:r>
              <a:endParaRPr b="0" i="0" sz="105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95275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11111"/>
                </a:buClr>
                <a:buSzPts val="1050"/>
                <a:buFont typeface="Roboto"/>
                <a:buChar char="●"/>
              </a:pPr>
              <a:r>
                <a:rPr b="1" i="0" lang="en" sz="10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Phân tích khiếu nại:</a:t>
              </a:r>
              <a:r>
                <a:rPr b="0" i="0" lang="en" sz="10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Đánh giá mức độ nghiêm trọng, xác định nguyên nhân gốc rễ lỗi.</a:t>
              </a:r>
              <a:endParaRPr b="0" i="0" sz="105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95275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11111"/>
                </a:buClr>
                <a:buSzPts val="1050"/>
                <a:buFont typeface="Roboto"/>
                <a:buChar char="●"/>
              </a:pPr>
              <a:r>
                <a:rPr b="1" i="0" lang="en" sz="10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Triển khai khắc phục:</a:t>
              </a:r>
              <a:r>
                <a:rPr b="0" i="0" lang="en" sz="10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Khởi động quy trình khẩn cấp giải quyết sự cố dịch vụ.</a:t>
              </a:r>
              <a:endParaRPr b="0" i="0" sz="105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295275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111111"/>
                </a:buClr>
                <a:buSzPts val="1050"/>
                <a:buFont typeface="Roboto"/>
                <a:buChar char="●"/>
              </a:pPr>
              <a:r>
                <a:rPr b="1" i="0" lang="en" sz="10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Đề xuất cải tiến SLA:</a:t>
              </a:r>
              <a:r>
                <a:rPr b="0" i="0" lang="en" sz="10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Xem xét phản hồi, đề xuất điều chỉnh chính sách chất lượng.</a:t>
              </a:r>
              <a:endParaRPr b="0" i="0" sz="105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7" name="Google Shape;327;p5"/>
          <p:cNvGrpSpPr/>
          <p:nvPr/>
        </p:nvGrpSpPr>
        <p:grpSpPr>
          <a:xfrm>
            <a:off x="4476750" y="1714500"/>
            <a:ext cx="4286400" cy="2857500"/>
            <a:chOff x="4476750" y="1714500"/>
            <a:chExt cx="4286400" cy="2857500"/>
          </a:xfrm>
        </p:grpSpPr>
        <p:sp>
          <p:nvSpPr>
            <p:cNvPr id="328" name="Google Shape;328;p5"/>
            <p:cNvSpPr/>
            <p:nvPr/>
          </p:nvSpPr>
          <p:spPr>
            <a:xfrm>
              <a:off x="4476750" y="1714500"/>
              <a:ext cx="4286400" cy="2857500"/>
            </a:xfrm>
            <a:prstGeom prst="roundRect">
              <a:avLst>
                <a:gd fmla="val 1333" name="adj"/>
              </a:avLst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5"/>
            <p:cNvSpPr/>
            <p:nvPr/>
          </p:nvSpPr>
          <p:spPr>
            <a:xfrm>
              <a:off x="4476750" y="1714500"/>
              <a:ext cx="4286400" cy="285900"/>
            </a:xfrm>
            <a:prstGeom prst="roundRect">
              <a:avLst>
                <a:gd fmla="val 10000" name="adj"/>
              </a:avLst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5"/>
            <p:cNvSpPr txBox="1"/>
            <p:nvPr/>
          </p:nvSpPr>
          <p:spPr>
            <a:xfrm>
              <a:off x="4619625" y="1714500"/>
              <a:ext cx="4000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TIẾN TRÌNH QUẢN LÝ CHẤT LƯỢNG (BPMN MODEL)</a:t>
              </a:r>
              <a:endParaRPr b="0" i="0" sz="80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331" name="Google Shape;331;p5"/>
            <p:cNvSpPr/>
            <p:nvPr/>
          </p:nvSpPr>
          <p:spPr>
            <a:xfrm>
              <a:off x="4657725" y="3105150"/>
              <a:ext cx="171600" cy="171600"/>
            </a:xfrm>
            <a:prstGeom prst="ellipse">
              <a:avLst/>
            </a:prstGeom>
            <a:solidFill>
              <a:srgbClr val="FFFFFF"/>
            </a:solidFill>
            <a:ln cap="flat" cmpd="sng" w="1905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5"/>
            <p:cNvSpPr/>
            <p:nvPr/>
          </p:nvSpPr>
          <p:spPr>
            <a:xfrm>
              <a:off x="4829175" y="3190875"/>
              <a:ext cx="762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" name="Google Shape;333;p5"/>
            <p:cNvSpPr/>
            <p:nvPr/>
          </p:nvSpPr>
          <p:spPr>
            <a:xfrm>
              <a:off x="4905375" y="3162300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5"/>
            <p:cNvSpPr/>
            <p:nvPr/>
          </p:nvSpPr>
          <p:spPr>
            <a:xfrm>
              <a:off x="4953000" y="3000375"/>
              <a:ext cx="666900" cy="381000"/>
            </a:xfrm>
            <a:prstGeom prst="roundRect">
              <a:avLst>
                <a:gd fmla="val 10000" name="adj"/>
              </a:avLst>
            </a:prstGeom>
            <a:solidFill>
              <a:srgbClr val="E8E8E4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5"/>
            <p:cNvSpPr txBox="1"/>
            <p:nvPr/>
          </p:nvSpPr>
          <p:spPr>
            <a:xfrm>
              <a:off x="4972050" y="3000375"/>
              <a:ext cx="628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Trích xuất KPI</a:t>
              </a:r>
              <a:endParaRPr b="1" i="0" sz="8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6" name="Google Shape;336;p5"/>
            <p:cNvSpPr/>
            <p:nvPr/>
          </p:nvSpPr>
          <p:spPr>
            <a:xfrm>
              <a:off x="5619750" y="3190875"/>
              <a:ext cx="762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" name="Google Shape;337;p5"/>
            <p:cNvSpPr/>
            <p:nvPr/>
          </p:nvSpPr>
          <p:spPr>
            <a:xfrm>
              <a:off x="5695950" y="3162300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p5"/>
            <p:cNvSpPr/>
            <p:nvPr/>
          </p:nvSpPr>
          <p:spPr>
            <a:xfrm>
              <a:off x="5715000" y="3048000"/>
              <a:ext cx="285900" cy="28590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120000" y="60000"/>
                  </a:lnTo>
                  <a:lnTo>
                    <a:pt x="60000" y="120000"/>
                  </a:lnTo>
                  <a:lnTo>
                    <a:pt x="0" y="60000"/>
                  </a:lnTo>
                  <a:close/>
                </a:path>
              </a:pathLst>
            </a:custGeom>
            <a:solidFill>
              <a:srgbClr val="FFFFFF"/>
            </a:solidFill>
            <a:ln cap="flat" cmpd="sng" w="1905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39" name="Google Shape;339;p5"/>
            <p:cNvCxnSpPr/>
            <p:nvPr/>
          </p:nvCxnSpPr>
          <p:spPr>
            <a:xfrm>
              <a:off x="5819775" y="3190875"/>
              <a:ext cx="76200" cy="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40" name="Google Shape;340;p5"/>
            <p:cNvCxnSpPr/>
            <p:nvPr/>
          </p:nvCxnSpPr>
          <p:spPr>
            <a:xfrm>
              <a:off x="5857875" y="3152775"/>
              <a:ext cx="0" cy="7620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41" name="Google Shape;341;p5"/>
            <p:cNvSpPr/>
            <p:nvPr/>
          </p:nvSpPr>
          <p:spPr>
            <a:xfrm>
              <a:off x="6067425" y="2333625"/>
              <a:ext cx="762000" cy="381000"/>
            </a:xfrm>
            <a:prstGeom prst="roundRect">
              <a:avLst>
                <a:gd fmla="val 10000" name="adj"/>
              </a:avLst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5"/>
            <p:cNvSpPr txBox="1"/>
            <p:nvPr/>
          </p:nvSpPr>
          <p:spPr>
            <a:xfrm>
              <a:off x="6086475" y="2333625"/>
              <a:ext cx="723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Phân tích khiếu nại</a:t>
              </a:r>
              <a:endParaRPr b="1" i="0" sz="8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3" name="Google Shape;343;p5"/>
            <p:cNvSpPr/>
            <p:nvPr/>
          </p:nvSpPr>
          <p:spPr>
            <a:xfrm>
              <a:off x="6829425" y="2524125"/>
              <a:ext cx="762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5"/>
            <p:cNvSpPr/>
            <p:nvPr/>
          </p:nvSpPr>
          <p:spPr>
            <a:xfrm>
              <a:off x="6905625" y="2495550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5"/>
            <p:cNvSpPr/>
            <p:nvPr/>
          </p:nvSpPr>
          <p:spPr>
            <a:xfrm>
              <a:off x="6924675" y="2381250"/>
              <a:ext cx="285900" cy="28590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120000" y="60000"/>
                  </a:lnTo>
                  <a:lnTo>
                    <a:pt x="60000" y="120000"/>
                  </a:lnTo>
                  <a:lnTo>
                    <a:pt x="0" y="60000"/>
                  </a:lnTo>
                  <a:close/>
                </a:path>
              </a:pathLst>
            </a:cu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46" name="Google Shape;346;p5"/>
            <p:cNvCxnSpPr/>
            <p:nvPr/>
          </p:nvCxnSpPr>
          <p:spPr>
            <a:xfrm>
              <a:off x="7038975" y="2495550"/>
              <a:ext cx="57300" cy="5730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47" name="Google Shape;347;p5"/>
            <p:cNvCxnSpPr/>
            <p:nvPr/>
          </p:nvCxnSpPr>
          <p:spPr>
            <a:xfrm flipH="1">
              <a:off x="7038825" y="2495550"/>
              <a:ext cx="57300" cy="5730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48" name="Google Shape;348;p5"/>
            <p:cNvSpPr/>
            <p:nvPr/>
          </p:nvSpPr>
          <p:spPr>
            <a:xfrm>
              <a:off x="7353300" y="2333625"/>
              <a:ext cx="714300" cy="381000"/>
            </a:xfrm>
            <a:prstGeom prst="roundRect">
              <a:avLst>
                <a:gd fmla="val 10000" name="adj"/>
              </a:avLst>
            </a:prstGeom>
            <a:solidFill>
              <a:srgbClr val="E8E8E4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5"/>
            <p:cNvSpPr/>
            <p:nvPr/>
          </p:nvSpPr>
          <p:spPr>
            <a:xfrm>
              <a:off x="7353300" y="2333625"/>
              <a:ext cx="38100" cy="3810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5"/>
            <p:cNvSpPr txBox="1"/>
            <p:nvPr/>
          </p:nvSpPr>
          <p:spPr>
            <a:xfrm>
              <a:off x="7410450" y="2333625"/>
              <a:ext cx="6381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Triển khai khắc phục</a:t>
              </a:r>
              <a:endParaRPr b="1" i="0" sz="8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1" name="Google Shape;351;p5"/>
            <p:cNvSpPr/>
            <p:nvPr/>
          </p:nvSpPr>
          <p:spPr>
            <a:xfrm>
              <a:off x="6067425" y="3667125"/>
              <a:ext cx="762000" cy="381000"/>
            </a:xfrm>
            <a:prstGeom prst="roundRect">
              <a:avLst>
                <a:gd fmla="val 10000" name="adj"/>
              </a:avLst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5"/>
            <p:cNvSpPr txBox="1"/>
            <p:nvPr/>
          </p:nvSpPr>
          <p:spPr>
            <a:xfrm>
              <a:off x="6086475" y="3667125"/>
              <a:ext cx="723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Đánh giá SLA</a:t>
              </a:r>
              <a:endParaRPr b="1" i="0" sz="8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3" name="Google Shape;353;p5"/>
            <p:cNvSpPr/>
            <p:nvPr/>
          </p:nvSpPr>
          <p:spPr>
            <a:xfrm>
              <a:off x="6829425" y="3857625"/>
              <a:ext cx="762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5"/>
            <p:cNvSpPr/>
            <p:nvPr/>
          </p:nvSpPr>
          <p:spPr>
            <a:xfrm>
              <a:off x="6905625" y="3829050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5"/>
            <p:cNvSpPr/>
            <p:nvPr/>
          </p:nvSpPr>
          <p:spPr>
            <a:xfrm>
              <a:off x="6924675" y="3714750"/>
              <a:ext cx="285900" cy="28590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120000" y="60000"/>
                  </a:lnTo>
                  <a:lnTo>
                    <a:pt x="60000" y="120000"/>
                  </a:lnTo>
                  <a:lnTo>
                    <a:pt x="0" y="60000"/>
                  </a:lnTo>
                  <a:close/>
                </a:path>
              </a:pathLst>
            </a:cu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56" name="Google Shape;356;p5"/>
            <p:cNvCxnSpPr/>
            <p:nvPr/>
          </p:nvCxnSpPr>
          <p:spPr>
            <a:xfrm>
              <a:off x="7038975" y="3829050"/>
              <a:ext cx="57300" cy="5730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57" name="Google Shape;357;p5"/>
            <p:cNvCxnSpPr/>
            <p:nvPr/>
          </p:nvCxnSpPr>
          <p:spPr>
            <a:xfrm flipH="1">
              <a:off x="7038825" y="3829050"/>
              <a:ext cx="57300" cy="5730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58" name="Google Shape;358;p5"/>
            <p:cNvSpPr/>
            <p:nvPr/>
          </p:nvSpPr>
          <p:spPr>
            <a:xfrm>
              <a:off x="7353300" y="3667125"/>
              <a:ext cx="714300" cy="381000"/>
            </a:xfrm>
            <a:prstGeom prst="roundRect">
              <a:avLst>
                <a:gd fmla="val 10000" name="adj"/>
              </a:avLst>
            </a:prstGeom>
            <a:solidFill>
              <a:srgbClr val="E8E8E4"/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5"/>
            <p:cNvSpPr/>
            <p:nvPr/>
          </p:nvSpPr>
          <p:spPr>
            <a:xfrm>
              <a:off x="7353300" y="3667125"/>
              <a:ext cx="38100" cy="3810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5"/>
            <p:cNvSpPr txBox="1"/>
            <p:nvPr/>
          </p:nvSpPr>
          <p:spPr>
            <a:xfrm>
              <a:off x="7410450" y="3667125"/>
              <a:ext cx="6381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Đề xuất thay đổi SLA</a:t>
              </a:r>
              <a:endParaRPr b="1" i="0" sz="8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1" name="Google Shape;361;p5"/>
            <p:cNvSpPr/>
            <p:nvPr/>
          </p:nvSpPr>
          <p:spPr>
            <a:xfrm>
              <a:off x="8115300" y="3048000"/>
              <a:ext cx="285900" cy="28590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120000" y="60000"/>
                  </a:lnTo>
                  <a:lnTo>
                    <a:pt x="60000" y="120000"/>
                  </a:lnTo>
                  <a:lnTo>
                    <a:pt x="0" y="60000"/>
                  </a:lnTo>
                  <a:close/>
                </a:path>
              </a:pathLst>
            </a:custGeom>
            <a:solidFill>
              <a:srgbClr val="FFFFFF"/>
            </a:solidFill>
            <a:ln cap="flat" cmpd="sng" w="1905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62" name="Google Shape;362;p5"/>
            <p:cNvCxnSpPr/>
            <p:nvPr/>
          </p:nvCxnSpPr>
          <p:spPr>
            <a:xfrm>
              <a:off x="8220075" y="3190875"/>
              <a:ext cx="76200" cy="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3" name="Google Shape;363;p5"/>
            <p:cNvCxnSpPr/>
            <p:nvPr/>
          </p:nvCxnSpPr>
          <p:spPr>
            <a:xfrm>
              <a:off x="8258175" y="3152775"/>
              <a:ext cx="0" cy="7620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64" name="Google Shape;364;p5"/>
            <p:cNvSpPr/>
            <p:nvPr/>
          </p:nvSpPr>
          <p:spPr>
            <a:xfrm>
              <a:off x="8401050" y="3190875"/>
              <a:ext cx="1335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5"/>
            <p:cNvSpPr/>
            <p:nvPr/>
          </p:nvSpPr>
          <p:spPr>
            <a:xfrm>
              <a:off x="8534400" y="3162300"/>
              <a:ext cx="477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5"/>
            <p:cNvSpPr/>
            <p:nvPr/>
          </p:nvSpPr>
          <p:spPr>
            <a:xfrm>
              <a:off x="8562975" y="3124200"/>
              <a:ext cx="133500" cy="1335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cap="flat" cmpd="sng" w="28575">
              <a:solidFill>
                <a:srgbClr val="FF3A2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5"/>
            <p:cNvSpPr/>
            <p:nvPr/>
          </p:nvSpPr>
          <p:spPr>
            <a:xfrm>
              <a:off x="4572000" y="4238625"/>
              <a:ext cx="4095900" cy="209700"/>
            </a:xfrm>
            <a:prstGeom prst="roundRect">
              <a:avLst>
                <a:gd fmla="val 9090" name="adj"/>
              </a:avLst>
            </a:prstGeom>
            <a:solidFill>
              <a:srgbClr val="E8E8E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5"/>
            <p:cNvSpPr txBox="1"/>
            <p:nvPr/>
          </p:nvSpPr>
          <p:spPr>
            <a:xfrm>
              <a:off x="4619625" y="4238625"/>
              <a:ext cx="40005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50"/>
                <a:buFont typeface="Arial"/>
                <a:buNone/>
              </a:pPr>
              <a:r>
                <a:rPr b="1" i="0" lang="en" sz="650" u="none" cap="none" strike="noStrike">
                  <a:solidFill>
                    <a:srgbClr val="111111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◯ BẮT ĐẦU ⬦ CỔNG EXCLUSIVE ⬦+ CỔNG SONG SONG ⛒ KẾT THÚC</a:t>
              </a:r>
              <a:endParaRPr b="1" i="0" sz="650" u="none" cap="none" strike="noStrike">
                <a:solidFill>
                  <a:srgbClr val="111111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6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374" name="Google Shape;374;p6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375" name="Google Shape;37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525" y="9525"/>
              <a:ext cx="8972700" cy="4972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76" name="Google Shape;376;p6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6"/>
            <p:cNvSpPr/>
            <p:nvPr/>
          </p:nvSpPr>
          <p:spPr>
            <a:xfrm>
              <a:off x="381000" y="4762500"/>
              <a:ext cx="8382000" cy="9600"/>
            </a:xfrm>
            <a:prstGeom prst="rect">
              <a:avLst/>
            </a:prstGeom>
            <a:solidFill>
              <a:srgbClr val="D0D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6"/>
            <p:cNvSpPr txBox="1"/>
            <p:nvPr/>
          </p:nvSpPr>
          <p:spPr>
            <a:xfrm>
              <a:off x="381000" y="4857750"/>
              <a:ext cx="8382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88888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BPMN PROCESS ANALYSIS REPORT</a:t>
              </a:r>
              <a:endParaRPr b="0" i="0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379" name="Google Shape;379;p6"/>
          <p:cNvGrpSpPr/>
          <p:nvPr/>
        </p:nvGrpSpPr>
        <p:grpSpPr>
          <a:xfrm>
            <a:off x="381000" y="1714500"/>
            <a:ext cx="8382000" cy="2952900"/>
            <a:chOff x="381000" y="1714500"/>
            <a:chExt cx="8382000" cy="2952900"/>
          </a:xfrm>
        </p:grpSpPr>
        <p:cxnSp>
          <p:nvCxnSpPr>
            <p:cNvPr id="380" name="Google Shape;380;p6"/>
            <p:cNvCxnSpPr/>
            <p:nvPr/>
          </p:nvCxnSpPr>
          <p:spPr>
            <a:xfrm>
              <a:off x="381000" y="1714500"/>
              <a:ext cx="8382000" cy="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0033A0"/>
              </a:solidFill>
              <a:prstDash val="solid"/>
              <a:round/>
              <a:headEnd len="sm" w="sm" type="none"/>
              <a:tailEnd len="sm" w="sm" type="none"/>
            </a:ln>
          </p:spPr>
        </p:cxnSp>
        <p:pic>
          <p:nvPicPr>
            <p:cNvPr id="381" name="Google Shape;381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329113" y="1714500"/>
              <a:ext cx="9600" cy="2952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82" name="Google Shape;382;p6"/>
          <p:cNvGrpSpPr/>
          <p:nvPr/>
        </p:nvGrpSpPr>
        <p:grpSpPr>
          <a:xfrm>
            <a:off x="381000" y="333375"/>
            <a:ext cx="8382000" cy="1285875"/>
            <a:chOff x="381000" y="285750"/>
            <a:chExt cx="8382000" cy="1285875"/>
          </a:xfrm>
        </p:grpSpPr>
        <p:sp>
          <p:nvSpPr>
            <p:cNvPr id="383" name="Google Shape;383;p6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6"/>
            <p:cNvSpPr txBox="1"/>
            <p:nvPr/>
          </p:nvSpPr>
          <p:spPr>
            <a:xfrm>
              <a:off x="381000" y="428625"/>
              <a:ext cx="8382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Arial"/>
                <a:buNone/>
              </a:pPr>
              <a:r>
                <a:rPr b="0" i="0" lang="en" sz="320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Quy Trình Cốt Lõi</a:t>
              </a:r>
              <a:endParaRPr b="0" i="0" sz="320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" sz="1800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Phân Công Kỹ Thuật Viên Xử Lý Đặt Lịch</a:t>
              </a:r>
              <a:endParaRPr b="0" i="0" sz="1800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385" name="Google Shape;385;p6"/>
          <p:cNvGrpSpPr/>
          <p:nvPr/>
        </p:nvGrpSpPr>
        <p:grpSpPr>
          <a:xfrm>
            <a:off x="381000" y="1857375"/>
            <a:ext cx="3714900" cy="2714550"/>
            <a:chOff x="381000" y="1857375"/>
            <a:chExt cx="3714900" cy="2714550"/>
          </a:xfrm>
        </p:grpSpPr>
        <p:grpSp>
          <p:nvGrpSpPr>
            <p:cNvPr id="386" name="Google Shape;386;p6"/>
            <p:cNvGrpSpPr/>
            <p:nvPr/>
          </p:nvGrpSpPr>
          <p:grpSpPr>
            <a:xfrm>
              <a:off x="381000" y="1857375"/>
              <a:ext cx="3714900" cy="1285800"/>
              <a:chOff x="0" y="0"/>
              <a:chExt cx="3714900" cy="1285800"/>
            </a:xfrm>
          </p:grpSpPr>
          <p:sp>
            <p:nvSpPr>
              <p:cNvPr id="387" name="Google Shape;387;p6"/>
              <p:cNvSpPr/>
              <p:nvPr/>
            </p:nvSpPr>
            <p:spPr>
              <a:xfrm>
                <a:off x="0" y="0"/>
                <a:ext cx="3714900" cy="1285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388" name="Google Shape;388;p6"/>
              <p:cNvGrpSpPr/>
              <p:nvPr/>
            </p:nvGrpSpPr>
            <p:grpSpPr>
              <a:xfrm>
                <a:off x="0" y="0"/>
                <a:ext cx="228600" cy="228600"/>
                <a:chOff x="0" y="0"/>
                <a:chExt cx="228600" cy="228600"/>
              </a:xfrm>
            </p:grpSpPr>
            <p:sp>
              <p:nvSpPr>
                <p:cNvPr id="389" name="Google Shape;389;p6"/>
                <p:cNvSpPr/>
                <p:nvPr/>
              </p:nvSpPr>
              <p:spPr>
                <a:xfrm>
                  <a:off x="0" y="0"/>
                  <a:ext cx="228600" cy="381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90" name="Google Shape;390;p6"/>
                <p:cNvSpPr/>
                <p:nvPr/>
              </p:nvSpPr>
              <p:spPr>
                <a:xfrm>
                  <a:off x="0" y="0"/>
                  <a:ext cx="38100" cy="2286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391" name="Google Shape;391;p6"/>
              <p:cNvSpPr txBox="1"/>
              <p:nvPr/>
            </p:nvSpPr>
            <p:spPr>
              <a:xfrm>
                <a:off x="190500" y="142875"/>
                <a:ext cx="3333900" cy="10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800"/>
                  <a:buFont typeface="Arial"/>
                  <a:buNone/>
                </a:pPr>
                <a:r>
                  <a:rPr b="1" i="0" lang="en" sz="3800" u="none" cap="none" strike="noStrike">
                    <a:solidFill>
                      <a:srgbClr val="FF3A20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26 PHÚT</a:t>
                </a:r>
                <a:endParaRPr b="1" i="0" sz="3800" u="none" cap="none" strike="noStrike">
                  <a:solidFill>
                    <a:srgbClr val="FF3A20"/>
                  </a:solidFill>
                  <a:latin typeface="JetBrains Mono"/>
                  <a:ea typeface="JetBrains Mono"/>
                  <a:cs typeface="JetBrains Mono"/>
                  <a:sym typeface="JetBrains Mono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150"/>
                  </a:spcBef>
                  <a:spcAft>
                    <a:spcPts val="0"/>
                  </a:spcAft>
                  <a:buClr>
                    <a:srgbClr val="000000"/>
                  </a:buClr>
                  <a:buSzPts val="950"/>
                  <a:buFont typeface="Arial"/>
                  <a:buNone/>
                </a:pPr>
                <a:r>
                  <a:rPr b="0" i="0" lang="en" sz="950" u="none" cap="none" strike="noStrike">
                    <a:solidFill>
                      <a:srgbClr val="0033A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Hiệu Suất Thời Gian Xử Lý Trung Bình</a:t>
                </a:r>
                <a:endParaRPr b="0" i="0" sz="95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555555"/>
                    </a:solidFill>
                    <a:latin typeface="Roboto"/>
                    <a:ea typeface="Roboto"/>
                    <a:cs typeface="Roboto"/>
                    <a:sym typeface="Roboto"/>
                  </a:rPr>
                  <a:t>Đạt chỉ tiêu SLA đặt ra (Mục tiêu tối ưu ≤ 30 phút)</a:t>
                </a:r>
                <a:endParaRPr b="0" i="0" sz="1100" u="none" cap="none" strike="noStrike">
                  <a:solidFill>
                    <a:srgbClr val="555555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392" name="Google Shape;392;p6"/>
            <p:cNvGrpSpPr/>
            <p:nvPr/>
          </p:nvGrpSpPr>
          <p:grpSpPr>
            <a:xfrm>
              <a:off x="381000" y="3286125"/>
              <a:ext cx="3714900" cy="1285800"/>
              <a:chOff x="0" y="0"/>
              <a:chExt cx="3714900" cy="1285800"/>
            </a:xfrm>
          </p:grpSpPr>
          <p:sp>
            <p:nvSpPr>
              <p:cNvPr id="393" name="Google Shape;393;p6"/>
              <p:cNvSpPr/>
              <p:nvPr/>
            </p:nvSpPr>
            <p:spPr>
              <a:xfrm>
                <a:off x="0" y="0"/>
                <a:ext cx="3714900" cy="1285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4" name="Google Shape;394;p6"/>
              <p:cNvSpPr/>
              <p:nvPr/>
            </p:nvSpPr>
            <p:spPr>
              <a:xfrm>
                <a:off x="0" y="0"/>
                <a:ext cx="38100" cy="1285800"/>
              </a:xfrm>
              <a:prstGeom prst="rect">
                <a:avLst/>
              </a:pr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5" name="Google Shape;395;p6"/>
              <p:cNvSpPr txBox="1"/>
              <p:nvPr/>
            </p:nvSpPr>
            <p:spPr>
              <a:xfrm>
                <a:off x="190500" y="142875"/>
                <a:ext cx="3333900" cy="10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50"/>
                  <a:buFont typeface="Arial"/>
                  <a:buNone/>
                </a:pPr>
                <a:r>
                  <a:rPr b="0" i="0" lang="en" sz="950" u="none" cap="none" strike="noStrike">
                    <a:solidFill>
                      <a:srgbClr val="FF3A2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Thông Tin Tiến Trình Xử Lý</a:t>
                </a:r>
                <a:endParaRPr b="0" i="0" sz="950" u="none" cap="none" strike="noStrike">
                  <a:solidFill>
                    <a:srgbClr val="FF3A2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000000"/>
                  </a:buClr>
                  <a:buSzPts val="1150"/>
                  <a:buFont typeface="Arial"/>
                  <a:buNone/>
                </a:pPr>
                <a:r>
                  <a:rPr b="1" i="0" lang="en" sz="115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Tác nhân chính:</a:t>
                </a:r>
                <a:r>
                  <a:rPr b="0" i="0" lang="en" sz="115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 Customer Service (CS) / Call Center</a:t>
                </a:r>
                <a:endParaRPr b="0" i="0" sz="11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rgbClr val="000000"/>
                  </a:buClr>
                  <a:buSzPts val="1150"/>
                  <a:buFont typeface="Arial"/>
                  <a:buNone/>
                </a:pPr>
                <a:r>
                  <a:rPr b="1" i="0" lang="en" sz="115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Độ phức tạp:</a:t>
                </a:r>
                <a:r>
                  <a:rPr b="0" i="0" lang="en" sz="115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 Đang vận hành với 4 cổng điều kiện, sử dụng cổng song song để tăng tốc độ phản hồi.</a:t>
                </a:r>
                <a:endParaRPr b="0" i="0" sz="115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396" name="Google Shape;396;p6"/>
          <p:cNvGrpSpPr/>
          <p:nvPr/>
        </p:nvGrpSpPr>
        <p:grpSpPr>
          <a:xfrm>
            <a:off x="4476750" y="1857375"/>
            <a:ext cx="4286400" cy="2714700"/>
            <a:chOff x="0" y="0"/>
            <a:chExt cx="4286400" cy="2714700"/>
          </a:xfrm>
        </p:grpSpPr>
        <p:sp>
          <p:nvSpPr>
            <p:cNvPr id="397" name="Google Shape;397;p6"/>
            <p:cNvSpPr/>
            <p:nvPr/>
          </p:nvSpPr>
          <p:spPr>
            <a:xfrm>
              <a:off x="0" y="0"/>
              <a:ext cx="4286400" cy="27147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D0D0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398" name="Google Shape;398;p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9525" y="247650"/>
              <a:ext cx="4267200" cy="2457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9" name="Google Shape;399;p6"/>
            <p:cNvSpPr/>
            <p:nvPr/>
          </p:nvSpPr>
          <p:spPr>
            <a:xfrm>
              <a:off x="0" y="0"/>
              <a:ext cx="4286400" cy="2382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p6"/>
            <p:cNvSpPr txBox="1"/>
            <p:nvPr/>
          </p:nvSpPr>
          <p:spPr>
            <a:xfrm>
              <a:off x="142875" y="38100"/>
              <a:ext cx="40005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50"/>
                <a:buFont typeface="Arial"/>
                <a:buNone/>
              </a:pPr>
              <a:r>
                <a:rPr b="0" i="0" lang="en" sz="750" u="none" cap="none" strike="noStrike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Mô hình hóa BPMN (Lược đồ luồng phân công)</a:t>
              </a:r>
              <a:endParaRPr b="0" i="0" sz="75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grpSp>
          <p:nvGrpSpPr>
            <p:cNvPr id="401" name="Google Shape;401;p6"/>
            <p:cNvGrpSpPr/>
            <p:nvPr/>
          </p:nvGrpSpPr>
          <p:grpSpPr>
            <a:xfrm>
              <a:off x="142875" y="333375"/>
              <a:ext cx="3810000" cy="1714650"/>
              <a:chOff x="47625" y="238125"/>
              <a:chExt cx="3810000" cy="1714650"/>
            </a:xfrm>
          </p:grpSpPr>
          <p:sp>
            <p:nvSpPr>
              <p:cNvPr id="402" name="Google Shape;402;p6"/>
              <p:cNvSpPr/>
              <p:nvPr/>
            </p:nvSpPr>
            <p:spPr>
              <a:xfrm>
                <a:off x="228600" y="990600"/>
                <a:ext cx="209700" cy="209700"/>
              </a:xfrm>
              <a:prstGeom prst="ellipse">
                <a:avLst/>
              </a:prstGeom>
              <a:solidFill>
                <a:srgbClr val="FFFFFF"/>
              </a:solidFill>
              <a:ln cap="flat" cmpd="sng" w="1905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3" name="Google Shape;403;p6"/>
              <p:cNvSpPr txBox="1"/>
              <p:nvPr/>
            </p:nvSpPr>
            <p:spPr>
              <a:xfrm>
                <a:off x="47625" y="1238250"/>
                <a:ext cx="5715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50"/>
                  <a:buFont typeface="Arial"/>
                  <a:buNone/>
                </a:pPr>
                <a:r>
                  <a:rPr b="0" i="0" lang="en" sz="750" u="none" cap="none" strike="noStrike">
                    <a:solidFill>
                      <a:srgbClr val="111111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Khởi tạo Booking</a:t>
                </a:r>
                <a:endParaRPr b="0" i="0" sz="750" u="none" cap="none" strike="noStrike">
                  <a:solidFill>
                    <a:srgbClr val="111111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  <p:sp>
            <p:nvSpPr>
              <p:cNvPr id="404" name="Google Shape;404;p6"/>
              <p:cNvSpPr/>
              <p:nvPr/>
            </p:nvSpPr>
            <p:spPr>
              <a:xfrm>
                <a:off x="438150" y="1095375"/>
                <a:ext cx="276300" cy="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5" name="Google Shape;405;p6"/>
              <p:cNvSpPr/>
              <p:nvPr/>
            </p:nvSpPr>
            <p:spPr>
              <a:xfrm>
                <a:off x="657225" y="1057275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6" name="Google Shape;406;p6"/>
              <p:cNvSpPr/>
              <p:nvPr/>
            </p:nvSpPr>
            <p:spPr>
              <a:xfrm>
                <a:off x="714375" y="857250"/>
                <a:ext cx="809700" cy="476400"/>
              </a:xfrm>
              <a:prstGeom prst="roundRect">
                <a:avLst>
                  <a:gd fmla="val 8000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7" name="Google Shape;407;p6"/>
              <p:cNvSpPr txBox="1"/>
              <p:nvPr/>
            </p:nvSpPr>
            <p:spPr>
              <a:xfrm>
                <a:off x="762000" y="904875"/>
                <a:ext cx="7143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50"/>
                  <a:buFont typeface="Arial"/>
                  <a:buNone/>
                </a:pPr>
                <a:r>
                  <a:rPr b="1" i="0" lang="en" sz="75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  <a:t>Tiếp nhận &amp;</a:t>
                </a:r>
                <a:br>
                  <a:rPr b="1" i="0" lang="en" sz="75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b="1" i="0" lang="en" sz="75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  <a:t>Xác minh</a:t>
                </a:r>
                <a:endParaRPr b="1" i="0" sz="750" u="none" cap="none" strike="noStrike">
                  <a:solidFill>
                    <a:srgbClr val="11111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08" name="Google Shape;408;p6"/>
              <p:cNvSpPr/>
              <p:nvPr/>
            </p:nvSpPr>
            <p:spPr>
              <a:xfrm>
                <a:off x="1524000" y="1095375"/>
                <a:ext cx="238200" cy="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9" name="Google Shape;409;p6"/>
              <p:cNvSpPr/>
              <p:nvPr/>
            </p:nvSpPr>
            <p:spPr>
              <a:xfrm>
                <a:off x="1704975" y="1057275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0" name="Google Shape;410;p6"/>
              <p:cNvSpPr/>
              <p:nvPr/>
            </p:nvSpPr>
            <p:spPr>
              <a:xfrm>
                <a:off x="1762125" y="904875"/>
                <a:ext cx="381000" cy="381000"/>
              </a:xfrm>
              <a:custGeom>
                <a:rect b="b" l="l" r="r" t="t"/>
                <a:pathLst>
                  <a:path extrusionOk="0" h="120000" w="120000">
                    <a:moveTo>
                      <a:pt x="60000" y="0"/>
                    </a:moveTo>
                    <a:lnTo>
                      <a:pt x="120000" y="60000"/>
                    </a:lnTo>
                    <a:lnTo>
                      <a:pt x="60000" y="120000"/>
                    </a:lnTo>
                    <a:lnTo>
                      <a:pt x="0" y="60000"/>
                    </a:lnTo>
                    <a:close/>
                  </a:path>
                </a:pathLst>
              </a:cu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1" name="Google Shape;411;p6"/>
              <p:cNvSpPr/>
              <p:nvPr/>
            </p:nvSpPr>
            <p:spPr>
              <a:xfrm>
                <a:off x="1914525" y="1057275"/>
                <a:ext cx="76200" cy="76200"/>
              </a:xfrm>
              <a:custGeom>
                <a:rect b="b" l="l" r="r" t="t"/>
                <a:pathLst>
                  <a:path extrusionOk="0" fill="none" h="120000" w="120000">
                    <a:moveTo>
                      <a:pt x="0" y="0"/>
                    </a:moveTo>
                    <a:lnTo>
                      <a:pt x="120000" y="120000"/>
                    </a:lnTo>
                    <a:moveTo>
                      <a:pt x="12000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2" name="Google Shape;412;p6"/>
              <p:cNvSpPr/>
              <p:nvPr/>
            </p:nvSpPr>
            <p:spPr>
              <a:xfrm>
                <a:off x="1952625" y="476250"/>
                <a:ext cx="381000" cy="4287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0" y="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6"/>
              <p:cNvSpPr/>
              <p:nvPr/>
            </p:nvSpPr>
            <p:spPr>
              <a:xfrm>
                <a:off x="2276475" y="438150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4" name="Google Shape;414;p6"/>
              <p:cNvSpPr txBox="1"/>
              <p:nvPr/>
            </p:nvSpPr>
            <p:spPr>
              <a:xfrm>
                <a:off x="1981200" y="523875"/>
                <a:ext cx="381000" cy="142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555555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Tự động</a:t>
                </a:r>
                <a:endParaRPr b="0" i="0" sz="700" u="none" cap="none" strike="noStrike">
                  <a:solidFill>
                    <a:srgbClr val="555555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  <p:sp>
            <p:nvSpPr>
              <p:cNvPr id="415" name="Google Shape;415;p6"/>
              <p:cNvSpPr/>
              <p:nvPr/>
            </p:nvSpPr>
            <p:spPr>
              <a:xfrm>
                <a:off x="2333625" y="238125"/>
                <a:ext cx="904800" cy="476400"/>
              </a:xfrm>
              <a:prstGeom prst="roundRect">
                <a:avLst>
                  <a:gd fmla="val 8000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6"/>
              <p:cNvSpPr txBox="1"/>
              <p:nvPr/>
            </p:nvSpPr>
            <p:spPr>
              <a:xfrm>
                <a:off x="2381250" y="285750"/>
                <a:ext cx="8097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50"/>
                  <a:buFont typeface="Arial"/>
                  <a:buNone/>
                </a:pPr>
                <a:r>
                  <a:rPr b="1" i="0" lang="en" sz="75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  <a:t>Tự động</a:t>
                </a:r>
                <a:br>
                  <a:rPr b="1" i="0" lang="en" sz="75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b="1" i="0" lang="en" sz="75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  <a:t>Phân công</a:t>
                </a:r>
                <a:endParaRPr b="1" i="0" sz="750" u="none" cap="none" strike="noStrike">
                  <a:solidFill>
                    <a:srgbClr val="11111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17" name="Google Shape;417;p6"/>
              <p:cNvSpPr/>
              <p:nvPr/>
            </p:nvSpPr>
            <p:spPr>
              <a:xfrm>
                <a:off x="2143125" y="1095375"/>
                <a:ext cx="190500" cy="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8" name="Google Shape;418;p6"/>
              <p:cNvSpPr/>
              <p:nvPr/>
            </p:nvSpPr>
            <p:spPr>
              <a:xfrm>
                <a:off x="2276475" y="1057275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6"/>
              <p:cNvSpPr txBox="1"/>
              <p:nvPr/>
            </p:nvSpPr>
            <p:spPr>
              <a:xfrm>
                <a:off x="2143125" y="952500"/>
                <a:ext cx="381000" cy="142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555555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Khẩn</a:t>
                </a:r>
                <a:endParaRPr b="0" i="0" sz="700" u="none" cap="none" strike="noStrike">
                  <a:solidFill>
                    <a:srgbClr val="555555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  <p:sp>
            <p:nvSpPr>
              <p:cNvPr id="420" name="Google Shape;420;p6"/>
              <p:cNvSpPr/>
              <p:nvPr/>
            </p:nvSpPr>
            <p:spPr>
              <a:xfrm>
                <a:off x="2381250" y="952500"/>
                <a:ext cx="285900" cy="285900"/>
              </a:xfrm>
              <a:custGeom>
                <a:rect b="b" l="l" r="r" t="t"/>
                <a:pathLst>
                  <a:path extrusionOk="0" h="120000" w="120000">
                    <a:moveTo>
                      <a:pt x="60000" y="0"/>
                    </a:moveTo>
                    <a:lnTo>
                      <a:pt x="120000" y="60000"/>
                    </a:lnTo>
                    <a:lnTo>
                      <a:pt x="60000" y="120000"/>
                    </a:lnTo>
                    <a:lnTo>
                      <a:pt x="0" y="60000"/>
                    </a:lnTo>
                    <a:close/>
                  </a:path>
                </a:pathLst>
              </a:cu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1" name="Google Shape;421;p6"/>
              <p:cNvSpPr/>
              <p:nvPr/>
            </p:nvSpPr>
            <p:spPr>
              <a:xfrm>
                <a:off x="2438400" y="1009650"/>
                <a:ext cx="171600" cy="171600"/>
              </a:xfrm>
              <a:custGeom>
                <a:rect b="b" l="l" r="r" t="t"/>
                <a:pathLst>
                  <a:path extrusionOk="0" fill="none" h="120000" w="120000">
                    <a:moveTo>
                      <a:pt x="60000" y="0"/>
                    </a:moveTo>
                    <a:lnTo>
                      <a:pt x="60000" y="120000"/>
                    </a:lnTo>
                    <a:moveTo>
                      <a:pt x="0" y="60000"/>
                    </a:moveTo>
                    <a:lnTo>
                      <a:pt x="120000" y="60000"/>
                    </a:lnTo>
                  </a:path>
                </a:pathLst>
              </a:cu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2" name="Google Shape;422;p6"/>
              <p:cNvSpPr/>
              <p:nvPr/>
            </p:nvSpPr>
            <p:spPr>
              <a:xfrm>
                <a:off x="2524125" y="809625"/>
                <a:ext cx="238200" cy="1428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0" y="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6"/>
              <p:cNvSpPr/>
              <p:nvPr/>
            </p:nvSpPr>
            <p:spPr>
              <a:xfrm>
                <a:off x="2705100" y="771525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6"/>
              <p:cNvSpPr/>
              <p:nvPr/>
            </p:nvSpPr>
            <p:spPr>
              <a:xfrm>
                <a:off x="2762250" y="666750"/>
                <a:ext cx="619200" cy="285900"/>
              </a:xfrm>
              <a:prstGeom prst="roundRect">
                <a:avLst>
                  <a:gd fmla="val 10000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5" name="Google Shape;425;p6"/>
              <p:cNvSpPr txBox="1"/>
              <p:nvPr/>
            </p:nvSpPr>
            <p:spPr>
              <a:xfrm>
                <a:off x="2781300" y="685800"/>
                <a:ext cx="581100" cy="24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111111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Gửi SMS</a:t>
                </a:r>
                <a:endParaRPr b="0" i="0" sz="700" u="none" cap="none" strike="noStrike">
                  <a:solidFill>
                    <a:srgbClr val="111111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  <p:sp>
            <p:nvSpPr>
              <p:cNvPr id="426" name="Google Shape;426;p6"/>
              <p:cNvSpPr/>
              <p:nvPr/>
            </p:nvSpPr>
            <p:spPr>
              <a:xfrm>
                <a:off x="2524125" y="1238250"/>
                <a:ext cx="238200" cy="142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6"/>
              <p:cNvSpPr/>
              <p:nvPr/>
            </p:nvSpPr>
            <p:spPr>
              <a:xfrm>
                <a:off x="2705100" y="1343025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6"/>
              <p:cNvSpPr/>
              <p:nvPr/>
            </p:nvSpPr>
            <p:spPr>
              <a:xfrm>
                <a:off x="2762250" y="1238250"/>
                <a:ext cx="619200" cy="285900"/>
              </a:xfrm>
              <a:prstGeom prst="roundRect">
                <a:avLst>
                  <a:gd fmla="val 10000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9" name="Google Shape;429;p6"/>
              <p:cNvSpPr txBox="1"/>
              <p:nvPr/>
            </p:nvSpPr>
            <p:spPr>
              <a:xfrm>
                <a:off x="2781300" y="1257300"/>
                <a:ext cx="581100" cy="24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111111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Gửi App</a:t>
                </a:r>
                <a:endParaRPr b="0" i="0" sz="700" u="none" cap="none" strike="noStrike">
                  <a:solidFill>
                    <a:srgbClr val="111111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  <p:sp>
            <p:nvSpPr>
              <p:cNvPr id="430" name="Google Shape;430;p6"/>
              <p:cNvSpPr/>
              <p:nvPr/>
            </p:nvSpPr>
            <p:spPr>
              <a:xfrm>
                <a:off x="1952625" y="1285875"/>
                <a:ext cx="381000" cy="4287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6"/>
              <p:cNvSpPr/>
              <p:nvPr/>
            </p:nvSpPr>
            <p:spPr>
              <a:xfrm>
                <a:off x="2276475" y="1676400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6"/>
              <p:cNvSpPr txBox="1"/>
              <p:nvPr/>
            </p:nvSpPr>
            <p:spPr>
              <a:xfrm>
                <a:off x="1981200" y="1381125"/>
                <a:ext cx="381000" cy="142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48"/>
                  <a:buFont typeface="Arial"/>
                  <a:buNone/>
                </a:pPr>
                <a:r>
                  <a:rPr b="0" i="0" lang="en" sz="648" u="none" cap="none" strike="noStrike">
                    <a:solidFill>
                      <a:srgbClr val="555555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Thủ công</a:t>
                </a:r>
                <a:endParaRPr b="0" i="0" sz="648" u="none" cap="none" strike="noStrike">
                  <a:solidFill>
                    <a:srgbClr val="555555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  <p:sp>
            <p:nvSpPr>
              <p:cNvPr id="433" name="Google Shape;433;p6"/>
              <p:cNvSpPr/>
              <p:nvPr/>
            </p:nvSpPr>
            <p:spPr>
              <a:xfrm>
                <a:off x="2333625" y="1476375"/>
                <a:ext cx="904800" cy="476400"/>
              </a:xfrm>
              <a:prstGeom prst="roundRect">
                <a:avLst>
                  <a:gd fmla="val 8000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FF3A2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4" name="Google Shape;434;p6"/>
              <p:cNvSpPr txBox="1"/>
              <p:nvPr/>
            </p:nvSpPr>
            <p:spPr>
              <a:xfrm>
                <a:off x="2381250" y="1524000"/>
                <a:ext cx="8097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50"/>
                  <a:buFont typeface="Arial"/>
                  <a:buNone/>
                </a:pPr>
                <a:r>
                  <a:rPr b="1" i="0" lang="en" sz="75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  <a:t>Điều Phối</a:t>
                </a:r>
                <a:br>
                  <a:rPr b="1" i="0" lang="en" sz="75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b="1" i="0" lang="en" sz="75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  <a:t>Thủ Công</a:t>
                </a:r>
                <a:endParaRPr b="1" i="0" sz="750" u="none" cap="none" strike="noStrike">
                  <a:solidFill>
                    <a:srgbClr val="11111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35" name="Google Shape;435;p6"/>
              <p:cNvSpPr/>
              <p:nvPr/>
            </p:nvSpPr>
            <p:spPr>
              <a:xfrm>
                <a:off x="3238500" y="476250"/>
                <a:ext cx="333300" cy="5238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6"/>
              <p:cNvSpPr/>
              <p:nvPr/>
            </p:nvSpPr>
            <p:spPr>
              <a:xfrm>
                <a:off x="3533775" y="942975"/>
                <a:ext cx="76200" cy="573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7" name="Google Shape;437;p6"/>
              <p:cNvSpPr/>
              <p:nvPr/>
            </p:nvSpPr>
            <p:spPr>
              <a:xfrm>
                <a:off x="3381375" y="809625"/>
                <a:ext cx="190500" cy="2859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60000" y="0"/>
                    </a:lnTo>
                    <a:lnTo>
                      <a:pt x="60000" y="12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8" name="Google Shape;438;p6"/>
              <p:cNvSpPr/>
              <p:nvPr/>
            </p:nvSpPr>
            <p:spPr>
              <a:xfrm>
                <a:off x="3381375" y="1095375"/>
                <a:ext cx="95400" cy="2859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120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6"/>
              <p:cNvSpPr/>
              <p:nvPr/>
            </p:nvSpPr>
            <p:spPr>
              <a:xfrm>
                <a:off x="3238500" y="1190625"/>
                <a:ext cx="333300" cy="5238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120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6"/>
              <p:cNvSpPr/>
              <p:nvPr/>
            </p:nvSpPr>
            <p:spPr>
              <a:xfrm>
                <a:off x="3533775" y="1190625"/>
                <a:ext cx="76200" cy="57300"/>
              </a:xfrm>
              <a:custGeom>
                <a:rect b="b" l="l" r="r" t="t"/>
                <a:pathLst>
                  <a:path extrusionOk="0" h="120000" w="120000">
                    <a:moveTo>
                      <a:pt x="60000" y="0"/>
                    </a:moveTo>
                    <a:lnTo>
                      <a:pt x="0" y="120000"/>
                    </a:lnTo>
                    <a:lnTo>
                      <a:pt x="12000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1" name="Google Shape;441;p6"/>
              <p:cNvSpPr/>
              <p:nvPr/>
            </p:nvSpPr>
            <p:spPr>
              <a:xfrm>
                <a:off x="3467100" y="990600"/>
                <a:ext cx="209700" cy="209700"/>
              </a:xfrm>
              <a:prstGeom prst="ellipse">
                <a:avLst/>
              </a:prstGeom>
              <a:solidFill>
                <a:srgbClr val="FFFFFF"/>
              </a:solidFill>
              <a:ln cap="flat" cmpd="sng" w="28575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2" name="Google Shape;442;p6"/>
              <p:cNvSpPr/>
              <p:nvPr/>
            </p:nvSpPr>
            <p:spPr>
              <a:xfrm>
                <a:off x="3524250" y="1047750"/>
                <a:ext cx="95400" cy="95400"/>
              </a:xfrm>
              <a:prstGeom prst="ellipse">
                <a:avLst/>
              </a:pr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6"/>
              <p:cNvSpPr txBox="1"/>
              <p:nvPr/>
            </p:nvSpPr>
            <p:spPr>
              <a:xfrm>
                <a:off x="3286125" y="1238250"/>
                <a:ext cx="5715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50"/>
                  <a:buFont typeface="Arial"/>
                  <a:buNone/>
                </a:pPr>
                <a:r>
                  <a:rPr b="0" i="0" lang="en" sz="750" u="none" cap="none" strike="noStrike">
                    <a:solidFill>
                      <a:srgbClr val="111111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Hoàn tất</a:t>
                </a:r>
                <a:endParaRPr b="0" i="0" sz="750" u="none" cap="none" strike="noStrike">
                  <a:solidFill>
                    <a:srgbClr val="111111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8" name="Google Shape;448;p7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449" name="Google Shape;449;p7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50" name="Google Shape;450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525" y="9525"/>
              <a:ext cx="8972700" cy="4972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51" name="Google Shape;451;p7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7"/>
            <p:cNvSpPr/>
            <p:nvPr/>
          </p:nvSpPr>
          <p:spPr>
            <a:xfrm>
              <a:off x="381000" y="4762500"/>
              <a:ext cx="8382000" cy="9600"/>
            </a:xfrm>
            <a:prstGeom prst="rect">
              <a:avLst/>
            </a:prstGeom>
            <a:solidFill>
              <a:srgbClr val="D0D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7"/>
            <p:cNvSpPr txBox="1"/>
            <p:nvPr/>
          </p:nvSpPr>
          <p:spPr>
            <a:xfrm>
              <a:off x="381000" y="4838700"/>
              <a:ext cx="8382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88888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BPMN PROCESS ANALYSIS REPORT</a:t>
              </a:r>
              <a:endParaRPr b="0" i="0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454" name="Google Shape;454;p7"/>
          <p:cNvGrpSpPr/>
          <p:nvPr/>
        </p:nvGrpSpPr>
        <p:grpSpPr>
          <a:xfrm>
            <a:off x="381000" y="285750"/>
            <a:ext cx="8382000" cy="1123950"/>
            <a:chOff x="381000" y="285750"/>
            <a:chExt cx="8382000" cy="1123950"/>
          </a:xfrm>
        </p:grpSpPr>
        <p:sp>
          <p:nvSpPr>
            <p:cNvPr id="455" name="Google Shape;455;p7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" name="Google Shape;456;p7"/>
            <p:cNvSpPr txBox="1"/>
            <p:nvPr/>
          </p:nvSpPr>
          <p:spPr>
            <a:xfrm>
              <a:off x="381000" y="457200"/>
              <a:ext cx="838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Arial"/>
                <a:buNone/>
              </a:pPr>
              <a:r>
                <a:rPr b="0" i="0" lang="en" sz="320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Quy Trình Cốt Lõi</a:t>
              </a:r>
              <a:endParaRPr b="0" i="0" sz="320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" sz="1800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Kỹ thuật viên tiếp nhận và sửa chữa</a:t>
              </a:r>
              <a:endParaRPr b="0" i="0" sz="1800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457" name="Google Shape;457;p7"/>
          <p:cNvGrpSpPr/>
          <p:nvPr/>
        </p:nvGrpSpPr>
        <p:grpSpPr>
          <a:xfrm>
            <a:off x="381000" y="1524000"/>
            <a:ext cx="3905400" cy="3143250"/>
            <a:chOff x="381000" y="1524000"/>
            <a:chExt cx="3905400" cy="3143250"/>
          </a:xfrm>
        </p:grpSpPr>
        <p:sp>
          <p:nvSpPr>
            <p:cNvPr id="458" name="Google Shape;458;p7"/>
            <p:cNvSpPr/>
            <p:nvPr/>
          </p:nvSpPr>
          <p:spPr>
            <a:xfrm>
              <a:off x="381000" y="1524000"/>
              <a:ext cx="1857300" cy="1047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9" name="Google Shape;459;p7"/>
            <p:cNvGrpSpPr/>
            <p:nvPr/>
          </p:nvGrpSpPr>
          <p:grpSpPr>
            <a:xfrm>
              <a:off x="381000" y="1524000"/>
              <a:ext cx="228600" cy="228600"/>
              <a:chOff x="0" y="0"/>
              <a:chExt cx="228600" cy="228600"/>
            </a:xfrm>
          </p:grpSpPr>
          <p:sp>
            <p:nvSpPr>
              <p:cNvPr id="460" name="Google Shape;460;p7"/>
              <p:cNvSpPr/>
              <p:nvPr/>
            </p:nvSpPr>
            <p:spPr>
              <a:xfrm>
                <a:off x="0" y="0"/>
                <a:ext cx="228600" cy="381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1" name="Google Shape;461;p7"/>
              <p:cNvSpPr/>
              <p:nvPr/>
            </p:nvSpPr>
            <p:spPr>
              <a:xfrm>
                <a:off x="0" y="0"/>
                <a:ext cx="38100" cy="2286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2" name="Google Shape;462;p7"/>
            <p:cNvSpPr txBox="1"/>
            <p:nvPr/>
          </p:nvSpPr>
          <p:spPr>
            <a:xfrm>
              <a:off x="523875" y="1666875"/>
              <a:ext cx="15717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b="1" i="0" lang="en" sz="2800" u="none" cap="none" strike="noStrike">
                  <a:solidFill>
                    <a:srgbClr val="FF3A20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95m</a:t>
              </a:r>
              <a:endParaRPr b="1" i="0" sz="2800" u="none" cap="none" strike="noStrike">
                <a:solidFill>
                  <a:srgbClr val="FF3A20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850"/>
                <a:buFont typeface="Arial"/>
                <a:buNone/>
              </a:pPr>
              <a:r>
                <a:rPr b="0" i="0" lang="en" sz="85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HIỆU SUẤT THỜI GIAN</a:t>
              </a:r>
              <a:endParaRPr b="0" i="0" sz="850" u="none" cap="none" strike="noStrike">
                <a:solidFill>
                  <a:srgbClr val="0033A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463" name="Google Shape;463;p7"/>
            <p:cNvSpPr/>
            <p:nvPr/>
          </p:nvSpPr>
          <p:spPr>
            <a:xfrm>
              <a:off x="2428875" y="1524000"/>
              <a:ext cx="1857300" cy="1047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64" name="Google Shape;464;p7"/>
            <p:cNvGrpSpPr/>
            <p:nvPr/>
          </p:nvGrpSpPr>
          <p:grpSpPr>
            <a:xfrm>
              <a:off x="2428875" y="1524000"/>
              <a:ext cx="228600" cy="228600"/>
              <a:chOff x="0" y="0"/>
              <a:chExt cx="228600" cy="228600"/>
            </a:xfrm>
          </p:grpSpPr>
          <p:sp>
            <p:nvSpPr>
              <p:cNvPr id="465" name="Google Shape;465;p7"/>
              <p:cNvSpPr/>
              <p:nvPr/>
            </p:nvSpPr>
            <p:spPr>
              <a:xfrm>
                <a:off x="0" y="0"/>
                <a:ext cx="228600" cy="381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6" name="Google Shape;466;p7"/>
              <p:cNvSpPr/>
              <p:nvPr/>
            </p:nvSpPr>
            <p:spPr>
              <a:xfrm>
                <a:off x="0" y="0"/>
                <a:ext cx="38100" cy="2286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7" name="Google Shape;467;p7"/>
            <p:cNvSpPr txBox="1"/>
            <p:nvPr/>
          </p:nvSpPr>
          <p:spPr>
            <a:xfrm>
              <a:off x="2571750" y="1666875"/>
              <a:ext cx="15717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b="1" i="0" lang="en" sz="2800" u="none" cap="none" strike="noStrike">
                  <a:solidFill>
                    <a:srgbClr val="0033A0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06</a:t>
              </a:r>
              <a:endParaRPr b="1" i="0" sz="2800" u="none" cap="none" strike="noStrike">
                <a:solidFill>
                  <a:srgbClr val="0033A0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850"/>
                <a:buFont typeface="Arial"/>
                <a:buNone/>
              </a:pPr>
              <a:r>
                <a:rPr b="0" i="0" lang="en" sz="85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CỔNG ĐIỀU KIỆN</a:t>
              </a:r>
              <a:endParaRPr b="0" i="0" sz="850" u="none" cap="none" strike="noStrike">
                <a:solidFill>
                  <a:srgbClr val="0033A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468" name="Google Shape;468;p7"/>
            <p:cNvSpPr txBox="1"/>
            <p:nvPr/>
          </p:nvSpPr>
          <p:spPr>
            <a:xfrm>
              <a:off x="381000" y="2762250"/>
              <a:ext cx="39054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317500" lvl="0" marL="45720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3A20"/>
                </a:buClr>
                <a:buSzPts val="1400"/>
                <a:buFont typeface="Arial"/>
                <a:buChar char="●"/>
              </a:pPr>
              <a:r>
                <a:rPr b="1" i="0" lang="en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rPr>
                <a:t>Tác nhân:</a:t>
              </a:r>
              <a:r>
                <a:rPr b="0" i="0" lang="en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Kỹ thuật viên (KTV).</a:t>
              </a:r>
              <a:endParaRPr b="0" i="0" sz="11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457200" marR="0" rtl="0" algn="l">
                <a:lnSpc>
                  <a:spcPct val="100000"/>
                </a:lnSpc>
                <a:spcBef>
                  <a:spcPts val="1050"/>
                </a:spcBef>
                <a:spcAft>
                  <a:spcPts val="0"/>
                </a:spcAft>
                <a:buClr>
                  <a:srgbClr val="FF3A20"/>
                </a:buClr>
                <a:buSzPts val="1400"/>
                <a:buFont typeface="Arial"/>
                <a:buChar char="●"/>
              </a:pPr>
              <a:r>
                <a:rPr b="1" i="0" lang="en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rPr>
                <a:t>Độ phức tạp:</a:t>
              </a:r>
              <a:r>
                <a:rPr b="0" i="0" lang="en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6 cổng điều kiện, có sử dụng cổng song song. Đây là quy trình phức tạp nhất.</a:t>
              </a:r>
              <a:endParaRPr b="0" i="0" sz="11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17500" lvl="0" marL="457200" marR="0" rtl="0" algn="l">
                <a:lnSpc>
                  <a:spcPct val="100000"/>
                </a:lnSpc>
                <a:spcBef>
                  <a:spcPts val="1050"/>
                </a:spcBef>
                <a:spcAft>
                  <a:spcPts val="1050"/>
                </a:spcAft>
                <a:buClr>
                  <a:srgbClr val="FF3A20"/>
                </a:buClr>
                <a:buSzPts val="1400"/>
                <a:buFont typeface="Arial"/>
                <a:buChar char="●"/>
              </a:pPr>
              <a:r>
                <a:rPr b="1" i="0" lang="en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rPr>
                <a:t>Hiệu suất thời gian:</a:t>
              </a:r>
              <a:r>
                <a:rPr b="0" i="0" lang="en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Xử lý trung bình một booking trong 95 phút (Đạt SLA mục tiêu ≤ 105 phút).</a:t>
              </a:r>
              <a:endParaRPr b="0" i="0" sz="11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69" name="Google Shape;469;p7"/>
          <p:cNvGrpSpPr/>
          <p:nvPr/>
        </p:nvGrpSpPr>
        <p:grpSpPr>
          <a:xfrm>
            <a:off x="4572000" y="1524000"/>
            <a:ext cx="4191000" cy="3048000"/>
            <a:chOff x="4572000" y="1524000"/>
            <a:chExt cx="4191000" cy="3048000"/>
          </a:xfrm>
        </p:grpSpPr>
        <p:sp>
          <p:nvSpPr>
            <p:cNvPr id="470" name="Google Shape;470;p7"/>
            <p:cNvSpPr/>
            <p:nvPr/>
          </p:nvSpPr>
          <p:spPr>
            <a:xfrm>
              <a:off x="4572000" y="1524000"/>
              <a:ext cx="4191000" cy="3048000"/>
            </a:xfrm>
            <a:prstGeom prst="roundRect">
              <a:avLst>
                <a:gd fmla="val 1875" name="adj"/>
              </a:avLst>
            </a:prstGeom>
            <a:solidFill>
              <a:srgbClr val="FFFFFF"/>
            </a:solidFill>
            <a:ln cap="flat" cmpd="sng" w="14300">
              <a:solidFill>
                <a:srgbClr val="D0D0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7"/>
            <p:cNvSpPr/>
            <p:nvPr/>
          </p:nvSpPr>
          <p:spPr>
            <a:xfrm>
              <a:off x="4572000" y="1524000"/>
              <a:ext cx="4191000" cy="57300"/>
            </a:xfrm>
            <a:prstGeom prst="roundRect">
              <a:avLst>
                <a:gd fmla="val 50000" name="adj"/>
              </a:avLst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7"/>
            <p:cNvSpPr txBox="1"/>
            <p:nvPr/>
          </p:nvSpPr>
          <p:spPr>
            <a:xfrm>
              <a:off x="4762500" y="167640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SƠ ĐỒ PHÂN NHÁNH QUY TRÌNH THỰC TẾ (BPMN)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73" name="Google Shape;473;p7"/>
            <p:cNvGrpSpPr/>
            <p:nvPr/>
          </p:nvGrpSpPr>
          <p:grpSpPr>
            <a:xfrm>
              <a:off x="4762500" y="2047875"/>
              <a:ext cx="3810150" cy="2190900"/>
              <a:chOff x="4762500" y="2000250"/>
              <a:chExt cx="3810150" cy="2190900"/>
            </a:xfrm>
          </p:grpSpPr>
          <p:sp>
            <p:nvSpPr>
              <p:cNvPr id="474" name="Google Shape;474;p7"/>
              <p:cNvSpPr/>
              <p:nvPr/>
            </p:nvSpPr>
            <p:spPr>
              <a:xfrm>
                <a:off x="4762500" y="2000250"/>
                <a:ext cx="285900" cy="2190900"/>
              </a:xfrm>
              <a:prstGeom prst="roundRect">
                <a:avLst>
                  <a:gd fmla="val 10000" name="adj"/>
                </a:avLst>
              </a:pr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7"/>
              <p:cNvSpPr txBox="1"/>
              <p:nvPr/>
            </p:nvSpPr>
            <p:spPr>
              <a:xfrm>
                <a:off x="4762500" y="2000250"/>
                <a:ext cx="285900" cy="2190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KTV</a:t>
                </a:r>
                <a:endParaRPr b="0" i="0" sz="10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476" name="Google Shape;476;p7"/>
              <p:cNvSpPr/>
              <p:nvPr/>
            </p:nvSpPr>
            <p:spPr>
              <a:xfrm>
                <a:off x="5048250" y="2000250"/>
                <a:ext cx="3524400" cy="2190900"/>
              </a:xfrm>
              <a:prstGeom prst="roundRect">
                <a:avLst>
                  <a:gd fmla="val 1304" name="adj"/>
                </a:avLst>
              </a:prstGeom>
              <a:solidFill>
                <a:srgbClr val="F4F4F0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7"/>
              <p:cNvSpPr/>
              <p:nvPr/>
            </p:nvSpPr>
            <p:spPr>
              <a:xfrm>
                <a:off x="5238750" y="3000375"/>
                <a:ext cx="190500" cy="190500"/>
              </a:xfrm>
              <a:prstGeom prst="ellipse">
                <a:avLst/>
              </a:prstGeom>
              <a:solidFill>
                <a:srgbClr val="FFFFFF"/>
              </a:solidFill>
              <a:ln cap="flat" cmpd="sng" w="1905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8" name="Google Shape;478;p7"/>
              <p:cNvSpPr/>
              <p:nvPr/>
            </p:nvSpPr>
            <p:spPr>
              <a:xfrm>
                <a:off x="5429250" y="3095625"/>
                <a:ext cx="190500" cy="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7"/>
              <p:cNvSpPr/>
              <p:nvPr/>
            </p:nvSpPr>
            <p:spPr>
              <a:xfrm>
                <a:off x="5562600" y="3057525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7"/>
              <p:cNvSpPr/>
              <p:nvPr/>
            </p:nvSpPr>
            <p:spPr>
              <a:xfrm>
                <a:off x="5619750" y="2809875"/>
                <a:ext cx="6669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1" name="Google Shape;481;p7"/>
              <p:cNvSpPr txBox="1"/>
              <p:nvPr/>
            </p:nvSpPr>
            <p:spPr>
              <a:xfrm>
                <a:off x="5619750" y="2809875"/>
                <a:ext cx="6669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38100" lIns="38100" spcFirstLastPara="1" rIns="38100" wrap="square" tIns="381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50"/>
                  <a:buFont typeface="Arial"/>
                  <a:buNone/>
                </a:pPr>
                <a:r>
                  <a:rPr b="1" i="0" lang="en" sz="85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  <a:t>Tiếp nhận</a:t>
                </a:r>
                <a:endParaRPr b="1" i="0" sz="850" u="none" cap="none" strike="noStrike">
                  <a:solidFill>
                    <a:srgbClr val="111111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ctr">
                  <a:lnSpc>
                    <a:spcPct val="100000"/>
                  </a:lnSpc>
                  <a:spcBef>
                    <a:spcPts val="15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666666"/>
                    </a:solidFill>
                    <a:latin typeface="Inter"/>
                    <a:ea typeface="Inter"/>
                    <a:cs typeface="Inter"/>
                    <a:sym typeface="Inter"/>
                  </a:rPr>
                  <a:t>&amp; Khảo sát</a:t>
                </a:r>
                <a:endParaRPr b="0" i="0" sz="700" u="none" cap="none" strike="noStrike">
                  <a:solidFill>
                    <a:srgbClr val="666666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82" name="Google Shape;482;p7"/>
              <p:cNvSpPr/>
              <p:nvPr/>
            </p:nvSpPr>
            <p:spPr>
              <a:xfrm>
                <a:off x="6286500" y="3095625"/>
                <a:ext cx="238200" cy="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7"/>
              <p:cNvSpPr/>
              <p:nvPr/>
            </p:nvSpPr>
            <p:spPr>
              <a:xfrm>
                <a:off x="6467475" y="3057525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7"/>
              <p:cNvSpPr/>
              <p:nvPr/>
            </p:nvSpPr>
            <p:spPr>
              <a:xfrm>
                <a:off x="6553200" y="2981325"/>
                <a:ext cx="228600" cy="228600"/>
              </a:xfrm>
              <a:custGeom>
                <a:rect b="b" l="l" r="r" t="t"/>
                <a:pathLst>
                  <a:path extrusionOk="0" h="120000" w="120000">
                    <a:moveTo>
                      <a:pt x="60000" y="0"/>
                    </a:moveTo>
                    <a:lnTo>
                      <a:pt x="120000" y="60000"/>
                    </a:lnTo>
                    <a:lnTo>
                      <a:pt x="60000" y="120000"/>
                    </a:lnTo>
                    <a:lnTo>
                      <a:pt x="0" y="60000"/>
                    </a:lnTo>
                    <a:close/>
                  </a:path>
                </a:pathLst>
              </a:cu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5" name="Google Shape;485;p7"/>
              <p:cNvSpPr/>
              <p:nvPr/>
            </p:nvSpPr>
            <p:spPr>
              <a:xfrm>
                <a:off x="6629400" y="3057525"/>
                <a:ext cx="76200" cy="76200"/>
              </a:xfrm>
              <a:custGeom>
                <a:rect b="b" l="l" r="r" t="t"/>
                <a:pathLst>
                  <a:path extrusionOk="0" fill="none" h="120000" w="120000">
                    <a:moveTo>
                      <a:pt x="0" y="60000"/>
                    </a:moveTo>
                    <a:lnTo>
                      <a:pt x="120000" y="60000"/>
                    </a:lnTo>
                    <a:moveTo>
                      <a:pt x="60000" y="0"/>
                    </a:moveTo>
                    <a:lnTo>
                      <a:pt x="60000" y="120000"/>
                    </a:lnTo>
                  </a:path>
                </a:pathLst>
              </a:custGeom>
              <a:solidFill>
                <a:srgbClr val="FFFFFF"/>
              </a:solidFill>
              <a:ln cap="flat" cmpd="sng" w="1905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6" name="Google Shape;486;p7"/>
              <p:cNvSpPr txBox="1"/>
              <p:nvPr/>
            </p:nvSpPr>
            <p:spPr>
              <a:xfrm>
                <a:off x="6334125" y="2619375"/>
                <a:ext cx="666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5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FF3A20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SONG SONG</a:t>
                </a:r>
                <a:endParaRPr b="0" i="0" sz="650" u="none" cap="none" strike="noStrike">
                  <a:solidFill>
                    <a:srgbClr val="FF3A20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487" name="Google Shape;487;p7"/>
              <p:cNvSpPr/>
              <p:nvPr/>
            </p:nvSpPr>
            <p:spPr>
              <a:xfrm>
                <a:off x="6667500" y="2524125"/>
                <a:ext cx="285900" cy="4572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0" y="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7"/>
              <p:cNvSpPr/>
              <p:nvPr/>
            </p:nvSpPr>
            <p:spPr>
              <a:xfrm>
                <a:off x="6896100" y="2486025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9" name="Google Shape;489;p7"/>
              <p:cNvSpPr/>
              <p:nvPr/>
            </p:nvSpPr>
            <p:spPr>
              <a:xfrm>
                <a:off x="6953250" y="2238375"/>
                <a:ext cx="7143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0" name="Google Shape;490;p7"/>
              <p:cNvSpPr txBox="1"/>
              <p:nvPr/>
            </p:nvSpPr>
            <p:spPr>
              <a:xfrm>
                <a:off x="6953250" y="2238375"/>
                <a:ext cx="7143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38100" lIns="38100" spcFirstLastPara="1" rIns="38100" wrap="square" tIns="381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  <a:t>Sửa chữa</a:t>
                </a:r>
                <a:endParaRPr b="1" i="0" sz="800" u="none" cap="none" strike="noStrike">
                  <a:solidFill>
                    <a:srgbClr val="111111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ctr">
                  <a:lnSpc>
                    <a:spcPct val="100000"/>
                  </a:lnSpc>
                  <a:spcBef>
                    <a:spcPts val="15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666666"/>
                    </a:solidFill>
                    <a:latin typeface="Inter"/>
                    <a:ea typeface="Inter"/>
                    <a:cs typeface="Inter"/>
                    <a:sym typeface="Inter"/>
                  </a:rPr>
                  <a:t>Phần cứng</a:t>
                </a:r>
                <a:endParaRPr b="0" i="0" sz="700" u="none" cap="none" strike="noStrike">
                  <a:solidFill>
                    <a:srgbClr val="666666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91" name="Google Shape;491;p7"/>
              <p:cNvSpPr/>
              <p:nvPr/>
            </p:nvSpPr>
            <p:spPr>
              <a:xfrm>
                <a:off x="6667500" y="3209925"/>
                <a:ext cx="285900" cy="4572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7"/>
              <p:cNvSpPr/>
              <p:nvPr/>
            </p:nvSpPr>
            <p:spPr>
              <a:xfrm>
                <a:off x="6896100" y="3629025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3" name="Google Shape;493;p7"/>
              <p:cNvSpPr/>
              <p:nvPr/>
            </p:nvSpPr>
            <p:spPr>
              <a:xfrm>
                <a:off x="6953250" y="3381375"/>
                <a:ext cx="7143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4" name="Google Shape;494;p7"/>
              <p:cNvSpPr txBox="1"/>
              <p:nvPr/>
            </p:nvSpPr>
            <p:spPr>
              <a:xfrm>
                <a:off x="6953250" y="3381375"/>
                <a:ext cx="7143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38100" lIns="38100" spcFirstLastPara="1" rIns="38100" wrap="square" tIns="381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111111"/>
                    </a:solidFill>
                    <a:latin typeface="Inter"/>
                    <a:ea typeface="Inter"/>
                    <a:cs typeface="Inter"/>
                    <a:sym typeface="Inter"/>
                  </a:rPr>
                  <a:t>Cấu hình</a:t>
                </a:r>
                <a:endParaRPr b="1" i="0" sz="800" u="none" cap="none" strike="noStrike">
                  <a:solidFill>
                    <a:srgbClr val="111111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ctr">
                  <a:lnSpc>
                    <a:spcPct val="100000"/>
                  </a:lnSpc>
                  <a:spcBef>
                    <a:spcPts val="15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666666"/>
                    </a:solidFill>
                    <a:latin typeface="Inter"/>
                    <a:ea typeface="Inter"/>
                    <a:cs typeface="Inter"/>
                    <a:sym typeface="Inter"/>
                  </a:rPr>
                  <a:t>Phần mềm</a:t>
                </a:r>
                <a:endParaRPr b="0" i="0" sz="700" u="none" cap="none" strike="noStrike">
                  <a:solidFill>
                    <a:srgbClr val="666666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95" name="Google Shape;495;p7"/>
              <p:cNvSpPr/>
              <p:nvPr/>
            </p:nvSpPr>
            <p:spPr>
              <a:xfrm>
                <a:off x="7743825" y="2981325"/>
                <a:ext cx="228600" cy="228600"/>
              </a:xfrm>
              <a:custGeom>
                <a:rect b="b" l="l" r="r" t="t"/>
                <a:pathLst>
                  <a:path extrusionOk="0" h="120000" w="120000">
                    <a:moveTo>
                      <a:pt x="60000" y="0"/>
                    </a:moveTo>
                    <a:lnTo>
                      <a:pt x="120000" y="60000"/>
                    </a:lnTo>
                    <a:lnTo>
                      <a:pt x="60000" y="120000"/>
                    </a:lnTo>
                    <a:lnTo>
                      <a:pt x="0" y="60000"/>
                    </a:lnTo>
                    <a:close/>
                  </a:path>
                </a:pathLst>
              </a:custGeom>
              <a:solidFill>
                <a:srgbClr val="FFFFFF"/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7"/>
              <p:cNvSpPr/>
              <p:nvPr/>
            </p:nvSpPr>
            <p:spPr>
              <a:xfrm>
                <a:off x="7820025" y="3057525"/>
                <a:ext cx="76200" cy="76200"/>
              </a:xfrm>
              <a:custGeom>
                <a:rect b="b" l="l" r="r" t="t"/>
                <a:pathLst>
                  <a:path extrusionOk="0" fill="none" h="120000" w="120000">
                    <a:moveTo>
                      <a:pt x="0" y="60000"/>
                    </a:moveTo>
                    <a:lnTo>
                      <a:pt x="120000" y="60000"/>
                    </a:lnTo>
                    <a:moveTo>
                      <a:pt x="60000" y="0"/>
                    </a:moveTo>
                    <a:lnTo>
                      <a:pt x="60000" y="120000"/>
                    </a:lnTo>
                  </a:path>
                </a:pathLst>
              </a:custGeom>
              <a:solidFill>
                <a:srgbClr val="FFFFFF"/>
              </a:solidFill>
              <a:ln cap="flat" cmpd="sng" w="1905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7" name="Google Shape;497;p7"/>
              <p:cNvSpPr/>
              <p:nvPr/>
            </p:nvSpPr>
            <p:spPr>
              <a:xfrm>
                <a:off x="7667625" y="2524125"/>
                <a:ext cx="190500" cy="4572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8" name="Google Shape;498;p7"/>
              <p:cNvSpPr/>
              <p:nvPr/>
            </p:nvSpPr>
            <p:spPr>
              <a:xfrm>
                <a:off x="7820025" y="2924175"/>
                <a:ext cx="76200" cy="57300"/>
              </a:xfrm>
              <a:custGeom>
                <a:rect b="b" l="l" r="r" t="t"/>
                <a:pathLst>
                  <a:path extrusionOk="0" h="120000" w="120000">
                    <a:moveTo>
                      <a:pt x="60000" y="120000"/>
                    </a:moveTo>
                    <a:lnTo>
                      <a:pt x="0" y="0"/>
                    </a:lnTo>
                    <a:lnTo>
                      <a:pt x="120000" y="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7"/>
              <p:cNvSpPr/>
              <p:nvPr/>
            </p:nvSpPr>
            <p:spPr>
              <a:xfrm>
                <a:off x="7667625" y="3209925"/>
                <a:ext cx="190500" cy="4572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120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7"/>
              <p:cNvSpPr/>
              <p:nvPr/>
            </p:nvSpPr>
            <p:spPr>
              <a:xfrm>
                <a:off x="7820025" y="3209925"/>
                <a:ext cx="76200" cy="57300"/>
              </a:xfrm>
              <a:custGeom>
                <a:rect b="b" l="l" r="r" t="t"/>
                <a:pathLst>
                  <a:path extrusionOk="0" h="120000" w="120000">
                    <a:moveTo>
                      <a:pt x="60000" y="0"/>
                    </a:moveTo>
                    <a:lnTo>
                      <a:pt x="0" y="120000"/>
                    </a:lnTo>
                    <a:lnTo>
                      <a:pt x="12000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1" name="Google Shape;501;p7"/>
              <p:cNvSpPr/>
              <p:nvPr/>
            </p:nvSpPr>
            <p:spPr>
              <a:xfrm>
                <a:off x="7972425" y="3095625"/>
                <a:ext cx="219000" cy="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033A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2" name="Google Shape;502;p7"/>
              <p:cNvSpPr/>
              <p:nvPr/>
            </p:nvSpPr>
            <p:spPr>
              <a:xfrm>
                <a:off x="8134350" y="3057525"/>
                <a:ext cx="57300" cy="76200"/>
              </a:xfrm>
              <a:custGeom>
                <a:rect b="b" l="l" r="r" t="t"/>
                <a:pathLst>
                  <a:path extrusionOk="0" h="120000" w="12000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7"/>
              <p:cNvSpPr/>
              <p:nvPr/>
            </p:nvSpPr>
            <p:spPr>
              <a:xfrm>
                <a:off x="8210550" y="3000375"/>
                <a:ext cx="190500" cy="190500"/>
              </a:xfrm>
              <a:prstGeom prst="ellipse">
                <a:avLst/>
              </a:prstGeom>
              <a:solidFill>
                <a:srgbClr val="FFFFFF"/>
              </a:solidFill>
              <a:ln cap="flat" cmpd="sng" w="28575">
                <a:solidFill>
                  <a:srgbClr val="FF3A2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8" name="Google Shape;508;p8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509" name="Google Shape;509;p8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510" name="Google Shape;510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525" y="9525"/>
              <a:ext cx="8972700" cy="4972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11" name="Google Shape;511;p8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p8"/>
            <p:cNvSpPr/>
            <p:nvPr/>
          </p:nvSpPr>
          <p:spPr>
            <a:xfrm>
              <a:off x="381000" y="4762500"/>
              <a:ext cx="8382000" cy="9600"/>
            </a:xfrm>
            <a:prstGeom prst="rect">
              <a:avLst/>
            </a:prstGeom>
            <a:solidFill>
              <a:srgbClr val="D0D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8"/>
            <p:cNvSpPr txBox="1"/>
            <p:nvPr/>
          </p:nvSpPr>
          <p:spPr>
            <a:xfrm>
              <a:off x="381000" y="4857750"/>
              <a:ext cx="8382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88888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BPMN PROCESS ANALYSIS REPORT</a:t>
              </a:r>
              <a:endParaRPr b="0" i="0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514" name="Google Shape;514;p8"/>
          <p:cNvGrpSpPr/>
          <p:nvPr/>
        </p:nvGrpSpPr>
        <p:grpSpPr>
          <a:xfrm>
            <a:off x="381000" y="285750"/>
            <a:ext cx="8382000" cy="1428900"/>
            <a:chOff x="381000" y="285750"/>
            <a:chExt cx="8382000" cy="1428900"/>
          </a:xfrm>
        </p:grpSpPr>
        <p:sp>
          <p:nvSpPr>
            <p:cNvPr id="515" name="Google Shape;515;p8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" name="Google Shape;516;p8"/>
            <p:cNvSpPr txBox="1"/>
            <p:nvPr/>
          </p:nvSpPr>
          <p:spPr>
            <a:xfrm>
              <a:off x="381000" y="476250"/>
              <a:ext cx="8382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" sz="240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Quy Trình Hỗ Trợ: Chat Support &amp; Quản Lý Linh Kiện</a:t>
              </a:r>
              <a:endParaRPr b="0" i="0" sz="240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" sz="1300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Hệ thống hóa quy trình kỹ thuật vận hành và đối soát vật tư thực tế</a:t>
              </a:r>
              <a:endParaRPr b="0" i="0" sz="1300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517" name="Google Shape;517;p8"/>
          <p:cNvGrpSpPr/>
          <p:nvPr/>
        </p:nvGrpSpPr>
        <p:grpSpPr>
          <a:xfrm>
            <a:off x="381000" y="1905000"/>
            <a:ext cx="8382075" cy="2762250"/>
            <a:chOff x="381000" y="1905000"/>
            <a:chExt cx="8382075" cy="2762250"/>
          </a:xfrm>
        </p:grpSpPr>
        <p:grpSp>
          <p:nvGrpSpPr>
            <p:cNvPr id="518" name="Google Shape;518;p8"/>
            <p:cNvGrpSpPr/>
            <p:nvPr/>
          </p:nvGrpSpPr>
          <p:grpSpPr>
            <a:xfrm>
              <a:off x="381000" y="1905000"/>
              <a:ext cx="4048200" cy="1333500"/>
              <a:chOff x="381000" y="1905000"/>
              <a:chExt cx="4048200" cy="1333500"/>
            </a:xfrm>
          </p:grpSpPr>
          <p:sp>
            <p:nvSpPr>
              <p:cNvPr id="519" name="Google Shape;519;p8"/>
              <p:cNvSpPr/>
              <p:nvPr/>
            </p:nvSpPr>
            <p:spPr>
              <a:xfrm>
                <a:off x="381000" y="1905000"/>
                <a:ext cx="4048200" cy="1333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8"/>
              <p:cNvSpPr/>
              <p:nvPr/>
            </p:nvSpPr>
            <p:spPr>
              <a:xfrm>
                <a:off x="381000" y="1905000"/>
                <a:ext cx="4048200" cy="38100"/>
              </a:xfrm>
              <a:prstGeom prst="rect">
                <a:avLst/>
              </a:pr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21" name="Google Shape;521;p8"/>
              <p:cNvGrpSpPr/>
              <p:nvPr/>
            </p:nvGrpSpPr>
            <p:grpSpPr>
              <a:xfrm>
                <a:off x="533624" y="2019524"/>
                <a:ext cx="258631" cy="258631"/>
                <a:chOff x="-63126" y="-63126"/>
                <a:chExt cx="431052" cy="431052"/>
              </a:xfrm>
            </p:grpSpPr>
            <p:sp>
              <p:nvSpPr>
                <p:cNvPr id="522" name="Google Shape;522;p8"/>
                <p:cNvSpPr/>
                <p:nvPr/>
              </p:nvSpPr>
              <p:spPr>
                <a:xfrm rot="2700000">
                  <a:off x="0" y="0"/>
                  <a:ext cx="304800" cy="3048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3" name="Google Shape;523;p8"/>
                <p:cNvSpPr/>
                <p:nvPr/>
              </p:nvSpPr>
              <p:spPr>
                <a:xfrm>
                  <a:off x="95250" y="95250"/>
                  <a:ext cx="114300" cy="114300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524" name="Google Shape;524;p8"/>
              <p:cNvSpPr txBox="1"/>
              <p:nvPr/>
            </p:nvSpPr>
            <p:spPr>
              <a:xfrm>
                <a:off x="857250" y="2047875"/>
                <a:ext cx="3381300" cy="104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" sz="1100" u="none" cap="none" strike="noStrike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01. CHAT SUPPORT - ĐIỀU KIỆN</a:t>
                </a:r>
                <a:endParaRPr b="1" i="0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Thiết lập </a:t>
                </a:r>
                <a:r>
                  <a:rPr b="1" i="0" lang="en" sz="1100" u="none" cap="none" strike="noStrike">
                    <a:solidFill>
                      <a:srgbClr val="FF3A20"/>
                    </a:solidFill>
                    <a:latin typeface="Roboto"/>
                    <a:ea typeface="Roboto"/>
                    <a:cs typeface="Roboto"/>
                    <a:sym typeface="Roboto"/>
                  </a:rPr>
                  <a:t>4 cổng điều kiện</a:t>
                </a: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 nghiêm ngặt đầu vào nhằm tự động hóa việc kiểm soát, phân loại dữ liệu và định tuyến tối ưu.</a:t>
                </a:r>
                <a:endParaRPr b="0" i="0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525" name="Google Shape;525;p8"/>
            <p:cNvGrpSpPr/>
            <p:nvPr/>
          </p:nvGrpSpPr>
          <p:grpSpPr>
            <a:xfrm>
              <a:off x="4714875" y="1905000"/>
              <a:ext cx="4048200" cy="1333500"/>
              <a:chOff x="4714875" y="1905000"/>
              <a:chExt cx="4048200" cy="1333500"/>
            </a:xfrm>
          </p:grpSpPr>
          <p:sp>
            <p:nvSpPr>
              <p:cNvPr id="526" name="Google Shape;526;p8"/>
              <p:cNvSpPr/>
              <p:nvPr/>
            </p:nvSpPr>
            <p:spPr>
              <a:xfrm>
                <a:off x="4714875" y="1905000"/>
                <a:ext cx="4048200" cy="1333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8"/>
              <p:cNvSpPr/>
              <p:nvPr/>
            </p:nvSpPr>
            <p:spPr>
              <a:xfrm>
                <a:off x="4714875" y="1905000"/>
                <a:ext cx="4048200" cy="38100"/>
              </a:xfrm>
              <a:prstGeom prst="rect">
                <a:avLst/>
              </a:pr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28" name="Google Shape;528;p8"/>
              <p:cNvGrpSpPr/>
              <p:nvPr/>
            </p:nvGrpSpPr>
            <p:grpSpPr>
              <a:xfrm>
                <a:off x="4867499" y="2019524"/>
                <a:ext cx="258631" cy="258631"/>
                <a:chOff x="-63126" y="-63126"/>
                <a:chExt cx="431052" cy="431052"/>
              </a:xfrm>
            </p:grpSpPr>
            <p:sp>
              <p:nvSpPr>
                <p:cNvPr id="529" name="Google Shape;529;p8"/>
                <p:cNvSpPr/>
                <p:nvPr/>
              </p:nvSpPr>
              <p:spPr>
                <a:xfrm rot="2700000">
                  <a:off x="0" y="0"/>
                  <a:ext cx="304800" cy="3048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" name="Google Shape;530;p8"/>
                <p:cNvSpPr/>
                <p:nvPr/>
              </p:nvSpPr>
              <p:spPr>
                <a:xfrm>
                  <a:off x="95250" y="95250"/>
                  <a:ext cx="114300" cy="114300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531" name="Google Shape;531;p8"/>
              <p:cNvSpPr txBox="1"/>
              <p:nvPr/>
            </p:nvSpPr>
            <p:spPr>
              <a:xfrm>
                <a:off x="5191125" y="2047875"/>
                <a:ext cx="3381300" cy="104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" sz="1100" u="none" cap="none" strike="noStrike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02. CHAT SUPPORT - PHÂN NHÁNH</a:t>
                </a:r>
                <a:endParaRPr b="1" i="0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Phân nhánh luồng xử lý rõ ràng giữa hai bộ phận cốt lõi: </a:t>
                </a:r>
                <a:r>
                  <a:rPr b="1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Hỗ trợ kỹ thuật</a:t>
                </a: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 chuyên sâu và hỗ trợ </a:t>
                </a:r>
                <a:r>
                  <a:rPr b="1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Booking dịch vụ</a:t>
                </a: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 nhanh chóng.</a:t>
                </a:r>
                <a:endParaRPr b="0" i="0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532" name="Google Shape;532;p8"/>
            <p:cNvGrpSpPr/>
            <p:nvPr/>
          </p:nvGrpSpPr>
          <p:grpSpPr>
            <a:xfrm>
              <a:off x="381000" y="3333750"/>
              <a:ext cx="4048200" cy="1333500"/>
              <a:chOff x="381000" y="3333750"/>
              <a:chExt cx="4048200" cy="1333500"/>
            </a:xfrm>
          </p:grpSpPr>
          <p:sp>
            <p:nvSpPr>
              <p:cNvPr id="533" name="Google Shape;533;p8"/>
              <p:cNvSpPr/>
              <p:nvPr/>
            </p:nvSpPr>
            <p:spPr>
              <a:xfrm>
                <a:off x="381000" y="3333750"/>
                <a:ext cx="4048200" cy="1333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4" name="Google Shape;534;p8"/>
              <p:cNvSpPr/>
              <p:nvPr/>
            </p:nvSpPr>
            <p:spPr>
              <a:xfrm>
                <a:off x="381000" y="3333750"/>
                <a:ext cx="4048200" cy="38100"/>
              </a:xfrm>
              <a:prstGeom prst="rect">
                <a:avLst/>
              </a:pr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35" name="Google Shape;535;p8"/>
              <p:cNvGrpSpPr/>
              <p:nvPr/>
            </p:nvGrpSpPr>
            <p:grpSpPr>
              <a:xfrm>
                <a:off x="533624" y="3448274"/>
                <a:ext cx="258631" cy="258631"/>
                <a:chOff x="-63126" y="-63126"/>
                <a:chExt cx="431052" cy="431052"/>
              </a:xfrm>
            </p:grpSpPr>
            <p:sp>
              <p:nvSpPr>
                <p:cNvPr id="536" name="Google Shape;536;p8"/>
                <p:cNvSpPr/>
                <p:nvPr/>
              </p:nvSpPr>
              <p:spPr>
                <a:xfrm rot="2700000">
                  <a:off x="0" y="0"/>
                  <a:ext cx="304800" cy="3048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7" name="Google Shape;537;p8"/>
                <p:cNvSpPr/>
                <p:nvPr/>
              </p:nvSpPr>
              <p:spPr>
                <a:xfrm>
                  <a:off x="95250" y="95250"/>
                  <a:ext cx="114300" cy="114300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538" name="Google Shape;538;p8"/>
              <p:cNvSpPr txBox="1"/>
              <p:nvPr/>
            </p:nvSpPr>
            <p:spPr>
              <a:xfrm>
                <a:off x="857250" y="3476625"/>
                <a:ext cx="3381300" cy="104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" sz="1100" u="none" cap="none" strike="noStrike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03. BÁO CÁO KTV - ĐIỀU KIỆN KHO</a:t>
                </a:r>
                <a:endParaRPr b="1" i="0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Hệ thống hóa quy trình báo cáo thông qua </a:t>
                </a:r>
                <a:r>
                  <a:rPr b="1" i="0" lang="en" sz="1100" u="none" cap="none" strike="noStrike">
                    <a:solidFill>
                      <a:srgbClr val="FF3A20"/>
                    </a:solidFill>
                    <a:latin typeface="Roboto"/>
                    <a:ea typeface="Roboto"/>
                    <a:cs typeface="Roboto"/>
                    <a:sym typeface="Roboto"/>
                  </a:rPr>
                  <a:t>5 cổng điều kiện</a:t>
                </a: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 chặt chẽ để kiểm tra tính hợp lệ của linh kiện đầu ra.</a:t>
                </a:r>
                <a:endParaRPr b="0" i="0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539" name="Google Shape;539;p8"/>
            <p:cNvGrpSpPr/>
            <p:nvPr/>
          </p:nvGrpSpPr>
          <p:grpSpPr>
            <a:xfrm>
              <a:off x="4714875" y="3333750"/>
              <a:ext cx="4048200" cy="1333500"/>
              <a:chOff x="4714875" y="3333750"/>
              <a:chExt cx="4048200" cy="1333500"/>
            </a:xfrm>
          </p:grpSpPr>
          <p:sp>
            <p:nvSpPr>
              <p:cNvPr id="540" name="Google Shape;540;p8"/>
              <p:cNvSpPr/>
              <p:nvPr/>
            </p:nvSpPr>
            <p:spPr>
              <a:xfrm>
                <a:off x="4714875" y="3333750"/>
                <a:ext cx="4048200" cy="1333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1" name="Google Shape;541;p8"/>
              <p:cNvSpPr/>
              <p:nvPr/>
            </p:nvSpPr>
            <p:spPr>
              <a:xfrm>
                <a:off x="4714875" y="3333750"/>
                <a:ext cx="4048200" cy="38100"/>
              </a:xfrm>
              <a:prstGeom prst="rect">
                <a:avLst/>
              </a:pr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2" name="Google Shape;542;p8"/>
              <p:cNvGrpSpPr/>
              <p:nvPr/>
            </p:nvGrpSpPr>
            <p:grpSpPr>
              <a:xfrm>
                <a:off x="4867499" y="3448274"/>
                <a:ext cx="258631" cy="258631"/>
                <a:chOff x="-63126" y="-63126"/>
                <a:chExt cx="431052" cy="431052"/>
              </a:xfrm>
            </p:grpSpPr>
            <p:sp>
              <p:nvSpPr>
                <p:cNvPr id="543" name="Google Shape;543;p8"/>
                <p:cNvSpPr/>
                <p:nvPr/>
              </p:nvSpPr>
              <p:spPr>
                <a:xfrm rot="2700000">
                  <a:off x="0" y="0"/>
                  <a:ext cx="304800" cy="304800"/>
                </a:xfrm>
                <a:prstGeom prst="rect">
                  <a:avLst/>
                </a:prstGeom>
                <a:solidFill>
                  <a:srgbClr val="FF3A2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44" name="Google Shape;544;p8"/>
                <p:cNvSpPr/>
                <p:nvPr/>
              </p:nvSpPr>
              <p:spPr>
                <a:xfrm>
                  <a:off x="95250" y="95250"/>
                  <a:ext cx="114300" cy="114300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545" name="Google Shape;545;p8"/>
              <p:cNvSpPr txBox="1"/>
              <p:nvPr/>
            </p:nvSpPr>
            <p:spPr>
              <a:xfrm>
                <a:off x="5191125" y="3476625"/>
                <a:ext cx="3381300" cy="104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" sz="1100" u="none" cap="none" strike="noStrike">
                    <a:solidFill>
                      <a:srgbClr val="0033A0"/>
                    </a:solidFill>
                    <a:latin typeface="Inter"/>
                    <a:ea typeface="Inter"/>
                    <a:cs typeface="Inter"/>
                    <a:sym typeface="Inter"/>
                  </a:rPr>
                  <a:t>04. BÁO CÁO KTV - ĐỐI SOÁT THỰC TẾ</a:t>
                </a:r>
                <a:endParaRPr b="1" i="0" sz="1100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111111"/>
                    </a:solidFill>
                    <a:latin typeface="Roboto"/>
                    <a:ea typeface="Roboto"/>
                    <a:cs typeface="Roboto"/>
                    <a:sym typeface="Roboto"/>
                  </a:rPr>
                  <a:t>Đảm bảo cơ chế đối soát chính xác tuyệt đối giữa số liệu tồn kho thực tế và tình trạng sử dụng ngoài hiện trường của kỹ thuật viên (KTV).</a:t>
                </a:r>
                <a:endParaRPr b="0" i="0" sz="11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4F0"/>
        </a:solidFill>
      </p:bgPr>
    </p:bg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72700" cy="49722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9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9"/>
          <p:cNvSpPr/>
          <p:nvPr/>
        </p:nvSpPr>
        <p:spPr>
          <a:xfrm>
            <a:off x="381000" y="4762500"/>
            <a:ext cx="8382000" cy="9600"/>
          </a:xfrm>
          <a:prstGeom prst="rect">
            <a:avLst/>
          </a:prstGeom>
          <a:solidFill>
            <a:srgbClr val="D0D0C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9"/>
          <p:cNvSpPr txBox="1"/>
          <p:nvPr/>
        </p:nvSpPr>
        <p:spPr>
          <a:xfrm>
            <a:off x="381000" y="4857750"/>
            <a:ext cx="838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BPMN PROCESS ANALYSIS REPORT</a:t>
            </a:r>
            <a:endParaRPr b="0" i="0" sz="800" u="none" cap="none" strike="noStrike">
              <a:solidFill>
                <a:srgbClr val="88888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grpSp>
        <p:nvGrpSpPr>
          <p:cNvPr id="554" name="Google Shape;554;p9"/>
          <p:cNvGrpSpPr/>
          <p:nvPr/>
        </p:nvGrpSpPr>
        <p:grpSpPr>
          <a:xfrm>
            <a:off x="381000" y="285750"/>
            <a:ext cx="8382000" cy="1238400"/>
            <a:chOff x="381000" y="285750"/>
            <a:chExt cx="8382000" cy="1238400"/>
          </a:xfrm>
        </p:grpSpPr>
        <p:sp>
          <p:nvSpPr>
            <p:cNvPr id="555" name="Google Shape;555;p9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9"/>
            <p:cNvSpPr txBox="1"/>
            <p:nvPr/>
          </p:nvSpPr>
          <p:spPr>
            <a:xfrm>
              <a:off x="381000" y="476250"/>
              <a:ext cx="8382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80"/>
                <a:buFont typeface="Arial"/>
                <a:buNone/>
              </a:pPr>
              <a:r>
                <a:rPr b="0" i="0" lang="en" sz="238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Phương Pháp Dựa Trên Bằng Chứng Và Phỏng Vấn Thực Tế</a:t>
              </a:r>
              <a:endParaRPr b="0" i="0" sz="238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275"/>
                <a:buFont typeface="Arial"/>
                <a:buNone/>
              </a:pPr>
              <a:r>
                <a:rPr b="0" i="0" lang="en" sz="1275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Phân tích vận hành có hệ thống thông qua tài liệu hiện tại và tương tác trực tiếp</a:t>
              </a:r>
              <a:endParaRPr b="0" i="0" sz="1275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557" name="Google Shape;557;p9"/>
          <p:cNvGrpSpPr/>
          <p:nvPr/>
        </p:nvGrpSpPr>
        <p:grpSpPr>
          <a:xfrm>
            <a:off x="333655" y="1809750"/>
            <a:ext cx="8429495" cy="2667150"/>
            <a:chOff x="333655" y="1809750"/>
            <a:chExt cx="8429495" cy="2667150"/>
          </a:xfrm>
        </p:grpSpPr>
        <p:grpSp>
          <p:nvGrpSpPr>
            <p:cNvPr id="558" name="Google Shape;558;p9"/>
            <p:cNvGrpSpPr/>
            <p:nvPr/>
          </p:nvGrpSpPr>
          <p:grpSpPr>
            <a:xfrm>
              <a:off x="333655" y="1819555"/>
              <a:ext cx="323289" cy="323289"/>
              <a:chOff x="-47345" y="-47345"/>
              <a:chExt cx="323289" cy="323289"/>
            </a:xfrm>
          </p:grpSpPr>
          <p:sp>
            <p:nvSpPr>
              <p:cNvPr id="559" name="Google Shape;559;p9"/>
              <p:cNvSpPr/>
              <p:nvPr/>
            </p:nvSpPr>
            <p:spPr>
              <a:xfrm rot="2700000">
                <a:off x="0" y="0"/>
                <a:ext cx="228600" cy="2286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9"/>
              <p:cNvSpPr/>
              <p:nvPr/>
            </p:nvSpPr>
            <p:spPr>
              <a:xfrm>
                <a:off x="76200" y="76200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61" name="Google Shape;561;p9"/>
            <p:cNvSpPr txBox="1"/>
            <p:nvPr/>
          </p:nvSpPr>
          <p:spPr>
            <a:xfrm>
              <a:off x="857250" y="1809750"/>
              <a:ext cx="79059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0033A0"/>
                  </a:solidFill>
                  <a:latin typeface="Roboto"/>
                  <a:ea typeface="Roboto"/>
                  <a:cs typeface="Roboto"/>
                  <a:sym typeface="Roboto"/>
                </a:rPr>
                <a:t>Phương pháp Evidence-based</a:t>
              </a:r>
              <a:endParaRPr b="1" i="0" sz="1400" u="none" cap="none" strike="noStrike">
                <a:solidFill>
                  <a:srgbClr val="0033A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" sz="13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Phân tích tài liệu vận hành, sơ đồ tổ chức và KPI hiện có.</a:t>
              </a:r>
              <a:endParaRPr b="0" i="0" sz="13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2" name="Google Shape;562;p9"/>
            <p:cNvGrpSpPr/>
            <p:nvPr/>
          </p:nvGrpSpPr>
          <p:grpSpPr>
            <a:xfrm>
              <a:off x="333655" y="2724430"/>
              <a:ext cx="323289" cy="323289"/>
              <a:chOff x="-47345" y="-47345"/>
              <a:chExt cx="323289" cy="323289"/>
            </a:xfrm>
          </p:grpSpPr>
          <p:sp>
            <p:nvSpPr>
              <p:cNvPr id="563" name="Google Shape;563;p9"/>
              <p:cNvSpPr/>
              <p:nvPr/>
            </p:nvSpPr>
            <p:spPr>
              <a:xfrm rot="2700000">
                <a:off x="0" y="0"/>
                <a:ext cx="228600" cy="2286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9"/>
              <p:cNvSpPr/>
              <p:nvPr/>
            </p:nvSpPr>
            <p:spPr>
              <a:xfrm>
                <a:off x="76200" y="76200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65" name="Google Shape;565;p9"/>
            <p:cNvSpPr txBox="1"/>
            <p:nvPr/>
          </p:nvSpPr>
          <p:spPr>
            <a:xfrm>
              <a:off x="857250" y="2714625"/>
              <a:ext cx="79059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0033A0"/>
                  </a:solidFill>
                  <a:latin typeface="Roboto"/>
                  <a:ea typeface="Roboto"/>
                  <a:cs typeface="Roboto"/>
                  <a:sym typeface="Roboto"/>
                </a:rPr>
                <a:t>Phương pháp phỏng vấn</a:t>
              </a:r>
              <a:endParaRPr b="1" i="0" sz="1400" u="none" cap="none" strike="noStrike">
                <a:solidFill>
                  <a:srgbClr val="0033A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" sz="13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Xây dựng bộ 20 câu hỏi khảo sát thực tế để thu thập thông tin trực tiếp.</a:t>
              </a:r>
              <a:endParaRPr b="0" i="0" sz="13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6" name="Google Shape;566;p9"/>
            <p:cNvGrpSpPr/>
            <p:nvPr/>
          </p:nvGrpSpPr>
          <p:grpSpPr>
            <a:xfrm>
              <a:off x="333655" y="3629305"/>
              <a:ext cx="323289" cy="323289"/>
              <a:chOff x="-47345" y="-47345"/>
              <a:chExt cx="323289" cy="323289"/>
            </a:xfrm>
          </p:grpSpPr>
          <p:sp>
            <p:nvSpPr>
              <p:cNvPr id="567" name="Google Shape;567;p9"/>
              <p:cNvSpPr/>
              <p:nvPr/>
            </p:nvSpPr>
            <p:spPr>
              <a:xfrm rot="2700000">
                <a:off x="0" y="0"/>
                <a:ext cx="228600" cy="2286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9"/>
              <p:cNvSpPr/>
              <p:nvPr/>
            </p:nvSpPr>
            <p:spPr>
              <a:xfrm>
                <a:off x="76200" y="76200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69" name="Google Shape;569;p9"/>
            <p:cNvSpPr txBox="1"/>
            <p:nvPr/>
          </p:nvSpPr>
          <p:spPr>
            <a:xfrm>
              <a:off x="857250" y="3619500"/>
              <a:ext cx="79059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0033A0"/>
                  </a:solidFill>
                  <a:latin typeface="Roboto"/>
                  <a:ea typeface="Roboto"/>
                  <a:cs typeface="Roboto"/>
                  <a:sym typeface="Roboto"/>
                </a:rPr>
                <a:t>Cấu trúc bộ câu hỏi phỏng vấn</a:t>
              </a:r>
              <a:endParaRPr b="1" i="0" sz="1400" u="none" cap="none" strike="noStrike">
                <a:solidFill>
                  <a:srgbClr val="0033A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" sz="13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Gồm 10 câu định tính (5 có cấu trúc, 5 không cấu trúc) và 10 câu định lượng (5 có cấu trúc, 5 không cấu trúc).</a:t>
              </a:r>
              <a:endParaRPr b="0" i="0" sz="13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4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5" name="Google Shape;57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72700" cy="4972200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p1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10"/>
          <p:cNvSpPr/>
          <p:nvPr/>
        </p:nvSpPr>
        <p:spPr>
          <a:xfrm>
            <a:off x="381000" y="4762500"/>
            <a:ext cx="8382000" cy="9600"/>
          </a:xfrm>
          <a:prstGeom prst="rect">
            <a:avLst/>
          </a:prstGeom>
          <a:solidFill>
            <a:srgbClr val="D0D0C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10"/>
          <p:cNvSpPr txBox="1"/>
          <p:nvPr/>
        </p:nvSpPr>
        <p:spPr>
          <a:xfrm>
            <a:off x="381000" y="4857750"/>
            <a:ext cx="838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BPMN PROCESS ANALYSIS REPORT</a:t>
            </a:r>
            <a:endParaRPr b="0" i="0" sz="800" u="none" cap="none" strike="noStrike">
              <a:solidFill>
                <a:srgbClr val="88888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grpSp>
        <p:nvGrpSpPr>
          <p:cNvPr id="579" name="Google Shape;579;p10"/>
          <p:cNvGrpSpPr/>
          <p:nvPr/>
        </p:nvGrpSpPr>
        <p:grpSpPr>
          <a:xfrm>
            <a:off x="381000" y="428625"/>
            <a:ext cx="8382000" cy="1200300"/>
            <a:chOff x="0" y="0"/>
            <a:chExt cx="8382000" cy="1200300"/>
          </a:xfrm>
        </p:grpSpPr>
        <p:sp>
          <p:nvSpPr>
            <p:cNvPr id="580" name="Google Shape;580;p10"/>
            <p:cNvSpPr/>
            <p:nvPr/>
          </p:nvSpPr>
          <p:spPr>
            <a:xfrm>
              <a:off x="0" y="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10"/>
            <p:cNvSpPr txBox="1"/>
            <p:nvPr/>
          </p:nvSpPr>
          <p:spPr>
            <a:xfrm>
              <a:off x="0" y="152400"/>
              <a:ext cx="8382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" sz="240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Phân Tích Định Tính</a:t>
              </a:r>
              <a:endParaRPr b="0" i="0" sz="240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Xác định lãng phí bằng sơ đồ xương cá (Fishbone Diagram)</a:t>
              </a:r>
              <a:endParaRPr b="0" i="0" sz="1400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582" name="Google Shape;582;p10"/>
          <p:cNvGrpSpPr/>
          <p:nvPr/>
        </p:nvGrpSpPr>
        <p:grpSpPr>
          <a:xfrm>
            <a:off x="381000" y="1666875"/>
            <a:ext cx="4048200" cy="1333500"/>
            <a:chOff x="381000" y="1666875"/>
            <a:chExt cx="4048200" cy="1333500"/>
          </a:xfrm>
        </p:grpSpPr>
        <p:sp>
          <p:nvSpPr>
            <p:cNvPr id="583" name="Google Shape;583;p10"/>
            <p:cNvSpPr/>
            <p:nvPr/>
          </p:nvSpPr>
          <p:spPr>
            <a:xfrm>
              <a:off x="381000" y="1666875"/>
              <a:ext cx="4048200" cy="13335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D0D0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10"/>
            <p:cNvSpPr/>
            <p:nvPr/>
          </p:nvSpPr>
          <p:spPr>
            <a:xfrm>
              <a:off x="381000" y="1666875"/>
              <a:ext cx="4048200" cy="381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85" name="Google Shape;585;p10"/>
            <p:cNvGrpSpPr/>
            <p:nvPr/>
          </p:nvGrpSpPr>
          <p:grpSpPr>
            <a:xfrm>
              <a:off x="3961046" y="1817921"/>
              <a:ext cx="269408" cy="269408"/>
              <a:chOff x="-39454" y="-39454"/>
              <a:chExt cx="269408" cy="269408"/>
            </a:xfrm>
          </p:grpSpPr>
          <p:sp>
            <p:nvSpPr>
              <p:cNvPr id="586" name="Google Shape;586;p10"/>
              <p:cNvSpPr/>
              <p:nvPr/>
            </p:nvSpPr>
            <p:spPr>
              <a:xfrm rot="2700000">
                <a:off x="0" y="0"/>
                <a:ext cx="190500" cy="190500"/>
              </a:xfrm>
              <a:prstGeom prst="rect">
                <a:avLst/>
              </a:pr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7" name="Google Shape;587;p10"/>
              <p:cNvSpPr/>
              <p:nvPr/>
            </p:nvSpPr>
            <p:spPr>
              <a:xfrm>
                <a:off x="52388" y="52388"/>
                <a:ext cx="85800" cy="858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88" name="Google Shape;588;p10"/>
            <p:cNvSpPr txBox="1"/>
            <p:nvPr/>
          </p:nvSpPr>
          <p:spPr>
            <a:xfrm>
              <a:off x="571500" y="1857375"/>
              <a:ext cx="3286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1"/>
                <a:buFont typeface="Arial"/>
                <a:buNone/>
              </a:pPr>
              <a:r>
                <a:rPr b="1" i="0" lang="en" sz="971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rPr>
                <a:t>PHÂN TÍCH GIÁ TRỊ</a:t>
              </a:r>
              <a:endParaRPr b="1" i="0" sz="971" u="none" cap="none" strike="noStrike">
                <a:solidFill>
                  <a:srgbClr val="0033A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18"/>
                <a:buFont typeface="Arial"/>
                <a:buNone/>
              </a:pPr>
              <a:r>
                <a:rPr b="1" i="0" lang="en" sz="1018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Phân loại các bước công việc theo giá trị tạo ra</a:t>
              </a:r>
              <a:endParaRPr b="1" i="0" sz="1018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971"/>
                <a:buFont typeface="Arial"/>
                <a:buNone/>
              </a:pPr>
              <a:r>
                <a:rPr b="1" i="0" lang="en" sz="971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• VA (Value-Adding):</a:t>
              </a:r>
              <a:r>
                <a:rPr b="0" i="0" lang="en" sz="971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 Tạo giá trị trực tiếp cho khách hàng.</a:t>
              </a:r>
              <a:endParaRPr b="0" i="0" sz="971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971"/>
                <a:buFont typeface="Arial"/>
                <a:buNone/>
              </a:pPr>
              <a:r>
                <a:rPr b="1" i="0" lang="en" sz="971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• VBA (Business Value-Adding):</a:t>
              </a:r>
              <a:r>
                <a:rPr b="0" i="0" lang="en" sz="971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 Cần thiết cho vận hành.</a:t>
              </a:r>
              <a:endParaRPr b="0" i="0" sz="971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971"/>
                <a:buFont typeface="Arial"/>
                <a:buNone/>
              </a:pPr>
              <a:r>
                <a:rPr b="1" i="0" lang="en" sz="971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• NVA (Non-Value-Adding):</a:t>
              </a:r>
              <a:r>
                <a:rPr b="0" i="0" lang="en" sz="971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 Lãng phí, cần loại bỏ ngay.</a:t>
              </a:r>
              <a:endParaRPr b="0" i="0" sz="971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9" name="Google Shape;589;p10"/>
          <p:cNvGrpSpPr/>
          <p:nvPr/>
        </p:nvGrpSpPr>
        <p:grpSpPr>
          <a:xfrm>
            <a:off x="4714875" y="1666875"/>
            <a:ext cx="4048200" cy="1333500"/>
            <a:chOff x="4714875" y="1666875"/>
            <a:chExt cx="4048200" cy="1333500"/>
          </a:xfrm>
        </p:grpSpPr>
        <p:sp>
          <p:nvSpPr>
            <p:cNvPr id="590" name="Google Shape;590;p10"/>
            <p:cNvSpPr/>
            <p:nvPr/>
          </p:nvSpPr>
          <p:spPr>
            <a:xfrm>
              <a:off x="4714875" y="1666875"/>
              <a:ext cx="4048200" cy="13335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D0D0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10"/>
            <p:cNvSpPr/>
            <p:nvPr/>
          </p:nvSpPr>
          <p:spPr>
            <a:xfrm>
              <a:off x="4714875" y="1666875"/>
              <a:ext cx="40482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92" name="Google Shape;592;p10"/>
            <p:cNvGrpSpPr/>
            <p:nvPr/>
          </p:nvGrpSpPr>
          <p:grpSpPr>
            <a:xfrm>
              <a:off x="8294921" y="1817921"/>
              <a:ext cx="269408" cy="269408"/>
              <a:chOff x="-39454" y="-39454"/>
              <a:chExt cx="269408" cy="269408"/>
            </a:xfrm>
          </p:grpSpPr>
          <p:sp>
            <p:nvSpPr>
              <p:cNvPr id="593" name="Google Shape;593;p10"/>
              <p:cNvSpPr/>
              <p:nvPr/>
            </p:nvSpPr>
            <p:spPr>
              <a:xfrm rot="2700000">
                <a:off x="0" y="0"/>
                <a:ext cx="190500" cy="1905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4" name="Google Shape;594;p10"/>
              <p:cNvSpPr/>
              <p:nvPr/>
            </p:nvSpPr>
            <p:spPr>
              <a:xfrm>
                <a:off x="52388" y="52388"/>
                <a:ext cx="85800" cy="858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95" name="Google Shape;595;p10"/>
            <p:cNvSpPr txBox="1"/>
            <p:nvPr/>
          </p:nvSpPr>
          <p:spPr>
            <a:xfrm>
              <a:off x="4905375" y="1857375"/>
              <a:ext cx="3286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93"/>
                <a:buFont typeface="Arial"/>
                <a:buNone/>
              </a:pPr>
              <a:r>
                <a:rPr b="1" i="0" lang="en" sz="893" u="none" cap="none" strike="noStrike">
                  <a:solidFill>
                    <a:srgbClr val="FF3A20"/>
                  </a:solidFill>
                  <a:latin typeface="Inter"/>
                  <a:ea typeface="Inter"/>
                  <a:cs typeface="Inter"/>
                  <a:sym typeface="Inter"/>
                </a:rPr>
                <a:t>PHÂN TÍCH LÃNG PHÍ</a:t>
              </a:r>
              <a:endParaRPr b="1" i="0" sz="893" u="none" cap="none" strike="noStrike">
                <a:solidFill>
                  <a:srgbClr val="FF3A2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935"/>
                <a:buFont typeface="Arial"/>
                <a:buNone/>
              </a:pPr>
              <a:r>
                <a:rPr b="1" i="0" lang="en" sz="935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Nhận diện lãng phí phát sinh trong quy trình</a:t>
              </a:r>
              <a:endParaRPr b="1" i="0" sz="935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893"/>
                <a:buFont typeface="Arial"/>
                <a:buNone/>
              </a:pPr>
              <a:r>
                <a:rPr b="1" i="0" lang="en" sz="893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• Move:</a:t>
              </a:r>
              <a:r>
                <a:rPr b="0" i="0" lang="en" sz="893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 Sự di chuyển nguyên vật liệu, thông tin không cần thiết.</a:t>
              </a:r>
              <a:endParaRPr b="0" i="0" sz="893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893"/>
                <a:buFont typeface="Arial"/>
                <a:buNone/>
              </a:pPr>
              <a:r>
                <a:rPr b="1" i="0" lang="en" sz="893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• Hold:</a:t>
              </a:r>
              <a:r>
                <a:rPr b="0" i="0" lang="en" sz="893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 Trì hoãn, chờ đợi phê duyệt hoặc lưu kho vô ích.</a:t>
              </a:r>
              <a:endParaRPr b="0" i="0" sz="893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893"/>
                <a:buFont typeface="Arial"/>
                <a:buNone/>
              </a:pPr>
              <a:r>
                <a:rPr b="1" i="0" lang="en" sz="893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• Overdo:</a:t>
              </a:r>
              <a:r>
                <a:rPr b="0" i="0" lang="en" sz="893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 Thao tác thừa, xử lý quá mức yêu cầu của khách.</a:t>
              </a:r>
              <a:endParaRPr b="0" i="0" sz="893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96" name="Google Shape;596;p10"/>
          <p:cNvGrpSpPr/>
          <p:nvPr/>
        </p:nvGrpSpPr>
        <p:grpSpPr>
          <a:xfrm>
            <a:off x="381000" y="3190875"/>
            <a:ext cx="4048200" cy="1333500"/>
            <a:chOff x="381000" y="3190875"/>
            <a:chExt cx="4048200" cy="1333500"/>
          </a:xfrm>
        </p:grpSpPr>
        <p:sp>
          <p:nvSpPr>
            <p:cNvPr id="597" name="Google Shape;597;p10"/>
            <p:cNvSpPr/>
            <p:nvPr/>
          </p:nvSpPr>
          <p:spPr>
            <a:xfrm>
              <a:off x="381000" y="3190875"/>
              <a:ext cx="4048200" cy="13335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D0D0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"/>
            <p:cNvSpPr/>
            <p:nvPr/>
          </p:nvSpPr>
          <p:spPr>
            <a:xfrm>
              <a:off x="381000" y="3190875"/>
              <a:ext cx="4048200" cy="381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99" name="Google Shape;599;p10"/>
            <p:cNvGrpSpPr/>
            <p:nvPr/>
          </p:nvGrpSpPr>
          <p:grpSpPr>
            <a:xfrm>
              <a:off x="3961046" y="3341921"/>
              <a:ext cx="269408" cy="269408"/>
              <a:chOff x="-39454" y="-39454"/>
              <a:chExt cx="269408" cy="269408"/>
            </a:xfrm>
          </p:grpSpPr>
          <p:sp>
            <p:nvSpPr>
              <p:cNvPr id="600" name="Google Shape;600;p10"/>
              <p:cNvSpPr/>
              <p:nvPr/>
            </p:nvSpPr>
            <p:spPr>
              <a:xfrm rot="2700000">
                <a:off x="0" y="0"/>
                <a:ext cx="190500" cy="190500"/>
              </a:xfrm>
              <a:prstGeom prst="rect">
                <a:avLst/>
              </a:pr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10"/>
              <p:cNvSpPr/>
              <p:nvPr/>
            </p:nvSpPr>
            <p:spPr>
              <a:xfrm>
                <a:off x="52388" y="52388"/>
                <a:ext cx="85800" cy="858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02" name="Google Shape;602;p10"/>
            <p:cNvSpPr txBox="1"/>
            <p:nvPr/>
          </p:nvSpPr>
          <p:spPr>
            <a:xfrm>
              <a:off x="571500" y="3381375"/>
              <a:ext cx="3286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71"/>
                <a:buFont typeface="Arial"/>
                <a:buNone/>
              </a:pPr>
              <a:r>
                <a:rPr b="1" i="0" lang="en" sz="971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rPr>
                <a:t>CON NGƯỜI &amp; QUY TRÌNH</a:t>
              </a:r>
              <a:endParaRPr b="1" i="0" sz="971" u="none" cap="none" strike="noStrike">
                <a:solidFill>
                  <a:srgbClr val="0033A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18"/>
                <a:buFont typeface="Arial"/>
                <a:buNone/>
              </a:pPr>
              <a:r>
                <a:rPr b="1" i="0" lang="en" sz="1018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Nguyên nhân gây trễ thuộc nhóm vận hành chủ quan</a:t>
              </a:r>
              <a:endParaRPr b="1" i="0" sz="1018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971"/>
                <a:buFont typeface="Arial"/>
                <a:buNone/>
              </a:pPr>
              <a:r>
                <a:rPr b="1" i="0" lang="en" sz="971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• Con người:</a:t>
              </a:r>
              <a:r>
                <a:rPr b="0" i="0" lang="en" sz="971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 Thiếu kỹ năng thực thi, nhân sự quá tải, đào tạo kém.</a:t>
              </a:r>
              <a:endParaRPr b="0" i="0" sz="971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971"/>
                <a:buFont typeface="Arial"/>
                <a:buNone/>
              </a:pPr>
              <a:r>
                <a:rPr b="1" i="0" lang="en" sz="971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• Quy trình:</a:t>
              </a:r>
              <a:r>
                <a:rPr b="0" i="0" lang="en" sz="971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 Thiết kế rườm rà, thiếu chuẩn hóa, chồng chéo bước.</a:t>
              </a:r>
              <a:endParaRPr b="0" i="0" sz="971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03" name="Google Shape;603;p10"/>
          <p:cNvGrpSpPr/>
          <p:nvPr/>
        </p:nvGrpSpPr>
        <p:grpSpPr>
          <a:xfrm>
            <a:off x="4714875" y="3190875"/>
            <a:ext cx="4048200" cy="1333500"/>
            <a:chOff x="4714875" y="3190875"/>
            <a:chExt cx="4048200" cy="1333500"/>
          </a:xfrm>
        </p:grpSpPr>
        <p:sp>
          <p:nvSpPr>
            <p:cNvPr id="604" name="Google Shape;604;p10"/>
            <p:cNvSpPr/>
            <p:nvPr/>
          </p:nvSpPr>
          <p:spPr>
            <a:xfrm>
              <a:off x="4714875" y="3190875"/>
              <a:ext cx="4048200" cy="13335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D0D0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5" name="Google Shape;605;p10"/>
            <p:cNvSpPr/>
            <p:nvPr/>
          </p:nvSpPr>
          <p:spPr>
            <a:xfrm>
              <a:off x="4714875" y="3190875"/>
              <a:ext cx="4048200" cy="381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06" name="Google Shape;606;p10"/>
            <p:cNvGrpSpPr/>
            <p:nvPr/>
          </p:nvGrpSpPr>
          <p:grpSpPr>
            <a:xfrm>
              <a:off x="8294921" y="3341921"/>
              <a:ext cx="269408" cy="269408"/>
              <a:chOff x="-39454" y="-39454"/>
              <a:chExt cx="269408" cy="269408"/>
            </a:xfrm>
          </p:grpSpPr>
          <p:sp>
            <p:nvSpPr>
              <p:cNvPr id="607" name="Google Shape;607;p10"/>
              <p:cNvSpPr/>
              <p:nvPr/>
            </p:nvSpPr>
            <p:spPr>
              <a:xfrm rot="2700000">
                <a:off x="0" y="0"/>
                <a:ext cx="190500" cy="190500"/>
              </a:xfrm>
              <a:prstGeom prst="rect">
                <a:avLst/>
              </a:prstGeom>
              <a:solidFill>
                <a:srgbClr val="0033A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10"/>
              <p:cNvSpPr/>
              <p:nvPr/>
            </p:nvSpPr>
            <p:spPr>
              <a:xfrm>
                <a:off x="52388" y="52388"/>
                <a:ext cx="85800" cy="858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09" name="Google Shape;609;p10"/>
            <p:cNvSpPr txBox="1"/>
            <p:nvPr/>
          </p:nvSpPr>
          <p:spPr>
            <a:xfrm>
              <a:off x="4905375" y="3381375"/>
              <a:ext cx="3286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93"/>
                <a:buFont typeface="Arial"/>
                <a:buNone/>
              </a:pPr>
              <a:r>
                <a:rPr b="1" i="0" lang="en" sz="893" u="none" cap="none" strike="noStrike">
                  <a:solidFill>
                    <a:srgbClr val="0033A0"/>
                  </a:solidFill>
                  <a:latin typeface="Inter"/>
                  <a:ea typeface="Inter"/>
                  <a:cs typeface="Inter"/>
                  <a:sym typeface="Inter"/>
                </a:rPr>
                <a:t>HỆ THỐNG &amp; VẬT TƯ</a:t>
              </a:r>
              <a:endParaRPr b="1" i="0" sz="893" u="none" cap="none" strike="noStrike">
                <a:solidFill>
                  <a:srgbClr val="0033A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935"/>
                <a:buFont typeface="Arial"/>
                <a:buNone/>
              </a:pPr>
              <a:r>
                <a:rPr b="1" i="0" lang="en" sz="935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Nguyên nhân gây trễ do hạ tầng và tài nguyên khách quan</a:t>
              </a:r>
              <a:endParaRPr b="1" i="0" sz="935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893"/>
                <a:buFont typeface="Arial"/>
                <a:buNone/>
              </a:pPr>
              <a:r>
                <a:rPr b="1" i="0" lang="en" sz="893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• Hệ thống / Công nghệ:</a:t>
              </a:r>
              <a:r>
                <a:rPr b="0" i="0" lang="en" sz="893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 Phần mềm chậm, lỗi kết nối, thiếu tự động.</a:t>
              </a:r>
              <a:endParaRPr b="0" i="0" sz="893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893"/>
                <a:buFont typeface="Arial"/>
                <a:buNone/>
              </a:pPr>
              <a:r>
                <a:rPr b="1" i="0" lang="en" sz="893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• Linh kiện / Vật tư:</a:t>
              </a:r>
              <a:r>
                <a:rPr b="0" i="0" lang="en" sz="893" u="none" cap="none" strike="noStrike">
                  <a:solidFill>
                    <a:srgbClr val="333333"/>
                  </a:solidFill>
                  <a:latin typeface="Roboto"/>
                  <a:ea typeface="Roboto"/>
                  <a:cs typeface="Roboto"/>
                  <a:sym typeface="Roboto"/>
                </a:rPr>
                <a:t> Chậm giao hàng, chất lượng vật tư không đạt.</a:t>
              </a:r>
              <a:endParaRPr b="0" i="0" sz="893" u="none" cap="none" strike="noStrike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4" name="Google Shape;614;p11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615" name="Google Shape;615;p11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16" name="Google Shape;616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525" y="9525"/>
              <a:ext cx="8972700" cy="4972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17" name="Google Shape;617;p11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p11"/>
            <p:cNvSpPr/>
            <p:nvPr/>
          </p:nvSpPr>
          <p:spPr>
            <a:xfrm>
              <a:off x="381000" y="4762500"/>
              <a:ext cx="8382000" cy="9600"/>
            </a:xfrm>
            <a:prstGeom prst="rect">
              <a:avLst/>
            </a:prstGeom>
            <a:solidFill>
              <a:srgbClr val="D0D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11"/>
            <p:cNvSpPr txBox="1"/>
            <p:nvPr/>
          </p:nvSpPr>
          <p:spPr>
            <a:xfrm>
              <a:off x="381000" y="4857750"/>
              <a:ext cx="8382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88888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BPMN PROCESS ANALYSIS REPORT</a:t>
              </a:r>
              <a:endParaRPr b="0" i="0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620" name="Google Shape;620;p11"/>
          <p:cNvGrpSpPr/>
          <p:nvPr/>
        </p:nvGrpSpPr>
        <p:grpSpPr>
          <a:xfrm>
            <a:off x="381000" y="285750"/>
            <a:ext cx="8382000" cy="1428900"/>
            <a:chOff x="381000" y="285750"/>
            <a:chExt cx="8382000" cy="1428900"/>
          </a:xfrm>
        </p:grpSpPr>
        <p:sp>
          <p:nvSpPr>
            <p:cNvPr id="621" name="Google Shape;621;p11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p11"/>
            <p:cNvSpPr txBox="1"/>
            <p:nvPr/>
          </p:nvSpPr>
          <p:spPr>
            <a:xfrm>
              <a:off x="381000" y="476250"/>
              <a:ext cx="8382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Arial"/>
                <a:buNone/>
              </a:pPr>
              <a:r>
                <a:rPr b="0" i="0" lang="en" sz="320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Phân Tích Định Lượng</a:t>
              </a:r>
              <a:endParaRPr b="0" i="0" sz="320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" sz="1800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Đánh Giá Hiệu Suất Và Chi Phí</a:t>
              </a:r>
              <a:endParaRPr b="0" i="0" sz="1800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623" name="Google Shape;623;p11"/>
          <p:cNvGrpSpPr/>
          <p:nvPr/>
        </p:nvGrpSpPr>
        <p:grpSpPr>
          <a:xfrm>
            <a:off x="381000" y="1905000"/>
            <a:ext cx="8372550" cy="2381400"/>
            <a:chOff x="381000" y="1905000"/>
            <a:chExt cx="8372550" cy="2381400"/>
          </a:xfrm>
        </p:grpSpPr>
        <p:sp>
          <p:nvSpPr>
            <p:cNvPr id="624" name="Google Shape;624;p11"/>
            <p:cNvSpPr/>
            <p:nvPr/>
          </p:nvSpPr>
          <p:spPr>
            <a:xfrm>
              <a:off x="381000" y="1905000"/>
              <a:ext cx="2600400" cy="2381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25" name="Google Shape;625;p11"/>
            <p:cNvGrpSpPr/>
            <p:nvPr/>
          </p:nvGrpSpPr>
          <p:grpSpPr>
            <a:xfrm>
              <a:off x="381000" y="1905000"/>
              <a:ext cx="228600" cy="228600"/>
              <a:chOff x="0" y="0"/>
              <a:chExt cx="228600" cy="228600"/>
            </a:xfrm>
          </p:grpSpPr>
          <p:sp>
            <p:nvSpPr>
              <p:cNvPr id="626" name="Google Shape;626;p11"/>
              <p:cNvSpPr/>
              <p:nvPr/>
            </p:nvSpPr>
            <p:spPr>
              <a:xfrm>
                <a:off x="0" y="0"/>
                <a:ext cx="228600" cy="381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7" name="Google Shape;627;p11"/>
              <p:cNvSpPr/>
              <p:nvPr/>
            </p:nvSpPr>
            <p:spPr>
              <a:xfrm>
                <a:off x="0" y="0"/>
                <a:ext cx="38100" cy="2286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28" name="Google Shape;628;p11"/>
            <p:cNvSpPr txBox="1"/>
            <p:nvPr/>
          </p:nvSpPr>
          <p:spPr>
            <a:xfrm>
              <a:off x="571500" y="2095500"/>
              <a:ext cx="22194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800"/>
                <a:buFont typeface="Arial"/>
                <a:buNone/>
              </a:pPr>
              <a:r>
                <a:rPr b="1" i="0" lang="en" sz="3800" u="none" cap="none" strike="noStrike">
                  <a:solidFill>
                    <a:srgbClr val="FF3A20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82%</a:t>
              </a:r>
              <a:endParaRPr b="1" i="0" sz="3800" u="none" cap="none" strike="noStrike">
                <a:solidFill>
                  <a:srgbClr val="FF3A20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CHẤT LƯỢNG</a:t>
              </a:r>
              <a:endParaRPr b="0" i="0" sz="1200" u="none" cap="none" strike="noStrike">
                <a:solidFill>
                  <a:srgbClr val="0033A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444444"/>
                  </a:solidFill>
                  <a:latin typeface="Roboto"/>
                  <a:ea typeface="Roboto"/>
                  <a:cs typeface="Roboto"/>
                  <a:sym typeface="Roboto"/>
                </a:rPr>
                <a:t>Tỷ lệ hoàn tất trong 1 lần đến đạt 82%; tỷ lệ phải đi lại lần 2 là 13%.</a:t>
              </a:r>
              <a:endParaRPr b="0" i="0" sz="11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9" name="Google Shape;629;p11"/>
            <p:cNvSpPr/>
            <p:nvPr/>
          </p:nvSpPr>
          <p:spPr>
            <a:xfrm>
              <a:off x="3267075" y="1905000"/>
              <a:ext cx="2600400" cy="2381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30" name="Google Shape;630;p11"/>
            <p:cNvGrpSpPr/>
            <p:nvPr/>
          </p:nvGrpSpPr>
          <p:grpSpPr>
            <a:xfrm>
              <a:off x="3267075" y="1905000"/>
              <a:ext cx="228600" cy="228600"/>
              <a:chOff x="0" y="0"/>
              <a:chExt cx="228600" cy="228600"/>
            </a:xfrm>
          </p:grpSpPr>
          <p:sp>
            <p:nvSpPr>
              <p:cNvPr id="631" name="Google Shape;631;p11"/>
              <p:cNvSpPr/>
              <p:nvPr/>
            </p:nvSpPr>
            <p:spPr>
              <a:xfrm>
                <a:off x="0" y="0"/>
                <a:ext cx="228600" cy="381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11"/>
              <p:cNvSpPr/>
              <p:nvPr/>
            </p:nvSpPr>
            <p:spPr>
              <a:xfrm>
                <a:off x="0" y="0"/>
                <a:ext cx="38100" cy="2286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33" name="Google Shape;633;p11"/>
            <p:cNvSpPr txBox="1"/>
            <p:nvPr/>
          </p:nvSpPr>
          <p:spPr>
            <a:xfrm>
              <a:off x="3457575" y="2095500"/>
              <a:ext cx="22194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800"/>
                <a:buFont typeface="Arial"/>
                <a:buNone/>
              </a:pPr>
              <a:r>
                <a:rPr b="1" i="0" lang="en" sz="3800" u="none" cap="none" strike="noStrike">
                  <a:solidFill>
                    <a:srgbClr val="FF3A20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4.2/5</a:t>
              </a:r>
              <a:endParaRPr b="1" i="0" sz="3800" u="none" cap="none" strike="noStrike">
                <a:solidFill>
                  <a:srgbClr val="FF3A20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ĐÁNH GIÁ</a:t>
              </a:r>
              <a:endParaRPr b="0" i="0" sz="1200" u="none" cap="none" strike="noStrike">
                <a:solidFill>
                  <a:srgbClr val="0033A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444444"/>
                  </a:solidFill>
                  <a:latin typeface="Roboto"/>
                  <a:ea typeface="Roboto"/>
                  <a:cs typeface="Roboto"/>
                  <a:sym typeface="Roboto"/>
                </a:rPr>
                <a:t>Điểm trung bình đạt 4.2/5.</a:t>
              </a:r>
              <a:endParaRPr b="0" i="0" sz="11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4" name="Google Shape;634;p11"/>
            <p:cNvSpPr/>
            <p:nvPr/>
          </p:nvSpPr>
          <p:spPr>
            <a:xfrm>
              <a:off x="6153150" y="1905000"/>
              <a:ext cx="2600400" cy="2381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35" name="Google Shape;635;p11"/>
            <p:cNvGrpSpPr/>
            <p:nvPr/>
          </p:nvGrpSpPr>
          <p:grpSpPr>
            <a:xfrm>
              <a:off x="6153150" y="1905000"/>
              <a:ext cx="228600" cy="228600"/>
              <a:chOff x="0" y="0"/>
              <a:chExt cx="228600" cy="228600"/>
            </a:xfrm>
          </p:grpSpPr>
          <p:sp>
            <p:nvSpPr>
              <p:cNvPr id="636" name="Google Shape;636;p11"/>
              <p:cNvSpPr/>
              <p:nvPr/>
            </p:nvSpPr>
            <p:spPr>
              <a:xfrm>
                <a:off x="0" y="0"/>
                <a:ext cx="228600" cy="381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11"/>
              <p:cNvSpPr/>
              <p:nvPr/>
            </p:nvSpPr>
            <p:spPr>
              <a:xfrm>
                <a:off x="0" y="0"/>
                <a:ext cx="38100" cy="2286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38" name="Google Shape;638;p11"/>
            <p:cNvSpPr txBox="1"/>
            <p:nvPr/>
          </p:nvSpPr>
          <p:spPr>
            <a:xfrm>
              <a:off x="6343650" y="2095500"/>
              <a:ext cx="22194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b="1" i="0" lang="en" sz="2800" u="none" cap="none" strike="noStrike">
                  <a:solidFill>
                    <a:srgbClr val="FF3A20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400.600</a:t>
              </a:r>
              <a:r>
                <a:rPr b="0" i="0" lang="en" sz="1600" u="none" cap="none" strike="noStrike">
                  <a:solidFill>
                    <a:srgbClr val="FF3A2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VNĐ</a:t>
              </a:r>
              <a:endParaRPr b="1" i="0" sz="2800" u="none" cap="none" strike="noStrike">
                <a:solidFill>
                  <a:srgbClr val="FF3A20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CHI PHÍ</a:t>
              </a:r>
              <a:endParaRPr b="0" i="0" sz="1200" u="none" cap="none" strike="noStrike">
                <a:solidFill>
                  <a:srgbClr val="0033A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444444"/>
                  </a:solidFill>
                  <a:latin typeface="Roboto"/>
                  <a:ea typeface="Roboto"/>
                  <a:cs typeface="Roboto"/>
                  <a:sym typeface="Roboto"/>
                </a:rPr>
                <a:t>Ước tính chi phí trung bình để xử lý một booking là 400.600 VNĐ.</a:t>
              </a:r>
              <a:endParaRPr b="0" i="0" sz="1100" u="none" cap="none" strike="noStrike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3" name="Google Shape;643;p1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644" name="Google Shape;644;p1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4F4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645" name="Google Shape;645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525" y="9525"/>
              <a:ext cx="8972700" cy="4972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46" name="Google Shape;646;p12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12"/>
            <p:cNvSpPr/>
            <p:nvPr/>
          </p:nvSpPr>
          <p:spPr>
            <a:xfrm>
              <a:off x="381000" y="4762500"/>
              <a:ext cx="8382000" cy="9600"/>
            </a:xfrm>
            <a:prstGeom prst="rect">
              <a:avLst/>
            </a:prstGeom>
            <a:solidFill>
              <a:srgbClr val="D0D0C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12"/>
            <p:cNvSpPr txBox="1"/>
            <p:nvPr/>
          </p:nvSpPr>
          <p:spPr>
            <a:xfrm>
              <a:off x="381000" y="4838700"/>
              <a:ext cx="83820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88888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BPMN PROCESS ANALYSIS REPORT</a:t>
              </a:r>
              <a:endParaRPr b="0" i="0" sz="800" u="none" cap="none" strike="noStrike">
                <a:solidFill>
                  <a:srgbClr val="88888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649" name="Google Shape;649;p12"/>
          <p:cNvGrpSpPr/>
          <p:nvPr/>
        </p:nvGrpSpPr>
        <p:grpSpPr>
          <a:xfrm>
            <a:off x="381000" y="285750"/>
            <a:ext cx="8382000" cy="1238400"/>
            <a:chOff x="381000" y="285750"/>
            <a:chExt cx="8382000" cy="1238400"/>
          </a:xfrm>
        </p:grpSpPr>
        <p:sp>
          <p:nvSpPr>
            <p:cNvPr id="650" name="Google Shape;650;p12"/>
            <p:cNvSpPr/>
            <p:nvPr/>
          </p:nvSpPr>
          <p:spPr>
            <a:xfrm>
              <a:off x="381000" y="285750"/>
              <a:ext cx="381000" cy="38100"/>
            </a:xfrm>
            <a:prstGeom prst="rect">
              <a:avLst/>
            </a:prstGeom>
            <a:solidFill>
              <a:srgbClr val="FF3A2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" name="Google Shape;651;p12"/>
            <p:cNvSpPr txBox="1"/>
            <p:nvPr/>
          </p:nvSpPr>
          <p:spPr>
            <a:xfrm>
              <a:off x="381000" y="476250"/>
              <a:ext cx="8382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90"/>
                <a:buFont typeface="Arial"/>
                <a:buNone/>
              </a:pPr>
              <a:r>
                <a:rPr b="0" i="0" lang="en" sz="2590" u="none" cap="none" strike="noStrike">
                  <a:solidFill>
                    <a:srgbClr val="11111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Tổng Kết Kết Quả Và Hướng Mở Rộng Nghiên Cứu</a:t>
              </a:r>
              <a:endParaRPr b="0" i="0" sz="2590" u="none" cap="none" strike="noStrike">
                <a:solidFill>
                  <a:srgbClr val="11111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388"/>
                <a:buFont typeface="Arial"/>
                <a:buNone/>
              </a:pPr>
              <a:r>
                <a:rPr b="0" i="0" lang="en" sz="1388" u="none" cap="none" strike="noStrike">
                  <a:solidFill>
                    <a:srgbClr val="0033A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Đánh giá kết quả thực hiện và định hướng lộ trình tiếp theo</a:t>
              </a:r>
              <a:endParaRPr b="0" i="0" sz="1388" u="none" cap="none" strike="noStrike">
                <a:solidFill>
                  <a:srgbClr val="0033A0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652" name="Google Shape;652;p12"/>
          <p:cNvGrpSpPr/>
          <p:nvPr/>
        </p:nvGrpSpPr>
        <p:grpSpPr>
          <a:xfrm>
            <a:off x="381000" y="1714500"/>
            <a:ext cx="8382075" cy="2809800"/>
            <a:chOff x="381000" y="1714500"/>
            <a:chExt cx="8382075" cy="2809800"/>
          </a:xfrm>
        </p:grpSpPr>
        <p:sp>
          <p:nvSpPr>
            <p:cNvPr id="653" name="Google Shape;653;p12"/>
            <p:cNvSpPr/>
            <p:nvPr/>
          </p:nvSpPr>
          <p:spPr>
            <a:xfrm>
              <a:off x="381000" y="1714500"/>
              <a:ext cx="4048200" cy="2809800"/>
            </a:xfrm>
            <a:prstGeom prst="rect">
              <a:avLst/>
            </a:prstGeom>
            <a:solidFill>
              <a:srgbClr val="0033A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54" name="Google Shape;654;p12"/>
            <p:cNvGrpSpPr/>
            <p:nvPr/>
          </p:nvGrpSpPr>
          <p:grpSpPr>
            <a:xfrm>
              <a:off x="381000" y="1714500"/>
              <a:ext cx="228600" cy="228600"/>
              <a:chOff x="0" y="0"/>
              <a:chExt cx="228600" cy="228600"/>
            </a:xfrm>
          </p:grpSpPr>
          <p:sp>
            <p:nvSpPr>
              <p:cNvPr id="655" name="Google Shape;655;p12"/>
              <p:cNvSpPr/>
              <p:nvPr/>
            </p:nvSpPr>
            <p:spPr>
              <a:xfrm>
                <a:off x="0" y="0"/>
                <a:ext cx="228600" cy="38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12"/>
              <p:cNvSpPr/>
              <p:nvPr/>
            </p:nvSpPr>
            <p:spPr>
              <a:xfrm>
                <a:off x="0" y="0"/>
                <a:ext cx="38100" cy="2286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57" name="Google Shape;657;p12"/>
            <p:cNvSpPr txBox="1"/>
            <p:nvPr/>
          </p:nvSpPr>
          <p:spPr>
            <a:xfrm>
              <a:off x="666750" y="2000250"/>
              <a:ext cx="3476700" cy="233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" sz="1300" u="none" cap="none" strike="noStrike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KẾT QUẢ ĐẠT ĐƯỢC &amp; HẠN CHẾ</a:t>
              </a:r>
              <a:endParaRPr b="0" i="0" sz="130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-304800" lvl="0" marL="457200" marR="0" rtl="0" algn="l">
                <a:lnSpc>
                  <a:spcPct val="100000"/>
                </a:lnSpc>
                <a:spcBef>
                  <a:spcPts val="150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Roboto"/>
                <a:buChar char="●"/>
              </a:pPr>
              <a:r>
                <a:rPr b="0" i="0" lang="en" sz="1200" u="none" cap="none" strike="noStrike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Mô hình hóa chi tiết </a:t>
              </a:r>
              <a:r>
                <a:rPr b="1" i="0" lang="en" sz="1200" u="none" cap="none" strike="noStrike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6/10 quy trình nghiệp vụ</a:t>
              </a:r>
              <a:r>
                <a:rPr b="0" i="0" lang="en" sz="1200" u="none" cap="none" strike="noStrike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bằng BPMN.</a:t>
              </a:r>
              <a:endParaRPr b="0" i="0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04800" lvl="0" marL="457200" marR="0" rtl="0" algn="l">
                <a:lnSpc>
                  <a:spcPct val="100000"/>
                </a:lnSpc>
                <a:spcBef>
                  <a:spcPts val="1200"/>
                </a:spcBef>
                <a:spcAft>
                  <a:spcPts val="1200"/>
                </a:spcAft>
                <a:buClr>
                  <a:srgbClr val="FFFFFF"/>
                </a:buClr>
                <a:buSzPts val="1200"/>
                <a:buFont typeface="Roboto"/>
                <a:buChar char="●"/>
              </a:pPr>
              <a:r>
                <a:rPr b="1" i="0" lang="en" sz="1200" u="none" cap="none" strike="noStrike">
                  <a:solidFill>
                    <a:srgbClr val="E8E8E4"/>
                  </a:solidFill>
                  <a:latin typeface="Roboto"/>
                  <a:ea typeface="Roboto"/>
                  <a:cs typeface="Roboto"/>
                  <a:sym typeface="Roboto"/>
                </a:rPr>
                <a:t>Hạn chế:</a:t>
              </a:r>
              <a:r>
                <a:rPr b="0" i="0" lang="en" sz="1200" u="none" cap="none" strike="noStrike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Các số liệu định lượng hiện tại đang ở mức ước tính minh họa.</a:t>
              </a:r>
              <a:endParaRPr b="0" i="0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8" name="Google Shape;658;p12"/>
            <p:cNvSpPr/>
            <p:nvPr/>
          </p:nvSpPr>
          <p:spPr>
            <a:xfrm>
              <a:off x="4714875" y="1714500"/>
              <a:ext cx="4048200" cy="2809800"/>
            </a:xfrm>
            <a:prstGeom prst="rect">
              <a:avLst/>
            </a:prstGeom>
            <a:solidFill>
              <a:srgbClr val="E8E8E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59" name="Google Shape;659;p12"/>
            <p:cNvGrpSpPr/>
            <p:nvPr/>
          </p:nvGrpSpPr>
          <p:grpSpPr>
            <a:xfrm>
              <a:off x="4714875" y="1714500"/>
              <a:ext cx="228600" cy="228600"/>
              <a:chOff x="0" y="0"/>
              <a:chExt cx="228600" cy="228600"/>
            </a:xfrm>
          </p:grpSpPr>
          <p:sp>
            <p:nvSpPr>
              <p:cNvPr id="660" name="Google Shape;660;p12"/>
              <p:cNvSpPr/>
              <p:nvPr/>
            </p:nvSpPr>
            <p:spPr>
              <a:xfrm>
                <a:off x="0" y="0"/>
                <a:ext cx="228600" cy="381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12"/>
              <p:cNvSpPr/>
              <p:nvPr/>
            </p:nvSpPr>
            <p:spPr>
              <a:xfrm>
                <a:off x="0" y="0"/>
                <a:ext cx="38100" cy="228600"/>
              </a:xfrm>
              <a:prstGeom prst="rect">
                <a:avLst/>
              </a:prstGeom>
              <a:solidFill>
                <a:srgbClr val="FF3A2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62" name="Google Shape;662;p12"/>
            <p:cNvSpPr txBox="1"/>
            <p:nvPr/>
          </p:nvSpPr>
          <p:spPr>
            <a:xfrm>
              <a:off x="5000625" y="2000250"/>
              <a:ext cx="3476700" cy="233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" sz="1300" u="none" cap="none" strike="noStrike">
                  <a:solidFill>
                    <a:srgbClr val="0033A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HƯỚNG MỞ RỘNG NGHIÊN CỨU</a:t>
              </a:r>
              <a:endParaRPr b="0" i="0" sz="1300" u="none" cap="none" strike="noStrike">
                <a:solidFill>
                  <a:srgbClr val="0033A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-304800" lvl="0" marL="457200" marR="0" rtl="0" algn="l">
                <a:lnSpc>
                  <a:spcPct val="100000"/>
                </a:lnSpc>
                <a:spcBef>
                  <a:spcPts val="1500"/>
                </a:spcBef>
                <a:spcAft>
                  <a:spcPts val="0"/>
                </a:spcAft>
                <a:buClr>
                  <a:srgbClr val="111111"/>
                </a:buClr>
                <a:buSzPts val="1200"/>
                <a:buFont typeface="Roboto"/>
                <a:buChar char="●"/>
              </a:pPr>
              <a:r>
                <a:rPr b="0" i="0" lang="en" sz="12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Mô hình hóa </a:t>
              </a:r>
              <a:r>
                <a:rPr b="1" i="0" lang="en" sz="1200" u="none" cap="none" strike="noStrike">
                  <a:solidFill>
                    <a:srgbClr val="0033A0"/>
                  </a:solidFill>
                  <a:latin typeface="Roboto"/>
                  <a:ea typeface="Roboto"/>
                  <a:cs typeface="Roboto"/>
                  <a:sym typeface="Roboto"/>
                </a:rPr>
                <a:t>4 quy trình còn lại</a:t>
              </a:r>
              <a:r>
                <a:rPr b="0" i="0" lang="en" sz="12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của doanh nghiệp.</a:t>
              </a:r>
              <a:endParaRPr b="0" i="0" sz="12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-304800" lvl="0" marL="457200" marR="0" rtl="0" algn="l">
                <a:lnSpc>
                  <a:spcPct val="100000"/>
                </a:lnSpc>
                <a:spcBef>
                  <a:spcPts val="1200"/>
                </a:spcBef>
                <a:spcAft>
                  <a:spcPts val="1200"/>
                </a:spcAft>
                <a:buClr>
                  <a:srgbClr val="111111"/>
                </a:buClr>
                <a:buSzPts val="1200"/>
                <a:buFont typeface="Roboto"/>
                <a:buChar char="●"/>
              </a:pPr>
              <a:r>
                <a:rPr b="0" i="0" lang="en" sz="12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Thu thập </a:t>
              </a:r>
              <a:r>
                <a:rPr b="1" i="0" lang="en" sz="1200" u="none" cap="none" strike="noStrike">
                  <a:solidFill>
                    <a:srgbClr val="0033A0"/>
                  </a:solidFill>
                  <a:latin typeface="Roboto"/>
                  <a:ea typeface="Roboto"/>
                  <a:cs typeface="Roboto"/>
                  <a:sym typeface="Roboto"/>
                </a:rPr>
                <a:t>số liệu thống kê thực tế</a:t>
              </a:r>
              <a:r>
                <a:rPr b="0" i="0" lang="en" sz="1200" u="none" cap="none" strike="noStrike">
                  <a:solidFill>
                    <a:srgbClr val="111111"/>
                  </a:solidFill>
                  <a:latin typeface="Roboto"/>
                  <a:ea typeface="Roboto"/>
                  <a:cs typeface="Roboto"/>
                  <a:sym typeface="Roboto"/>
                </a:rPr>
                <a:t> từ hệ thống vận hành.</a:t>
              </a:r>
              <a:endParaRPr b="0" i="0" sz="1200" u="none" cap="none" strike="noStrike">
                <a:solidFill>
                  <a:srgbClr val="11111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